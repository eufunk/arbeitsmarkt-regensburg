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  <p:sldId id="289" r:id="rId31"/>
    <p:sldId id="290" r:id="rId32"/>
    <p:sldId id="291" r:id="rId33"/>
    <p:sldId id="292" r:id="rId34"/>
    <p:sldId id="293" r:id="rId35"/>
    <p:sldId id="294" r:id="rId36"/>
    <p:sldId id="295" r:id="rId37"/>
    <p:sldId id="296" r:id="rId38"/>
    <p:sldId id="297" r:id="rId39"/>
    <p:sldId id="298" r:id="rId40"/>
    <p:sldId id="299" r:id="rId41"/>
    <p:sldId id="300" r:id="rId42"/>
    <p:sldId id="301" r:id="rId43"/>
    <p:sldId id="302" r:id="rId44"/>
    <p:sldId id="303" r:id="rId45"/>
    <p:sldId id="304" r:id="rId46"/>
    <p:sldId id="305" r:id="rId47"/>
    <p:sldId id="306" r:id="rId48"/>
    <p:sldId id="307" r:id="rId49"/>
    <p:sldId id="308" r:id="rId50"/>
    <p:sldId id="309" r:id="rId51"/>
    <p:sldId id="310" r:id="rId52"/>
    <p:sldId id="311" r:id="rId53"/>
    <p:sldId id="312" r:id="rId54"/>
    <p:sldId id="313" r:id="rId55"/>
    <p:sldId id="314" r:id="rId56"/>
    <p:sldId id="315" r:id="rId57"/>
    <p:sldId id="316" r:id="rId58"/>
    <p:sldId id="317" r:id="rId59"/>
    <p:sldId id="318" r:id="rId60"/>
    <p:sldId id="319" r:id="rId61"/>
    <p:sldId id="320" r:id="rId62"/>
    <p:sldId id="273" r:id="rId63"/>
    <p:sldId id="274" r:id="rId64"/>
    <p:sldId id="275" r:id="rId65"/>
    <p:sldId id="276" r:id="rId66"/>
  </p:sldIdLst>
  <p:sldSz cx="1219358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presProps" Target="presProps.xml"/><Relationship Id="rId68" Type="http://schemas.openxmlformats.org/officeDocument/2006/relationships/viewProps" Target="viewProps.xml"/><Relationship Id="rId69" Type="http://schemas.openxmlformats.org/officeDocument/2006/relationships/theme" Target="theme/theme1.xml"/><Relationship Id="rId70" Type="http://schemas.openxmlformats.org/officeDocument/2006/relationships/tableStyles" Target="tableStyles.xml"/><Relationship Id="rId71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ugenia Funk" userId="8e8c6ebfa4ec6395" providerId="LiveId" clId="{4ABD1F32-8A54-41D3-9E52-C7E96354139A}"/>
    <pc:docChg chg="custSel modSld">
      <pc:chgData name="Eugenia Funk" userId="8e8c6ebfa4ec6395" providerId="LiveId" clId="{4ABD1F32-8A54-41D3-9E52-C7E96354139A}" dt="2026-08-29T20:15:38.193" v="3" actId="14100"/>
      <pc:docMkLst>
        <pc:docMk/>
      </pc:docMkLst>
      <pc:sldChg chg="modSp mod">
        <pc:chgData name="Eugenia Funk" userId="8e8c6ebfa4ec6395" providerId="LiveId" clId="{4ABD1F32-8A54-41D3-9E52-C7E96354139A}" dt="2026-08-29T20:15:38.193" v="3" actId="14100"/>
        <pc:sldMkLst>
          <pc:docMk/>
          <pc:sldMk cId="0" sldId="257"/>
        </pc:sldMkLst>
        <pc:spChg chg="mod">
          <ac:chgData name="Eugenia Funk" userId="8e8c6ebfa4ec6395" providerId="LiveId" clId="{4ABD1F32-8A54-41D3-9E52-C7E96354139A}" dt="2026-08-29T20:15:38.193" v="3" actId="14100"/>
          <ac:spMkLst>
            <pc:docMk/>
            <pc:sldMk cId="0" sldId="257"/>
            <ac:spMk id="33" creationId="{00000000-0000-0000-0000-000000000000}"/>
          </ac:spMkLst>
        </pc:spChg>
      </pc:sldChg>
      <pc:sldChg chg="modSp mod">
        <pc:chgData name="Eugenia Funk" userId="8e8c6ebfa4ec6395" providerId="LiveId" clId="{4ABD1F32-8A54-41D3-9E52-C7E96354139A}" dt="2026-08-17T13:39:01.148" v="0" actId="26606"/>
        <pc:sldMkLst>
          <pc:docMk/>
          <pc:sldMk cId="0" sldId="260"/>
        </pc:sldMkLst>
        <pc:spChg chg="mod">
          <ac:chgData name="Eugenia Funk" userId="8e8c6ebfa4ec6395" providerId="LiveId" clId="{4ABD1F32-8A54-41D3-9E52-C7E96354139A}" dt="2026-08-17T13:39:01.148" v="0" actId="26606"/>
          <ac:spMkLst>
            <pc:docMk/>
            <pc:sldMk cId="0" sldId="260"/>
            <ac:spMk id="5" creationId="{00000000-0000-0000-0000-000000000000}"/>
          </ac:spMkLst>
        </pc:spChg>
        <pc:spChg chg="mod">
          <ac:chgData name="Eugenia Funk" userId="8e8c6ebfa4ec6395" providerId="LiveId" clId="{4ABD1F32-8A54-41D3-9E52-C7E96354139A}" dt="2026-08-17T13:39:01.148" v="0" actId="26606"/>
          <ac:spMkLst>
            <pc:docMk/>
            <pc:sldMk cId="0" sldId="260"/>
            <ac:spMk id="6" creationId="{00000000-0000-0000-0000-000000000000}"/>
          </ac:spMkLst>
        </pc:spChg>
        <pc:spChg chg="mod">
          <ac:chgData name="Eugenia Funk" userId="8e8c6ebfa4ec6395" providerId="LiveId" clId="{4ABD1F32-8A54-41D3-9E52-C7E96354139A}" dt="2026-08-17T13:39:01.148" v="0" actId="26606"/>
          <ac:spMkLst>
            <pc:docMk/>
            <pc:sldMk cId="0" sldId="260"/>
            <ac:spMk id="8" creationId="{00000000-0000-0000-0000-000000000000}"/>
          </ac:spMkLst>
        </pc:spChg>
        <pc:spChg chg="mod">
          <ac:chgData name="Eugenia Funk" userId="8e8c6ebfa4ec6395" providerId="LiveId" clId="{4ABD1F32-8A54-41D3-9E52-C7E96354139A}" dt="2026-08-17T13:39:01.148" v="0" actId="26606"/>
          <ac:spMkLst>
            <pc:docMk/>
            <pc:sldMk cId="0" sldId="260"/>
            <ac:spMk id="9" creationId="{00000000-0000-0000-0000-000000000000}"/>
          </ac:spMkLst>
        </pc:spChg>
        <pc:spChg chg="mod">
          <ac:chgData name="Eugenia Funk" userId="8e8c6ebfa4ec6395" providerId="LiveId" clId="{4ABD1F32-8A54-41D3-9E52-C7E96354139A}" dt="2026-08-17T13:39:01.148" v="0" actId="26606"/>
          <ac:spMkLst>
            <pc:docMk/>
            <pc:sldMk cId="0" sldId="260"/>
            <ac:spMk id="10" creationId="{00000000-0000-0000-0000-000000000000}"/>
          </ac:spMkLst>
        </pc:spChg>
        <pc:spChg chg="mod">
          <ac:chgData name="Eugenia Funk" userId="8e8c6ebfa4ec6395" providerId="LiveId" clId="{4ABD1F32-8A54-41D3-9E52-C7E96354139A}" dt="2026-08-17T13:39:01.148" v="0" actId="26606"/>
          <ac:spMkLst>
            <pc:docMk/>
            <pc:sldMk cId="0" sldId="260"/>
            <ac:spMk id="11" creationId="{00000000-0000-0000-0000-000000000000}"/>
          </ac:spMkLst>
        </pc:spChg>
        <pc:spChg chg="mod">
          <ac:chgData name="Eugenia Funk" userId="8e8c6ebfa4ec6395" providerId="LiveId" clId="{4ABD1F32-8A54-41D3-9E52-C7E96354139A}" dt="2026-08-17T13:39:01.148" v="0" actId="26606"/>
          <ac:spMkLst>
            <pc:docMk/>
            <pc:sldMk cId="0" sldId="260"/>
            <ac:spMk id="12" creationId="{00000000-0000-0000-0000-000000000000}"/>
          </ac:spMkLst>
        </pc:spChg>
        <pc:spChg chg="mod">
          <ac:chgData name="Eugenia Funk" userId="8e8c6ebfa4ec6395" providerId="LiveId" clId="{4ABD1F32-8A54-41D3-9E52-C7E96354139A}" dt="2026-08-17T13:39:01.148" v="0" actId="26606"/>
          <ac:spMkLst>
            <pc:docMk/>
            <pc:sldMk cId="0" sldId="260"/>
            <ac:spMk id="14" creationId="{00000000-0000-0000-0000-000000000000}"/>
          </ac:spMkLst>
        </pc:spChg>
        <pc:spChg chg="mod">
          <ac:chgData name="Eugenia Funk" userId="8e8c6ebfa4ec6395" providerId="LiveId" clId="{4ABD1F32-8A54-41D3-9E52-C7E96354139A}" dt="2026-08-17T13:39:01.148" v="0" actId="26606"/>
          <ac:spMkLst>
            <pc:docMk/>
            <pc:sldMk cId="0" sldId="260"/>
            <ac:spMk id="16" creationId="{00000000-0000-0000-0000-000000000000}"/>
          </ac:spMkLst>
        </pc:spChg>
        <pc:spChg chg="mod">
          <ac:chgData name="Eugenia Funk" userId="8e8c6ebfa4ec6395" providerId="LiveId" clId="{4ABD1F32-8A54-41D3-9E52-C7E96354139A}" dt="2026-08-17T13:39:01.148" v="0" actId="26606"/>
          <ac:spMkLst>
            <pc:docMk/>
            <pc:sldMk cId="0" sldId="260"/>
            <ac:spMk id="20" creationId="{00000000-0000-0000-0000-000000000000}"/>
          </ac:spMkLst>
        </pc:spChg>
      </pc:sldChg>
      <pc:sldChg chg="modSp mod">
        <pc:chgData name="Eugenia Funk" userId="8e8c6ebfa4ec6395" providerId="LiveId" clId="{4ABD1F32-8A54-41D3-9E52-C7E96354139A}" dt="2026-08-17T13:39:01.185" v="1" actId="27636"/>
        <pc:sldMkLst>
          <pc:docMk/>
          <pc:sldMk cId="0" sldId="261"/>
        </pc:sldMkLst>
        <pc:spChg chg="mod">
          <ac:chgData name="Eugenia Funk" userId="8e8c6ebfa4ec6395" providerId="LiveId" clId="{4ABD1F32-8A54-41D3-9E52-C7E96354139A}" dt="2026-08-17T13:39:01.185" v="1" actId="27636"/>
          <ac:spMkLst>
            <pc:docMk/>
            <pc:sldMk cId="0" sldId="261"/>
            <ac:spMk id="3" creationId="{00000000-0000-0000-0000-000000000000}"/>
          </ac:spMkLst>
        </pc:spChg>
        <pc:spChg chg="mod">
          <ac:chgData name="Eugenia Funk" userId="8e8c6ebfa4ec6395" providerId="LiveId" clId="{4ABD1F32-8A54-41D3-9E52-C7E96354139A}" dt="2026-08-17T13:39:01.148" v="0" actId="26606"/>
          <ac:spMkLst>
            <pc:docMk/>
            <pc:sldMk cId="0" sldId="261"/>
            <ac:spMk id="4" creationId="{00000000-0000-0000-0000-000000000000}"/>
          </ac:spMkLst>
        </pc:spChg>
      </pc:sldChg>
      <pc:sldChg chg="modSp mod">
        <pc:chgData name="Eugenia Funk" userId="8e8c6ebfa4ec6395" providerId="LiveId" clId="{4ABD1F32-8A54-41D3-9E52-C7E96354139A}" dt="2026-08-17T13:39:01.148" v="0" actId="26606"/>
        <pc:sldMkLst>
          <pc:docMk/>
          <pc:sldMk cId="0" sldId="264"/>
        </pc:sldMkLst>
        <pc:spChg chg="mod">
          <ac:chgData name="Eugenia Funk" userId="8e8c6ebfa4ec6395" providerId="LiveId" clId="{4ABD1F32-8A54-41D3-9E52-C7E96354139A}" dt="2026-08-17T13:39:01.148" v="0" actId="26606"/>
          <ac:spMkLst>
            <pc:docMk/>
            <pc:sldMk cId="0" sldId="264"/>
            <ac:spMk id="5" creationId="{00000000-0000-0000-0000-000000000000}"/>
          </ac:spMkLst>
        </pc:spChg>
        <pc:spChg chg="mod">
          <ac:chgData name="Eugenia Funk" userId="8e8c6ebfa4ec6395" providerId="LiveId" clId="{4ABD1F32-8A54-41D3-9E52-C7E96354139A}" dt="2026-08-17T13:39:01.148" v="0" actId="26606"/>
          <ac:spMkLst>
            <pc:docMk/>
            <pc:sldMk cId="0" sldId="264"/>
            <ac:spMk id="6" creationId="{00000000-0000-0000-0000-000000000000}"/>
          </ac:spMkLst>
        </pc:spChg>
        <pc:spChg chg="mod">
          <ac:chgData name="Eugenia Funk" userId="8e8c6ebfa4ec6395" providerId="LiveId" clId="{4ABD1F32-8A54-41D3-9E52-C7E96354139A}" dt="2026-08-17T13:39:01.148" v="0" actId="26606"/>
          <ac:spMkLst>
            <pc:docMk/>
            <pc:sldMk cId="0" sldId="264"/>
            <ac:spMk id="8" creationId="{00000000-0000-0000-0000-000000000000}"/>
          </ac:spMkLst>
        </pc:spChg>
        <pc:spChg chg="mod">
          <ac:chgData name="Eugenia Funk" userId="8e8c6ebfa4ec6395" providerId="LiveId" clId="{4ABD1F32-8A54-41D3-9E52-C7E96354139A}" dt="2026-08-17T13:39:01.148" v="0" actId="26606"/>
          <ac:spMkLst>
            <pc:docMk/>
            <pc:sldMk cId="0" sldId="264"/>
            <ac:spMk id="9" creationId="{00000000-0000-0000-0000-000000000000}"/>
          </ac:spMkLst>
        </pc:spChg>
        <pc:spChg chg="mod">
          <ac:chgData name="Eugenia Funk" userId="8e8c6ebfa4ec6395" providerId="LiveId" clId="{4ABD1F32-8A54-41D3-9E52-C7E96354139A}" dt="2026-08-17T13:39:01.148" v="0" actId="26606"/>
          <ac:spMkLst>
            <pc:docMk/>
            <pc:sldMk cId="0" sldId="264"/>
            <ac:spMk id="10" creationId="{00000000-0000-0000-0000-000000000000}"/>
          </ac:spMkLst>
        </pc:spChg>
        <pc:spChg chg="mod">
          <ac:chgData name="Eugenia Funk" userId="8e8c6ebfa4ec6395" providerId="LiveId" clId="{4ABD1F32-8A54-41D3-9E52-C7E96354139A}" dt="2026-08-17T13:39:01.148" v="0" actId="26606"/>
          <ac:spMkLst>
            <pc:docMk/>
            <pc:sldMk cId="0" sldId="264"/>
            <ac:spMk id="12" creationId="{00000000-0000-0000-0000-000000000000}"/>
          </ac:spMkLst>
        </pc:spChg>
        <pc:spChg chg="mod">
          <ac:chgData name="Eugenia Funk" userId="8e8c6ebfa4ec6395" providerId="LiveId" clId="{4ABD1F32-8A54-41D3-9E52-C7E96354139A}" dt="2026-08-17T13:39:01.148" v="0" actId="26606"/>
          <ac:spMkLst>
            <pc:docMk/>
            <pc:sldMk cId="0" sldId="264"/>
            <ac:spMk id="13" creationId="{00000000-0000-0000-0000-000000000000}"/>
          </ac:spMkLst>
        </pc:spChg>
        <pc:spChg chg="mod">
          <ac:chgData name="Eugenia Funk" userId="8e8c6ebfa4ec6395" providerId="LiveId" clId="{4ABD1F32-8A54-41D3-9E52-C7E96354139A}" dt="2026-08-17T13:39:01.148" v="0" actId="26606"/>
          <ac:spMkLst>
            <pc:docMk/>
            <pc:sldMk cId="0" sldId="264"/>
            <ac:spMk id="15" creationId="{00000000-0000-0000-0000-000000000000}"/>
          </ac:spMkLst>
        </pc:spChg>
        <pc:spChg chg="mod">
          <ac:chgData name="Eugenia Funk" userId="8e8c6ebfa4ec6395" providerId="LiveId" clId="{4ABD1F32-8A54-41D3-9E52-C7E96354139A}" dt="2026-08-17T13:39:01.148" v="0" actId="26606"/>
          <ac:spMkLst>
            <pc:docMk/>
            <pc:sldMk cId="0" sldId="264"/>
            <ac:spMk id="17" creationId="{00000000-0000-0000-0000-000000000000}"/>
          </ac:spMkLst>
        </pc:spChg>
        <pc:spChg chg="mod">
          <ac:chgData name="Eugenia Funk" userId="8e8c6ebfa4ec6395" providerId="LiveId" clId="{4ABD1F32-8A54-41D3-9E52-C7E96354139A}" dt="2026-08-17T13:39:01.148" v="0" actId="26606"/>
          <ac:spMkLst>
            <pc:docMk/>
            <pc:sldMk cId="0" sldId="264"/>
            <ac:spMk id="18" creationId="{00000000-0000-0000-0000-000000000000}"/>
          </ac:spMkLst>
        </pc:spChg>
      </pc:sldChg>
      <pc:sldChg chg="modSp mod">
        <pc:chgData name="Eugenia Funk" userId="8e8c6ebfa4ec6395" providerId="LiveId" clId="{4ABD1F32-8A54-41D3-9E52-C7E96354139A}" dt="2026-08-17T13:39:01.191" v="2" actId="27636"/>
        <pc:sldMkLst>
          <pc:docMk/>
          <pc:sldMk cId="0" sldId="265"/>
        </pc:sldMkLst>
        <pc:spChg chg="mod">
          <ac:chgData name="Eugenia Funk" userId="8e8c6ebfa4ec6395" providerId="LiveId" clId="{4ABD1F32-8A54-41D3-9E52-C7E96354139A}" dt="2026-08-17T13:39:01.148" v="0" actId="26606"/>
          <ac:spMkLst>
            <pc:docMk/>
            <pc:sldMk cId="0" sldId="265"/>
            <ac:spMk id="2" creationId="{00000000-0000-0000-0000-000000000000}"/>
          </ac:spMkLst>
        </pc:spChg>
        <pc:spChg chg="mod">
          <ac:chgData name="Eugenia Funk" userId="8e8c6ebfa4ec6395" providerId="LiveId" clId="{4ABD1F32-8A54-41D3-9E52-C7E96354139A}" dt="2026-08-17T13:39:01.191" v="2" actId="27636"/>
          <ac:spMkLst>
            <pc:docMk/>
            <pc:sldMk cId="0" sldId="265"/>
            <ac:spMk id="3" creationId="{00000000-0000-0000-0000-000000000000}"/>
          </ac:spMkLst>
        </pc:spChg>
        <pc:spChg chg="mod">
          <ac:chgData name="Eugenia Funk" userId="8e8c6ebfa4ec6395" providerId="LiveId" clId="{4ABD1F32-8A54-41D3-9E52-C7E96354139A}" dt="2026-08-17T13:39:01.148" v="0" actId="26606"/>
          <ac:spMkLst>
            <pc:docMk/>
            <pc:sldMk cId="0" sldId="265"/>
            <ac:spMk id="4" creationId="{00000000-0000-0000-0000-000000000000}"/>
          </ac:spMkLst>
        </pc:spChg>
      </pc:sldChg>
      <pc:sldChg chg="modSp mod">
        <pc:chgData name="Eugenia Funk" userId="8e8c6ebfa4ec6395" providerId="LiveId" clId="{4ABD1F32-8A54-41D3-9E52-C7E96354139A}" dt="2026-08-17T13:39:01.148" v="0" actId="26606"/>
        <pc:sldMkLst>
          <pc:docMk/>
          <pc:sldMk cId="0" sldId="276"/>
        </pc:sldMkLst>
        <pc:spChg chg="mod">
          <ac:chgData name="Eugenia Funk" userId="8e8c6ebfa4ec6395" providerId="LiveId" clId="{4ABD1F32-8A54-41D3-9E52-C7E96354139A}" dt="2026-08-17T13:39:01.148" v="0" actId="26606"/>
          <ac:spMkLst>
            <pc:docMk/>
            <pc:sldMk cId="0" sldId="276"/>
            <ac:spMk id="3" creationId="{00000000-0000-0000-0000-000000000000}"/>
          </ac:spMkLst>
        </pc:sp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40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608000"/>
            <a:ext cx="12193200" cy="90000"/>
          </a:xfrm>
          <a:prstGeom prst="rect">
            <a:avLst/>
          </a:prstGeom>
          <a:solidFill>
            <a:srgbClr val="C7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752000"/>
            <a:ext cx="12193200" cy="28800"/>
          </a:xfrm>
          <a:prstGeom prst="rect">
            <a:avLst/>
          </a:prstGeom>
          <a:solidFill>
            <a:srgbClr val="6B5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20000" y="2340000"/>
            <a:ext cx="107532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Arbeitsmarktanalyse Regensburg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3060000"/>
            <a:ext cx="107532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BFDBFE"/>
                </a:solidFill>
                <a:latin typeface="Calibri"/>
              </a:rPr>
              <a:t>Rechtskreis SGB II — Datenexploration, -analyse und Visualisierung mit Python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5112000"/>
            <a:ext cx="107532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E0E7FF"/>
                </a:solidFill>
                <a:latin typeface="Calibri"/>
              </a:rPr>
              <a:t>Eugenia Funk  ·  17.08.2026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936000"/>
          </a:xfrm>
          <a:prstGeom prst="rect">
            <a:avLst/>
          </a:prstGeom>
          <a:solidFill>
            <a:srgbClr val="2E4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2000" y="306000"/>
            <a:ext cx="113292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00" y="1512000"/>
            <a:ext cx="396000" cy="360000"/>
          </a:xfrm>
          <a:prstGeom prst="rect">
            <a:avLst/>
          </a:prstGeom>
          <a:solidFill>
            <a:srgbClr val="3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76000" y="1512000"/>
            <a:ext cx="396000" cy="360000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7999" y="1512000"/>
            <a:ext cx="4860000" cy="34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1" i="0">
                <a:solidFill>
                  <a:srgbClr val="374151"/>
                </a:solidFill>
                <a:latin typeface="Calibri"/>
              </a:rPr>
              <a:t>Einleitung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00" y="1944000"/>
            <a:ext cx="396000" cy="360000"/>
          </a:xfrm>
          <a:prstGeom prst="rect">
            <a:avLst/>
          </a:prstGeom>
          <a:solidFill>
            <a:srgbClr val="6B5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76000" y="1944000"/>
            <a:ext cx="396000" cy="360000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7999" y="1944000"/>
            <a:ext cx="4860000" cy="34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1" i="0">
                <a:solidFill>
                  <a:srgbClr val="374151"/>
                </a:solidFill>
                <a:latin typeface="Calibri"/>
              </a:rPr>
              <a:t>Datenexploration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00" y="2376000"/>
            <a:ext cx="396000" cy="360000"/>
          </a:xfrm>
          <a:prstGeom prst="rect">
            <a:avLst/>
          </a:prstGeom>
          <a:solidFill>
            <a:srgbClr val="C7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76000" y="2376000"/>
            <a:ext cx="396000" cy="360000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7999" y="2376000"/>
            <a:ext cx="4860000" cy="34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1" i="0">
                <a:solidFill>
                  <a:srgbClr val="374151"/>
                </a:solidFill>
                <a:latin typeface="Calibri"/>
              </a:rPr>
              <a:t>Datenanalyse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00" y="2808000"/>
            <a:ext cx="396000" cy="360000"/>
          </a:xfrm>
          <a:prstGeom prst="rect">
            <a:avLst/>
          </a:prstGeom>
          <a:solidFill>
            <a:srgbClr val="3F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76000" y="2808000"/>
            <a:ext cx="396000" cy="360000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7999" y="2808000"/>
            <a:ext cx="4860000" cy="34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1" i="0">
                <a:solidFill>
                  <a:srgbClr val="374151"/>
                </a:solidFill>
                <a:latin typeface="Calibri"/>
              </a:rPr>
              <a:t>Vertiefte statistische Analyse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6000" y="3240000"/>
            <a:ext cx="396000" cy="360000"/>
          </a:xfrm>
          <a:prstGeom prst="rect">
            <a:avLst/>
          </a:prstGeom>
          <a:solidFill>
            <a:srgbClr val="3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76000" y="3240000"/>
            <a:ext cx="396000" cy="360000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7999" y="3240000"/>
            <a:ext cx="4860000" cy="34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1" i="0">
                <a:solidFill>
                  <a:srgbClr val="374151"/>
                </a:solidFill>
                <a:latin typeface="Calibri"/>
              </a:rPr>
              <a:t>Fluktuation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6000" y="3671999"/>
            <a:ext cx="396000" cy="360000"/>
          </a:xfrm>
          <a:prstGeom prst="rect">
            <a:avLst/>
          </a:prstGeom>
          <a:solidFill>
            <a:srgbClr val="6B5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76000" y="3671999"/>
            <a:ext cx="396000" cy="360000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7999" y="3671999"/>
            <a:ext cx="4860000" cy="34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1" i="0">
                <a:solidFill>
                  <a:srgbClr val="374151"/>
                </a:solidFill>
                <a:latin typeface="Calibri"/>
              </a:rPr>
              <a:t>Demografie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36000" y="1512000"/>
            <a:ext cx="396000" cy="360000"/>
          </a:xfrm>
          <a:prstGeom prst="rect">
            <a:avLst/>
          </a:prstGeom>
          <a:solidFill>
            <a:srgbClr val="C7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36000" y="1512000"/>
            <a:ext cx="396000" cy="360000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8000" y="1512000"/>
            <a:ext cx="4860000" cy="34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1" i="0">
                <a:solidFill>
                  <a:srgbClr val="374151"/>
                </a:solidFill>
                <a:latin typeface="Calibri"/>
              </a:rPr>
              <a:t>Erwerbstätigkeit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36000" y="1944000"/>
            <a:ext cx="396000" cy="360000"/>
          </a:xfrm>
          <a:prstGeom prst="rect">
            <a:avLst/>
          </a:prstGeom>
          <a:solidFill>
            <a:srgbClr val="3F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36000" y="1944000"/>
            <a:ext cx="396000" cy="360000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8000" y="1944000"/>
            <a:ext cx="4860000" cy="34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1" i="0">
                <a:solidFill>
                  <a:srgbClr val="374151"/>
                </a:solidFill>
                <a:latin typeface="Calibri"/>
              </a:rPr>
              <a:t>Finanzen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36000" y="2376000"/>
            <a:ext cx="396000" cy="360000"/>
          </a:xfrm>
          <a:prstGeom prst="rect">
            <a:avLst/>
          </a:prstGeom>
          <a:solidFill>
            <a:srgbClr val="4C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36000" y="2376000"/>
            <a:ext cx="396000" cy="360000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8000" y="2376000"/>
            <a:ext cx="4860000" cy="34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1" i="0">
                <a:solidFill>
                  <a:srgbClr val="374151"/>
                </a:solidFill>
                <a:latin typeface="Calibri"/>
              </a:rPr>
              <a:t>Förderung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36000" y="2808000"/>
            <a:ext cx="396000" cy="360000"/>
          </a:xfrm>
          <a:prstGeom prst="rect">
            <a:avLst/>
          </a:prstGeom>
          <a:solidFill>
            <a:srgbClr val="B1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36000" y="2808000"/>
            <a:ext cx="396000" cy="360000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8000" y="2808000"/>
            <a:ext cx="4860000" cy="34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1" i="0">
                <a:solidFill>
                  <a:srgbClr val="374151"/>
                </a:solidFill>
                <a:latin typeface="Calibri"/>
              </a:rPr>
              <a:t>Bezugsdauer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36000" y="3240000"/>
            <a:ext cx="396000" cy="360000"/>
          </a:xfrm>
          <a:prstGeom prst="rect">
            <a:avLst/>
          </a:prstGeom>
          <a:solidFill>
            <a:srgbClr val="2E4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336000" y="3240000"/>
            <a:ext cx="396000" cy="360000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8000" y="3240000"/>
            <a:ext cx="4860000" cy="34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1" i="0">
                <a:solidFill>
                  <a:srgbClr val="374151"/>
                </a:solidFill>
                <a:latin typeface="Calibri"/>
              </a:rPr>
              <a:t>Rechtskreisvergleich SGB II/III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36000" y="3671999"/>
            <a:ext cx="396000" cy="360000"/>
          </a:xfrm>
          <a:prstGeom prst="rect">
            <a:avLst/>
          </a:prstGeom>
          <a:solidFill>
            <a:srgbClr val="A04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336000" y="3671999"/>
            <a:ext cx="396000" cy="360000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8000" y="3671999"/>
            <a:ext cx="4860000" cy="34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1" i="0">
                <a:solidFill>
                  <a:srgbClr val="374151"/>
                </a:solidFill>
                <a:latin typeface="Calibri"/>
              </a:rPr>
              <a:t>Fazit und Ausblick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40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51999"/>
            <a:ext cx="12193200" cy="54000"/>
          </a:xfrm>
          <a:prstGeom prst="rect">
            <a:avLst/>
          </a:prstGeom>
          <a:solidFill>
            <a:srgbClr val="C7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20000" y="1944000"/>
            <a:ext cx="107532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BFDBFE"/>
                </a:solidFill>
                <a:latin typeface="Calibri"/>
              </a:rPr>
              <a:t>KAPITEL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2196000"/>
            <a:ext cx="10753200" cy="79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Einleitung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3311999"/>
            <a:ext cx="107532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E0E7FF"/>
                </a:solidFill>
                <a:latin typeface="Calibri"/>
              </a:rPr>
              <a:t>●  Ausgangssituation und Motivation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E0E7FF"/>
                </a:solidFill>
                <a:latin typeface="Calibri"/>
              </a:rPr>
              <a:t>●  Zielsetzung des Projekts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E0E7FF"/>
                </a:solidFill>
                <a:latin typeface="Calibri"/>
              </a:rPr>
              <a:t>●  Datengrundlage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936000"/>
          </a:xfrm>
          <a:prstGeom prst="rect">
            <a:avLst/>
          </a:prstGeom>
          <a:solidFill>
            <a:srgbClr val="3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2000" y="90000"/>
            <a:ext cx="11329200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1.1 – 1.2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306000"/>
            <a:ext cx="113292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Ausgangssituation und Zielsetzung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3999" y="1224000"/>
            <a:ext cx="5436000" cy="2592000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3999" y="1224000"/>
            <a:ext cx="5436000" cy="108000"/>
          </a:xfrm>
          <a:prstGeom prst="rect">
            <a:avLst/>
          </a:prstGeom>
          <a:solidFill>
            <a:srgbClr val="3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2000" y="1422000"/>
            <a:ext cx="50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3B6EA8"/>
                </a:solidFill>
                <a:latin typeface="Calibri"/>
              </a:rPr>
              <a:t>Ausgangssituation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2000" y="1835999"/>
            <a:ext cx="504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374151"/>
                </a:solidFill>
                <a:latin typeface="Calibri"/>
              </a:rPr>
              <a:t>Die Bundesagentur für Arbeit veröffentlicht monatlich den Bericht „Eckwerte für Jobcenter“ — mit über 20 Tabellenblättern pro Datei ist die Rohform kaum auswertbar.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56000" y="1224000"/>
            <a:ext cx="5436000" cy="2592000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56000" y="1224000"/>
            <a:ext cx="5436000" cy="108000"/>
          </a:xfrm>
          <a:prstGeom prst="rect">
            <a:avLst/>
          </a:prstGeom>
          <a:solidFill>
            <a:srgbClr val="6B5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4000" y="1422000"/>
            <a:ext cx="50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6B5B8F"/>
                </a:solidFill>
                <a:latin typeface="Calibri"/>
              </a:rPr>
              <a:t>Zielsetzung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4000" y="1835999"/>
            <a:ext cx="504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374151"/>
                </a:solidFill>
                <a:latin typeface="Calibri"/>
              </a:rPr>
              <a:t>Eine strukturierte, reproduzierbare Zeitreihe aus 18 Monatsberichten aufbauen und die Entwicklung der Arbeitslosigkeit im Rechtskreis SGB II auswerten und visualisieren.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3999" y="4014000"/>
            <a:ext cx="2635200" cy="1296000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3999" y="4014000"/>
            <a:ext cx="2635200" cy="79200"/>
          </a:xfrm>
          <a:prstGeom prst="rect">
            <a:avLst/>
          </a:prstGeom>
          <a:solidFill>
            <a:srgbClr val="3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000" y="4140000"/>
            <a:ext cx="23832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3B6EA8"/>
                </a:solidFill>
                <a:latin typeface="Calibri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000" y="4428000"/>
            <a:ext cx="2383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374151"/>
                </a:solidFill>
                <a:latin typeface="Calibri"/>
              </a:rPr>
              <a:t>Datenverarbeitung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000" y="4716000"/>
            <a:ext cx="23832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B7280"/>
                </a:solidFill>
                <a:latin typeface="Calibri"/>
              </a:rPr>
              <a:t>sauberer, reproduzierbarer Prozess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55200" y="4014000"/>
            <a:ext cx="2635200" cy="1296000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55200" y="4014000"/>
            <a:ext cx="2635200" cy="79200"/>
          </a:xfrm>
          <a:prstGeom prst="rect">
            <a:avLst/>
          </a:prstGeom>
          <a:solidFill>
            <a:srgbClr val="6B5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81200" y="4140000"/>
            <a:ext cx="23832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6B5B8F"/>
                </a:solidFill>
                <a:latin typeface="Calibri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81200" y="4428000"/>
            <a:ext cx="2383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374151"/>
                </a:solidFill>
                <a:latin typeface="Calibri"/>
              </a:rPr>
              <a:t>Visualisierung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81200" y="4716000"/>
            <a:ext cx="23832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B7280"/>
                </a:solidFill>
                <a:latin typeface="Calibri"/>
              </a:rPr>
              <a:t>aussagekräftig &amp; verständlich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02800" y="4014000"/>
            <a:ext cx="2635200" cy="1296000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02800" y="4014000"/>
            <a:ext cx="2635200" cy="79200"/>
          </a:xfrm>
          <a:prstGeom prst="rect">
            <a:avLst/>
          </a:prstGeom>
          <a:solidFill>
            <a:srgbClr val="C7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28800" y="4140000"/>
            <a:ext cx="23832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C79A56"/>
                </a:solidFill>
                <a:latin typeface="Calibri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28800" y="4428000"/>
            <a:ext cx="2383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374151"/>
                </a:solidFill>
                <a:latin typeface="Calibri"/>
              </a:rPr>
              <a:t>Erkenntnisse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8800" y="4716000"/>
            <a:ext cx="23832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B7280"/>
                </a:solidFill>
                <a:latin typeface="Calibri"/>
              </a:rPr>
              <a:t>inhaltlich &amp; statistisch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54000" y="4014000"/>
            <a:ext cx="2635200" cy="1296000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54000" y="4014000"/>
            <a:ext cx="2635200" cy="79200"/>
          </a:xfrm>
          <a:prstGeom prst="rect">
            <a:avLst/>
          </a:prstGeom>
          <a:solidFill>
            <a:srgbClr val="3F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80000" y="4140000"/>
            <a:ext cx="23832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3F7A72"/>
                </a:solidFill>
                <a:latin typeface="Calibri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0000" y="4428000"/>
            <a:ext cx="2383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374151"/>
                </a:solidFill>
                <a:latin typeface="Calibri"/>
              </a:rPr>
              <a:t>Dashboard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80000" y="4716000"/>
            <a:ext cx="23832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B7280"/>
                </a:solidFill>
                <a:latin typeface="Calibri"/>
              </a:rPr>
              <a:t>interaktiv, fortlaufend nutzbar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936000"/>
          </a:xfrm>
          <a:prstGeom prst="rect">
            <a:avLst/>
          </a:prstGeom>
          <a:solidFill>
            <a:srgbClr val="3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2000" y="90000"/>
            <a:ext cx="11329200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1.3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306000"/>
            <a:ext cx="113292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Datengrundlage auf einen Blick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03999" y="1692000"/>
            <a:ext cx="2634300" cy="1728000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3999" y="1692000"/>
            <a:ext cx="2634300" cy="90000"/>
          </a:xfrm>
          <a:prstGeom prst="rect">
            <a:avLst/>
          </a:prstGeom>
          <a:solidFill>
            <a:srgbClr val="3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11999" y="1980000"/>
            <a:ext cx="2418300" cy="72856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de-DE" sz="3000" b="1" i="0">
                <a:solidFill>
                  <a:srgbClr val="2563EB"/>
                </a:solidFill>
                <a:latin typeface="Calibri"/>
              </a:rPr>
              <a:t>18</a:t>
            </a:r>
            <a:endParaRPr sz="3000" b="1" i="0">
              <a:solidFill>
                <a:srgbClr val="2563EB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11999" y="2736000"/>
            <a:ext cx="24183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de-DE" sz="1400" b="0" i="0">
                <a:solidFill>
                  <a:srgbClr val="374151"/>
                </a:solidFill>
                <a:latin typeface="Calibri"/>
              </a:rPr>
              <a:t>monatliche Excel-
Berichte</a:t>
            </a:r>
            <a:endParaRPr sz="1400" b="0" i="0">
              <a:solidFill>
                <a:srgbClr val="374151"/>
              </a:solidFill>
              <a:latin typeface="Calibr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354299" y="1692000"/>
            <a:ext cx="2634300" cy="1728000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354299" y="1692000"/>
            <a:ext cx="2634300" cy="90000"/>
          </a:xfrm>
          <a:prstGeom prst="rect">
            <a:avLst/>
          </a:prstGeom>
          <a:solidFill>
            <a:srgbClr val="6B5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62299" y="1980000"/>
            <a:ext cx="2418300" cy="72856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de-DE" sz="3000" b="1" i="0">
                <a:solidFill>
                  <a:srgbClr val="7C3AED"/>
                </a:solidFill>
                <a:latin typeface="Calibri"/>
              </a:rPr>
              <a:t>21</a:t>
            </a:r>
            <a:endParaRPr sz="3000" b="1" i="0">
              <a:solidFill>
                <a:srgbClr val="7C3AED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462299" y="2736000"/>
            <a:ext cx="24183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de-DE" sz="1400" b="0" i="0">
                <a:solidFill>
                  <a:srgbClr val="374151"/>
                </a:solidFill>
                <a:latin typeface="Calibri"/>
              </a:rPr>
              <a:t>Tabellenblätter
pro Datei</a:t>
            </a:r>
            <a:endParaRPr sz="1400" b="0" i="0">
              <a:solidFill>
                <a:srgbClr val="374151"/>
              </a:solidFill>
              <a:latin typeface="Calibr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204599" y="1692000"/>
            <a:ext cx="2634300" cy="1728000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04599" y="1692000"/>
            <a:ext cx="2634300" cy="90000"/>
          </a:xfrm>
          <a:prstGeom prst="rect">
            <a:avLst/>
          </a:prstGeom>
          <a:solidFill>
            <a:srgbClr val="C7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12599" y="2070000"/>
            <a:ext cx="2418300" cy="63856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de-DE" sz="2000" b="1" i="0">
                <a:solidFill>
                  <a:srgbClr val="F59E0B"/>
                </a:solidFill>
                <a:latin typeface="Calibri"/>
              </a:rPr>
              <a:t>Jan 25 – Jun 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12599" y="2736000"/>
            <a:ext cx="24183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de-DE" sz="1400" b="0" i="0">
                <a:solidFill>
                  <a:srgbClr val="374151"/>
                </a:solidFill>
                <a:latin typeface="Calibri"/>
              </a:rPr>
              <a:t>Berichtszeitraum</a:t>
            </a:r>
            <a:endParaRPr sz="1400" b="0" i="0">
              <a:solidFill>
                <a:srgbClr val="374151"/>
              </a:solidFill>
              <a:latin typeface="Calibri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9054899" y="1692000"/>
            <a:ext cx="2634300" cy="1728000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054899" y="1692000"/>
            <a:ext cx="2634300" cy="90000"/>
          </a:xfrm>
          <a:prstGeom prst="rect">
            <a:avLst/>
          </a:prstGeom>
          <a:solidFill>
            <a:srgbClr val="A04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62899" y="1980000"/>
            <a:ext cx="2418300" cy="72856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de-DE" sz="3000" b="1" i="0">
                <a:solidFill>
                  <a:srgbClr val="DC2626"/>
                </a:solidFill>
                <a:latin typeface="Calibri"/>
              </a:rPr>
              <a:t>SGB II</a:t>
            </a:r>
            <a:endParaRPr sz="3000" b="1" i="0">
              <a:solidFill>
                <a:srgbClr val="DC2626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162899" y="2736000"/>
            <a:ext cx="24183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de-DE" sz="1400" b="0" i="0">
                <a:solidFill>
                  <a:srgbClr val="374151"/>
                </a:solidFill>
                <a:latin typeface="Calibri"/>
              </a:rPr>
              <a:t>Rechtskreis
Jobcenter Regensburg</a:t>
            </a:r>
            <a:endParaRPr sz="1400" b="0" i="0">
              <a:solidFill>
                <a:srgbClr val="374151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03999" y="1206000"/>
            <a:ext cx="111852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Calibri"/>
              </a:rPr>
              <a:t>Herausgeberin: Statistik der Bundesagentur für Arbeit — Bericht „Eckwerte für Jobcenter“, Jobcenter Regensburg (Statistik-Nr. t73906-0)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3999" y="3671999"/>
            <a:ext cx="11185200" cy="1296000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3999" y="3671999"/>
            <a:ext cx="90000" cy="1296000"/>
          </a:xfrm>
          <a:prstGeom prst="rect">
            <a:avLst/>
          </a:prstGeom>
          <a:solidFill>
            <a:srgbClr val="3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7999" y="3797999"/>
            <a:ext cx="106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3B6EA8"/>
                </a:solidFill>
                <a:latin typeface="Calibri"/>
              </a:rPr>
              <a:t>Wichtig zu wissen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999" y="4121999"/>
            <a:ext cx="10620000" cy="73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374151"/>
                </a:solidFill>
                <a:latin typeface="Calibri"/>
              </a:rPr>
              <a:t>Jede Excel-Datei weist zwei Rechtskreise getrennt aus: „Insgesamt (SGB II und SGB III)“ und „Rechtskreis SGB II“ (= Jobcenter-Zuständigkeit). Diese Präsentation wertet ausschließlich den SGB-II-Anteil aus — Kapitel 11 vergleicht beide Rechtskreise direkt miteinander.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3F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51999"/>
            <a:ext cx="12193200" cy="54000"/>
          </a:xfrm>
          <a:prstGeom prst="rect">
            <a:avLst/>
          </a:prstGeom>
          <a:solidFill>
            <a:srgbClr val="C7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20000" y="1314000"/>
            <a:ext cx="10753200" cy="260568"/>
          </a:xfrm>
          <a:prstGeom prst="rect">
            <a:avLst/>
          </a:prstGeom>
          <a:noFill/>
        </p:spPr>
        <p:txBody>
          <a:bodyPr wrap="square" anchor="t">
            <a:normAutofit fontScale="55000" lnSpcReduction="20000"/>
          </a:bodyPr>
          <a:lstStyle/>
          <a:p>
            <a:pPr algn="l"/>
            <a:r>
              <a:rPr sz="2200" b="1" i="0">
                <a:solidFill>
                  <a:srgbClr val="BFDBFE"/>
                </a:solidFill>
                <a:latin typeface="Calibri"/>
              </a:rPr>
              <a:t>KAPITEL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1602000"/>
            <a:ext cx="10753200" cy="79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Datenexploration
und -aufbereitung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3311999"/>
            <a:ext cx="107532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E0E7FF"/>
                </a:solidFill>
                <a:latin typeface="Calibri"/>
              </a:rPr>
              <a:t>●  Tabellenblätter der Rohdaten untersuchen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E0E7FF"/>
                </a:solidFill>
                <a:latin typeface="Calibri"/>
              </a:rPr>
              <a:t>●  Daten einlesen, bereinigen, aufbereiten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E0E7FF"/>
                </a:solidFill>
                <a:latin typeface="Calibri"/>
              </a:rPr>
              <a:t>●  Export für die Weiterverarbeitung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936000"/>
          </a:xfrm>
          <a:prstGeom prst="rect">
            <a:avLst/>
          </a:prstGeom>
          <a:solidFill>
            <a:srgbClr val="6B5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2000" y="90000"/>
            <a:ext cx="11329200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2.1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306000"/>
            <a:ext cx="113292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Tabellenblätter der Rohdaten untersuchen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3999" y="1224000"/>
            <a:ext cx="11185200" cy="1116000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3999" y="1224000"/>
            <a:ext cx="11185200" cy="90000"/>
          </a:xfrm>
          <a:prstGeom prst="rect">
            <a:avLst/>
          </a:prstGeom>
          <a:solidFill>
            <a:srgbClr val="6B5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4000" y="1386000"/>
            <a:ext cx="10836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6B5B8F"/>
                </a:solidFill>
                <a:latin typeface="Calibri"/>
              </a:rPr>
              <a:t>Vorgehen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4000" y="1674000"/>
            <a:ext cx="10836000" cy="6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374151"/>
                </a:solidFill>
                <a:latin typeface="Calibri"/>
              </a:rPr>
              <a:t>Alle 21 Tabellenblätter je Datei systematisch gesichtet: Was steht drin, ist es relevant, welche Diagramme wären möglich?</a:t>
            </a:r>
          </a:p>
        </p:txBody>
      </p:sp>
      <p:sp>
        <p:nvSpPr>
          <p:cNvPr id="9" name="Rectangle 8"/>
          <p:cNvSpPr/>
          <p:nvPr/>
        </p:nvSpPr>
        <p:spPr>
          <a:xfrm>
            <a:off x="503999" y="2556000"/>
            <a:ext cx="3607200" cy="2520000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3999" y="2556000"/>
            <a:ext cx="3607200" cy="90000"/>
          </a:xfrm>
          <a:prstGeom prst="rect">
            <a:avLst/>
          </a:prstGeom>
          <a:solidFill>
            <a:srgbClr val="C7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6000" y="2736000"/>
            <a:ext cx="3283199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C79A56"/>
                </a:solidFill>
                <a:latin typeface="Calibri"/>
              </a:rPr>
              <a:t>Metadaten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6000" y="3114000"/>
            <a:ext cx="3283199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374151"/>
                </a:solidFill>
                <a:latin typeface="Calibri"/>
              </a:rPr>
              <a:t>6 Blätter enthalten reine Metadaten/Navigation ohne Analysewert.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1200" y="2556000"/>
            <a:ext cx="3607200" cy="2520000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1200" y="2556000"/>
            <a:ext cx="3607200" cy="90000"/>
          </a:xfrm>
          <a:prstGeom prst="rect">
            <a:avLst/>
          </a:prstGeom>
          <a:solidFill>
            <a:srgbClr val="3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53200" y="2736000"/>
            <a:ext cx="3283199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3B6EA8"/>
                </a:solidFill>
                <a:latin typeface="Calibri"/>
              </a:rPr>
              <a:t>Hauptquelle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53200" y="3114000"/>
            <a:ext cx="3283199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374151"/>
                </a:solidFill>
                <a:latin typeface="Calibri"/>
              </a:rPr>
              <a:t>Blatt „1.1 Eckwerte“ als Hauptquelle für die gesamte Analyse identifiziert.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78400" y="2556000"/>
            <a:ext cx="3607200" cy="2520000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78400" y="2556000"/>
            <a:ext cx="3607200" cy="90000"/>
          </a:xfrm>
          <a:prstGeom prst="rect">
            <a:avLst/>
          </a:prstGeom>
          <a:solidFill>
            <a:srgbClr val="A04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0400" y="2736000"/>
            <a:ext cx="3283199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A0453F"/>
                </a:solidFill>
                <a:latin typeface="Calibri"/>
              </a:rPr>
              <a:t>⚠️ Wartezeit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0400" y="3114000"/>
            <a:ext cx="3283199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374151"/>
                </a:solidFill>
                <a:latin typeface="Calibri"/>
              </a:rPr>
              <a:t>Blätter 3.1–3.6 und 4.1–4.2 melden Werte mit 3–6 Monaten Wartezeit statt dem aktuellen Berichtsmonat.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936000"/>
          </a:xfrm>
          <a:prstGeom prst="rect">
            <a:avLst/>
          </a:prstGeom>
          <a:solidFill>
            <a:srgbClr val="6B5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2000" y="90000"/>
            <a:ext cx="11329200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2.2 – 2.5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306000"/>
            <a:ext cx="113292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Datenpipeline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3999" y="1206000"/>
            <a:ext cx="11185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6B7280"/>
                </a:solidFill>
                <a:latin typeface="Calibri"/>
              </a:rPr>
              <a:t>Von den Rohdaten zur Kennzahlen-Zeitreihe — fünf Schritte:</a:t>
            </a:r>
          </a:p>
        </p:txBody>
      </p:sp>
      <p:sp>
        <p:nvSpPr>
          <p:cNvPr id="6" name="Rectangle 5"/>
          <p:cNvSpPr/>
          <p:nvPr/>
        </p:nvSpPr>
        <p:spPr>
          <a:xfrm>
            <a:off x="503999" y="1655999"/>
            <a:ext cx="1877040" cy="3096000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3999" y="1655999"/>
            <a:ext cx="1877040" cy="90000"/>
          </a:xfrm>
          <a:prstGeom prst="rect">
            <a:avLst/>
          </a:prstGeom>
          <a:solidFill>
            <a:srgbClr val="3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000" y="1818000"/>
            <a:ext cx="166104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3B6EA8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000" y="2106000"/>
            <a:ext cx="166104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374151"/>
                </a:solidFill>
                <a:latin typeface="Calibri"/>
              </a:rPr>
              <a:t>normalize_label()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000" y="2681999"/>
            <a:ext cx="1661040" cy="196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 i="0">
                <a:solidFill>
                  <a:srgbClr val="6B7280"/>
                </a:solidFill>
                <a:latin typeface="Calibri"/>
              </a:rPr>
              <a:t>entfernt Fußnotenmarker per Regex aus Zeilenbeschriftungen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07040" y="3005999"/>
            <a:ext cx="198000" cy="39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 i="0">
                <a:solidFill>
                  <a:srgbClr val="6B7280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31040" y="1655999"/>
            <a:ext cx="1877040" cy="3096000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31040" y="1655999"/>
            <a:ext cx="1877040" cy="90000"/>
          </a:xfrm>
          <a:prstGeom prst="rect">
            <a:avLst/>
          </a:prstGeom>
          <a:solidFill>
            <a:srgbClr val="6B5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39040" y="1818000"/>
            <a:ext cx="166104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6B5B8F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39040" y="2106000"/>
            <a:ext cx="166104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374151"/>
                </a:solidFill>
                <a:latin typeface="Calibri"/>
              </a:rPr>
              <a:t>parse_eckwerte()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39040" y="2681999"/>
            <a:ext cx="1661040" cy="196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 i="0">
                <a:solidFill>
                  <a:srgbClr val="6B7280"/>
                </a:solidFill>
                <a:latin typeface="Calibri"/>
              </a:rPr>
              <a:t>liest Zeilen 9–47, Berichtsmonat aus Dateiname abgeleitet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34080" y="3005999"/>
            <a:ext cx="198000" cy="39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 i="0">
                <a:solidFill>
                  <a:srgbClr val="6B7280"/>
                </a:solidFill>
                <a:latin typeface="Calibr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8080" y="1655999"/>
            <a:ext cx="1877040" cy="3096000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8080" y="1655999"/>
            <a:ext cx="1877040" cy="90000"/>
          </a:xfrm>
          <a:prstGeom prst="rect">
            <a:avLst/>
          </a:prstGeom>
          <a:solidFill>
            <a:srgbClr val="C7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66080" y="1818000"/>
            <a:ext cx="166104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C79A56"/>
                </a:solidFill>
                <a:latin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66080" y="2106000"/>
            <a:ext cx="166104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374151"/>
                </a:solidFill>
                <a:latin typeface="Calibri"/>
              </a:rPr>
              <a:t>Bereinigung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66080" y="2681999"/>
            <a:ext cx="1661040" cy="196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 i="0">
                <a:solidFill>
                  <a:srgbClr val="6B7280"/>
                </a:solidFill>
                <a:latin typeface="Calibri"/>
              </a:rPr>
              <a:t>0 Duplikate, 108/558 fehlende Werte identifiziert und erklärt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61120" y="3005999"/>
            <a:ext cx="198000" cy="39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 i="0">
                <a:solidFill>
                  <a:srgbClr val="6B7280"/>
                </a:solidFill>
                <a:latin typeface="Calibri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85120" y="1655999"/>
            <a:ext cx="1877040" cy="3096000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485120" y="1655999"/>
            <a:ext cx="1877040" cy="90000"/>
          </a:xfrm>
          <a:prstGeom prst="rect">
            <a:avLst/>
          </a:prstGeom>
          <a:solidFill>
            <a:srgbClr val="3F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93120" y="1818000"/>
            <a:ext cx="166104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3F7A72"/>
                </a:solidFill>
                <a:latin typeface="Calibri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93120" y="2106000"/>
            <a:ext cx="166104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374151"/>
                </a:solidFill>
                <a:latin typeface="Calibri"/>
              </a:rPr>
              <a:t>pivot_table()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93120" y="2681999"/>
            <a:ext cx="1661040" cy="196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 i="0">
                <a:solidFill>
                  <a:srgbClr val="6B7280"/>
                </a:solidFill>
                <a:latin typeface="Calibri"/>
              </a:rPr>
              <a:t>erzeugt Wide-Format-Zeitreihe mit 9 zentralen Kennzahlen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88160" y="3005999"/>
            <a:ext cx="198000" cy="39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 i="0">
                <a:solidFill>
                  <a:srgbClr val="6B7280"/>
                </a:solidFill>
                <a:latin typeface="Calibri"/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812160" y="1655999"/>
            <a:ext cx="1877040" cy="3096000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812160" y="1655999"/>
            <a:ext cx="1877040" cy="90000"/>
          </a:xfrm>
          <a:prstGeom prst="rect">
            <a:avLst/>
          </a:prstGeom>
          <a:solidFill>
            <a:srgbClr val="A04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20160" y="1818000"/>
            <a:ext cx="166104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A0453F"/>
                </a:solidFill>
                <a:latin typeface="Calibri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20160" y="2106000"/>
            <a:ext cx="166104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374151"/>
                </a:solidFill>
                <a:latin typeface="Calibri"/>
              </a:rPr>
              <a:t>Export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20160" y="2681999"/>
            <a:ext cx="1661040" cy="196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 i="0">
                <a:solidFill>
                  <a:srgbClr val="6B7280"/>
                </a:solidFill>
                <a:latin typeface="Calibri"/>
              </a:rPr>
              <a:t>eckwerte_long.csv &amp; kennzahlen_sgb2.csv — Basis für Analyse &amp; Dashboard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936000"/>
          </a:xfrm>
          <a:prstGeom prst="rect">
            <a:avLst/>
          </a:prstGeom>
          <a:solidFill>
            <a:srgbClr val="6B5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2000" y="90000"/>
            <a:ext cx="11329200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2.3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306000"/>
            <a:ext cx="113292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Datenüberblick nach der Bereinigung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3999" y="1692000"/>
            <a:ext cx="2634300" cy="1728000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3999" y="1692000"/>
            <a:ext cx="2634300" cy="90000"/>
          </a:xfrm>
          <a:prstGeom prst="rect">
            <a:avLst/>
          </a:prstGeom>
          <a:solidFill>
            <a:srgbClr val="6B5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11999" y="1980000"/>
            <a:ext cx="2418300" cy="72856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de-DE" sz="3000" b="1" i="0">
                <a:solidFill>
                  <a:srgbClr val="7C3AED"/>
                </a:solidFill>
                <a:latin typeface="Calibri"/>
              </a:rPr>
              <a:t>558 </a:t>
            </a:r>
            <a:r>
              <a:rPr sz="3000" b="1" i="0">
                <a:solidFill>
                  <a:srgbClr val="7C3AED"/>
                </a:solidFill>
                <a:latin typeface="Calibri"/>
              </a:rPr>
              <a:t>× </a:t>
            </a:r>
            <a:r>
              <a:rPr lang="de-DE" sz="3000" b="1" i="0">
                <a:solidFill>
                  <a:srgbClr val="7C3AED"/>
                </a:solidFill>
                <a:latin typeface="Calibri"/>
              </a:rPr>
              <a:t>8</a:t>
            </a:r>
            <a:endParaRPr sz="3000" b="1" i="0">
              <a:solidFill>
                <a:srgbClr val="7C3AED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11999" y="2736000"/>
            <a:ext cx="24183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de-DE" sz="1400" b="0" i="0">
                <a:solidFill>
                  <a:srgbClr val="374151"/>
                </a:solidFill>
                <a:latin typeface="Calibri"/>
              </a:rPr>
              <a:t>Zeilen </a:t>
            </a:r>
            <a:r>
              <a:rPr sz="1400" b="0" i="0">
                <a:solidFill>
                  <a:srgbClr val="374151"/>
                </a:solidFill>
                <a:latin typeface="Calibri"/>
              </a:rPr>
              <a:t>× </a:t>
            </a:r>
            <a:r>
              <a:rPr lang="de-DE" sz="1400" b="0" i="0">
                <a:solidFill>
                  <a:srgbClr val="374151"/>
                </a:solidFill>
                <a:latin typeface="Calibri"/>
              </a:rPr>
              <a:t>Spalten</a:t>
            </a:r>
            <a:endParaRPr sz="1400" b="0" i="0">
              <a:solidFill>
                <a:srgbClr val="374151"/>
              </a:solidFill>
              <a:latin typeface="Calibr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354299" y="1692000"/>
            <a:ext cx="2634300" cy="1728000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354299" y="1692000"/>
            <a:ext cx="2634300" cy="90000"/>
          </a:xfrm>
          <a:prstGeom prst="rect">
            <a:avLst/>
          </a:prstGeom>
          <a:solidFill>
            <a:srgbClr val="3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62299" y="1980000"/>
            <a:ext cx="2418300" cy="72856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de-DE" sz="3000" b="1" i="0">
                <a:solidFill>
                  <a:srgbClr val="2563EB"/>
                </a:solidFill>
                <a:latin typeface="Calibri"/>
              </a:rPr>
              <a:t>0</a:t>
            </a:r>
            <a:endParaRPr sz="3000" b="1" i="0">
              <a:solidFill>
                <a:srgbClr val="2563EB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462299" y="2736000"/>
            <a:ext cx="24183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de-DE" sz="1400" b="0" i="0">
                <a:solidFill>
                  <a:srgbClr val="374151"/>
                </a:solidFill>
                <a:latin typeface="Calibri"/>
              </a:rPr>
              <a:t>Duplikate</a:t>
            </a:r>
            <a:endParaRPr sz="1400" b="0" i="0">
              <a:solidFill>
                <a:srgbClr val="374151"/>
              </a:solidFill>
              <a:latin typeface="Calibr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204599" y="1692000"/>
            <a:ext cx="2634300" cy="1728000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04599" y="1692000"/>
            <a:ext cx="2634300" cy="90000"/>
          </a:xfrm>
          <a:prstGeom prst="rect">
            <a:avLst/>
          </a:prstGeom>
          <a:solidFill>
            <a:srgbClr val="C7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12599" y="1980000"/>
            <a:ext cx="2418300" cy="72856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de-DE" sz="3000" b="1" i="0">
                <a:solidFill>
                  <a:srgbClr val="F59E0B"/>
                </a:solidFill>
                <a:latin typeface="Calibri"/>
              </a:rPr>
              <a:t>108 / 558</a:t>
            </a:r>
            <a:endParaRPr sz="3000" b="1" i="0">
              <a:solidFill>
                <a:srgbClr val="F59E0B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312599" y="2736000"/>
            <a:ext cx="24183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de-DE" sz="1400" b="0" i="0">
                <a:solidFill>
                  <a:srgbClr val="374151"/>
                </a:solidFill>
                <a:latin typeface="Calibri"/>
              </a:rPr>
              <a:t>fehlende Werte
(erklärt)</a:t>
            </a:r>
            <a:endParaRPr sz="1400" b="0" i="0">
              <a:solidFill>
                <a:srgbClr val="374151"/>
              </a:solidFill>
              <a:latin typeface="Calibri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9054899" y="1692000"/>
            <a:ext cx="2634300" cy="1728000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054899" y="1692000"/>
            <a:ext cx="2634300" cy="90000"/>
          </a:xfrm>
          <a:prstGeom prst="rect">
            <a:avLst/>
          </a:prstGeom>
          <a:solidFill>
            <a:srgbClr val="A04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62899" y="1980000"/>
            <a:ext cx="2418300" cy="72856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de-DE" sz="3000" b="1" i="0">
                <a:solidFill>
                  <a:srgbClr val="DC2626"/>
                </a:solidFill>
                <a:latin typeface="Calibri"/>
              </a:rPr>
              <a:t>9</a:t>
            </a:r>
            <a:endParaRPr sz="3000" b="1" i="0">
              <a:solidFill>
                <a:srgbClr val="DC2626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162899" y="2736000"/>
            <a:ext cx="24183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de-DE" sz="1400" b="0" i="0">
                <a:solidFill>
                  <a:srgbClr val="374151"/>
                </a:solidFill>
                <a:latin typeface="Calibri"/>
              </a:rPr>
              <a:t>aufbereitete
Kennzahlen</a:t>
            </a:r>
            <a:endParaRPr sz="1400" b="0" i="0">
              <a:solidFill>
                <a:srgbClr val="374151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03999" y="1206000"/>
            <a:ext cx="111852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1">
                <a:solidFill>
                  <a:srgbClr val="6B7280"/>
                </a:solidFill>
                <a:latin typeface="Calibri"/>
              </a:rPr>
              <a:t>Nach dem Einlesen aller 18 Excel-Dateien ergibt sich folgender Datenüberblick: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3999" y="3671999"/>
            <a:ext cx="11185200" cy="1296000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3999" y="3671999"/>
            <a:ext cx="90000" cy="1296000"/>
          </a:xfrm>
          <a:prstGeom prst="rect">
            <a:avLst/>
          </a:prstGeom>
          <a:solidFill>
            <a:srgbClr val="6B5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7999" y="3797999"/>
            <a:ext cx="106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6B5B8F"/>
                </a:solidFill>
                <a:latin typeface="Calibri"/>
              </a:rPr>
              <a:t>Warum fehlen Werte?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999" y="4121999"/>
            <a:ext cx="10620000" cy="73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374151"/>
                </a:solidFill>
                <a:latin typeface="Calibri"/>
              </a:rPr>
              <a:t>Die 108 fehlenden Werte betreffen fast ausschließlich die Kategorie „gemeldete Arbeitsstellen“ — diese wird von der Bundesagentur nicht nach Rechtskreis differenziert ausgewiesen und besitzt daher keinen eigenen SGB-II-Wert.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79A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51999"/>
            <a:ext cx="12193200" cy="5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20000" y="1314000"/>
            <a:ext cx="10753200" cy="260568"/>
          </a:xfrm>
          <a:prstGeom prst="rect">
            <a:avLst/>
          </a:prstGeom>
          <a:noFill/>
        </p:spPr>
        <p:txBody>
          <a:bodyPr wrap="square" anchor="t">
            <a:normAutofit fontScale="55000" lnSpcReduction="20000"/>
          </a:bodyPr>
          <a:lstStyle/>
          <a:p>
            <a:pPr algn="l"/>
            <a:r>
              <a:rPr sz="2200" b="1" i="0">
                <a:solidFill>
                  <a:srgbClr val="BFDBFE"/>
                </a:solidFill>
                <a:latin typeface="Calibri"/>
              </a:rPr>
              <a:t>KAPITEL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1602000"/>
            <a:ext cx="10753200" cy="79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Datenanalyse
und Visualisierung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3311999"/>
            <a:ext cx="107532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E0E7FF"/>
                </a:solidFill>
                <a:latin typeface="Calibri"/>
              </a:rPr>
              <a:t>●  Kennzahlen im Vergleich (Übersicht &amp; indexiert)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E0E7FF"/>
                </a:solidFill>
                <a:latin typeface="Calibri"/>
              </a:rPr>
              <a:t>●  Arbeitslosen- und Unterbeschäftigungsquote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E0E7FF"/>
                </a:solidFill>
                <a:latin typeface="Calibri"/>
              </a:rPr>
              <a:t>●  Langzeitarbeitslosigkeit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E0E7FF"/>
                </a:solidFill>
                <a:latin typeface="Calibri"/>
              </a:rPr>
              <a:t>●  Altersstruktur, Geschlecht, Veränderungen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936000"/>
          </a:xfrm>
          <a:prstGeom prst="rect">
            <a:avLst/>
          </a:prstGeom>
          <a:solidFill>
            <a:srgbClr val="3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2000" y="90000"/>
            <a:ext cx="11329200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3.1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306000"/>
            <a:ext cx="113292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Übersicht: Kennzahlen im Vergleich</a:t>
            </a:r>
          </a:p>
        </p:txBody>
      </p:sp>
      <p:pic>
        <p:nvPicPr>
          <p:cNvPr id="5" name="Picture 4" descr="abb1_uebersic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6600" y="1152000"/>
            <a:ext cx="9720000" cy="486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3999" y="6084000"/>
            <a:ext cx="11185201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1">
                <a:solidFill>
                  <a:srgbClr val="6B7280"/>
                </a:solidFill>
                <a:latin typeface="Calibri"/>
              </a:rPr>
              <a:t>Personen in BG (Fläche) sowie Bedarfsgemeinschaften, Arbeitslose und Langzeitarbeitslose (überlappende Balken), Januar 2025 – Juni 2026.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936000"/>
          </a:xfrm>
          <a:prstGeom prst="rect">
            <a:avLst/>
          </a:prstGeom>
          <a:solidFill>
            <a:srgbClr val="3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2000" y="90000"/>
            <a:ext cx="11329200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3.2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306000"/>
            <a:ext cx="113292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Arbeitslosen- vs. Unterbeschäftigungsquote</a:t>
            </a:r>
          </a:p>
        </p:txBody>
      </p:sp>
      <p:pic>
        <p:nvPicPr>
          <p:cNvPr id="5" name="Picture 4" descr="abb2_quo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1152000"/>
            <a:ext cx="10753200" cy="48389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3999" y="6062940"/>
            <a:ext cx="11185201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1">
                <a:solidFill>
                  <a:srgbClr val="6B7280"/>
                </a:solidFill>
                <a:latin typeface="Calibri"/>
              </a:rPr>
              <a:t>Beide Quoten bewegen sich in einer engen, stabilen Bandbreite (1,2–1,9 %).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936000"/>
          </a:xfrm>
          <a:prstGeom prst="rect">
            <a:avLst/>
          </a:prstGeom>
          <a:solidFill>
            <a:srgbClr val="6B5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2000" y="90000"/>
            <a:ext cx="11329200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3.3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306000"/>
            <a:ext cx="113292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Langzeitarbeitslosigkeit</a:t>
            </a:r>
          </a:p>
        </p:txBody>
      </p:sp>
      <p:pic>
        <p:nvPicPr>
          <p:cNvPr id="5" name="Picture 4" descr="abb3_lza_ante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1152000"/>
            <a:ext cx="10753200" cy="45163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3999" y="5740344"/>
            <a:ext cx="11185201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1">
                <a:solidFill>
                  <a:srgbClr val="6B7280"/>
                </a:solidFill>
                <a:latin typeface="Calibri"/>
              </a:rPr>
              <a:t>Deutlichster Trend im Datensatz: Anteil an allen Arbeitslosen von 34,1 % auf 47,3 % gestiegen.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936000"/>
          </a:xfrm>
          <a:prstGeom prst="rect">
            <a:avLst/>
          </a:prstGeom>
          <a:solidFill>
            <a:srgbClr val="6B5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2000" y="90000"/>
            <a:ext cx="11329200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3.4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306000"/>
            <a:ext cx="113292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Kennzahlen im Vergleich (indexiert)</a:t>
            </a:r>
          </a:p>
        </p:txBody>
      </p:sp>
      <p:pic>
        <p:nvPicPr>
          <p:cNvPr id="5" name="Picture 4" descr="abb4_indexie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1152000"/>
            <a:ext cx="10753200" cy="48389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3999" y="6062940"/>
            <a:ext cx="11185201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1">
                <a:solidFill>
                  <a:srgbClr val="6B7280"/>
                </a:solidFill>
                <a:latin typeface="Calibri"/>
              </a:rPr>
              <a:t>Startmonat = 100 %: der Index der Langzeitarbeitslosen steigt sichtbar über die anderen Kennzahlen hinaus.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936000"/>
          </a:xfrm>
          <a:prstGeom prst="rect">
            <a:avLst/>
          </a:prstGeom>
          <a:solidFill>
            <a:srgbClr val="C7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2000" y="90000"/>
            <a:ext cx="11329200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3.5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306000"/>
            <a:ext cx="113292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Altersstruktur und Geschlecht</a:t>
            </a:r>
          </a:p>
        </p:txBody>
      </p:sp>
      <p:pic>
        <p:nvPicPr>
          <p:cNvPr id="5" name="Picture 4" descr="abb5_alter_geschlec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1152000"/>
            <a:ext cx="10753200" cy="43990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3999" y="5623036"/>
            <a:ext cx="11185201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1">
                <a:solidFill>
                  <a:srgbClr val="6B7280"/>
                </a:solidFill>
                <a:latin typeface="Calibri"/>
              </a:rPr>
              <a:t>Momentaufnahme für den letzten Berichtsmonat (Juni 2026).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32000" y="90000"/>
            <a:ext cx="11329200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3.6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306000"/>
            <a:ext cx="113292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Veränderung zum Vormonat und Vorjahresmonat (Juni 2026)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3999" y="1296000"/>
            <a:ext cx="2635200" cy="3564000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3999" y="1296000"/>
            <a:ext cx="2635200" cy="90000"/>
          </a:xfrm>
          <a:prstGeom prst="rect">
            <a:avLst/>
          </a:prstGeom>
          <a:solidFill>
            <a:srgbClr val="3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000" y="1458000"/>
            <a:ext cx="23832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3B6EA8"/>
                </a:solidFill>
                <a:latin typeface="Calibri"/>
              </a:rPr>
              <a:t>Arbeitslose
(Bestand)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000" y="2214000"/>
            <a:ext cx="23832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 i="0">
                <a:solidFill>
                  <a:srgbClr val="6B7280"/>
                </a:solidFill>
                <a:latin typeface="Calibri"/>
              </a:rPr>
              <a:t>ZUM VORMONAT (MAI 2026)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" y="2592000"/>
            <a:ext cx="23832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3F7A72"/>
                </a:solidFill>
                <a:latin typeface="Calibri"/>
              </a:rPr>
              <a:t>↓ −52 (−3,4 %)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000" y="3114000"/>
            <a:ext cx="2383200" cy="10800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000" y="3221999"/>
            <a:ext cx="23832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 i="0">
                <a:solidFill>
                  <a:srgbClr val="6B7280"/>
                </a:solidFill>
                <a:latin typeface="Calibri"/>
              </a:rPr>
              <a:t>ZUM VORJAHRESMONAT (JUNI 2025)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000" y="3600000"/>
            <a:ext cx="23832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3F7A72"/>
                </a:solidFill>
                <a:latin typeface="Calibri"/>
              </a:rPr>
              <a:t>↓ −9 (−0,6 %)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55200" y="1296000"/>
            <a:ext cx="2635200" cy="3564000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55200" y="1296000"/>
            <a:ext cx="2635200" cy="90000"/>
          </a:xfrm>
          <a:prstGeom prst="rect">
            <a:avLst/>
          </a:prstGeom>
          <a:solidFill>
            <a:srgbClr val="6B5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81200" y="1458000"/>
            <a:ext cx="23832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6B5B8F"/>
                </a:solidFill>
                <a:latin typeface="Calibri"/>
              </a:rPr>
              <a:t>Langzeit-
arbeitslose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81200" y="2214000"/>
            <a:ext cx="23832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 i="0">
                <a:solidFill>
                  <a:srgbClr val="6B7280"/>
                </a:solidFill>
                <a:latin typeface="Calibri"/>
              </a:rPr>
              <a:t>ZUM VORMONAT (MAI 2026)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81200" y="2592000"/>
            <a:ext cx="23832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3F7A72"/>
                </a:solidFill>
                <a:latin typeface="Calibri"/>
              </a:rPr>
              <a:t>↓ −5 (−0,7 %)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81200" y="3114000"/>
            <a:ext cx="2383200" cy="10800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81200" y="3221999"/>
            <a:ext cx="23832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 i="0">
                <a:solidFill>
                  <a:srgbClr val="6B7280"/>
                </a:solidFill>
                <a:latin typeface="Calibri"/>
              </a:rPr>
              <a:t>ZUM VORJAHRESMONAT (JUNI 2025)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81200" y="3600000"/>
            <a:ext cx="23832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A0453F"/>
                </a:solidFill>
                <a:latin typeface="Calibri"/>
              </a:rPr>
              <a:t>↑ +158 (+28,7 %)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02800" y="1296000"/>
            <a:ext cx="2635200" cy="3564000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02800" y="1296000"/>
            <a:ext cx="2635200" cy="90000"/>
          </a:xfrm>
          <a:prstGeom prst="rect">
            <a:avLst/>
          </a:prstGeom>
          <a:solidFill>
            <a:srgbClr val="C7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28800" y="1458000"/>
            <a:ext cx="23832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C79A56"/>
                </a:solidFill>
                <a:latin typeface="Calibri"/>
              </a:rPr>
              <a:t>Bedarfs-
gemeinschaften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8800" y="2214000"/>
            <a:ext cx="23832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 i="0">
                <a:solidFill>
                  <a:srgbClr val="6B7280"/>
                </a:solidFill>
                <a:latin typeface="Calibri"/>
              </a:rPr>
              <a:t>ZUM VORMONAT (MAI 2026)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8800" y="2592000"/>
            <a:ext cx="23832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3F7A72"/>
                </a:solidFill>
                <a:latin typeface="Calibri"/>
              </a:rPr>
              <a:t>↓ −41 (−1,5 %)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28800" y="3114000"/>
            <a:ext cx="2383200" cy="10800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28800" y="3221999"/>
            <a:ext cx="23832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 i="0">
                <a:solidFill>
                  <a:srgbClr val="6B7280"/>
                </a:solidFill>
                <a:latin typeface="Calibri"/>
              </a:rPr>
              <a:t>ZUM VORJAHRESMONAT (JUNI 2025)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8800" y="3600000"/>
            <a:ext cx="23832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3F7A72"/>
                </a:solidFill>
                <a:latin typeface="Calibri"/>
              </a:rPr>
              <a:t>↓ −23 (−0,9 %)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54000" y="1296000"/>
            <a:ext cx="2635200" cy="3564000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54000" y="1296000"/>
            <a:ext cx="2635200" cy="90000"/>
          </a:xfrm>
          <a:prstGeom prst="rect">
            <a:avLst/>
          </a:prstGeom>
          <a:solidFill>
            <a:srgbClr val="3F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000" y="1458000"/>
            <a:ext cx="23832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3F7A72"/>
                </a:solidFill>
                <a:latin typeface="Calibri"/>
              </a:rPr>
              <a:t>Personen
in BG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80000" y="2214000"/>
            <a:ext cx="23832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 i="0">
                <a:solidFill>
                  <a:srgbClr val="6B7280"/>
                </a:solidFill>
                <a:latin typeface="Calibri"/>
              </a:rPr>
              <a:t>ZUM VORMONAT (MAI 2026)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80000" y="2592000"/>
            <a:ext cx="23832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3F7A72"/>
                </a:solidFill>
                <a:latin typeface="Calibri"/>
              </a:rPr>
              <a:t>↓ −65 (−1,2 %)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80000" y="3114000"/>
            <a:ext cx="2383200" cy="10800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80000" y="3221999"/>
            <a:ext cx="23832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 i="0">
                <a:solidFill>
                  <a:srgbClr val="6B7280"/>
                </a:solidFill>
                <a:latin typeface="Calibri"/>
              </a:rPr>
              <a:t>ZUM VORJAHRESMONAT (JUNI 2025)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80000" y="3600000"/>
            <a:ext cx="23832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3F7A72"/>
                </a:solidFill>
                <a:latin typeface="Calibri"/>
              </a:rPr>
              <a:t>↓ −126 (−2,4 %)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3999" y="5004000"/>
            <a:ext cx="111852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6B7280"/>
                </a:solidFill>
                <a:latin typeface="Calibri"/>
              </a:rPr>
              <a:t>Auffällig: Die Langzeitarbeitslosigkeit ist die einzige Kennzahl mit einem deutlichen Anstieg zum Vorjahresmonat (+28,7 %) — alle anderen Kennzahlen sind gegenüber Vormonat und Vorjahr rückläufig.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936000"/>
          </a:xfrm>
          <a:prstGeom prst="rect">
            <a:avLst/>
          </a:prstGeom>
          <a:solidFill>
            <a:srgbClr val="A04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2000" y="90000"/>
            <a:ext cx="11329200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3.7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306000"/>
            <a:ext cx="113292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Zusammenfassung der Analyseergebnisse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3999" y="1224000"/>
            <a:ext cx="2635200" cy="2268000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3999" y="1224000"/>
            <a:ext cx="2635200" cy="90000"/>
          </a:xfrm>
          <a:prstGeom prst="rect">
            <a:avLst/>
          </a:prstGeom>
          <a:solidFill>
            <a:srgbClr val="3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000" y="1350000"/>
            <a:ext cx="23832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3B6EA8"/>
                </a:solidFill>
                <a:latin typeface="Calibri"/>
              </a:rPr>
              <a:t>Arbeitslose (Bestand)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000" y="1854000"/>
            <a:ext cx="23832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 i="0">
                <a:solidFill>
                  <a:srgbClr val="6B7280"/>
                </a:solidFill>
                <a:latin typeface="Calibri"/>
              </a:rPr>
              <a:t>ZEITRAUM: JAN 2025 – JUN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" y="2088000"/>
            <a:ext cx="2383200" cy="5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374151"/>
                </a:solidFill>
                <a:latin typeface="Calibri"/>
              </a:rPr>
              <a:t>1.470 → 1.500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000" y="2681999"/>
            <a:ext cx="2383200" cy="7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 i="0">
                <a:solidFill>
                  <a:srgbClr val="6B7280"/>
                </a:solidFill>
                <a:latin typeface="Calibri"/>
              </a:rPr>
              <a:t>leicht gestiegen · Spanne 1.382–1.587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55200" y="1224000"/>
            <a:ext cx="2635200" cy="2268000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55200" y="1224000"/>
            <a:ext cx="2635200" cy="90000"/>
          </a:xfrm>
          <a:prstGeom prst="rect">
            <a:avLst/>
          </a:prstGeom>
          <a:solidFill>
            <a:srgbClr val="6B5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81200" y="1350000"/>
            <a:ext cx="23832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6B5B8F"/>
                </a:solidFill>
                <a:latin typeface="Calibri"/>
              </a:rPr>
              <a:t>Arbeitslosenquote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1200" y="1854000"/>
            <a:ext cx="23832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 i="0">
                <a:solidFill>
                  <a:srgbClr val="6B7280"/>
                </a:solidFill>
                <a:latin typeface="Calibri"/>
              </a:rPr>
              <a:t>ZEITRAUM: JAN 2025 – JUN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81200" y="2088000"/>
            <a:ext cx="2383200" cy="5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374151"/>
                </a:solidFill>
                <a:latin typeface="Calibri"/>
              </a:rPr>
              <a:t>1,2–1,4 %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81200" y="2681999"/>
            <a:ext cx="2383200" cy="7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 i="0">
                <a:solidFill>
                  <a:srgbClr val="6B7280"/>
                </a:solidFill>
                <a:latin typeface="Calibri"/>
              </a:rPr>
              <a:t>stabil über den gesamten Zeitraum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02800" y="1224000"/>
            <a:ext cx="2635200" cy="2268000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2800" y="1224000"/>
            <a:ext cx="2635200" cy="90000"/>
          </a:xfrm>
          <a:prstGeom prst="rect">
            <a:avLst/>
          </a:prstGeom>
          <a:solidFill>
            <a:srgbClr val="A04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8800" y="1350000"/>
            <a:ext cx="23832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A0453F"/>
                </a:solidFill>
                <a:latin typeface="Calibri"/>
              </a:rPr>
              <a:t>Langzeitarbeitslosigkeit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8800" y="1854000"/>
            <a:ext cx="23832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 i="0">
                <a:solidFill>
                  <a:srgbClr val="6B7280"/>
                </a:solidFill>
                <a:latin typeface="Calibri"/>
              </a:rPr>
              <a:t>ZEITRAUM: JAN 2025 – JUN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8800" y="2088000"/>
            <a:ext cx="2383200" cy="5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374151"/>
                </a:solidFill>
                <a:latin typeface="Calibri"/>
              </a:rPr>
              <a:t>502 → 709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8800" y="2681999"/>
            <a:ext cx="2383200" cy="7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 i="0">
                <a:solidFill>
                  <a:srgbClr val="6B7280"/>
                </a:solidFill>
                <a:latin typeface="Calibri"/>
              </a:rPr>
              <a:t>+ rund 41 % — deutlichster Trend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54000" y="1224000"/>
            <a:ext cx="2635200" cy="2268000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54000" y="1224000"/>
            <a:ext cx="2635200" cy="90000"/>
          </a:xfrm>
          <a:prstGeom prst="rect">
            <a:avLst/>
          </a:prstGeom>
          <a:solidFill>
            <a:srgbClr val="3F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80000" y="1350000"/>
            <a:ext cx="23832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3F7A72"/>
                </a:solidFill>
                <a:latin typeface="Calibri"/>
              </a:rPr>
              <a:t>Bedarfsgemeinschaften /
Personen in BG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0000" y="1854000"/>
            <a:ext cx="23832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 i="0">
                <a:solidFill>
                  <a:srgbClr val="6B7280"/>
                </a:solidFill>
                <a:latin typeface="Calibri"/>
              </a:rPr>
              <a:t>ZEITRAUM: JAN 2025 – JUN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0000" y="2088000"/>
            <a:ext cx="2383200" cy="5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374151"/>
                </a:solidFill>
                <a:latin typeface="Calibri"/>
              </a:rPr>
              <a:t>−4 % / −6 %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0000" y="2681999"/>
            <a:ext cx="2383200" cy="7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 i="0">
                <a:solidFill>
                  <a:srgbClr val="6B7280"/>
                </a:solidFill>
                <a:latin typeface="Calibri"/>
              </a:rPr>
              <a:t>beide Kennzahlen rückläufig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3999" y="3690000"/>
            <a:ext cx="11185200" cy="1655999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3999" y="3690000"/>
            <a:ext cx="90000" cy="1655999"/>
          </a:xfrm>
          <a:prstGeom prst="rect">
            <a:avLst/>
          </a:prstGeom>
          <a:solidFill>
            <a:srgbClr val="A04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7999" y="3834000"/>
            <a:ext cx="106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A0453F"/>
                </a:solidFill>
                <a:latin typeface="Calibri"/>
              </a:rPr>
              <a:t>Interpretation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999" y="4176000"/>
            <a:ext cx="10620000" cy="10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374151"/>
                </a:solidFill>
                <a:latin typeface="Calibri"/>
              </a:rPr>
              <a:t>Die reine Arbeitslosenzahl ist stabil geblieben — aber die Langzeitarbeitslosigkeit verfestigt sich deutlich, trotz insgesamt sinkender Bedarfsgemeinschaften. Ein Befund, der ohne strukturierte Aufbereitung der Rohdaten kaum erkennbar gewesen wäre.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7A7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51999"/>
            <a:ext cx="12193588" cy="54000"/>
          </a:xfrm>
          <a:prstGeom prst="rect">
            <a:avLst/>
          </a:prstGeom>
          <a:solidFill>
            <a:srgbClr val="C7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20000" y="1314000"/>
            <a:ext cx="107532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BFDBFE"/>
                </a:solidFill>
                <a:latin typeface="Calibri"/>
              </a:rPr>
              <a:t>KAPITEL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1602000"/>
            <a:ext cx="107532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"/>
              </a:rPr>
              <a:t>Vertiefte statistische Analyse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3311999"/>
            <a:ext cx="107532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0" i="0">
                <a:solidFill>
                  <a:srgbClr val="E0E7FF"/>
                </a:solidFill>
                <a:latin typeface="Calibri"/>
              </a:rPr>
              <a:t>●  Deskriptive Statistik im Detail (Median, Varianz, IQR, Variationskoeffizient)</a:t>
            </a:r>
          </a:p>
          <a:p>
            <a:pPr>
              <a:spcAft>
                <a:spcPts val="1400"/>
              </a:spcAft>
            </a:pPr>
            <a:r>
              <a:rPr sz="1800" b="0" i="0">
                <a:solidFill>
                  <a:srgbClr val="E0E7FF"/>
                </a:solidFill>
                <a:latin typeface="Calibri"/>
              </a:rPr>
              <a:t>●  Korrelationsanalyse und Verteilungen</a:t>
            </a:r>
          </a:p>
          <a:p>
            <a:pPr>
              <a:spcAft>
                <a:spcPts val="1400"/>
              </a:spcAft>
            </a:pPr>
            <a:r>
              <a:rPr sz="1800" b="0" i="0">
                <a:solidFill>
                  <a:srgbClr val="E0E7FF"/>
                </a:solidFill>
                <a:latin typeface="Calibri"/>
              </a:rPr>
              <a:t>●  Inferenzstatistik (Hypothesentest) und lineare Regression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588" cy="936000"/>
          </a:xfrm>
          <a:prstGeom prst="rect">
            <a:avLst/>
          </a:prstGeom>
          <a:solidFill>
            <a:srgbClr val="3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2000" y="90000"/>
            <a:ext cx="113292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Calibri"/>
              </a:rPr>
              <a:t>4.1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306000"/>
            <a:ext cx="11329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Deskriptive Statistik im Detail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3999" y="1224000"/>
            <a:ext cx="11185200" cy="523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0" i="0">
                <a:solidFill>
                  <a:srgbClr val="374151"/>
                </a:solidFill>
                <a:latin typeface="Calibri"/>
              </a:rPr>
              <a:t>●  Arbeitslose (Bestand): Ø 1.504,0, Median 1.513,0, Variationskoeffizient ≈ 3,9 %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74151"/>
                </a:solidFill>
                <a:latin typeface="Calibri"/>
              </a:rPr>
              <a:t>●  Langzeitarbeitslose: Ø 602,2, Median 599,0, Variationskoeffizient ≈ 11,8 %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74151"/>
                </a:solidFill>
                <a:latin typeface="Calibri"/>
              </a:rPr>
              <a:t>●  Bedarfsgemeinschaften: Ø 2.691,7, Median 2.692,1, Variationskoeffizient ≈ 2,1 %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74151"/>
                </a:solidFill>
                <a:latin typeface="Calibri"/>
              </a:rPr>
              <a:t>●  Personen in BG: Ø 5.247,4, Median 5.216,6, Variationskoeffizient ≈ 2,4 %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74151"/>
                </a:solidFill>
                <a:latin typeface="Calibri"/>
              </a:rPr>
              <a:t>●  Langzeitarbeitslose zeigen die mit Abstand stärkste relative Veränderung — Bedarfsgemeinschaften und Personen in BG sind am stabilsten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588" cy="936000"/>
          </a:xfrm>
          <a:prstGeom prst="rect">
            <a:avLst/>
          </a:prstGeom>
          <a:solidFill>
            <a:srgbClr val="6B5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2000" y="90000"/>
            <a:ext cx="113292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Calibri"/>
              </a:rPr>
              <a:t>4.2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306000"/>
            <a:ext cx="11329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Korrelationsanalyse: Korrelationsmatrix</a:t>
            </a:r>
          </a:p>
        </p:txBody>
      </p:sp>
      <p:pic>
        <p:nvPicPr>
          <p:cNvPr id="5" name="Picture 4" descr="abb6_korre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7794" y="1152000"/>
            <a:ext cx="6318000" cy="486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3999" y="6120000"/>
            <a:ext cx="111852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6B7280"/>
                </a:solidFill>
                <a:latin typeface="Calibri"/>
              </a:rPr>
              <a:t>Bedarfsgemeinschaften und Personen in BG korrelieren mit r ≈ 0,95 sehr stark positiv.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588" cy="936000"/>
          </a:xfrm>
          <a:prstGeom prst="rect">
            <a:avLst/>
          </a:prstGeom>
          <a:solidFill>
            <a:srgbClr val="6B5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2000" y="90000"/>
            <a:ext cx="113292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Calibri"/>
              </a:rPr>
              <a:t>4.2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306000"/>
            <a:ext cx="11329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Langzeitarbeitslose vs. Bedarfsgemeinschaften</a:t>
            </a:r>
          </a:p>
        </p:txBody>
      </p:sp>
      <p:pic>
        <p:nvPicPr>
          <p:cNvPr id="5" name="Picture 4" descr="abb7_streudiagram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6794" y="1152000"/>
            <a:ext cx="9720000" cy="486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3999" y="6120000"/>
            <a:ext cx="111852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6B7280"/>
                </a:solidFill>
                <a:latin typeface="Calibri"/>
              </a:rPr>
              <a:t>r = −0,49, p = 0,04 — jetzt signifikant (mit 15 Monaten: r = −0,08, p = 0,78, noch nicht nachweisbar).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588" cy="936000"/>
          </a:xfrm>
          <a:prstGeom prst="rect">
            <a:avLst/>
          </a:prstGeom>
          <a:solidFill>
            <a:srgbClr val="C7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2000" y="90000"/>
            <a:ext cx="113292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Calibri"/>
              </a:rPr>
              <a:t>4.3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306000"/>
            <a:ext cx="11329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Verteilungen: Arbeitslose (Bestand)</a:t>
            </a:r>
          </a:p>
        </p:txBody>
      </p:sp>
      <p:pic>
        <p:nvPicPr>
          <p:cNvPr id="5" name="Picture 4" descr="abb8_verteilu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193" y="1152000"/>
            <a:ext cx="10753200" cy="475404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3999" y="6014046"/>
            <a:ext cx="111852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6B7280"/>
                </a:solidFill>
                <a:latin typeface="Calibri"/>
              </a:rPr>
              <a:t>Keine auffälligen Ausreißer; leicht linksschiefe Verteilung, Median knapp über dem Mittelwert.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588" cy="936000"/>
          </a:xfrm>
          <a:prstGeom prst="rect">
            <a:avLst/>
          </a:prstGeom>
          <a:solidFill>
            <a:srgbClr val="C7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2000" y="90000"/>
            <a:ext cx="113292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Calibri"/>
              </a:rPr>
              <a:t>4.4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306000"/>
            <a:ext cx="11329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Inferenzstatistik: Hypothesentest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3999" y="1224000"/>
            <a:ext cx="11185200" cy="523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0" i="0">
                <a:solidFill>
                  <a:srgbClr val="374151"/>
                </a:solidFill>
                <a:latin typeface="Calibri"/>
              </a:rPr>
              <a:t>●  Fragestellung: Unterscheidet sich die Langzeitarbeitslosigkeit zwischen erster und zweiter Hälfte des Beobachtungszeitraums signifikant?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74151"/>
                </a:solidFill>
                <a:latin typeface="Calibri"/>
              </a:rPr>
              <a:t>●  1. Hälfte (n = 9): Ø 543,3 (± 34,1) — 2. Hälfte (n = 9): Ø 661,1 (± 41,2)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74151"/>
                </a:solidFill>
                <a:latin typeface="Calibri"/>
              </a:rPr>
              <a:t>●  Mittelwertdifferenz: 117,8 Personen (95 %-Konfidenzintervall: [82,8; 152,7])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74151"/>
                </a:solidFill>
                <a:latin typeface="Calibri"/>
              </a:rPr>
              <a:t>●  Welch-t-Test: t = 6,61, p ≈ 0,00001 — statistisch hoch signifikant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588" cy="936000"/>
          </a:xfrm>
          <a:prstGeom prst="rect">
            <a:avLst/>
          </a:prstGeom>
          <a:solidFill>
            <a:srgbClr val="A04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2000" y="90000"/>
            <a:ext cx="113292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Calibri"/>
              </a:rPr>
              <a:t>4.5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306000"/>
            <a:ext cx="11329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Regressionsanalyse: Trend der Langzeitarbeitslosigkeit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3999" y="1224000"/>
            <a:ext cx="11185200" cy="523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0" i="0">
                <a:solidFill>
                  <a:srgbClr val="374151"/>
                </a:solidFill>
                <a:latin typeface="Calibri"/>
              </a:rPr>
              <a:t>●  Regressionsgleichung: Langzeitarbeitslose = 490,4 + 13,16 × Monatsindex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74151"/>
                </a:solidFill>
                <a:latin typeface="Calibri"/>
              </a:rPr>
              <a:t>●  Steigung: +13,2 Personen pro Monat — Bestimmtheitsmaß R² = 0,983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74151"/>
                </a:solidFill>
                <a:latin typeface="Calibri"/>
              </a:rPr>
              <a:t>●  Prognose: Juli 2026 ≈ 727, August 2026 ≈ 740, September 2026 ≈ 754 Personen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74151"/>
                </a:solidFill>
                <a:latin typeface="Calibri"/>
              </a:rPr>
              <a:t>●  Einschränkung: lineare Extrapolation aus nur 18 Datenpunkten, ohne Saisonalität oder Strukturbrüche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588" cy="936000"/>
          </a:xfrm>
          <a:prstGeom prst="rect">
            <a:avLst/>
          </a:prstGeom>
          <a:solidFill>
            <a:srgbClr val="A04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2000" y="90000"/>
            <a:ext cx="113292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Calibri"/>
              </a:rPr>
              <a:t>4.5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306000"/>
            <a:ext cx="11329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Linearer Trend und Prognose</a:t>
            </a:r>
          </a:p>
        </p:txBody>
      </p:sp>
      <p:pic>
        <p:nvPicPr>
          <p:cNvPr id="5" name="Picture 4" descr="abb9_re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7419" y="1152000"/>
            <a:ext cx="9618750" cy="486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3999" y="6120000"/>
            <a:ext cx="111852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6B7280"/>
                </a:solidFill>
                <a:latin typeface="Calibri"/>
              </a:rPr>
              <a:t>R² = 0,983 — ein außergewöhnlich guter linearer Fit für die Langzeitarbeitslosen-Zahl.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588" cy="936000"/>
          </a:xfrm>
          <a:prstGeom prst="rect">
            <a:avLst/>
          </a:prstGeom>
          <a:solidFill>
            <a:srgbClr val="3F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2000" y="90000"/>
            <a:ext cx="113292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Calibri"/>
              </a:rPr>
              <a:t>4.6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306000"/>
            <a:ext cx="11329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Zusammenfassung der statistischen Befunde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3999" y="1224000"/>
            <a:ext cx="11185200" cy="523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0" i="0">
                <a:solidFill>
                  <a:srgbClr val="374151"/>
                </a:solidFill>
                <a:latin typeface="Calibri"/>
              </a:rPr>
              <a:t>●  Langzeitarbeitslose: stärkste relative Veränderung (CV ≈ 11,8 %) aller Kernkennzahlen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74151"/>
                </a:solidFill>
                <a:latin typeface="Calibri"/>
              </a:rPr>
              <a:t>●  Zwei zuvor nicht signifikante Korrelationen wurden durch die 3 zusätzlichen Monate erst nachweisbar (LZA–Bedarfsgemeinschaften, LZA–Bestand)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74151"/>
                </a:solidFill>
                <a:latin typeface="Calibri"/>
              </a:rPr>
              <a:t>●  Anstieg der Langzeitarbeitslosigkeit zwischen erster und zweiter Hälfte: statistisch hoch signifikant (p ≈ 0,00001)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74151"/>
                </a:solidFill>
                <a:latin typeface="Calibri"/>
              </a:rPr>
              <a:t>●  Linearer Zeittrend erklärt 98,3 % der Schwankung — Prognose: weiterer Anstieg auf rund 727–754 Personen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40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51999"/>
            <a:ext cx="12193588" cy="54000"/>
          </a:xfrm>
          <a:prstGeom prst="rect">
            <a:avLst/>
          </a:prstGeom>
          <a:solidFill>
            <a:srgbClr val="C7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20000" y="1314000"/>
            <a:ext cx="107532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BFDBFE"/>
                </a:solidFill>
                <a:latin typeface="Calibri"/>
              </a:rPr>
              <a:t>KAPITEL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1602000"/>
            <a:ext cx="107532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"/>
              </a:rPr>
              <a:t>Fluktuation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3311999"/>
            <a:ext cx="107532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0" i="0">
                <a:solidFill>
                  <a:srgbClr val="E0E7FF"/>
                </a:solidFill>
                <a:latin typeface="Calibri"/>
              </a:rPr>
              <a:t>●  Zugang und Abgang im Monatsverlauf</a:t>
            </a:r>
          </a:p>
          <a:p>
            <a:pPr>
              <a:spcAft>
                <a:spcPts val="1400"/>
              </a:spcAft>
            </a:pPr>
            <a:r>
              <a:rPr sz="1800" b="0" i="0">
                <a:solidFill>
                  <a:srgbClr val="E0E7FF"/>
                </a:solidFill>
                <a:latin typeface="Calibri"/>
              </a:rPr>
              <a:t>●  Netto-Fluktuation vs. Bestandsänderung</a:t>
            </a:r>
          </a:p>
          <a:p>
            <a:pPr>
              <a:spcAft>
                <a:spcPts val="1400"/>
              </a:spcAft>
            </a:pPr>
            <a:r>
              <a:rPr sz="1800" b="0" i="0">
                <a:solidFill>
                  <a:srgbClr val="E0E7FF"/>
                </a:solidFill>
                <a:latin typeface="Calibri"/>
              </a:rPr>
              <a:t>●  12-Monatssummen als mittelfristiger Trend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588" cy="936000"/>
          </a:xfrm>
          <a:prstGeom prst="rect">
            <a:avLst/>
          </a:prstGeom>
          <a:solidFill>
            <a:srgbClr val="3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2000" y="90000"/>
            <a:ext cx="113292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Calibri"/>
              </a:rPr>
              <a:t>5.1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306000"/>
            <a:ext cx="11329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Zugang und Abgang im Monatsverlauf</a:t>
            </a:r>
          </a:p>
        </p:txBody>
      </p:sp>
      <p:pic>
        <p:nvPicPr>
          <p:cNvPr id="5" name="Picture 4" descr="abb10_zugang_abga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794" y="1116000"/>
            <a:ext cx="9900000" cy="475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3999" y="5976000"/>
            <a:ext cx="111852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6B7280"/>
                </a:solidFill>
                <a:latin typeface="Calibri"/>
              </a:rPr>
              <a:t>Zugang Ø 267/Monat, Abgang Ø 281/Monat — im Mittel etwas mehr Abgang als Zugang.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588" cy="936000"/>
          </a:xfrm>
          <a:prstGeom prst="rect">
            <a:avLst/>
          </a:prstGeom>
          <a:solidFill>
            <a:srgbClr val="6B5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2000" y="90000"/>
            <a:ext cx="113292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Calibri"/>
              </a:rPr>
              <a:t>5.2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306000"/>
            <a:ext cx="11329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Netto-Fluktuation vs. Bestandsänderung</a:t>
            </a:r>
          </a:p>
        </p:txBody>
      </p:sp>
      <p:pic>
        <p:nvPicPr>
          <p:cNvPr id="5" name="Picture 4" descr="abb11_netto_fluktu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794" y="1116000"/>
            <a:ext cx="9900000" cy="475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3999" y="5976000"/>
            <a:ext cx="111852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6B7280"/>
                </a:solidFill>
                <a:latin typeface="Calibri"/>
              </a:rPr>
              <a:t>Netto-Fluktuation liegt in allen 18 Monaten unter der tatsächlichen Bestandsänderung (Ø −20,9 Personen) — plausibel durch Rechtskreiswechsel SGB II/SGB III.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588" cy="936000"/>
          </a:xfrm>
          <a:prstGeom prst="rect">
            <a:avLst/>
          </a:prstGeom>
          <a:solidFill>
            <a:srgbClr val="C7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2000" y="90000"/>
            <a:ext cx="113292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Calibri"/>
              </a:rPr>
              <a:t>5.3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306000"/>
            <a:ext cx="11329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12-Monatssummen: der mittelfristige Trend</a:t>
            </a:r>
          </a:p>
        </p:txBody>
      </p:sp>
      <p:pic>
        <p:nvPicPr>
          <p:cNvPr id="5" name="Picture 4" descr="abb12_12m_summ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794" y="1116000"/>
            <a:ext cx="10560000" cy="475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3999" y="5976000"/>
            <a:ext cx="111852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6B7280"/>
                </a:solidFill>
                <a:latin typeface="Calibri"/>
              </a:rPr>
              <a:t>Rollierende Netto-Fluktuation verschlechtert sich von −58 auf −264 Personen pro Jahr.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588" cy="936000"/>
          </a:xfrm>
          <a:prstGeom prst="rect">
            <a:avLst/>
          </a:prstGeom>
          <a:solidFill>
            <a:srgbClr val="A04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2000" y="90000"/>
            <a:ext cx="113292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Calibri"/>
              </a:rPr>
              <a:t>5.4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306000"/>
            <a:ext cx="11329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Zusammenfassung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3999" y="1224000"/>
            <a:ext cx="11185200" cy="523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0" i="0">
                <a:solidFill>
                  <a:srgbClr val="374151"/>
                </a:solidFill>
                <a:latin typeface="Calibri"/>
              </a:rPr>
              <a:t>●  Zugang/Abgang Ø 267/281 Personen pro Monat — deutlich mehr Dynamik als der stabile Bestand vermuten lässt.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74151"/>
                </a:solidFill>
                <a:latin typeface="Calibri"/>
              </a:rPr>
              <a:t>●  Netto-Fluktuation im Mittel −14,4 Personen/Monat, leicht rückläufige Tendenz seit Anfang 2025.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74151"/>
                </a:solidFill>
                <a:latin typeface="Calibri"/>
              </a:rPr>
              <a:t>●  Differenz zur tatsächlichen Bestandsänderung plausibel durch Rechtskreiswechsel SGB II/SGB III erklärbar.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3F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51999"/>
            <a:ext cx="12193588" cy="54000"/>
          </a:xfrm>
          <a:prstGeom prst="rect">
            <a:avLst/>
          </a:prstGeom>
          <a:solidFill>
            <a:srgbClr val="C7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20000" y="1314000"/>
            <a:ext cx="107532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BFDBFE"/>
                </a:solidFill>
                <a:latin typeface="Calibri"/>
              </a:rPr>
              <a:t>KAPITEL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1602000"/>
            <a:ext cx="107532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"/>
              </a:rPr>
              <a:t>Demografie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3311999"/>
            <a:ext cx="107532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0" i="0">
                <a:solidFill>
                  <a:srgbClr val="E0E7FF"/>
                </a:solidFill>
                <a:latin typeface="Calibri"/>
              </a:rPr>
              <a:t>●  Altersstruktur und Geschlecht als Zeitreihe</a:t>
            </a:r>
          </a:p>
          <a:p>
            <a:pPr>
              <a:spcAft>
                <a:spcPts val="1400"/>
              </a:spcAft>
            </a:pPr>
            <a:r>
              <a:rPr sz="1800" b="0" i="0">
                <a:solidFill>
                  <a:srgbClr val="E0E7FF"/>
                </a:solidFill>
                <a:latin typeface="Calibri"/>
              </a:rPr>
              <a:t>●  Ausländer und Schwerbehinderte erstmals ausgewertet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588" cy="936000"/>
          </a:xfrm>
          <a:prstGeom prst="rect">
            <a:avLst/>
          </a:prstGeom>
          <a:solidFill>
            <a:srgbClr val="3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2000" y="90000"/>
            <a:ext cx="113292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Calibri"/>
              </a:rPr>
              <a:t>6.1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306000"/>
            <a:ext cx="11329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Altersstruktur im Zeitverlauf</a:t>
            </a:r>
          </a:p>
        </p:txBody>
      </p:sp>
      <p:pic>
        <p:nvPicPr>
          <p:cNvPr id="5" name="Picture 4" descr="abb13_altersstrukt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794" y="1116000"/>
            <a:ext cx="9900000" cy="475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3999" y="5976000"/>
            <a:ext cx="111852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6B7280"/>
                </a:solidFill>
                <a:latin typeface="Calibri"/>
              </a:rPr>
              <a:t>25-50 Jahre größte Gruppe (~57 %); Anteil der 55+ an der Gruppe 50+ steigt von 64,8 % auf 68,8 %.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588" cy="936000"/>
          </a:xfrm>
          <a:prstGeom prst="rect">
            <a:avLst/>
          </a:prstGeom>
          <a:solidFill>
            <a:srgbClr val="6B5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2000" y="90000"/>
            <a:ext cx="113292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Calibri"/>
              </a:rPr>
              <a:t>6.2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306000"/>
            <a:ext cx="11329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Geschlechterverteilung im Zeitverlauf</a:t>
            </a:r>
          </a:p>
        </p:txBody>
      </p:sp>
      <p:pic>
        <p:nvPicPr>
          <p:cNvPr id="5" name="Picture 4" descr="abb14_geschlec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193" y="1116000"/>
            <a:ext cx="10753200" cy="4731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3999" y="5955408"/>
            <a:ext cx="111852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6B7280"/>
                </a:solidFill>
                <a:latin typeface="Calibri"/>
              </a:rPr>
              <a:t>Männeranteil steigt leicht von 53,1 % auf 54,5 %.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588" cy="936000"/>
          </a:xfrm>
          <a:prstGeom prst="rect">
            <a:avLst/>
          </a:prstGeom>
          <a:solidFill>
            <a:srgbClr val="C7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2000" y="90000"/>
            <a:ext cx="113292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Calibri"/>
              </a:rPr>
              <a:t>6.3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306000"/>
            <a:ext cx="11329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Ausländische Arbeitslose im Zeitverlauf</a:t>
            </a:r>
          </a:p>
        </p:txBody>
      </p:sp>
      <p:pic>
        <p:nvPicPr>
          <p:cNvPr id="5" name="Picture 4" descr="abb15_auslaen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193" y="1116000"/>
            <a:ext cx="10753200" cy="4731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3999" y="5955408"/>
            <a:ext cx="111852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6B7280"/>
                </a:solidFill>
                <a:latin typeface="Calibri"/>
              </a:rPr>
              <a:t>Überraschend hoher, deutlich rückläufiger Anteil: 51,7 % → 45,4 % des Bestands.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588" cy="936000"/>
          </a:xfrm>
          <a:prstGeom prst="rect">
            <a:avLst/>
          </a:prstGeom>
          <a:solidFill>
            <a:srgbClr val="3F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2000" y="90000"/>
            <a:ext cx="113292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Calibri"/>
              </a:rPr>
              <a:t>6.4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306000"/>
            <a:ext cx="11329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Schwerbehinderte Menschen im Zeitverlauf</a:t>
            </a:r>
          </a:p>
        </p:txBody>
      </p:sp>
      <p:pic>
        <p:nvPicPr>
          <p:cNvPr id="5" name="Picture 4" descr="abb16_schwerbehinder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193" y="1116000"/>
            <a:ext cx="10753200" cy="4731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3999" y="5955408"/>
            <a:ext cx="111852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6B7280"/>
                </a:solidFill>
                <a:latin typeface="Calibri"/>
              </a:rPr>
              <a:t>Kleinerer, leicht steigender Anteil: 7,9 % → 8,7 %.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588" cy="936000"/>
          </a:xfrm>
          <a:prstGeom prst="rect">
            <a:avLst/>
          </a:prstGeom>
          <a:solidFill>
            <a:srgbClr val="A04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2000" y="90000"/>
            <a:ext cx="113292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Calibri"/>
              </a:rPr>
              <a:t>6.5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306000"/>
            <a:ext cx="11329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Zusammenfassung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3999" y="1224000"/>
            <a:ext cx="11185200" cy="523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0" i="0">
                <a:solidFill>
                  <a:srgbClr val="374151"/>
                </a:solidFill>
                <a:latin typeface="Calibri"/>
              </a:rPr>
              <a:t>●  Altersstruktur und Geschlecht bemerkenswert stabil, leichte Alterung innerhalb der Gruppe 50+.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74151"/>
                </a:solidFill>
                <a:latin typeface="Calibri"/>
              </a:rPr>
              <a:t>●  Ausländer: überraschend hoher, deutlich rückläufiger Anteil (45–52 % des Bestands) — auffälligste neue Erkenntnis.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74151"/>
                </a:solidFill>
                <a:latin typeface="Calibri"/>
              </a:rPr>
              <a:t>●  Schwerbehinderte Menschen: kleinerer, leicht steigender Anteil.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79A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51999"/>
            <a:ext cx="12193588" cy="5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20000" y="1314000"/>
            <a:ext cx="107532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BFDBFE"/>
                </a:solidFill>
                <a:latin typeface="Calibri"/>
              </a:rPr>
              <a:t>KAPITEL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1602000"/>
            <a:ext cx="107532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"/>
              </a:rPr>
              <a:t>Erwerbstätigkeit ("Aufstocker")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3311999"/>
            <a:ext cx="107532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0" i="0">
                <a:solidFill>
                  <a:srgbClr val="E0E7FF"/>
                </a:solidFill>
                <a:latin typeface="Calibri"/>
              </a:rPr>
              <a:t>●  Aufstockerquote im Zeitverlauf</a:t>
            </a:r>
          </a:p>
          <a:p>
            <a:pPr>
              <a:spcAft>
                <a:spcPts val="1400"/>
              </a:spcAft>
            </a:pPr>
            <a:r>
              <a:rPr sz="1800" b="0" i="0">
                <a:solidFill>
                  <a:srgbClr val="E0E7FF"/>
                </a:solidFill>
                <a:latin typeface="Calibri"/>
              </a:rPr>
              <a:t>●  Erwerbsform und Einkommensstruktur</a:t>
            </a:r>
          </a:p>
          <a:p>
            <a:pPr>
              <a:spcAft>
                <a:spcPts val="1400"/>
              </a:spcAft>
            </a:pPr>
            <a:r>
              <a:rPr sz="1800" b="0" i="0">
                <a:solidFill>
                  <a:srgbClr val="E0E7FF"/>
                </a:solidFill>
                <a:latin typeface="Calibri"/>
              </a:rPr>
              <a:t>●  Neues Tabellenblatt: 3.3 Erwerbstätigkeit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588" cy="936000"/>
          </a:xfrm>
          <a:prstGeom prst="rect">
            <a:avLst/>
          </a:prstGeom>
          <a:solidFill>
            <a:srgbClr val="3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2000" y="90000"/>
            <a:ext cx="113292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Calibri"/>
              </a:rPr>
              <a:t>7.1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306000"/>
            <a:ext cx="11329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Aufstockerquote im Zeitverlauf</a:t>
            </a:r>
          </a:p>
        </p:txBody>
      </p:sp>
      <p:pic>
        <p:nvPicPr>
          <p:cNvPr id="5" name="Picture 4" descr="abb17_aufstockerquo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794" y="1116000"/>
            <a:ext cx="9900000" cy="475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3999" y="5976000"/>
            <a:ext cx="111852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6B7280"/>
                </a:solidFill>
                <a:latin typeface="Calibri"/>
              </a:rPr>
              <a:t>Stabil bei Ø 21,4 % — rund jede fünfte ELB ist erwerbstätig, verdient aber nicht genug für den Ausstieg aus dem Bürgergeld.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588" cy="936000"/>
          </a:xfrm>
          <a:prstGeom prst="rect">
            <a:avLst/>
          </a:prstGeom>
          <a:solidFill>
            <a:srgbClr val="6B5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2000" y="90000"/>
            <a:ext cx="113292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Calibri"/>
              </a:rPr>
              <a:t>7.2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306000"/>
            <a:ext cx="11329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Abhängig vs. selbständig erwerbstätig</a:t>
            </a:r>
          </a:p>
        </p:txBody>
      </p:sp>
      <p:pic>
        <p:nvPicPr>
          <p:cNvPr id="5" name="Picture 4" descr="abb18_abhaengig_selbstaend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193" y="1116000"/>
            <a:ext cx="10753200" cy="4731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3999" y="5955408"/>
            <a:ext cx="111852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6B7280"/>
                </a:solidFill>
                <a:latin typeface="Calibri"/>
              </a:rPr>
              <a:t>Klar dominiert von abhängiger Beschäftigung (93–94 %).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588" cy="936000"/>
          </a:xfrm>
          <a:prstGeom prst="rect">
            <a:avLst/>
          </a:prstGeom>
          <a:solidFill>
            <a:srgbClr val="3F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2000" y="90000"/>
            <a:ext cx="113292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Calibri"/>
              </a:rPr>
              <a:t>7.3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306000"/>
            <a:ext cx="11329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Einkommensstruktur der abhängig Erwerbstätigen</a:t>
            </a:r>
          </a:p>
        </p:txBody>
      </p:sp>
      <p:pic>
        <p:nvPicPr>
          <p:cNvPr id="5" name="Picture 4" descr="abb19_einkommensstrukt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193" y="1116000"/>
            <a:ext cx="10753200" cy="4731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3999" y="5955408"/>
            <a:ext cx="111852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6B7280"/>
                </a:solidFill>
                <a:latin typeface="Calibri"/>
              </a:rPr>
              <a:t>Leichte Verschiebung zu höheren Einkommen: „bis Geringfügigkeitsgrenze“ sinkt, „im/über Übergangsbereich“ steigen.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588" cy="936000"/>
          </a:xfrm>
          <a:prstGeom prst="rect">
            <a:avLst/>
          </a:prstGeom>
          <a:solidFill>
            <a:srgbClr val="A04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2000" y="90000"/>
            <a:ext cx="113292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Calibri"/>
              </a:rPr>
              <a:t>7.4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306000"/>
            <a:ext cx="11329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Zusammenfassung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3999" y="1224000"/>
            <a:ext cx="11185200" cy="523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0" i="0">
                <a:solidFill>
                  <a:srgbClr val="374151"/>
                </a:solidFill>
                <a:latin typeface="Calibri"/>
              </a:rPr>
              <a:t>●  Aufstockerquote stabil bei Ø 21,4 % — rund jede fünfte ELB ist erwerbstätig.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74151"/>
                </a:solidFill>
                <a:latin typeface="Calibri"/>
              </a:rPr>
              <a:t>●  Erwerbsform klar dominiert von abhängiger Beschäftigung (93–94 %).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74151"/>
                </a:solidFill>
                <a:latin typeface="Calibri"/>
              </a:rPr>
              <a:t>●  Leichte Verschiebung zu höheren Einkommen innerhalb der Aufstocker.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74151"/>
                </a:solidFill>
                <a:latin typeface="Calibri"/>
              </a:rPr>
              <a:t>●  Datenbesonderheit: Zeitreihe Oktober 2024 – März 2026 (3 Monate Wartezeit).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7A7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51999"/>
            <a:ext cx="12193588" cy="54000"/>
          </a:xfrm>
          <a:prstGeom prst="rect">
            <a:avLst/>
          </a:prstGeom>
          <a:solidFill>
            <a:srgbClr val="C7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20000" y="1314000"/>
            <a:ext cx="107532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BFDBFE"/>
                </a:solidFill>
                <a:latin typeface="Calibri"/>
              </a:rPr>
              <a:t>KAPITEL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1602000"/>
            <a:ext cx="107532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"/>
              </a:rPr>
              <a:t>Finanzen (Zahlungsansprüche)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3311999"/>
            <a:ext cx="107532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0" i="0">
                <a:solidFill>
                  <a:srgbClr val="E0E7FF"/>
                </a:solidFill>
                <a:latin typeface="Calibri"/>
              </a:rPr>
              <a:t>●  Einzige Quelle für Euro-Beträge im Datensatz</a:t>
            </a:r>
          </a:p>
          <a:p>
            <a:pPr>
              <a:spcAft>
                <a:spcPts val="1400"/>
              </a:spcAft>
            </a:pPr>
            <a:r>
              <a:rPr sz="1800" b="0" i="0">
                <a:solidFill>
                  <a:srgbClr val="E0E7FF"/>
                </a:solidFill>
                <a:latin typeface="Calibri"/>
              </a:rPr>
              <a:t>●  Gesamtvolumen und Struktur der Zahlungsansprüche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588" cy="936000"/>
          </a:xfrm>
          <a:prstGeom prst="rect">
            <a:avLst/>
          </a:prstGeom>
          <a:solidFill>
            <a:srgbClr val="3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2000" y="90000"/>
            <a:ext cx="113292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Calibri"/>
              </a:rPr>
              <a:t>8.1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306000"/>
            <a:ext cx="11329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Gesamtvolumen und Ø je Bedarfsgemeinschaft</a:t>
            </a:r>
          </a:p>
        </p:txBody>
      </p:sp>
      <p:pic>
        <p:nvPicPr>
          <p:cNvPr id="5" name="Picture 4" descr="abb20_zahlungsanspruch_volum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794" y="1116000"/>
            <a:ext cx="9900000" cy="475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3999" y="5976000"/>
            <a:ext cx="111852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6B7280"/>
                </a:solidFill>
                <a:latin typeface="Calibri"/>
              </a:rPr>
              <a:t>Gesamtvolumen praktisch stabil (3.451,5 → 3.473,0 Tsd. Euro), Ø je BG spürbar gestiegen (1.251 € → 1.288 €).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588" cy="936000"/>
          </a:xfrm>
          <a:prstGeom prst="rect">
            <a:avLst/>
          </a:prstGeom>
          <a:solidFill>
            <a:srgbClr val="6B5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2000" y="90000"/>
            <a:ext cx="113292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Calibri"/>
              </a:rPr>
              <a:t>8.2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306000"/>
            <a:ext cx="11329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Struktur der Zahlungsansprüche</a:t>
            </a:r>
          </a:p>
        </p:txBody>
      </p:sp>
      <p:pic>
        <p:nvPicPr>
          <p:cNvPr id="5" name="Picture 4" descr="abb21_zahlungsanspruch_strukt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576" y="1116000"/>
            <a:ext cx="10330434" cy="475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3999" y="5976000"/>
            <a:ext cx="111852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6B7280"/>
                </a:solidFill>
                <a:latin typeface="Calibri"/>
              </a:rPr>
              <a:t>Regelbedarf ELB (~40 %) und Kosten der Unterkunft (~36 %) dominieren; Sozialversicherungsbeiträge-Anteil steigt deutlich.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588" cy="936000"/>
          </a:xfrm>
          <a:prstGeom prst="rect">
            <a:avLst/>
          </a:prstGeom>
          <a:solidFill>
            <a:srgbClr val="A04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2000" y="90000"/>
            <a:ext cx="113292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Calibri"/>
              </a:rPr>
              <a:t>8.3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306000"/>
            <a:ext cx="11329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Zusammenfassung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3999" y="1224000"/>
            <a:ext cx="11185200" cy="523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0" i="0">
                <a:solidFill>
                  <a:srgbClr val="374151"/>
                </a:solidFill>
                <a:latin typeface="Calibri"/>
              </a:rPr>
              <a:t>●  Gesamtvolumen praktisch stabil, Ø je Bedarfsgemeinschaft deutlich gestiegen.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74151"/>
                </a:solidFill>
                <a:latin typeface="Calibri"/>
              </a:rPr>
              <a:t>●  Regelbedarf ELB und Kosten der Unterkunft dominieren die Struktur.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74151"/>
                </a:solidFill>
                <a:latin typeface="Calibri"/>
              </a:rPr>
              <a:t>●  Sozialversicherungsbeiträge-Anteil steigt spürbar (15,6 % → 18,3 %), Regelbedarf-NEF-Anteil sinkt.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045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51999"/>
            <a:ext cx="12193588" cy="54000"/>
          </a:xfrm>
          <a:prstGeom prst="rect">
            <a:avLst/>
          </a:prstGeom>
          <a:solidFill>
            <a:srgbClr val="C7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20000" y="1314000"/>
            <a:ext cx="107532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BFDBFE"/>
                </a:solidFill>
                <a:latin typeface="Calibri"/>
              </a:rPr>
              <a:t>KAPITEL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1602000"/>
            <a:ext cx="107532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"/>
              </a:rPr>
              <a:t>Förderung (aktive Arbeitsmarktpolitik)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3311999"/>
            <a:ext cx="107532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0" i="0">
                <a:solidFill>
                  <a:srgbClr val="E0E7FF"/>
                </a:solidFill>
                <a:latin typeface="Calibri"/>
              </a:rPr>
              <a:t>●  Eintritte und Bestand an Fördermaßnahmen</a:t>
            </a:r>
          </a:p>
          <a:p>
            <a:pPr>
              <a:spcAft>
                <a:spcPts val="1400"/>
              </a:spcAft>
            </a:pPr>
            <a:r>
              <a:rPr sz="1800" b="0" i="0">
                <a:solidFill>
                  <a:srgbClr val="E0E7FF"/>
                </a:solidFill>
                <a:latin typeface="Calibri"/>
              </a:rPr>
              <a:t>●  Aktivierungsquote AQ1/AQ2a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588" cy="936000"/>
          </a:xfrm>
          <a:prstGeom prst="rect">
            <a:avLst/>
          </a:prstGeom>
          <a:solidFill>
            <a:srgbClr val="3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2000" y="90000"/>
            <a:ext cx="113292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Calibri"/>
              </a:rPr>
              <a:t>9.1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306000"/>
            <a:ext cx="11329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Eintritte und Bestand an Fördermaßnahmen</a:t>
            </a:r>
          </a:p>
        </p:txBody>
      </p:sp>
      <p:pic>
        <p:nvPicPr>
          <p:cNvPr id="5" name="Picture 4" descr="abb22_eintritte_best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794" y="1116000"/>
            <a:ext cx="9900000" cy="475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3999" y="5976000"/>
            <a:ext cx="111852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6B7280"/>
                </a:solidFill>
                <a:latin typeface="Calibri"/>
              </a:rPr>
              <a:t>Eintritte volatil und leicht rückläufig; Bestand mit Höchststand 313 im April 2025, seither wieder gesunken.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588" cy="936000"/>
          </a:xfrm>
          <a:prstGeom prst="rect">
            <a:avLst/>
          </a:prstGeom>
          <a:solidFill>
            <a:srgbClr val="6B5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2000" y="90000"/>
            <a:ext cx="113292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Calibri"/>
              </a:rPr>
              <a:t>9.2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306000"/>
            <a:ext cx="11329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Aktivierungsquote im Zeitverlauf</a:t>
            </a:r>
          </a:p>
        </p:txBody>
      </p:sp>
      <p:pic>
        <p:nvPicPr>
          <p:cNvPr id="5" name="Picture 4" descr="abb23_aktivierungsquo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576" y="1116000"/>
            <a:ext cx="10330434" cy="475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3999" y="5976000"/>
            <a:ext cx="111852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6B7280"/>
                </a:solidFill>
                <a:latin typeface="Calibri"/>
              </a:rPr>
              <a:t>AQ1 (13,3 % → 9,9 %) und AQ2a (6,0 % → 5,5 %) beide rückläufig.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588" cy="936000"/>
          </a:xfrm>
          <a:prstGeom prst="rect">
            <a:avLst/>
          </a:prstGeom>
          <a:solidFill>
            <a:srgbClr val="3F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2000" y="90000"/>
            <a:ext cx="113292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Calibri"/>
              </a:rPr>
              <a:t>9.3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306000"/>
            <a:ext cx="11329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Struktur: Geschlecht und Vorgeschichte</a:t>
            </a:r>
          </a:p>
        </p:txBody>
      </p:sp>
      <p:pic>
        <p:nvPicPr>
          <p:cNvPr id="5" name="Picture 4" descr="abb24_foerderung_ante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193" y="1116000"/>
            <a:ext cx="10753200" cy="4731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3999" y="5955408"/>
            <a:ext cx="111852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6B7280"/>
                </a:solidFill>
                <a:latin typeface="Calibri"/>
              </a:rPr>
              <a:t>Frauenanteil stabil (~44 %); Anteil zuvor Langzeitarbeitsloser steigt deutlich (16,2 % → 23,6 %).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588" cy="936000"/>
          </a:xfrm>
          <a:prstGeom prst="rect">
            <a:avLst/>
          </a:prstGeom>
          <a:solidFill>
            <a:srgbClr val="2E4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2000" y="90000"/>
            <a:ext cx="113292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Calibri"/>
              </a:rPr>
              <a:t>9.4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306000"/>
            <a:ext cx="11329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Zusammenfassung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3999" y="1224000"/>
            <a:ext cx="11185200" cy="523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0" i="0">
                <a:solidFill>
                  <a:srgbClr val="374151"/>
                </a:solidFill>
                <a:latin typeface="Calibri"/>
              </a:rPr>
              <a:t>●  Eintritte volatil, leicht rückläufig; Bestand mit Höchststand im April 2025.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74151"/>
                </a:solidFill>
                <a:latin typeface="Calibri"/>
              </a:rPr>
              <a:t>●  Aktivierungsquoten AQ1/AQ2a beide rückläufig.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74151"/>
                </a:solidFill>
                <a:latin typeface="Calibri"/>
              </a:rPr>
              <a:t>●  Anteil zuvor langzeitarbeitsloser Teilnehmender steigt deutlich — Anknüpfungspunkt an die Langzeitarbeitslosigkeit.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40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51999"/>
            <a:ext cx="12193588" cy="54000"/>
          </a:xfrm>
          <a:prstGeom prst="rect">
            <a:avLst/>
          </a:prstGeom>
          <a:solidFill>
            <a:srgbClr val="C7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20000" y="1314000"/>
            <a:ext cx="107532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BFDBFE"/>
                </a:solidFill>
                <a:latin typeface="Calibri"/>
              </a:rPr>
              <a:t>KAPITEL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1602000"/>
            <a:ext cx="107532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"/>
              </a:rPr>
              <a:t>Bezugsdauer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3311999"/>
            <a:ext cx="107532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0" i="0">
                <a:solidFill>
                  <a:srgbClr val="E0E7FF"/>
                </a:solidFill>
                <a:latin typeface="Calibri"/>
              </a:rPr>
              <a:t>●  Haushaltsstruktur, Langzeitleistungsbezug</a:t>
            </a:r>
          </a:p>
          <a:p>
            <a:pPr>
              <a:spcAft>
                <a:spcPts val="1400"/>
              </a:spcAft>
            </a:pPr>
            <a:r>
              <a:rPr sz="1800" b="0" i="0">
                <a:solidFill>
                  <a:srgbClr val="E0E7FF"/>
                </a:solidFill>
                <a:latin typeface="Calibri"/>
              </a:rPr>
              <a:t>●  Der "Drehtür-Effekt"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588" cy="936000"/>
          </a:xfrm>
          <a:prstGeom prst="rect">
            <a:avLst/>
          </a:prstGeom>
          <a:solidFill>
            <a:srgbClr val="3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2000" y="90000"/>
            <a:ext cx="113292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Calibri"/>
              </a:rPr>
              <a:t>10.1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306000"/>
            <a:ext cx="11329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Struktur der Bedarfsgemeinschaften: Größe und Typ</a:t>
            </a:r>
          </a:p>
        </p:txBody>
      </p:sp>
      <p:pic>
        <p:nvPicPr>
          <p:cNvPr id="5" name="Picture 4" descr="abb25_bg_groes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999" y="1188000"/>
            <a:ext cx="5580000" cy="2455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3999" y="3733200"/>
            <a:ext cx="558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B7280"/>
                </a:solidFill>
                <a:latin typeface="Calibri"/>
              </a:rPr>
              <a:t>Nach Haushaltsgröße</a:t>
            </a:r>
          </a:p>
        </p:txBody>
      </p:sp>
      <p:pic>
        <p:nvPicPr>
          <p:cNvPr id="7" name="Picture 6" descr="abb26_bg_ty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0000" y="1188000"/>
            <a:ext cx="5580000" cy="2455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20000" y="3733200"/>
            <a:ext cx="558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B7280"/>
                </a:solidFill>
                <a:latin typeface="Calibri"/>
              </a:rPr>
              <a:t>Nach BG-Typ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588" cy="936000"/>
          </a:xfrm>
          <a:prstGeom prst="rect">
            <a:avLst/>
          </a:prstGeom>
          <a:solidFill>
            <a:srgbClr val="6B5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2000" y="90000"/>
            <a:ext cx="113292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Calibri"/>
              </a:rPr>
              <a:t>10.2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306000"/>
            <a:ext cx="11329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Langzeitleistungsbezug (LZB) vs. Langzeitarbeitslosigkeit (LZA)</a:t>
            </a:r>
          </a:p>
        </p:txBody>
      </p:sp>
      <p:pic>
        <p:nvPicPr>
          <p:cNvPr id="5" name="Picture 4" descr="abb27_lzb_lz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576" y="1116000"/>
            <a:ext cx="10330434" cy="475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3999" y="5976000"/>
            <a:ext cx="111852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6B7280"/>
                </a:solidFill>
                <a:latin typeface="Calibri"/>
              </a:rPr>
              <a:t>LZB-Anteil an allen ELB steigt deutlich: 48,9 % → 55,1 %.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588" cy="936000"/>
          </a:xfrm>
          <a:prstGeom prst="rect">
            <a:avLst/>
          </a:prstGeom>
          <a:solidFill>
            <a:srgbClr val="C7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2000" y="90000"/>
            <a:ext cx="113292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Calibri"/>
              </a:rPr>
              <a:t>10.3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306000"/>
            <a:ext cx="11329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Bewegungsdynamik: der "Drehtür-Effekt"</a:t>
            </a:r>
          </a:p>
        </p:txBody>
      </p:sp>
      <p:pic>
        <p:nvPicPr>
          <p:cNvPr id="5" name="Picture 4" descr="abb28_drehtu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193" y="1116000"/>
            <a:ext cx="10753200" cy="4731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3999" y="5955408"/>
            <a:ext cx="111852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6B7280"/>
                </a:solidFill>
                <a:latin typeface="Calibri"/>
              </a:rPr>
              <a:t>Anteil Zugang mit Vorbezug steigt deutlich (56,1 % → 73,4 %) — echte Erstzugänge werden seltener.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588" cy="936000"/>
          </a:xfrm>
          <a:prstGeom prst="rect">
            <a:avLst/>
          </a:prstGeom>
          <a:solidFill>
            <a:srgbClr val="A04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2000" y="90000"/>
            <a:ext cx="113292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Calibri"/>
              </a:rPr>
              <a:t>10.4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306000"/>
            <a:ext cx="11329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Zusammenfassung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3999" y="1224000"/>
            <a:ext cx="11185200" cy="523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0" i="0">
                <a:solidFill>
                  <a:srgbClr val="374151"/>
                </a:solidFill>
                <a:latin typeface="Calibri"/>
              </a:rPr>
              <a:t>●  Single-Bedarfsgemeinschaften nehmen relativ zu (57,0 % → 59,3 %).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74151"/>
                </a:solidFill>
                <a:latin typeface="Calibri"/>
              </a:rPr>
              <a:t>●  Über die Hälfte aller ELB ist inzwischen langzeitleistungsbeziehend.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74151"/>
                </a:solidFill>
                <a:latin typeface="Calibri"/>
              </a:rPr>
              <a:t>●  Echte Erstzugänge werden seltener — Anteil mit Vorbezug steigt deutlich.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74151"/>
                </a:solidFill>
                <a:latin typeface="Calibri"/>
              </a:rPr>
              <a:t>●  Bestätigt unabhängig dieselbe Verfestigungstendenz wie die Langzeitarbeitslosigkeit.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3F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51999"/>
            <a:ext cx="12193588" cy="54000"/>
          </a:xfrm>
          <a:prstGeom prst="rect">
            <a:avLst/>
          </a:prstGeom>
          <a:solidFill>
            <a:srgbClr val="C7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20000" y="1314000"/>
            <a:ext cx="107532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BFDBFE"/>
                </a:solidFill>
                <a:latin typeface="Calibri"/>
              </a:rPr>
              <a:t>KAPITEL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1602000"/>
            <a:ext cx="107532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"/>
              </a:rPr>
              <a:t>Rechtskreisvergleich: SGB II vs. SGB III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3311999"/>
            <a:ext cx="107532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0" i="0">
                <a:solidFill>
                  <a:srgbClr val="E0E7FF"/>
                </a:solidFill>
                <a:latin typeface="Calibri"/>
              </a:rPr>
              <a:t>●  Jobcenter-Anteil an der Gesamtarbeitslosigkeit</a:t>
            </a:r>
          </a:p>
          <a:p>
            <a:pPr>
              <a:spcAft>
                <a:spcPts val="1400"/>
              </a:spcAft>
            </a:pPr>
            <a:r>
              <a:rPr sz="1800" b="0" i="0">
                <a:solidFill>
                  <a:srgbClr val="E0E7FF"/>
                </a:solidFill>
                <a:latin typeface="Calibri"/>
              </a:rPr>
              <a:t>●  Keine neuen Rohdaten nötig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588" cy="936000"/>
          </a:xfrm>
          <a:prstGeom prst="rect">
            <a:avLst/>
          </a:prstGeom>
          <a:solidFill>
            <a:srgbClr val="3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2000" y="90000"/>
            <a:ext cx="113292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Calibri"/>
              </a:rPr>
              <a:t>11.1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306000"/>
            <a:ext cx="11329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Jobcenter-Anteil am Arbeitslosenbestand insgesamt</a:t>
            </a:r>
          </a:p>
        </p:txBody>
      </p:sp>
      <p:pic>
        <p:nvPicPr>
          <p:cNvPr id="5" name="Picture 4" descr="abb29_rechtskreis_best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576" y="1116000"/>
            <a:ext cx="10330434" cy="475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3999" y="5976000"/>
            <a:ext cx="111852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6B7280"/>
                </a:solidFill>
                <a:latin typeface="Calibri"/>
              </a:rPr>
              <a:t>Jobcenter-Anteil stabil bei Ø 39,8 % — die Mehrheit (≈ 60 %) fällt in die Zuständigkeit der Agentur für Arbeit.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588" cy="936000"/>
          </a:xfrm>
          <a:prstGeom prst="rect">
            <a:avLst/>
          </a:prstGeom>
          <a:solidFill>
            <a:srgbClr val="6B5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2000" y="90000"/>
            <a:ext cx="113292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Calibri"/>
              </a:rPr>
              <a:t>11.2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306000"/>
            <a:ext cx="11329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Langzeitarbeitslosigkeit: Konzentration im SGB II</a:t>
            </a:r>
          </a:p>
        </p:txBody>
      </p:sp>
      <p:pic>
        <p:nvPicPr>
          <p:cNvPr id="5" name="Picture 4" descr="abb30_rechtskreis_lz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576" y="1116000"/>
            <a:ext cx="10330434" cy="475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3999" y="5976000"/>
            <a:ext cx="111852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6B7280"/>
                </a:solidFill>
                <a:latin typeface="Calibri"/>
              </a:rPr>
              <a:t>Jobcenter-Anteil hier Ø 72,3 % — plausibel durch die Befristung von Arbeitslosengeld I.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588" cy="936000"/>
          </a:xfrm>
          <a:prstGeom prst="rect">
            <a:avLst/>
          </a:prstGeom>
          <a:solidFill>
            <a:srgbClr val="3F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2000" y="90000"/>
            <a:ext cx="113292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Calibri"/>
              </a:rPr>
              <a:t>11.3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306000"/>
            <a:ext cx="11329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Quoten im Vergleich</a:t>
            </a:r>
          </a:p>
        </p:txBody>
      </p:sp>
      <p:pic>
        <p:nvPicPr>
          <p:cNvPr id="5" name="Picture 4" descr="abb31_rechtskreis_quot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576" y="1116000"/>
            <a:ext cx="10330434" cy="475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3999" y="5976000"/>
            <a:ext cx="111852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6B7280"/>
                </a:solidFill>
                <a:latin typeface="Calibri"/>
              </a:rPr>
              <a:t>SGB-II-Anteil an der Arbeitslosenquote ≈ 40 %, an der Unterbeschäftigungsquote ≈ 46 %.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588" cy="936000"/>
          </a:xfrm>
          <a:prstGeom prst="rect">
            <a:avLst/>
          </a:prstGeom>
          <a:solidFill>
            <a:srgbClr val="A04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2000" y="90000"/>
            <a:ext cx="113292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Calibri"/>
              </a:rPr>
              <a:t>11.4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306000"/>
            <a:ext cx="11329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Zusammenfassung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3999" y="1224000"/>
            <a:ext cx="11185200" cy="523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0" i="0">
                <a:solidFill>
                  <a:srgbClr val="374151"/>
                </a:solidFill>
                <a:latin typeface="Calibri"/>
              </a:rPr>
              <a:t>●  Jobcenter (SGB II) trägt nur rund 40 % der gesamten Arbeitslosigkeit in Regensburg.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74151"/>
                </a:solidFill>
                <a:latin typeface="Calibri"/>
              </a:rPr>
              <a:t>●  Bei Langzeitarbeitslosigkeit liegt der Jobcenter-Anteil dagegen bei rund 72 %.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74151"/>
                </a:solidFill>
                <a:latin typeface="Calibri"/>
              </a:rPr>
              <a:t>●  Kernaussage: Der Jobcenter-Fokus bildet nur einen Teil der Gesamtarbeitslosigkeit ab — aber genau den Teil mit der stärksten Konzentration von Langzeitarbeitslosigkeit.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045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51999"/>
            <a:ext cx="12193200" cy="54000"/>
          </a:xfrm>
          <a:prstGeom prst="rect">
            <a:avLst/>
          </a:prstGeom>
          <a:solidFill>
            <a:srgbClr val="C7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20000" y="1944000"/>
            <a:ext cx="107532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BFDBFE"/>
                </a:solidFill>
                <a:latin typeface="Calibri"/>
              </a:rPr>
              <a:t>KAPITEL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2196000"/>
            <a:ext cx="10753200" cy="79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Fazit und Ausblick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3311999"/>
            <a:ext cx="107532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E0E7FF"/>
                </a:solidFill>
                <a:latin typeface="Calibri"/>
              </a:rPr>
              <a:t>●  Zusammenfassung der Projektergebnisse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E0E7FF"/>
                </a:solidFill>
                <a:latin typeface="Calibri"/>
              </a:rPr>
              <a:t>●  Priorisierte Themen für die Fortsetzung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936000"/>
          </a:xfrm>
          <a:prstGeom prst="rect">
            <a:avLst/>
          </a:prstGeom>
          <a:solidFill>
            <a:srgbClr val="A04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2000" y="90000"/>
            <a:ext cx="11329200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12.1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306000"/>
            <a:ext cx="113292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Fazit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3999" y="1224000"/>
            <a:ext cx="11185201" cy="523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374151"/>
                </a:solidFill>
                <a:latin typeface="Calibri"/>
              </a:rPr>
              <a:t>●  Strukturierte Zeitreihe mit 9 Kernkennzahlen aus 18 Excel-Berichten (Kapitel 2), visuell ausgewertet (Kapitel 3) und vertieft statistisch untersucht (Kapitel 4).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374151"/>
                </a:solidFill>
                <a:latin typeface="Calibri"/>
              </a:rPr>
              <a:t>●  Sieben zusätzliche Themenfelder erschlossen (Kapitel 5–11): Fluktuation, Demografie, Erwerbstätigkeit, Finanzen, Förderung, Bezugsdauer, Rechtskreisvergleich — dafür sechs weitere Tabellenblätter neu eingelesen.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374151"/>
                </a:solidFill>
                <a:latin typeface="Calibri"/>
              </a:rPr>
              <a:t>●  Ergebnisse zusätzlich in einem Streamlit-Dashboard mit 8 Tabs und Glossar bereitgestellt.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374151"/>
                </a:solidFill>
                <a:latin typeface="Calibri"/>
              </a:rPr>
              <a:t>●  Kernbefund, das sich durch alle Kapitel zieht: Die Langzeitarbeitslosigkeit verschärft sich konsistent — sichtbar im Bestand (Kapitel 3.3), im Langzeitleistungsbezug (Kapitel 10.2), bei Fördermaßnahmen-Teilnehmenden (Kapitel 9.3) und im Rechtskreisvergleich (Kapitel 11.2).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936000"/>
          </a:xfrm>
          <a:prstGeom prst="rect">
            <a:avLst/>
          </a:prstGeom>
          <a:solidFill>
            <a:srgbClr val="A04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2000" y="90000"/>
            <a:ext cx="11329200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12.2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306000"/>
            <a:ext cx="113292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Ausblick — verbleibende Erweiterungsideen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3999" y="1224000"/>
            <a:ext cx="11185201" cy="523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374151"/>
                </a:solidFill>
                <a:latin typeface="Calibri"/>
              </a:rPr>
              <a:t>●  Gemeldete Arbeitsstellen (Zugang, Bestand) — Nachfrageseite des Arbeitsmarkts, bisher komplett ausgeklammert.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374151"/>
                </a:solidFill>
                <a:latin typeface="Calibri"/>
              </a:rPr>
              <a:t>●  Unterbeschäftigung im engeren Sinne / ohne Kurzarbeit — Detailkomponenten, bisher nur „im weiteren Sinne“ für die Quote genutzt.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374151"/>
                </a:solidFill>
                <a:latin typeface="Calibri"/>
              </a:rPr>
              <a:t>●  RLB/ELB/NEF als eigene Zeitreihen-Struktur — bisher nur als Momentaufnahme in der Trichter-Grafik sichtbar.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374151"/>
                </a:solidFill>
                <a:latin typeface="Calibri"/>
              </a:rPr>
              <a:t>●  Sozialversicherungspflichtige und geringfügig entlohnte Beschäftigung — Gegenstück zur Arbeitslosigkeit.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374151"/>
                </a:solidFill>
                <a:latin typeface="Calibri"/>
              </a:rPr>
              <a:t>●  Methodisch offen: multiple Regression, ANOVA, Violin-/Pie-Plots.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40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240000"/>
            <a:ext cx="12193200" cy="54000"/>
          </a:xfrm>
          <a:prstGeom prst="rect">
            <a:avLst/>
          </a:prstGeom>
          <a:solidFill>
            <a:srgbClr val="C7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20000" y="2484000"/>
            <a:ext cx="107532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Vielen Dank für die Aufmerksamkeit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3456000"/>
            <a:ext cx="107532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0">
                <a:solidFill>
                  <a:srgbClr val="BFDBFE"/>
                </a:solidFill>
                <a:latin typeface="Calibri"/>
              </a:rPr>
              <a:t>Live-Dashboard: daelwve9mj8pxz32vshq7u.streamlit.app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2225</Words>
  <Application>Microsoft Office PowerPoint</Application>
  <PresentationFormat>Benutzerdefiniert</PresentationFormat>
  <Paragraphs>302</Paragraphs>
  <Slides>65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65</vt:i4>
      </vt:variant>
    </vt:vector>
  </HeadingPairs>
  <TitlesOfParts>
    <vt:vector size="68" baseType="lpstr">
      <vt:lpstr>Arial</vt:lpstr>
      <vt:lpstr>Calibri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Eugenia Funk</cp:lastModifiedBy>
  <cp:revision>1</cp:revision>
  <dcterms:created xsi:type="dcterms:W3CDTF">2013-01-27T09:14:16Z</dcterms:created>
  <dcterms:modified xsi:type="dcterms:W3CDTF">2026-08-29T20:15:48Z</dcterms:modified>
  <cp:category/>
</cp:coreProperties>
</file>