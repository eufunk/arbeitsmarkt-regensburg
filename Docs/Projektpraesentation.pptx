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305" r:id="rId47"/>
    <p:sldId id="306" r:id="rId48"/>
    <p:sldId id="307" r:id="rId49"/>
    <p:sldId id="308" r:id="rId50"/>
    <p:sldId id="309" r:id="rId51"/>
    <p:sldId id="310" r:id="rId52"/>
    <p:sldId id="311" r:id="rId53"/>
    <p:sldId id="312" r:id="rId54"/>
    <p:sldId id="313" r:id="rId55"/>
    <p:sldId id="314" r:id="rId56"/>
    <p:sldId id="315" r:id="rId57"/>
    <p:sldId id="316" r:id="rId58"/>
    <p:sldId id="317" r:id="rId59"/>
    <p:sldId id="318" r:id="rId60"/>
    <p:sldId id="319" r:id="rId61"/>
    <p:sldId id="320" r:id="rId62"/>
    <p:sldId id="273" r:id="rId63"/>
    <p:sldId id="274" r:id="rId64"/>
    <p:sldId id="275" r:id="rId65"/>
    <p:sldId id="276" r:id="rId66"/>
  </p:sldIdLst>
  <p:sldSz cx="12193588"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microsoft.com/office/2016/11/relationships/changesInfo" Target="changesInfos/changesInfo1.xml"/><Relationship Id="rId7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ugenia Funk" userId="8e8c6ebfa4ec6395" providerId="LiveId" clId="{4ABD1F32-8A54-41D3-9E52-C7E96354139A}"/>
    <pc:docChg chg="custSel modSld">
      <pc:chgData name="Eugenia Funk" userId="8e8c6ebfa4ec6395" providerId="LiveId" clId="{4ABD1F32-8A54-41D3-9E52-C7E96354139A}" dt="2026-08-29T20:15:38.193" v="3" actId="14100"/>
      <pc:docMkLst>
        <pc:docMk/>
      </pc:docMkLst>
      <pc:sldChg chg="modSp mod">
        <pc:chgData name="Eugenia Funk" userId="8e8c6ebfa4ec6395" providerId="LiveId" clId="{4ABD1F32-8A54-41D3-9E52-C7E96354139A}" dt="2026-08-29T20:15:38.193" v="3" actId="14100"/>
        <pc:sldMkLst>
          <pc:docMk/>
          <pc:sldMk cId="0" sldId="257"/>
        </pc:sldMkLst>
        <pc:spChg chg="mod">
          <ac:chgData name="Eugenia Funk" userId="8e8c6ebfa4ec6395" providerId="LiveId" clId="{4ABD1F32-8A54-41D3-9E52-C7E96354139A}" dt="2026-08-29T20:15:38.193" v="3" actId="14100"/>
          <ac:spMkLst>
            <pc:docMk/>
            <pc:sldMk cId="0" sldId="257"/>
            <ac:spMk id="33" creationId="{00000000-0000-0000-0000-000000000000}"/>
          </ac:spMkLst>
        </pc:spChg>
      </pc:sldChg>
      <pc:sldChg chg="modSp mod">
        <pc:chgData name="Eugenia Funk" userId="8e8c6ebfa4ec6395" providerId="LiveId" clId="{4ABD1F32-8A54-41D3-9E52-C7E96354139A}" dt="2026-08-17T13:39:01.148" v="0" actId="26606"/>
        <pc:sldMkLst>
          <pc:docMk/>
          <pc:sldMk cId="0" sldId="260"/>
        </pc:sldMkLst>
        <pc:spChg chg="mod">
          <ac:chgData name="Eugenia Funk" userId="8e8c6ebfa4ec6395" providerId="LiveId" clId="{4ABD1F32-8A54-41D3-9E52-C7E96354139A}" dt="2026-08-17T13:39:01.148" v="0" actId="26606"/>
          <ac:spMkLst>
            <pc:docMk/>
            <pc:sldMk cId="0" sldId="260"/>
            <ac:spMk id="5" creationId="{00000000-0000-0000-0000-000000000000}"/>
          </ac:spMkLst>
        </pc:spChg>
        <pc:spChg chg="mod">
          <ac:chgData name="Eugenia Funk" userId="8e8c6ebfa4ec6395" providerId="LiveId" clId="{4ABD1F32-8A54-41D3-9E52-C7E96354139A}" dt="2026-08-17T13:39:01.148" v="0" actId="26606"/>
          <ac:spMkLst>
            <pc:docMk/>
            <pc:sldMk cId="0" sldId="260"/>
            <ac:spMk id="6" creationId="{00000000-0000-0000-0000-000000000000}"/>
          </ac:spMkLst>
        </pc:spChg>
        <pc:spChg chg="mod">
          <ac:chgData name="Eugenia Funk" userId="8e8c6ebfa4ec6395" providerId="LiveId" clId="{4ABD1F32-8A54-41D3-9E52-C7E96354139A}" dt="2026-08-17T13:39:01.148" v="0" actId="26606"/>
          <ac:spMkLst>
            <pc:docMk/>
            <pc:sldMk cId="0" sldId="260"/>
            <ac:spMk id="8" creationId="{00000000-0000-0000-0000-000000000000}"/>
          </ac:spMkLst>
        </pc:spChg>
        <pc:spChg chg="mod">
          <ac:chgData name="Eugenia Funk" userId="8e8c6ebfa4ec6395" providerId="LiveId" clId="{4ABD1F32-8A54-41D3-9E52-C7E96354139A}" dt="2026-08-17T13:39:01.148" v="0" actId="26606"/>
          <ac:spMkLst>
            <pc:docMk/>
            <pc:sldMk cId="0" sldId="260"/>
            <ac:spMk id="9" creationId="{00000000-0000-0000-0000-000000000000}"/>
          </ac:spMkLst>
        </pc:spChg>
        <pc:spChg chg="mod">
          <ac:chgData name="Eugenia Funk" userId="8e8c6ebfa4ec6395" providerId="LiveId" clId="{4ABD1F32-8A54-41D3-9E52-C7E96354139A}" dt="2026-08-17T13:39:01.148" v="0" actId="26606"/>
          <ac:spMkLst>
            <pc:docMk/>
            <pc:sldMk cId="0" sldId="260"/>
            <ac:spMk id="10" creationId="{00000000-0000-0000-0000-000000000000}"/>
          </ac:spMkLst>
        </pc:spChg>
        <pc:spChg chg="mod">
          <ac:chgData name="Eugenia Funk" userId="8e8c6ebfa4ec6395" providerId="LiveId" clId="{4ABD1F32-8A54-41D3-9E52-C7E96354139A}" dt="2026-08-17T13:39:01.148" v="0" actId="26606"/>
          <ac:spMkLst>
            <pc:docMk/>
            <pc:sldMk cId="0" sldId="260"/>
            <ac:spMk id="11" creationId="{00000000-0000-0000-0000-000000000000}"/>
          </ac:spMkLst>
        </pc:spChg>
        <pc:spChg chg="mod">
          <ac:chgData name="Eugenia Funk" userId="8e8c6ebfa4ec6395" providerId="LiveId" clId="{4ABD1F32-8A54-41D3-9E52-C7E96354139A}" dt="2026-08-17T13:39:01.148" v="0" actId="26606"/>
          <ac:spMkLst>
            <pc:docMk/>
            <pc:sldMk cId="0" sldId="260"/>
            <ac:spMk id="12" creationId="{00000000-0000-0000-0000-000000000000}"/>
          </ac:spMkLst>
        </pc:spChg>
        <pc:spChg chg="mod">
          <ac:chgData name="Eugenia Funk" userId="8e8c6ebfa4ec6395" providerId="LiveId" clId="{4ABD1F32-8A54-41D3-9E52-C7E96354139A}" dt="2026-08-17T13:39:01.148" v="0" actId="26606"/>
          <ac:spMkLst>
            <pc:docMk/>
            <pc:sldMk cId="0" sldId="260"/>
            <ac:spMk id="14" creationId="{00000000-0000-0000-0000-000000000000}"/>
          </ac:spMkLst>
        </pc:spChg>
        <pc:spChg chg="mod">
          <ac:chgData name="Eugenia Funk" userId="8e8c6ebfa4ec6395" providerId="LiveId" clId="{4ABD1F32-8A54-41D3-9E52-C7E96354139A}" dt="2026-08-17T13:39:01.148" v="0" actId="26606"/>
          <ac:spMkLst>
            <pc:docMk/>
            <pc:sldMk cId="0" sldId="260"/>
            <ac:spMk id="16" creationId="{00000000-0000-0000-0000-000000000000}"/>
          </ac:spMkLst>
        </pc:spChg>
        <pc:spChg chg="mod">
          <ac:chgData name="Eugenia Funk" userId="8e8c6ebfa4ec6395" providerId="LiveId" clId="{4ABD1F32-8A54-41D3-9E52-C7E96354139A}" dt="2026-08-17T13:39:01.148" v="0" actId="26606"/>
          <ac:spMkLst>
            <pc:docMk/>
            <pc:sldMk cId="0" sldId="260"/>
            <ac:spMk id="20" creationId="{00000000-0000-0000-0000-000000000000}"/>
          </ac:spMkLst>
        </pc:spChg>
      </pc:sldChg>
      <pc:sldChg chg="modSp mod">
        <pc:chgData name="Eugenia Funk" userId="8e8c6ebfa4ec6395" providerId="LiveId" clId="{4ABD1F32-8A54-41D3-9E52-C7E96354139A}" dt="2026-08-17T13:39:01.185" v="1" actId="27636"/>
        <pc:sldMkLst>
          <pc:docMk/>
          <pc:sldMk cId="0" sldId="261"/>
        </pc:sldMkLst>
        <pc:spChg chg="mod">
          <ac:chgData name="Eugenia Funk" userId="8e8c6ebfa4ec6395" providerId="LiveId" clId="{4ABD1F32-8A54-41D3-9E52-C7E96354139A}" dt="2026-08-17T13:39:01.185" v="1" actId="27636"/>
          <ac:spMkLst>
            <pc:docMk/>
            <pc:sldMk cId="0" sldId="261"/>
            <ac:spMk id="3" creationId="{00000000-0000-0000-0000-000000000000}"/>
          </ac:spMkLst>
        </pc:spChg>
        <pc:spChg chg="mod">
          <ac:chgData name="Eugenia Funk" userId="8e8c6ebfa4ec6395" providerId="LiveId" clId="{4ABD1F32-8A54-41D3-9E52-C7E96354139A}" dt="2026-08-17T13:39:01.148" v="0" actId="26606"/>
          <ac:spMkLst>
            <pc:docMk/>
            <pc:sldMk cId="0" sldId="261"/>
            <ac:spMk id="4" creationId="{00000000-0000-0000-0000-000000000000}"/>
          </ac:spMkLst>
        </pc:spChg>
      </pc:sldChg>
      <pc:sldChg chg="modSp mod">
        <pc:chgData name="Eugenia Funk" userId="8e8c6ebfa4ec6395" providerId="LiveId" clId="{4ABD1F32-8A54-41D3-9E52-C7E96354139A}" dt="2026-08-17T13:39:01.148" v="0" actId="26606"/>
        <pc:sldMkLst>
          <pc:docMk/>
          <pc:sldMk cId="0" sldId="264"/>
        </pc:sldMkLst>
        <pc:spChg chg="mod">
          <ac:chgData name="Eugenia Funk" userId="8e8c6ebfa4ec6395" providerId="LiveId" clId="{4ABD1F32-8A54-41D3-9E52-C7E96354139A}" dt="2026-08-17T13:39:01.148" v="0" actId="26606"/>
          <ac:spMkLst>
            <pc:docMk/>
            <pc:sldMk cId="0" sldId="264"/>
            <ac:spMk id="5" creationId="{00000000-0000-0000-0000-000000000000}"/>
          </ac:spMkLst>
        </pc:spChg>
        <pc:spChg chg="mod">
          <ac:chgData name="Eugenia Funk" userId="8e8c6ebfa4ec6395" providerId="LiveId" clId="{4ABD1F32-8A54-41D3-9E52-C7E96354139A}" dt="2026-08-17T13:39:01.148" v="0" actId="26606"/>
          <ac:spMkLst>
            <pc:docMk/>
            <pc:sldMk cId="0" sldId="264"/>
            <ac:spMk id="6" creationId="{00000000-0000-0000-0000-000000000000}"/>
          </ac:spMkLst>
        </pc:spChg>
        <pc:spChg chg="mod">
          <ac:chgData name="Eugenia Funk" userId="8e8c6ebfa4ec6395" providerId="LiveId" clId="{4ABD1F32-8A54-41D3-9E52-C7E96354139A}" dt="2026-08-17T13:39:01.148" v="0" actId="26606"/>
          <ac:spMkLst>
            <pc:docMk/>
            <pc:sldMk cId="0" sldId="264"/>
            <ac:spMk id="8" creationId="{00000000-0000-0000-0000-000000000000}"/>
          </ac:spMkLst>
        </pc:spChg>
        <pc:spChg chg="mod">
          <ac:chgData name="Eugenia Funk" userId="8e8c6ebfa4ec6395" providerId="LiveId" clId="{4ABD1F32-8A54-41D3-9E52-C7E96354139A}" dt="2026-08-17T13:39:01.148" v="0" actId="26606"/>
          <ac:spMkLst>
            <pc:docMk/>
            <pc:sldMk cId="0" sldId="264"/>
            <ac:spMk id="9" creationId="{00000000-0000-0000-0000-000000000000}"/>
          </ac:spMkLst>
        </pc:spChg>
        <pc:spChg chg="mod">
          <ac:chgData name="Eugenia Funk" userId="8e8c6ebfa4ec6395" providerId="LiveId" clId="{4ABD1F32-8A54-41D3-9E52-C7E96354139A}" dt="2026-08-17T13:39:01.148" v="0" actId="26606"/>
          <ac:spMkLst>
            <pc:docMk/>
            <pc:sldMk cId="0" sldId="264"/>
            <ac:spMk id="10" creationId="{00000000-0000-0000-0000-000000000000}"/>
          </ac:spMkLst>
        </pc:spChg>
        <pc:spChg chg="mod">
          <ac:chgData name="Eugenia Funk" userId="8e8c6ebfa4ec6395" providerId="LiveId" clId="{4ABD1F32-8A54-41D3-9E52-C7E96354139A}" dt="2026-08-17T13:39:01.148" v="0" actId="26606"/>
          <ac:spMkLst>
            <pc:docMk/>
            <pc:sldMk cId="0" sldId="264"/>
            <ac:spMk id="12" creationId="{00000000-0000-0000-0000-000000000000}"/>
          </ac:spMkLst>
        </pc:spChg>
        <pc:spChg chg="mod">
          <ac:chgData name="Eugenia Funk" userId="8e8c6ebfa4ec6395" providerId="LiveId" clId="{4ABD1F32-8A54-41D3-9E52-C7E96354139A}" dt="2026-08-17T13:39:01.148" v="0" actId="26606"/>
          <ac:spMkLst>
            <pc:docMk/>
            <pc:sldMk cId="0" sldId="264"/>
            <ac:spMk id="13" creationId="{00000000-0000-0000-0000-000000000000}"/>
          </ac:spMkLst>
        </pc:spChg>
        <pc:spChg chg="mod">
          <ac:chgData name="Eugenia Funk" userId="8e8c6ebfa4ec6395" providerId="LiveId" clId="{4ABD1F32-8A54-41D3-9E52-C7E96354139A}" dt="2026-08-17T13:39:01.148" v="0" actId="26606"/>
          <ac:spMkLst>
            <pc:docMk/>
            <pc:sldMk cId="0" sldId="264"/>
            <ac:spMk id="15" creationId="{00000000-0000-0000-0000-000000000000}"/>
          </ac:spMkLst>
        </pc:spChg>
        <pc:spChg chg="mod">
          <ac:chgData name="Eugenia Funk" userId="8e8c6ebfa4ec6395" providerId="LiveId" clId="{4ABD1F32-8A54-41D3-9E52-C7E96354139A}" dt="2026-08-17T13:39:01.148" v="0" actId="26606"/>
          <ac:spMkLst>
            <pc:docMk/>
            <pc:sldMk cId="0" sldId="264"/>
            <ac:spMk id="17" creationId="{00000000-0000-0000-0000-000000000000}"/>
          </ac:spMkLst>
        </pc:spChg>
        <pc:spChg chg="mod">
          <ac:chgData name="Eugenia Funk" userId="8e8c6ebfa4ec6395" providerId="LiveId" clId="{4ABD1F32-8A54-41D3-9E52-C7E96354139A}" dt="2026-08-17T13:39:01.148" v="0" actId="26606"/>
          <ac:spMkLst>
            <pc:docMk/>
            <pc:sldMk cId="0" sldId="264"/>
            <ac:spMk id="18" creationId="{00000000-0000-0000-0000-000000000000}"/>
          </ac:spMkLst>
        </pc:spChg>
      </pc:sldChg>
      <pc:sldChg chg="modSp mod">
        <pc:chgData name="Eugenia Funk" userId="8e8c6ebfa4ec6395" providerId="LiveId" clId="{4ABD1F32-8A54-41D3-9E52-C7E96354139A}" dt="2026-08-17T13:39:01.191" v="2" actId="27636"/>
        <pc:sldMkLst>
          <pc:docMk/>
          <pc:sldMk cId="0" sldId="265"/>
        </pc:sldMkLst>
        <pc:spChg chg="mod">
          <ac:chgData name="Eugenia Funk" userId="8e8c6ebfa4ec6395" providerId="LiveId" clId="{4ABD1F32-8A54-41D3-9E52-C7E96354139A}" dt="2026-08-17T13:39:01.148" v="0" actId="26606"/>
          <ac:spMkLst>
            <pc:docMk/>
            <pc:sldMk cId="0" sldId="265"/>
            <ac:spMk id="2" creationId="{00000000-0000-0000-0000-000000000000}"/>
          </ac:spMkLst>
        </pc:spChg>
        <pc:spChg chg="mod">
          <ac:chgData name="Eugenia Funk" userId="8e8c6ebfa4ec6395" providerId="LiveId" clId="{4ABD1F32-8A54-41D3-9E52-C7E96354139A}" dt="2026-08-17T13:39:01.191" v="2" actId="27636"/>
          <ac:spMkLst>
            <pc:docMk/>
            <pc:sldMk cId="0" sldId="265"/>
            <ac:spMk id="3" creationId="{00000000-0000-0000-0000-000000000000}"/>
          </ac:spMkLst>
        </pc:spChg>
        <pc:spChg chg="mod">
          <ac:chgData name="Eugenia Funk" userId="8e8c6ebfa4ec6395" providerId="LiveId" clId="{4ABD1F32-8A54-41D3-9E52-C7E96354139A}" dt="2026-08-17T13:39:01.148" v="0" actId="26606"/>
          <ac:spMkLst>
            <pc:docMk/>
            <pc:sldMk cId="0" sldId="265"/>
            <ac:spMk id="4" creationId="{00000000-0000-0000-0000-000000000000}"/>
          </ac:spMkLst>
        </pc:spChg>
      </pc:sldChg>
      <pc:sldChg chg="modSp mod">
        <pc:chgData name="Eugenia Funk" userId="8e8c6ebfa4ec6395" providerId="LiveId" clId="{4ABD1F32-8A54-41D3-9E52-C7E96354139A}" dt="2026-08-17T13:39:01.148" v="0" actId="26606"/>
        <pc:sldMkLst>
          <pc:docMk/>
          <pc:sldMk cId="0" sldId="276"/>
        </pc:sldMkLst>
        <pc:spChg chg="mod">
          <ac:chgData name="Eugenia Funk" userId="8e8c6ebfa4ec6395" providerId="LiveId" clId="{4ABD1F32-8A54-41D3-9E52-C7E96354139A}" dt="2026-08-17T13:39:01.148" v="0" actId="26606"/>
          <ac:spMkLst>
            <pc:docMk/>
            <pc:sldMk cId="0" sldId="27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zu meiner Arbeitsmarktanalyse für den Jobcenter Regensburg. Diese Präsentation zeigt, wie ich aus 18 monatlichen Excel-Berichten der Bundesagentur für Arbeit eine strukturierte, auswertbare Datengrundlage für den Rechtskreis SGB II aufgebaut und mit Python analysiert und visualisiert habe.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Präsentation folgt zwölf Kapiteln: Nach Einleitung, Datenexploration und der eigentlichen Datenanalyse vertiefe ich die Ergebnisse statistisch in Kapitel 4. Die Kapitel 5 bis 11 erschließen sieben weitere Themenfelder — von Fluktuation über Demografie bis zum Rechtskreisvergleich —, bevor Kapitel 12 mit Fazit und Ausblick abschließt.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Zunächst zur Ausgangssituation, der Zielsetzung dieses Projekts und der verwendeten Datengrundlage.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Bundesagentur für Arbeit veröffentlicht monatlich einen sehr umfangreichen, aber kaum direkt auswertbaren Bericht mit über 20 Tabellenblättern pro Datei. Mein Ziel war es, daraus eine strukturierte, reproduzierbare Zeitreihe aufzubauen — von der sauberen Datenverarbeitung über aussagekräftige Visualisierung bis hin zu inhaltlichen und statistischen Erkenntnissen, bereitgestellt in einem interaktiven Dashboard.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Datengrundlage besteht aus 18 monatlichen Excel-Berichten mit je 21 Tabellenblättern, die den Zeitraum Januar 2025 bis Juni 2026 abdecken — Quelle ist die Statistik der Bundesagentur für Arbeit, Bericht „Eckwerte für Jobcenter“ für den Jobcenter Regensburg. Wichtig: Jede Datei unterscheidet zwischen dem Rechtskreis SGB II und dem Gesamtwert „Insgesamt“ — diese Präsentation wertet ausschließlich den SGB-II-Anteil aus, den direkten Zuständigkeitsbereich des Jobcenters; Kapitel 11 vergleicht am Ende beide Rechtskreise direkt.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2 behandelt die Datenexploration und -aufbereitung: wie ich die Rohdaten untersucht, bereinigt und für die Weiterverarbeitung exportiert habe.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habe systematisch alle 21 Tabellenblätter jeder Datei gesichtet. Sechs Blätter enthalten reine Metadaten ohne Analysewert, das Blatt „1.1 Eckwerte“ wurde als Hauptquelle identifiziert. Eine wichtige Besonderheit: Die Blätter 3.1 bis 3.6 und 4.1 bis 4.2 melden ihre Werte nicht für den aktuellen Berichtsmonat, sondern mit 3 bis 6 Monaten Wartezeit — das musste bei der späteren Zeitreihenerstellung berücksichtigt werden.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Datenpipeline besteht aus fünf Schritten: normalize_label entfernt Fußnotenmarker aus den Zeilenbeschriftungen, parse_eckwerte liest die relevanten Zeilen aus und leitet den Berichtsmonat aus dem Dateinamen ab. Nach der Bereinigung — keine Duplikate, aber 108 von 558 erklärbaren fehlenden Werten — entsteht über pivot_table eine Wide-Format-Zeitreihe mit neun zentralen Kennzahlen, die als CSV-Dateien exportiert wird und die Basis für alle weiteren Analysen und das Dashboard bildet.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Nach dem Einlesen aller 18 Dateien ergibt sich ein Datensatz mit 558 Zeilen und 8 Spalten, ganz ohne Duplikate. Die 108 fehlenden Werte betreffen fast ausschließlich die Kategorie „gemeldete Arbeitsstellen“, die von der Bundesagentur nicht nach Rechtskreis differenziert ausgewiesen wird — sie besitzt daher gar keinen eigenen SGB-II-Wert. Am Ende stehen neun aufbereitete Kennzahlen für die weitere Analyse bereit.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Kapitel 3 geht es um die eigentliche Datenanalyse und Visualisierung: Kennzahlen im Vergleich, die Arbeitslosen- und Unterbeschäftigungsquote, die Langzeitarbeitslosigkeit sowie Altersstruktur, Geschlecht und Veränderungen im Zeitverlauf.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Übersichtsgrafik zeigt alle Kernkennzahlen gemeinsam: Personen in Bedarfsgemeinschaften als Fläche im Hintergrund, sowie Bedarfsgemeinschaften, Arbeitslose und Langzeitarbeitslose als überlappende Balken über den gesamten Zeitraum Januar 2025 bis Juni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Arbeitslosen- und die Unterbeschäftigungsquote bewegen sich beide in einer engen, stabilen Bandbreite zwischen 1,2 und 1,9 Prozent — auf den ersten Blick ein Bild großer Stabilität.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Ganz anders sieht es bei der Langzeitarbeitslosigkeit aus — das ist der deutlichste Trend im gesamten Datensatz: Ihr Anteil an allen Arbeitslosen ist von 34,1 auf 47,3 Prozent gestiegen. Das ist der zentrale rote Faden, der sich durch die gesamte Präsentation zieht.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Setzt man alle Kennzahlen auf einen gemeinsamen Startwert von 100 Prozent im ersten Monat, wird der Unterschied noch deutlicher: Der Index der Langzeitarbeitslosen steigt sichtbar über den aller anderen Kennzahlen hinaus.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Momentaufnahme zeigt die Altersstruktur und Geschlechterverteilung für den letzten verfügbaren Berichtsmonat, Juni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Vergleicht man die vier Kernkennzahlen mit dem Vormonat Mai 2026 und dem Vorjahresmonat Juni 2025, fällt ein Befund besonders auf: Die Langzeitarbeitslosigkeit ist die einzige Kennzahl mit einem deutlichen Anstieg zum Vorjahresmonat — plus 28,7 Prozent —, während alle anderen Kennzahlen sowohl zum Vormonat als auch zum Vorjahr rückläufig sind.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Fasst man Kapitel 3 zusammen: Die reine Arbeitslosenzahl ist über den gesamten Zeitraum weitgehend stabil geblieben, aber die Langzeitarbeitslosigkeit hat sich mit einem Anstieg von rund 41 Prozent deutlich verfestigt — trotz insgesamt sinkender Bedarfsgemeinschaften. Ein Befund, der ohne die strukturierte Aufbereitung der Rohdaten kaum erkennbar gewesen wäre.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4 vertieft die Analyse statistisch: deskriptive Statistik im Detail, Korrelationsanalyse und Verteilungen sowie Inferenzstatistik mit Hypothesentest und linearer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 der detaillierten deskriptiven Statistik fällt vor allem der Variationskoeffizient der Langzeitarbeitslosen auf: Mit rund 11,8 Prozent zeigt er die mit Abstand stärkste relative Veränderung aller vier Kernkennzahlen, während Bedarfsgemeinschaften und Personen in Bedarfsgemeinschaften mit 2,1 beziehungsweise 2,4 Prozent am stabilsten sind.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Korrelationsmatrix zeigt die paarweise Pearson-Korrelation der vier Kernkennzahlen — Werte von minus eins bis plus eins, je intensiver die Farbe, desto stärker der lineare Zusammenhang. Sie hilft dabei, auf einen Blick zu erkennen, welche Kennzahlen sich gemeinsam bewegen; der auffällige Wert von r gleich 0,95 zwischen Bedarfsgemeinschaften und Personen in BG liefert die Ausgangsbasis für das vertiefende Streudiagramm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Zusammenhang zwischen Langzeitarbeitslosen und Bedarfsgemeinschaften ist mit r gleich minus 0,49 und p gleich 0,04 jetzt statistisch signifikant negativ — mit den ursprünglichen 15 Monaten war das noch nicht nachweisbar. Das zeigt anschaulich, wie empfindlich Korrelationstests bei kleinen Stichproben auf zusätzliche Datenpunkte reagieren. Ein Scatterplot mit Trendlinie eignet sich hier besonders gut, weil er Richtung und Stärke des Zusammenhangs direkt sichtbar macht.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die Verteilung des Arbeitslosenbestands über die 18 Monate habe ich bewusst einen Boxplot mit allen Einzelpunkten gewählt statt eines klassischen Histogramms — bei so wenigen Datenpunkten kann die Balkenhöhe eines Histogramms leicht missverstanden werden. So sieht man jeden Monatswert direkt: keine Ausreißer, eine leicht linksschiefe Verteilung mit dem Median knapp über dem Mittelwert.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zu prüfen, ob sich die Langzeitarbeitslosigkeit zwischen der ersten und zweiten Hälfte des Beobachtungszeitraums signifikant unterscheidet, habe ich einen Welch-t-Test durchgeführt: Der Mittelwert steigt von 543 auf 661 Personen, eine Differenz von 117,8 Personen mit einem 95-Prozent-Konfidenzintervall von 82,8 bis 152,7. Mit p ungefähr 0,00001 ist das statistisch hoch signifikant — die Nullhypothese wird klar verworfen.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lineare Regression der Langzeitarbeitslosen-Zahl über die Zeit ergibt ein Bestimmtheitsmaß von R-Quadrat gleich 0,983 — ein außergewöhnlich guter linearer Fit. Die Steigung von gut 13 Personen pro Monat lässt sich zu einer Prognose von etwa 727 bis 754 Personen für die kommenden drei Monate fortschreiben. Wichtig ist aber die Einschränkung: Das ist eine lineare Extrapolation aus nur 18 Datenpunkten, ohne Berücksichtigung von Saisonalität oder möglichen Strukturbrüchen — nur eine grobe Orientierung.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Grafik zeigt den linearen Trend und die Prognose visuell: die beobachteten Werte, die Regressionsgerade und die drei Prognosepunkte in einem Diagramm.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vier statistischen Verfahren dieses Kapitels — deskriptive Statistik, Korrelationsanalyse, Hypothesentest und Regression — bestätigen unabhängig voneinander denselben Befund: Die Verschärfung der Langzeitarbeitslosigkeit ist der am stärksten statistisch abgesicherte Trend im gesamten Datensatz.</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5 widmet sich der Fluktuation: Zugang und Abgang im Monatsverlauf, die Netto-Fluktuation im Vergleich zur tatsächlichen Bestandsänderung, und die 12-Monatssummen als mittelfristiger Trend.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Schnitt gab es 267 Zugänge und 281 Abgänge pro Monat — im Mittel also etwas mehr Abgang als Zugang. Das zeigt: Hinter dem vergleichsweise stabilen Bestand steckt deutlich mehr monatliche Bewegung, als man vermuten würde.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Netto-Fluktuation liegt in allen 18 Monaten unter der tatsächlichen Bestandsänderung, im Schnitt um 20,9 Personen. Diese Differenz lässt sich plausibel durch Rechtskreiswechsel zwischen SGB II und SGB III erklären — Personen, die zwischen den beiden Zuständigkeitsbereichen wechseln, ohne dass das in Zugang oder Abgang erfasst wird.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Betrachtet man die rollierende 12-Monatssumme als mittelfristigen Trend, zeigt sich eine Verschlechterung der Netto-Fluktuation von minus 58 auf minus 264 Personen pro Jahr — ein klares Warnsignal für eine sich verschärfende Entwicklung.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Zusammengefasst: Zugang und Abgang mit im Schnitt 267 beziehungsweise 281 Personen pro Monat zeigen deutlich mehr Dynamik, als der stabile Bestand vermuten lässt. Die Netto-Fluktuation liegt im Mittel bei minus 14,4 Personen pro Monat mit leicht rückläufiger Tendenz seit Anfang 2025, und die Differenz zur tatsächlichen Bestandsänderung lässt sich plausibel durch Rechtskreiswechsel zwischen SGB II und SGB III erklären.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6 betrachtet die Demografie: Altersstruktur und Geschlecht als Zeitreihe, sowie Ausländeranteil und Schwerbehinderte, die hier erstmals ausgewertet werden.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25- bis 50-Jährigen bilden mit rund 57 Prozent die größte Altersgruppe. Innerhalb der Gruppe 50 plus steigt der Anteil der über 55-Jährigen von 64,8 auf 68,8 Prozent — eine leichte Alterung innerhalb dieser Gruppe.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Männeranteil steigt leicht von 53,1 auf 54,5 Prozent — die Geschlechterverteilung bleibt insgesamt bemerkenswert stabil.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der überraschendsten neuen Erkenntnisse dieses Projekts: Der Anteil ausländischer Arbeitsloser ist mit 51,7 bis 45,4 Prozent des Bestands überraschend hoch, gleichzeitig aber deutlich rückläufig.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Anteil schwerbehinderter Menschen ist kleiner, aber leicht steigend: von 7,9 auf 8,7 Prozent.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der Zusammenfassung zeigt sich: Altersstruktur und Geschlechterverteilung sind bemerkenswert stabil, der Anteil Schwerbehinderter steigt nur leicht. Die auffälligste neue Erkenntnis dieses Kapitels ist der deutlich rückläufige Ausländeranteil von 51,7 auf 45,4 Prozent.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7 behandelt die Erwerbstätigkeit, umgangssprachlich die „Aufstocker“: die Aufstockerquote im Zeitverlauf, Erwerbsform und Einkommensstruktur — basierend auf einem neu erschlossenen Tabellenblatt, 3.3 Erwerbstätigkeit.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Aufstockerquote bleibt stabil bei durchschnittlich 21,4 Prozent — rund jede fünfte erwerbsfähige leistungsberechtigte Person ist erwerbstätig, verdient aber nicht genug, um aus dem Bürgergeldbezug auszusteigen.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Unter den erwerbstätigen Leistungsberechtigten dominiert klar die abhängige Beschäftigung mit 93 bis 94 Prozent gegenüber der selbständigen Tätigkeit.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Innerhalb der Einkommensstruktur der abhängig Erwerbstätigen zeigt sich eine leichte Verschiebung zu höheren Einkommen: Der Anteil bis zur Geringfügigkeitsgrenze sinkt, während die Anteile im und über dem Übergangsbereich steigen.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Zusammengefasst bleibt die Aufstockerquote über den gesamten Zeitraum bemerkenswert konstant bei 21,4 Prozent, die Erwerbsform ist klar von abhängiger Beschäftigung dominiert, und es zeigt sich eine leichte Verschiebung zu höheren Einkommen. Eine methodische Besonderheit: Dieses Kapitel nutzt ein eigenes Zeitfenster von Oktober 2024 bis März 2026 mit 3 Monaten Wartezeit, unabhängig vom Sidebar-Filter im Dashboard.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8 widmet sich den Finanzen, konkret den Zahlungsansprüchen — der einzigen Quelle für Euro-Beträge im gesamten Datensatz: Gesamtvolumen und Struktur der Zahlungsansprüche.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Gesamtvolumen der Zahlungsansprüche ist mit 3.451,5 auf 3.473,0 Tausend Euro praktisch stabil, aber der Durchschnitt je Bedarfsgemeinschaft ist spürbar gestiegen, von 1.251 auf 1.288 Euro.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der Kostenstruktur dominieren Regelbedarf für erwerbsfähige Leistungsberechtigte mit rund 40 Prozent und die Kosten der Unterkunft mit rund 36 Prozent; der Anteil der Sozialversicherungsbeiträge steigt dabei deutlich.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Zusammengefasst: Das Gesamtvolumen ist praktisch stabil, während der Durchschnitt je Bedarfsgemeinschaft deutlich gestiegen ist. Regelbedarf ELB und Kosten der Unterkunft dominieren weiterhin die Struktur, und der Anteil der Sozialversicherungsbeiträge steigt spürbar von 15,6 auf 18,3 Prozent — während der Anteil des Regelbedarfs für nicht erwerbsfähige Leistungsberechtigte entsprechend sinkt.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9 behandelt die Förderung, also die aktive Arbeitsmarktpolitik: Eintritte und Bestand an Fördermaßnahmen sowie die Aktivierungsquoten AQ1 und AQ2a.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Eintritte in Fördermaßnahmen sind volatil und leicht rückläufig; der Bestand erreichte im April 2025 mit 313 seinen Höchststand und ist seither wieder gesunken.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Aktivierungsquoten sind rückläufig: AQ1 sinkt von 13,3 auf 9,9 Prozent, AQ2a von 6,0 auf 5,5 Prozent.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Frauenanteil unter den Teilnehmenden bleibt mit rund 44 Prozent stabil, während der Anteil zuvor Langzeitarbeitsloser deutlich steigt — von 16,2 auf 23,6 Prozent.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Zusammengefasst: Die Eintritte sind volatil und leicht rückläufig, mit einem Bestandshöchststand im April 2025. Beide Aktivierungsquoten sind rückläufig, aber besonders bemerkenswert ist der deutlich steigende Anteil zuvor langzeitarbeitsloser Teilnehmender — ein direkter Anknüpfungspunkt an das zentrale Thema dieser Präsentation, die Langzeitarbeitslosigkeit.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10 untersucht die Bezugsdauer: Haushaltsstruktur, Langzeitleistungsbezug und den sogenannten „Drehtür-Effekt“.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Struktur der Bedarfsgemeinschaften zeigt sich hier nach Haushaltsgröße und nach BG-Typ.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Anteil des Langzeitleistungsbezugs an allen erwerbsfähigen Leistungsberechtigten steigt deutlich, von 48,9 auf 55,1 Prozent — über die Hälfte der ELB bezieht inzwischen langfristig Leistungen.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sogenannte Drehtür-Effekt wird sichtbar: Der Anteil der Zugänge mit Vorbezug steigt deutlich von 56,1 auf 73,4 Prozent — echte Erstzugänge in den Leistungsbezug werden also seltener.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Zusammengefasst: Der Anteil von Single-Bedarfsgemeinschaften nimmt relativ zu, über die Hälfte aller ELB ist inzwischen langzeitleistungsbeziehend, und echte Erstzugänge werden seltener, weil der Anteil mit Vorbezug deutlich steigt. Dieses Kapitel bestätigt unabhängig von den Kapiteln 3 und 9 dieselbe Verfestigungstendenz wie die Langzeitarbeitslosigkeit.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 11 vergleicht die beiden Rechtskreise SGB II und SGB III direkt miteinander — und zwar ohne dass dafür neue Rohdaten nötig waren, da beide Werte bereits in jeder Datei enthalten sind.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Jobcenter-Anteil am gesamten Arbeitslosenbestand ist stabil bei durchschnittlich 39,8 Prozent — die Mehrheit von etwa 60 Prozent fällt also in die Zuständigkeit der Agentur für Arbeit, nicht des Jobcenters.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 der Langzeitarbeitslosigkeit sieht das Bild ganz anders aus: Hier liegt der Jobcenter-Anteil bei durchschnittlich 72,3 Prozent — plausibel erklärbar durch die Befristung des Arbeitslosengeldes I, nach dessen Auslaufen viele Menschen in den SGB-II-Bezug wechseln.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bei den Quoten zeigt sich diese Konzentration: Der SGB-II-Anteil an der Arbeitslosenquote liegt bei etwa 40 Prozent, an der Unterbeschäftigungsquote bei etwa 46 Prozent.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Kernaussage dieses Kapitels: Das Jobcenter trägt nur rund 40 Prozent der gesamten Arbeitslosigkeit in Regensburg, aber bei der Langzeitarbeitslosigkeit liegt sein Anteil bei rund 72 Prozent. Der Jobcenter-Fokus dieser Präsentation bildet also nur einen Teil der Gesamtarbeitslosigkeit ab — aber genau den Teil mit der stärksten Konzentration von Langzeitarbeitslosigkeit.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fasse ich im letzten Kapitel die Projektergebnisse zusammen und zeige priorisierte Themen für eine mögliche Fortsetzung auf.</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 18 Excel-Berichten habe ich eine strukturierte Zeitreihe mit neun Kernkennzahlen aufgebaut, visuell ausgewertet in Kapitel 3 und statistisch vertieft in Kapitel 4. Darüber hinaus habe ich sieben zusätzliche Themenfelder erschlossen — Fluktuation, Demografie, Erwerbstätigkeit, Finanzen, Förderung, Bezugsdauer und Rechtskreisvergleich —, wofür sechs weitere Tabellenblätter neu eingelesen wurden. Alle Ergebnisse stehen zusätzlich in einem interaktiven Streamlit-Dashboard mit acht Tabs und einem Glossar zur Verfügung. Der Kernbefund, der sich durch praktisch alle Kapitel zieht: Die Langzeitarbeitslosigkeit verschärft sich konsistent — sichtbar im Bestand, im Langzeitleistungsbezug, bei den Fördermaßnahmen-Teilnehmenden und im Rechtskreisvergleich.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eine Fortsetzung sehe ich mehrere vielversprechende Erweiterungen: die Nachfrageseite des Arbeitsmarkts über gemeldete Arbeitsstellen, eine differenziertere Betrachtung der Unterbeschäftigung ohne Kurzarbeit, die RLB-, ELB- und NEF-Kategorien als eigene Zeitreihe statt nur als Momentaufnahme, sowie sozialversicherungspflichtige und geringfügige Beschäftigung als Gegenstück zur Arbeitslosigkeit. Methodisch offen bleiben zudem multiple Regression, ANOVA sowie Violin- und Pie-Plots für eine spätere Vertiefung.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Vielen Dank für Ihre Aufmerksamkeit. Das Live-Dashboard mit allen interaktiven Auswertungen ist unter der angegebenen Adresse jederzeit einsehbar.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4608000"/>
            <a:ext cx="12193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752000"/>
            <a:ext cx="12193200" cy="288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20000" y="2340000"/>
            <a:ext cx="10753200" cy="900000"/>
          </a:xfrm>
          <a:prstGeom prst="rect">
            <a:avLst/>
          </a:prstGeom>
          <a:noFill/>
        </p:spPr>
        <p:txBody>
          <a:bodyPr wrap="square" anchor="t">
            <a:spAutoFit/>
          </a:bodyPr>
          <a:lstStyle/>
          <a:p>
            <a:pPr algn="l"/>
            <a:r>
              <a:rPr sz="4400" b="1" i="0">
                <a:solidFill>
                  <a:srgbClr val="FFFFFF"/>
                </a:solidFill>
                <a:latin typeface="Calibri"/>
              </a:rPr>
              <a:t>Arbeitsmarktanalyse Regensburg</a:t>
            </a:r>
          </a:p>
        </p:txBody>
      </p:sp>
      <p:sp>
        <p:nvSpPr>
          <p:cNvPr id="5" name="TextBox 4"/>
          <p:cNvSpPr txBox="1"/>
          <p:nvPr/>
        </p:nvSpPr>
        <p:spPr>
          <a:xfrm>
            <a:off x="720000" y="3060000"/>
            <a:ext cx="10753200" cy="540000"/>
          </a:xfrm>
          <a:prstGeom prst="rect">
            <a:avLst/>
          </a:prstGeom>
          <a:noFill/>
        </p:spPr>
        <p:txBody>
          <a:bodyPr wrap="square" anchor="t">
            <a:spAutoFit/>
          </a:bodyPr>
          <a:lstStyle/>
          <a:p>
            <a:pPr algn="l"/>
            <a:r>
              <a:rPr sz="2000" b="0" i="0">
                <a:solidFill>
                  <a:srgbClr val="BFDBFE"/>
                </a:solidFill>
                <a:latin typeface="Calibri"/>
              </a:rPr>
              <a:t>Rechtskreis SGB II — Datenexploration, -analyse und Visualisierung mit Python</a:t>
            </a:r>
          </a:p>
        </p:txBody>
      </p:sp>
      <p:sp>
        <p:nvSpPr>
          <p:cNvPr id="6" name="TextBox 5"/>
          <p:cNvSpPr txBox="1"/>
          <p:nvPr/>
        </p:nvSpPr>
        <p:spPr>
          <a:xfrm>
            <a:off x="720000" y="5112000"/>
            <a:ext cx="10753200" cy="360000"/>
          </a:xfrm>
          <a:prstGeom prst="rect">
            <a:avLst/>
          </a:prstGeom>
          <a:noFill/>
        </p:spPr>
        <p:txBody>
          <a:bodyPr wrap="square" anchor="t">
            <a:spAutoFit/>
          </a:bodyPr>
          <a:lstStyle/>
          <a:p>
            <a:pPr algn="l"/>
            <a:r>
              <a:rPr sz="1600" b="0" i="0">
                <a:solidFill>
                  <a:srgbClr val="E0E7FF"/>
                </a:solidFill>
                <a:latin typeface="Calibri"/>
              </a:rPr>
              <a:t>Eugenia Funk  ·  17.08.2026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Agenda</a:t>
            </a:r>
          </a:p>
        </p:txBody>
      </p:sp>
      <p:sp>
        <p:nvSpPr>
          <p:cNvPr id="5" name="Rectangle 4"/>
          <p:cNvSpPr/>
          <p:nvPr/>
        </p:nvSpPr>
        <p:spPr>
          <a:xfrm>
            <a:off x="576000" y="1512000"/>
            <a:ext cx="396000" cy="36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512000"/>
            <a:ext cx="396000" cy="360000"/>
          </a:xfrm>
          <a:prstGeom prst="rect">
            <a:avLst/>
          </a:prstGeom>
          <a:noFill/>
        </p:spPr>
        <p:txBody>
          <a:bodyPr wrap="none" tIns="0" bIns="0" lIns="0" rIns="0" anchor="ctr">
            <a:spAutoFit/>
          </a:bodyPr>
          <a:lstStyle/>
          <a:p>
            <a:pPr algn="ctr"/>
            <a:r>
              <a:rPr sz="1500" b="1" i="0">
                <a:solidFill>
                  <a:srgbClr val="FFFFFF"/>
                </a:solidFill>
                <a:latin typeface="Calibri"/>
              </a:rPr>
              <a:t>1</a:t>
            </a:r>
          </a:p>
        </p:txBody>
      </p:sp>
      <p:sp>
        <p:nvSpPr>
          <p:cNvPr id="7" name="TextBox 6"/>
          <p:cNvSpPr txBox="1"/>
          <p:nvPr/>
        </p:nvSpPr>
        <p:spPr>
          <a:xfrm>
            <a:off x="1007999" y="1512000"/>
            <a:ext cx="4860000" cy="342000"/>
          </a:xfrm>
          <a:prstGeom prst="rect">
            <a:avLst/>
          </a:prstGeom>
          <a:noFill/>
        </p:spPr>
        <p:txBody>
          <a:bodyPr wrap="square" anchor="ctr">
            <a:spAutoFit/>
          </a:bodyPr>
          <a:lstStyle/>
          <a:p>
            <a:r>
              <a:rPr sz="1700" b="1" i="0">
                <a:solidFill>
                  <a:srgbClr val="374151"/>
                </a:solidFill>
                <a:latin typeface="Calibri"/>
              </a:rPr>
              <a:t>Einleitung</a:t>
            </a:r>
          </a:p>
        </p:txBody>
      </p:sp>
      <p:sp>
        <p:nvSpPr>
          <p:cNvPr id="8" name="Rectangle 7"/>
          <p:cNvSpPr/>
          <p:nvPr/>
        </p:nvSpPr>
        <p:spPr>
          <a:xfrm>
            <a:off x="576000" y="1944000"/>
            <a:ext cx="396000" cy="36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00" y="1944000"/>
            <a:ext cx="396000" cy="360000"/>
          </a:xfrm>
          <a:prstGeom prst="rect">
            <a:avLst/>
          </a:prstGeom>
          <a:noFill/>
        </p:spPr>
        <p:txBody>
          <a:bodyPr wrap="none" tIns="0" bIns="0" lIns="0" rIns="0" anchor="ctr">
            <a:spAutoFit/>
          </a:bodyPr>
          <a:lstStyle/>
          <a:p>
            <a:pPr algn="ctr"/>
            <a:r>
              <a:rPr sz="1500" b="1" i="0">
                <a:solidFill>
                  <a:srgbClr val="FFFFFF"/>
                </a:solidFill>
                <a:latin typeface="Calibri"/>
              </a:rPr>
              <a:t>2</a:t>
            </a:r>
          </a:p>
        </p:txBody>
      </p:sp>
      <p:sp>
        <p:nvSpPr>
          <p:cNvPr id="10" name="TextBox 9"/>
          <p:cNvSpPr txBox="1"/>
          <p:nvPr/>
        </p:nvSpPr>
        <p:spPr>
          <a:xfrm>
            <a:off x="1007999" y="1944000"/>
            <a:ext cx="4860000" cy="342000"/>
          </a:xfrm>
          <a:prstGeom prst="rect">
            <a:avLst/>
          </a:prstGeom>
          <a:noFill/>
        </p:spPr>
        <p:txBody>
          <a:bodyPr wrap="square" anchor="ctr">
            <a:spAutoFit/>
          </a:bodyPr>
          <a:lstStyle/>
          <a:p>
            <a:r>
              <a:rPr sz="1700" b="1" i="0">
                <a:solidFill>
                  <a:srgbClr val="374151"/>
                </a:solidFill>
                <a:latin typeface="Calibri"/>
              </a:rPr>
              <a:t>Datenexploration</a:t>
            </a:r>
          </a:p>
        </p:txBody>
      </p:sp>
      <p:sp>
        <p:nvSpPr>
          <p:cNvPr id="11" name="Rectangle 10"/>
          <p:cNvSpPr/>
          <p:nvPr/>
        </p:nvSpPr>
        <p:spPr>
          <a:xfrm>
            <a:off x="576000" y="2376000"/>
            <a:ext cx="396000" cy="36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6000" y="2376000"/>
            <a:ext cx="396000" cy="360000"/>
          </a:xfrm>
          <a:prstGeom prst="rect">
            <a:avLst/>
          </a:prstGeom>
          <a:noFill/>
        </p:spPr>
        <p:txBody>
          <a:bodyPr wrap="none" tIns="0" bIns="0" lIns="0" rIns="0" anchor="ctr">
            <a:spAutoFit/>
          </a:bodyPr>
          <a:lstStyle/>
          <a:p>
            <a:pPr algn="ctr"/>
            <a:r>
              <a:rPr sz="1500" b="1" i="0">
                <a:solidFill>
                  <a:srgbClr val="FFFFFF"/>
                </a:solidFill>
                <a:latin typeface="Calibri"/>
              </a:rPr>
              <a:t>3</a:t>
            </a:r>
          </a:p>
        </p:txBody>
      </p:sp>
      <p:sp>
        <p:nvSpPr>
          <p:cNvPr id="13" name="TextBox 12"/>
          <p:cNvSpPr txBox="1"/>
          <p:nvPr/>
        </p:nvSpPr>
        <p:spPr>
          <a:xfrm>
            <a:off x="1007999" y="2376000"/>
            <a:ext cx="4860000" cy="342000"/>
          </a:xfrm>
          <a:prstGeom prst="rect">
            <a:avLst/>
          </a:prstGeom>
          <a:noFill/>
        </p:spPr>
        <p:txBody>
          <a:bodyPr wrap="square" anchor="ctr">
            <a:spAutoFit/>
          </a:bodyPr>
          <a:lstStyle/>
          <a:p>
            <a:r>
              <a:rPr sz="1700" b="1" i="0">
                <a:solidFill>
                  <a:srgbClr val="374151"/>
                </a:solidFill>
                <a:latin typeface="Calibri"/>
              </a:rPr>
              <a:t>Datenanalyse</a:t>
            </a:r>
          </a:p>
        </p:txBody>
      </p:sp>
      <p:sp>
        <p:nvSpPr>
          <p:cNvPr id="14" name="Rectangle 13"/>
          <p:cNvSpPr/>
          <p:nvPr/>
        </p:nvSpPr>
        <p:spPr>
          <a:xfrm>
            <a:off x="576000" y="2808000"/>
            <a:ext cx="396000" cy="36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6000" y="2808000"/>
            <a:ext cx="396000" cy="360000"/>
          </a:xfrm>
          <a:prstGeom prst="rect">
            <a:avLst/>
          </a:prstGeom>
          <a:noFill/>
        </p:spPr>
        <p:txBody>
          <a:bodyPr wrap="none" tIns="0" bIns="0" lIns="0" rIns="0" anchor="ctr">
            <a:spAutoFit/>
          </a:bodyPr>
          <a:lstStyle/>
          <a:p>
            <a:pPr algn="ctr"/>
            <a:r>
              <a:rPr sz="1500" b="1" i="0">
                <a:solidFill>
                  <a:srgbClr val="FFFFFF"/>
                </a:solidFill>
                <a:latin typeface="Calibri"/>
              </a:rPr>
              <a:t>4</a:t>
            </a:r>
          </a:p>
        </p:txBody>
      </p:sp>
      <p:sp>
        <p:nvSpPr>
          <p:cNvPr id="16" name="TextBox 15"/>
          <p:cNvSpPr txBox="1"/>
          <p:nvPr/>
        </p:nvSpPr>
        <p:spPr>
          <a:xfrm>
            <a:off x="1007999" y="2808000"/>
            <a:ext cx="4860000" cy="342000"/>
          </a:xfrm>
          <a:prstGeom prst="rect">
            <a:avLst/>
          </a:prstGeom>
          <a:noFill/>
        </p:spPr>
        <p:txBody>
          <a:bodyPr wrap="square" anchor="ctr">
            <a:spAutoFit/>
          </a:bodyPr>
          <a:lstStyle/>
          <a:p>
            <a:r>
              <a:rPr sz="1700" b="1" i="0">
                <a:solidFill>
                  <a:srgbClr val="374151"/>
                </a:solidFill>
                <a:latin typeface="Calibri"/>
              </a:rPr>
              <a:t>Vertiefte statistische Analyse</a:t>
            </a:r>
          </a:p>
        </p:txBody>
      </p:sp>
      <p:sp>
        <p:nvSpPr>
          <p:cNvPr id="17" name="Rectangle 16"/>
          <p:cNvSpPr/>
          <p:nvPr/>
        </p:nvSpPr>
        <p:spPr>
          <a:xfrm>
            <a:off x="576000" y="3240000"/>
            <a:ext cx="396000" cy="36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76000" y="3240000"/>
            <a:ext cx="396000" cy="360000"/>
          </a:xfrm>
          <a:prstGeom prst="rect">
            <a:avLst/>
          </a:prstGeom>
          <a:noFill/>
        </p:spPr>
        <p:txBody>
          <a:bodyPr wrap="none" tIns="0" bIns="0" lIns="0" rIns="0" anchor="ctr">
            <a:spAutoFit/>
          </a:bodyPr>
          <a:lstStyle/>
          <a:p>
            <a:pPr algn="ctr"/>
            <a:r>
              <a:rPr sz="1500" b="1" i="0">
                <a:solidFill>
                  <a:srgbClr val="FFFFFF"/>
                </a:solidFill>
                <a:latin typeface="Calibri"/>
              </a:rPr>
              <a:t>5</a:t>
            </a:r>
          </a:p>
        </p:txBody>
      </p:sp>
      <p:sp>
        <p:nvSpPr>
          <p:cNvPr id="19" name="TextBox 18"/>
          <p:cNvSpPr txBox="1"/>
          <p:nvPr/>
        </p:nvSpPr>
        <p:spPr>
          <a:xfrm>
            <a:off x="1007999" y="3240000"/>
            <a:ext cx="4860000" cy="342000"/>
          </a:xfrm>
          <a:prstGeom prst="rect">
            <a:avLst/>
          </a:prstGeom>
          <a:noFill/>
        </p:spPr>
        <p:txBody>
          <a:bodyPr wrap="square" anchor="ctr">
            <a:spAutoFit/>
          </a:bodyPr>
          <a:lstStyle/>
          <a:p>
            <a:r>
              <a:rPr sz="1700" b="1" i="0">
                <a:solidFill>
                  <a:srgbClr val="374151"/>
                </a:solidFill>
                <a:latin typeface="Calibri"/>
              </a:rPr>
              <a:t>Fluktuation</a:t>
            </a:r>
          </a:p>
        </p:txBody>
      </p:sp>
      <p:sp>
        <p:nvSpPr>
          <p:cNvPr id="20" name="Rectangle 19"/>
          <p:cNvSpPr/>
          <p:nvPr/>
        </p:nvSpPr>
        <p:spPr>
          <a:xfrm>
            <a:off x="576000" y="3671999"/>
            <a:ext cx="396000" cy="36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76000" y="3671999"/>
            <a:ext cx="396000" cy="360000"/>
          </a:xfrm>
          <a:prstGeom prst="rect">
            <a:avLst/>
          </a:prstGeom>
          <a:noFill/>
        </p:spPr>
        <p:txBody>
          <a:bodyPr wrap="none" tIns="0" bIns="0" lIns="0" rIns="0" anchor="ctr">
            <a:spAutoFit/>
          </a:bodyPr>
          <a:lstStyle/>
          <a:p>
            <a:pPr algn="ctr"/>
            <a:r>
              <a:rPr sz="1500" b="1" i="0">
                <a:solidFill>
                  <a:srgbClr val="FFFFFF"/>
                </a:solidFill>
                <a:latin typeface="Calibri"/>
              </a:rPr>
              <a:t>6</a:t>
            </a:r>
          </a:p>
        </p:txBody>
      </p:sp>
      <p:sp>
        <p:nvSpPr>
          <p:cNvPr id="22" name="TextBox 21"/>
          <p:cNvSpPr txBox="1"/>
          <p:nvPr/>
        </p:nvSpPr>
        <p:spPr>
          <a:xfrm>
            <a:off x="1007999" y="3671999"/>
            <a:ext cx="4860000" cy="342000"/>
          </a:xfrm>
          <a:prstGeom prst="rect">
            <a:avLst/>
          </a:prstGeom>
          <a:noFill/>
        </p:spPr>
        <p:txBody>
          <a:bodyPr wrap="square" anchor="ctr">
            <a:spAutoFit/>
          </a:bodyPr>
          <a:lstStyle/>
          <a:p>
            <a:r>
              <a:rPr sz="1700" b="1" i="0">
                <a:solidFill>
                  <a:srgbClr val="374151"/>
                </a:solidFill>
                <a:latin typeface="Calibri"/>
              </a:rPr>
              <a:t>Demografie</a:t>
            </a:r>
          </a:p>
        </p:txBody>
      </p:sp>
      <p:sp>
        <p:nvSpPr>
          <p:cNvPr id="23" name="Rectangle 22"/>
          <p:cNvSpPr/>
          <p:nvPr/>
        </p:nvSpPr>
        <p:spPr>
          <a:xfrm>
            <a:off x="6336000" y="1512000"/>
            <a:ext cx="396000" cy="36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000" y="1512000"/>
            <a:ext cx="396000" cy="360000"/>
          </a:xfrm>
          <a:prstGeom prst="rect">
            <a:avLst/>
          </a:prstGeom>
          <a:noFill/>
        </p:spPr>
        <p:txBody>
          <a:bodyPr wrap="none" tIns="0" bIns="0" lIns="0" rIns="0" anchor="ctr">
            <a:spAutoFit/>
          </a:bodyPr>
          <a:lstStyle/>
          <a:p>
            <a:pPr algn="ctr"/>
            <a:r>
              <a:rPr sz="1500" b="1" i="0">
                <a:solidFill>
                  <a:srgbClr val="FFFFFF"/>
                </a:solidFill>
                <a:latin typeface="Calibri"/>
              </a:rPr>
              <a:t>7</a:t>
            </a:r>
          </a:p>
        </p:txBody>
      </p:sp>
      <p:sp>
        <p:nvSpPr>
          <p:cNvPr id="25" name="TextBox 24"/>
          <p:cNvSpPr txBox="1"/>
          <p:nvPr/>
        </p:nvSpPr>
        <p:spPr>
          <a:xfrm>
            <a:off x="6768000" y="1512000"/>
            <a:ext cx="4860000" cy="342000"/>
          </a:xfrm>
          <a:prstGeom prst="rect">
            <a:avLst/>
          </a:prstGeom>
          <a:noFill/>
        </p:spPr>
        <p:txBody>
          <a:bodyPr wrap="square" anchor="ctr">
            <a:spAutoFit/>
          </a:bodyPr>
          <a:lstStyle/>
          <a:p>
            <a:r>
              <a:rPr sz="1700" b="1" i="0">
                <a:solidFill>
                  <a:srgbClr val="374151"/>
                </a:solidFill>
                <a:latin typeface="Calibri"/>
              </a:rPr>
              <a:t>Erwerbstätigkeit</a:t>
            </a:r>
          </a:p>
        </p:txBody>
      </p:sp>
      <p:sp>
        <p:nvSpPr>
          <p:cNvPr id="26" name="Rectangle 25"/>
          <p:cNvSpPr/>
          <p:nvPr/>
        </p:nvSpPr>
        <p:spPr>
          <a:xfrm>
            <a:off x="6336000" y="1944000"/>
            <a:ext cx="396000" cy="36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000" y="1944000"/>
            <a:ext cx="396000" cy="360000"/>
          </a:xfrm>
          <a:prstGeom prst="rect">
            <a:avLst/>
          </a:prstGeom>
          <a:noFill/>
        </p:spPr>
        <p:txBody>
          <a:bodyPr wrap="none" tIns="0" bIns="0" lIns="0" rIns="0" anchor="ctr">
            <a:spAutoFit/>
          </a:bodyPr>
          <a:lstStyle/>
          <a:p>
            <a:pPr algn="ctr"/>
            <a:r>
              <a:rPr sz="1500" b="1" i="0">
                <a:solidFill>
                  <a:srgbClr val="FFFFFF"/>
                </a:solidFill>
                <a:latin typeface="Calibri"/>
              </a:rPr>
              <a:t>8</a:t>
            </a:r>
          </a:p>
        </p:txBody>
      </p:sp>
      <p:sp>
        <p:nvSpPr>
          <p:cNvPr id="28" name="TextBox 27"/>
          <p:cNvSpPr txBox="1"/>
          <p:nvPr/>
        </p:nvSpPr>
        <p:spPr>
          <a:xfrm>
            <a:off x="6768000" y="1944000"/>
            <a:ext cx="4860000" cy="342000"/>
          </a:xfrm>
          <a:prstGeom prst="rect">
            <a:avLst/>
          </a:prstGeom>
          <a:noFill/>
        </p:spPr>
        <p:txBody>
          <a:bodyPr wrap="square" anchor="ctr">
            <a:spAutoFit/>
          </a:bodyPr>
          <a:lstStyle/>
          <a:p>
            <a:r>
              <a:rPr sz="1700" b="1" i="0">
                <a:solidFill>
                  <a:srgbClr val="374151"/>
                </a:solidFill>
                <a:latin typeface="Calibri"/>
              </a:rPr>
              <a:t>Finanzen</a:t>
            </a:r>
          </a:p>
        </p:txBody>
      </p:sp>
      <p:sp>
        <p:nvSpPr>
          <p:cNvPr id="29" name="Rectangle 28"/>
          <p:cNvSpPr/>
          <p:nvPr/>
        </p:nvSpPr>
        <p:spPr>
          <a:xfrm>
            <a:off x="6336000" y="2376000"/>
            <a:ext cx="396000" cy="360000"/>
          </a:xfrm>
          <a:prstGeom prst="rect">
            <a:avLst/>
          </a:prstGeom>
          <a:solidFill>
            <a:srgbClr val="4C8C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36000" y="2376000"/>
            <a:ext cx="396000" cy="360000"/>
          </a:xfrm>
          <a:prstGeom prst="rect">
            <a:avLst/>
          </a:prstGeom>
          <a:noFill/>
        </p:spPr>
        <p:txBody>
          <a:bodyPr wrap="none" tIns="0" bIns="0" lIns="0" rIns="0" anchor="ctr">
            <a:spAutoFit/>
          </a:bodyPr>
          <a:lstStyle/>
          <a:p>
            <a:pPr algn="ctr"/>
            <a:r>
              <a:rPr sz="1500" b="1" i="0">
                <a:solidFill>
                  <a:srgbClr val="FFFFFF"/>
                </a:solidFill>
                <a:latin typeface="Calibri"/>
              </a:rPr>
              <a:t>9</a:t>
            </a:r>
          </a:p>
        </p:txBody>
      </p:sp>
      <p:sp>
        <p:nvSpPr>
          <p:cNvPr id="31" name="TextBox 30"/>
          <p:cNvSpPr txBox="1"/>
          <p:nvPr/>
        </p:nvSpPr>
        <p:spPr>
          <a:xfrm>
            <a:off x="6768000" y="2376000"/>
            <a:ext cx="4860000" cy="342000"/>
          </a:xfrm>
          <a:prstGeom prst="rect">
            <a:avLst/>
          </a:prstGeom>
          <a:noFill/>
        </p:spPr>
        <p:txBody>
          <a:bodyPr wrap="square" anchor="ctr">
            <a:spAutoFit/>
          </a:bodyPr>
          <a:lstStyle/>
          <a:p>
            <a:r>
              <a:rPr sz="1700" b="1" i="0">
                <a:solidFill>
                  <a:srgbClr val="374151"/>
                </a:solidFill>
                <a:latin typeface="Calibri"/>
              </a:rPr>
              <a:t>Förderung</a:t>
            </a:r>
          </a:p>
        </p:txBody>
      </p:sp>
      <p:sp>
        <p:nvSpPr>
          <p:cNvPr id="32" name="Rectangle 31"/>
          <p:cNvSpPr/>
          <p:nvPr/>
        </p:nvSpPr>
        <p:spPr>
          <a:xfrm>
            <a:off x="6336000" y="2808000"/>
            <a:ext cx="396000" cy="360000"/>
          </a:xfrm>
          <a:prstGeom prst="rect">
            <a:avLst/>
          </a:prstGeom>
          <a:solidFill>
            <a:srgbClr val="B15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36000" y="2808000"/>
            <a:ext cx="396000" cy="360000"/>
          </a:xfrm>
          <a:prstGeom prst="rect">
            <a:avLst/>
          </a:prstGeom>
          <a:noFill/>
        </p:spPr>
        <p:txBody>
          <a:bodyPr wrap="none" tIns="0" bIns="0" lIns="0" rIns="0" anchor="ctr">
            <a:spAutoFit/>
          </a:bodyPr>
          <a:lstStyle/>
          <a:p>
            <a:pPr algn="ctr"/>
            <a:r>
              <a:rPr sz="1500" b="1" i="0">
                <a:solidFill>
                  <a:srgbClr val="FFFFFF"/>
                </a:solidFill>
                <a:latin typeface="Calibri"/>
              </a:rPr>
              <a:t>10</a:t>
            </a:r>
          </a:p>
        </p:txBody>
      </p:sp>
      <p:sp>
        <p:nvSpPr>
          <p:cNvPr id="34" name="TextBox 33"/>
          <p:cNvSpPr txBox="1"/>
          <p:nvPr/>
        </p:nvSpPr>
        <p:spPr>
          <a:xfrm>
            <a:off x="6768000" y="2808000"/>
            <a:ext cx="4860000" cy="342000"/>
          </a:xfrm>
          <a:prstGeom prst="rect">
            <a:avLst/>
          </a:prstGeom>
          <a:noFill/>
        </p:spPr>
        <p:txBody>
          <a:bodyPr wrap="square" anchor="ctr">
            <a:spAutoFit/>
          </a:bodyPr>
          <a:lstStyle/>
          <a:p>
            <a:r>
              <a:rPr sz="1700" b="1" i="0">
                <a:solidFill>
                  <a:srgbClr val="374151"/>
                </a:solidFill>
                <a:latin typeface="Calibri"/>
              </a:rPr>
              <a:t>Bezugsdauer</a:t>
            </a:r>
          </a:p>
        </p:txBody>
      </p:sp>
      <p:sp>
        <p:nvSpPr>
          <p:cNvPr id="35" name="Rectangle 34"/>
          <p:cNvSpPr/>
          <p:nvPr/>
        </p:nvSpPr>
        <p:spPr>
          <a:xfrm>
            <a:off x="6336000" y="3240000"/>
            <a:ext cx="396000" cy="360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000" y="3240000"/>
            <a:ext cx="396000" cy="360000"/>
          </a:xfrm>
          <a:prstGeom prst="rect">
            <a:avLst/>
          </a:prstGeom>
          <a:noFill/>
        </p:spPr>
        <p:txBody>
          <a:bodyPr wrap="none" tIns="0" bIns="0" lIns="0" rIns="0" anchor="ctr">
            <a:spAutoFit/>
          </a:bodyPr>
          <a:lstStyle/>
          <a:p>
            <a:pPr algn="ctr"/>
            <a:r>
              <a:rPr sz="1500" b="1" i="0">
                <a:solidFill>
                  <a:srgbClr val="FFFFFF"/>
                </a:solidFill>
                <a:latin typeface="Calibri"/>
              </a:rPr>
              <a:t>11</a:t>
            </a:r>
          </a:p>
        </p:txBody>
      </p:sp>
      <p:sp>
        <p:nvSpPr>
          <p:cNvPr id="37" name="TextBox 36"/>
          <p:cNvSpPr txBox="1"/>
          <p:nvPr/>
        </p:nvSpPr>
        <p:spPr>
          <a:xfrm>
            <a:off x="6768000" y="3240000"/>
            <a:ext cx="4860000" cy="342000"/>
          </a:xfrm>
          <a:prstGeom prst="rect">
            <a:avLst/>
          </a:prstGeom>
          <a:noFill/>
        </p:spPr>
        <p:txBody>
          <a:bodyPr wrap="square" anchor="ctr">
            <a:spAutoFit/>
          </a:bodyPr>
          <a:lstStyle/>
          <a:p>
            <a:r>
              <a:rPr sz="1700" b="1" i="0">
                <a:solidFill>
                  <a:srgbClr val="374151"/>
                </a:solidFill>
                <a:latin typeface="Calibri"/>
              </a:rPr>
              <a:t>Rechtskreisvergleich SGB II/III</a:t>
            </a:r>
          </a:p>
        </p:txBody>
      </p:sp>
      <p:sp>
        <p:nvSpPr>
          <p:cNvPr id="38" name="Rectangle 37"/>
          <p:cNvSpPr/>
          <p:nvPr/>
        </p:nvSpPr>
        <p:spPr>
          <a:xfrm>
            <a:off x="6336000" y="3671999"/>
            <a:ext cx="396000" cy="36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36000" y="3671999"/>
            <a:ext cx="396000" cy="360000"/>
          </a:xfrm>
          <a:prstGeom prst="rect">
            <a:avLst/>
          </a:prstGeom>
          <a:noFill/>
        </p:spPr>
        <p:txBody>
          <a:bodyPr wrap="none" tIns="0" bIns="0" lIns="0" rIns="0" anchor="ctr">
            <a:spAutoFit/>
          </a:bodyPr>
          <a:lstStyle/>
          <a:p>
            <a:pPr algn="ctr"/>
            <a:r>
              <a:rPr sz="1500" b="1" i="0">
                <a:solidFill>
                  <a:srgbClr val="FFFFFF"/>
                </a:solidFill>
                <a:latin typeface="Calibri"/>
              </a:rPr>
              <a:t>12</a:t>
            </a:r>
          </a:p>
        </p:txBody>
      </p:sp>
      <p:sp>
        <p:nvSpPr>
          <p:cNvPr id="40" name="TextBox 39"/>
          <p:cNvSpPr txBox="1"/>
          <p:nvPr/>
        </p:nvSpPr>
        <p:spPr>
          <a:xfrm>
            <a:off x="6768000" y="3671999"/>
            <a:ext cx="4860000" cy="342000"/>
          </a:xfrm>
          <a:prstGeom prst="rect">
            <a:avLst/>
          </a:prstGeom>
          <a:noFill/>
        </p:spPr>
        <p:txBody>
          <a:bodyPr wrap="square" anchor="ctr">
            <a:spAutoFit/>
          </a:bodyPr>
          <a:lstStyle/>
          <a:p>
            <a:r>
              <a:rPr sz="1700" b="1" i="0">
                <a:solidFill>
                  <a:srgbClr val="374151"/>
                </a:solidFill>
                <a:latin typeface="Calibri"/>
              </a:rPr>
              <a:t>Fazit und Ausblick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944000"/>
            <a:ext cx="10753200" cy="540000"/>
          </a:xfrm>
          <a:prstGeom prst="rect">
            <a:avLst/>
          </a:prstGeom>
          <a:noFill/>
        </p:spPr>
        <p:txBody>
          <a:bodyPr wrap="square" anchor="t">
            <a:spAutoFit/>
          </a:bodyPr>
          <a:lstStyle/>
          <a:p>
            <a:pPr algn="l"/>
            <a:r>
              <a:rPr sz="2200" b="1" i="0">
                <a:solidFill>
                  <a:srgbClr val="BFDBFE"/>
                </a:solidFill>
                <a:latin typeface="Calibri"/>
              </a:rPr>
              <a:t>KAPITEL 1</a:t>
            </a:r>
          </a:p>
        </p:txBody>
      </p:sp>
      <p:sp>
        <p:nvSpPr>
          <p:cNvPr id="4" name="TextBox 3"/>
          <p:cNvSpPr txBox="1"/>
          <p:nvPr/>
        </p:nvSpPr>
        <p:spPr>
          <a:xfrm>
            <a:off x="720000" y="2196000"/>
            <a:ext cx="10753200" cy="792000"/>
          </a:xfrm>
          <a:prstGeom prst="rect">
            <a:avLst/>
          </a:prstGeom>
          <a:noFill/>
        </p:spPr>
        <p:txBody>
          <a:bodyPr wrap="square" anchor="t">
            <a:spAutoFit/>
          </a:bodyPr>
          <a:lstStyle/>
          <a:p>
            <a:pPr algn="l"/>
            <a:r>
              <a:rPr sz="4000" b="1" i="0">
                <a:solidFill>
                  <a:srgbClr val="FFFFFF"/>
                </a:solidFill>
                <a:latin typeface="Calibri"/>
              </a:rPr>
              <a:t>Einleitung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Ausgangssituation und Motivation</a:t>
            </a:r>
          </a:p>
          <a:p>
            <a:pPr>
              <a:spcAft>
                <a:spcPts val="1200"/>
              </a:spcAft>
            </a:pPr>
            <a:r>
              <a:rPr sz="1800">
                <a:solidFill>
                  <a:srgbClr val="E0E7FF"/>
                </a:solidFill>
                <a:latin typeface="Calibri"/>
              </a:rPr>
              <a:t>●  Zielsetzung des Projekts</a:t>
            </a:r>
          </a:p>
          <a:p>
            <a:pPr>
              <a:spcAft>
                <a:spcPts val="1200"/>
              </a:spcAft>
            </a:pPr>
            <a:r>
              <a:rPr sz="1800">
                <a:solidFill>
                  <a:srgbClr val="E0E7FF"/>
                </a:solidFill>
                <a:latin typeface="Calibri"/>
              </a:rPr>
              <a:t>●  Datengrundlage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1.1 – 1.2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Ausgangssituation und Zielsetzung</a:t>
            </a:r>
          </a:p>
        </p:txBody>
      </p:sp>
      <p:sp>
        <p:nvSpPr>
          <p:cNvPr id="5" name="Rectangle 4"/>
          <p:cNvSpPr/>
          <p:nvPr/>
        </p:nvSpPr>
        <p:spPr>
          <a:xfrm>
            <a:off x="503999" y="1224000"/>
            <a:ext cx="54360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5436000" cy="108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2000" y="1422000"/>
            <a:ext cx="5040000" cy="360000"/>
          </a:xfrm>
          <a:prstGeom prst="rect">
            <a:avLst/>
          </a:prstGeom>
          <a:noFill/>
        </p:spPr>
        <p:txBody>
          <a:bodyPr wrap="square">
            <a:spAutoFit/>
          </a:bodyPr>
          <a:lstStyle/>
          <a:p>
            <a:r>
              <a:rPr sz="2000" b="1" i="0">
                <a:solidFill>
                  <a:srgbClr val="3B6EA8"/>
                </a:solidFill>
                <a:latin typeface="Calibri"/>
              </a:rPr>
              <a:t>Ausgangssituation</a:t>
            </a:r>
          </a:p>
        </p:txBody>
      </p:sp>
      <p:sp>
        <p:nvSpPr>
          <p:cNvPr id="8" name="TextBox 7"/>
          <p:cNvSpPr txBox="1"/>
          <p:nvPr/>
        </p:nvSpPr>
        <p:spPr>
          <a:xfrm>
            <a:off x="702000" y="1835999"/>
            <a:ext cx="5040000" cy="1800000"/>
          </a:xfrm>
          <a:prstGeom prst="rect">
            <a:avLst/>
          </a:prstGeom>
          <a:noFill/>
        </p:spPr>
        <p:txBody>
          <a:bodyPr wrap="square">
            <a:spAutoFit/>
          </a:bodyPr>
          <a:lstStyle/>
          <a:p>
            <a:r>
              <a:rPr sz="1600" b="0" i="0">
                <a:solidFill>
                  <a:srgbClr val="374151"/>
                </a:solidFill>
                <a:latin typeface="Calibri"/>
              </a:rPr>
              <a:t>Die Bundesagentur für Arbeit veröffentlicht monatlich den Bericht „Eckwerte für Jobcenter“ — mit über 20 Tabellenblättern pro Datei ist die Rohform kaum auswertbar.</a:t>
            </a:r>
          </a:p>
        </p:txBody>
      </p:sp>
      <p:sp>
        <p:nvSpPr>
          <p:cNvPr id="9" name="Rectangle 8"/>
          <p:cNvSpPr/>
          <p:nvPr/>
        </p:nvSpPr>
        <p:spPr>
          <a:xfrm>
            <a:off x="6156000" y="1224000"/>
            <a:ext cx="54360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56000" y="1224000"/>
            <a:ext cx="5436000" cy="108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4000" y="1422000"/>
            <a:ext cx="5040000" cy="360000"/>
          </a:xfrm>
          <a:prstGeom prst="rect">
            <a:avLst/>
          </a:prstGeom>
          <a:noFill/>
        </p:spPr>
        <p:txBody>
          <a:bodyPr wrap="square">
            <a:spAutoFit/>
          </a:bodyPr>
          <a:lstStyle/>
          <a:p>
            <a:r>
              <a:rPr sz="2000" b="1" i="0">
                <a:solidFill>
                  <a:srgbClr val="6B5B8F"/>
                </a:solidFill>
                <a:latin typeface="Calibri"/>
              </a:rPr>
              <a:t>Zielsetzung</a:t>
            </a:r>
          </a:p>
        </p:txBody>
      </p:sp>
      <p:sp>
        <p:nvSpPr>
          <p:cNvPr id="12" name="TextBox 11"/>
          <p:cNvSpPr txBox="1"/>
          <p:nvPr/>
        </p:nvSpPr>
        <p:spPr>
          <a:xfrm>
            <a:off x="6354000" y="1835999"/>
            <a:ext cx="5040000" cy="1800000"/>
          </a:xfrm>
          <a:prstGeom prst="rect">
            <a:avLst/>
          </a:prstGeom>
          <a:noFill/>
        </p:spPr>
        <p:txBody>
          <a:bodyPr wrap="square">
            <a:spAutoFit/>
          </a:bodyPr>
          <a:lstStyle/>
          <a:p>
            <a:r>
              <a:rPr sz="1600" b="0" i="0">
                <a:solidFill>
                  <a:srgbClr val="374151"/>
                </a:solidFill>
                <a:latin typeface="Calibri"/>
              </a:rPr>
              <a:t>Eine strukturierte, reproduzierbare Zeitreihe aus 18 Monatsberichten aufbauen und die Entwicklung der Arbeitslosigkeit im Rechtskreis SGB II auswerten und visualisieren.</a:t>
            </a:r>
          </a:p>
        </p:txBody>
      </p:sp>
      <p:sp>
        <p:nvSpPr>
          <p:cNvPr id="13" name="Rectangle 12"/>
          <p:cNvSpPr/>
          <p:nvPr/>
        </p:nvSpPr>
        <p:spPr>
          <a:xfrm>
            <a:off x="503999"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3999" y="4014000"/>
            <a:ext cx="2635200" cy="792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00" y="4140000"/>
            <a:ext cx="2383200" cy="324000"/>
          </a:xfrm>
          <a:prstGeom prst="rect">
            <a:avLst/>
          </a:prstGeom>
          <a:noFill/>
        </p:spPr>
        <p:txBody>
          <a:bodyPr wrap="square">
            <a:spAutoFit/>
          </a:bodyPr>
          <a:lstStyle/>
          <a:p>
            <a:r>
              <a:rPr sz="1800" b="1" i="0">
                <a:solidFill>
                  <a:srgbClr val="3B6EA8"/>
                </a:solidFill>
                <a:latin typeface="Calibri"/>
              </a:rPr>
              <a:t>01</a:t>
            </a:r>
          </a:p>
        </p:txBody>
      </p:sp>
      <p:sp>
        <p:nvSpPr>
          <p:cNvPr id="16" name="TextBox 15"/>
          <p:cNvSpPr txBox="1"/>
          <p:nvPr/>
        </p:nvSpPr>
        <p:spPr>
          <a:xfrm>
            <a:off x="630000" y="4428000"/>
            <a:ext cx="2383200" cy="288000"/>
          </a:xfrm>
          <a:prstGeom prst="rect">
            <a:avLst/>
          </a:prstGeom>
          <a:noFill/>
        </p:spPr>
        <p:txBody>
          <a:bodyPr wrap="square">
            <a:spAutoFit/>
          </a:bodyPr>
          <a:lstStyle/>
          <a:p>
            <a:r>
              <a:rPr sz="1500" b="1" i="0">
                <a:solidFill>
                  <a:srgbClr val="374151"/>
                </a:solidFill>
                <a:latin typeface="Calibri"/>
              </a:rPr>
              <a:t>Datenverarbeitung</a:t>
            </a:r>
          </a:p>
        </p:txBody>
      </p:sp>
      <p:sp>
        <p:nvSpPr>
          <p:cNvPr id="17" name="TextBox 16"/>
          <p:cNvSpPr txBox="1"/>
          <p:nvPr/>
        </p:nvSpPr>
        <p:spPr>
          <a:xfrm>
            <a:off x="630000" y="4716000"/>
            <a:ext cx="2383200" cy="503999"/>
          </a:xfrm>
          <a:prstGeom prst="rect">
            <a:avLst/>
          </a:prstGeom>
          <a:noFill/>
        </p:spPr>
        <p:txBody>
          <a:bodyPr wrap="square">
            <a:spAutoFit/>
          </a:bodyPr>
          <a:lstStyle/>
          <a:p>
            <a:pPr algn="l"/>
            <a:r>
              <a:rPr sz="1200" b="0" i="1">
                <a:solidFill>
                  <a:srgbClr val="6B7280"/>
                </a:solidFill>
                <a:latin typeface="Calibri"/>
              </a:rPr>
              <a:t>sauberer, reproduzierbarer Prozess</a:t>
            </a:r>
          </a:p>
        </p:txBody>
      </p:sp>
      <p:sp>
        <p:nvSpPr>
          <p:cNvPr id="18" name="Rectangle 17"/>
          <p:cNvSpPr/>
          <p:nvPr/>
        </p:nvSpPr>
        <p:spPr>
          <a:xfrm>
            <a:off x="33552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55200" y="4014000"/>
            <a:ext cx="2635200" cy="792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81200" y="4140000"/>
            <a:ext cx="2383200" cy="324000"/>
          </a:xfrm>
          <a:prstGeom prst="rect">
            <a:avLst/>
          </a:prstGeom>
          <a:noFill/>
        </p:spPr>
        <p:txBody>
          <a:bodyPr wrap="square">
            <a:spAutoFit/>
          </a:bodyPr>
          <a:lstStyle/>
          <a:p>
            <a:r>
              <a:rPr sz="1800" b="1" i="0">
                <a:solidFill>
                  <a:srgbClr val="6B5B8F"/>
                </a:solidFill>
                <a:latin typeface="Calibri"/>
              </a:rPr>
              <a:t>02</a:t>
            </a:r>
          </a:p>
        </p:txBody>
      </p:sp>
      <p:sp>
        <p:nvSpPr>
          <p:cNvPr id="21" name="TextBox 20"/>
          <p:cNvSpPr txBox="1"/>
          <p:nvPr/>
        </p:nvSpPr>
        <p:spPr>
          <a:xfrm>
            <a:off x="3481200" y="4428000"/>
            <a:ext cx="2383200" cy="288000"/>
          </a:xfrm>
          <a:prstGeom prst="rect">
            <a:avLst/>
          </a:prstGeom>
          <a:noFill/>
        </p:spPr>
        <p:txBody>
          <a:bodyPr wrap="square">
            <a:spAutoFit/>
          </a:bodyPr>
          <a:lstStyle/>
          <a:p>
            <a:r>
              <a:rPr sz="1500" b="1" i="0">
                <a:solidFill>
                  <a:srgbClr val="374151"/>
                </a:solidFill>
                <a:latin typeface="Calibri"/>
              </a:rPr>
              <a:t>Visualisierung</a:t>
            </a:r>
          </a:p>
        </p:txBody>
      </p:sp>
      <p:sp>
        <p:nvSpPr>
          <p:cNvPr id="22" name="TextBox 21"/>
          <p:cNvSpPr txBox="1"/>
          <p:nvPr/>
        </p:nvSpPr>
        <p:spPr>
          <a:xfrm>
            <a:off x="3481200" y="4716000"/>
            <a:ext cx="2383200" cy="503999"/>
          </a:xfrm>
          <a:prstGeom prst="rect">
            <a:avLst/>
          </a:prstGeom>
          <a:noFill/>
        </p:spPr>
        <p:txBody>
          <a:bodyPr wrap="square">
            <a:spAutoFit/>
          </a:bodyPr>
          <a:lstStyle/>
          <a:p>
            <a:pPr algn="l"/>
            <a:r>
              <a:rPr sz="1200" b="0" i="1">
                <a:solidFill>
                  <a:srgbClr val="6B7280"/>
                </a:solidFill>
                <a:latin typeface="Calibri"/>
              </a:rPr>
              <a:t>aussagekräftig &amp; verständlich</a:t>
            </a:r>
          </a:p>
        </p:txBody>
      </p:sp>
      <p:sp>
        <p:nvSpPr>
          <p:cNvPr id="23" name="Rectangle 22"/>
          <p:cNvSpPr/>
          <p:nvPr/>
        </p:nvSpPr>
        <p:spPr>
          <a:xfrm>
            <a:off x="62028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2800" y="4014000"/>
            <a:ext cx="2635200" cy="792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8800" y="4140000"/>
            <a:ext cx="2383200" cy="324000"/>
          </a:xfrm>
          <a:prstGeom prst="rect">
            <a:avLst/>
          </a:prstGeom>
          <a:noFill/>
        </p:spPr>
        <p:txBody>
          <a:bodyPr wrap="square">
            <a:spAutoFit/>
          </a:bodyPr>
          <a:lstStyle/>
          <a:p>
            <a:r>
              <a:rPr sz="1800" b="1" i="0">
                <a:solidFill>
                  <a:srgbClr val="C79A56"/>
                </a:solidFill>
                <a:latin typeface="Calibri"/>
              </a:rPr>
              <a:t>03</a:t>
            </a:r>
          </a:p>
        </p:txBody>
      </p:sp>
      <p:sp>
        <p:nvSpPr>
          <p:cNvPr id="26" name="TextBox 25"/>
          <p:cNvSpPr txBox="1"/>
          <p:nvPr/>
        </p:nvSpPr>
        <p:spPr>
          <a:xfrm>
            <a:off x="6328800" y="4428000"/>
            <a:ext cx="2383200" cy="288000"/>
          </a:xfrm>
          <a:prstGeom prst="rect">
            <a:avLst/>
          </a:prstGeom>
          <a:noFill/>
        </p:spPr>
        <p:txBody>
          <a:bodyPr wrap="square">
            <a:spAutoFit/>
          </a:bodyPr>
          <a:lstStyle/>
          <a:p>
            <a:r>
              <a:rPr sz="1500" b="1" i="0">
                <a:solidFill>
                  <a:srgbClr val="374151"/>
                </a:solidFill>
                <a:latin typeface="Calibri"/>
              </a:rPr>
              <a:t>Erkenntnisse</a:t>
            </a:r>
          </a:p>
        </p:txBody>
      </p:sp>
      <p:sp>
        <p:nvSpPr>
          <p:cNvPr id="27" name="TextBox 26"/>
          <p:cNvSpPr txBox="1"/>
          <p:nvPr/>
        </p:nvSpPr>
        <p:spPr>
          <a:xfrm>
            <a:off x="6328800" y="4716000"/>
            <a:ext cx="2383200" cy="503999"/>
          </a:xfrm>
          <a:prstGeom prst="rect">
            <a:avLst/>
          </a:prstGeom>
          <a:noFill/>
        </p:spPr>
        <p:txBody>
          <a:bodyPr wrap="square">
            <a:spAutoFit/>
          </a:bodyPr>
          <a:lstStyle/>
          <a:p>
            <a:pPr algn="l"/>
            <a:r>
              <a:rPr sz="1200" b="0" i="1">
                <a:solidFill>
                  <a:srgbClr val="6B7280"/>
                </a:solidFill>
                <a:latin typeface="Calibri"/>
              </a:rPr>
              <a:t>inhaltlich &amp; statistisch</a:t>
            </a:r>
          </a:p>
        </p:txBody>
      </p:sp>
      <p:sp>
        <p:nvSpPr>
          <p:cNvPr id="28" name="Rectangle 27"/>
          <p:cNvSpPr/>
          <p:nvPr/>
        </p:nvSpPr>
        <p:spPr>
          <a:xfrm>
            <a:off x="9054000" y="4014000"/>
            <a:ext cx="263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54000" y="4014000"/>
            <a:ext cx="2635200" cy="792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0000" y="4140000"/>
            <a:ext cx="2383200" cy="324000"/>
          </a:xfrm>
          <a:prstGeom prst="rect">
            <a:avLst/>
          </a:prstGeom>
          <a:noFill/>
        </p:spPr>
        <p:txBody>
          <a:bodyPr wrap="square">
            <a:spAutoFit/>
          </a:bodyPr>
          <a:lstStyle/>
          <a:p>
            <a:r>
              <a:rPr sz="1800" b="1" i="0">
                <a:solidFill>
                  <a:srgbClr val="3F7A72"/>
                </a:solidFill>
                <a:latin typeface="Calibri"/>
              </a:rPr>
              <a:t>04</a:t>
            </a:r>
          </a:p>
        </p:txBody>
      </p:sp>
      <p:sp>
        <p:nvSpPr>
          <p:cNvPr id="31" name="TextBox 30"/>
          <p:cNvSpPr txBox="1"/>
          <p:nvPr/>
        </p:nvSpPr>
        <p:spPr>
          <a:xfrm>
            <a:off x="9180000" y="4428000"/>
            <a:ext cx="2383200" cy="288000"/>
          </a:xfrm>
          <a:prstGeom prst="rect">
            <a:avLst/>
          </a:prstGeom>
          <a:noFill/>
        </p:spPr>
        <p:txBody>
          <a:bodyPr wrap="square">
            <a:spAutoFit/>
          </a:bodyPr>
          <a:lstStyle/>
          <a:p>
            <a:r>
              <a:rPr sz="1500" b="1" i="0">
                <a:solidFill>
                  <a:srgbClr val="374151"/>
                </a:solidFill>
                <a:latin typeface="Calibri"/>
              </a:rPr>
              <a:t>Dashboard</a:t>
            </a:r>
          </a:p>
        </p:txBody>
      </p:sp>
      <p:sp>
        <p:nvSpPr>
          <p:cNvPr id="32" name="TextBox 31"/>
          <p:cNvSpPr txBox="1"/>
          <p:nvPr/>
        </p:nvSpPr>
        <p:spPr>
          <a:xfrm>
            <a:off x="9180000" y="4716000"/>
            <a:ext cx="2383200" cy="503999"/>
          </a:xfrm>
          <a:prstGeom prst="rect">
            <a:avLst/>
          </a:prstGeom>
          <a:noFill/>
        </p:spPr>
        <p:txBody>
          <a:bodyPr wrap="square">
            <a:spAutoFit/>
          </a:bodyPr>
          <a:lstStyle/>
          <a:p>
            <a:pPr algn="l"/>
            <a:r>
              <a:rPr sz="1200" b="0" i="1">
                <a:solidFill>
                  <a:srgbClr val="6B7280"/>
                </a:solidFill>
                <a:latin typeface="Calibri"/>
              </a:rPr>
              <a:t>interaktiv, fortlaufend nutzbar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Datengrundlage auf einen Blick</a:t>
            </a:r>
          </a:p>
        </p:txBody>
      </p:sp>
      <p:sp>
        <p:nvSpPr>
          <p:cNvPr id="5" name="Rectangle 4"/>
          <p:cNvSpPr/>
          <p:nvPr/>
        </p:nvSpPr>
        <p:spPr>
          <a:xfrm>
            <a:off x="5039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692000"/>
            <a:ext cx="26343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1999" y="1980000"/>
            <a:ext cx="2418300" cy="728568"/>
          </a:xfrm>
          <a:prstGeom prst="rect">
            <a:avLst/>
          </a:prstGeom>
          <a:noFill/>
        </p:spPr>
        <p:txBody>
          <a:bodyPr wrap="square" anchor="t">
            <a:normAutofit/>
          </a:bodyPr>
          <a:lstStyle/>
          <a:p>
            <a:pPr algn="ctr"/>
            <a:r>
              <a:rPr lang="de-DE" sz="3000" b="1" i="0">
                <a:solidFill>
                  <a:srgbClr val="2563EB"/>
                </a:solidFill>
                <a:latin typeface="Calibri"/>
              </a:rPr>
              <a:t>18</a:t>
            </a:r>
            <a:endParaRPr sz="3000" b="1" i="0">
              <a:solidFill>
                <a:srgbClr val="2563EB"/>
              </a:solidFill>
              <a:latin typeface="Calibri"/>
            </a:endParaRPr>
          </a:p>
        </p:txBody>
      </p:sp>
      <p:sp>
        <p:nvSpPr>
          <p:cNvPr id="8" name="TextBox 7"/>
          <p:cNvSpPr txBox="1"/>
          <p:nvPr/>
        </p:nvSpPr>
        <p:spPr>
          <a:xfrm>
            <a:off x="611999" y="2736000"/>
            <a:ext cx="2418300" cy="523220"/>
          </a:xfrm>
          <a:prstGeom prst="rect">
            <a:avLst/>
          </a:prstGeom>
          <a:noFill/>
        </p:spPr>
        <p:txBody>
          <a:bodyPr wrap="square" anchor="t">
            <a:spAutoFit/>
          </a:bodyPr>
          <a:lstStyle/>
          <a:p>
            <a:pPr algn="ctr"/>
            <a:r>
              <a:rPr lang="de-DE" sz="1400" b="0" i="0">
                <a:solidFill>
                  <a:srgbClr val="374151"/>
                </a:solidFill>
                <a:latin typeface="Calibri"/>
              </a:rPr>
              <a:t>monatliche Excel-
Berichte</a:t>
            </a:r>
            <a:endParaRPr sz="1400" b="0" i="0">
              <a:solidFill>
                <a:srgbClr val="374151"/>
              </a:solidFill>
              <a:latin typeface="Calibri"/>
            </a:endParaRPr>
          </a:p>
        </p:txBody>
      </p:sp>
      <p:sp>
        <p:nvSpPr>
          <p:cNvPr id="9" name="Rectangle 8"/>
          <p:cNvSpPr/>
          <p:nvPr/>
        </p:nvSpPr>
        <p:spPr>
          <a:xfrm>
            <a:off x="33542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54299" y="1692000"/>
            <a:ext cx="26343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62299" y="1980000"/>
            <a:ext cx="2418300" cy="728568"/>
          </a:xfrm>
          <a:prstGeom prst="rect">
            <a:avLst/>
          </a:prstGeom>
          <a:noFill/>
        </p:spPr>
        <p:txBody>
          <a:bodyPr wrap="square" anchor="t">
            <a:normAutofit/>
          </a:bodyPr>
          <a:lstStyle/>
          <a:p>
            <a:pPr algn="ctr"/>
            <a:r>
              <a:rPr lang="de-DE" sz="3000" b="1" i="0">
                <a:solidFill>
                  <a:srgbClr val="7C3AED"/>
                </a:solidFill>
                <a:latin typeface="Calibri"/>
              </a:rPr>
              <a:t>21</a:t>
            </a:r>
            <a:endParaRPr sz="3000" b="1" i="0">
              <a:solidFill>
                <a:srgbClr val="7C3AED"/>
              </a:solidFill>
              <a:latin typeface="Calibri"/>
            </a:endParaRPr>
          </a:p>
        </p:txBody>
      </p:sp>
      <p:sp>
        <p:nvSpPr>
          <p:cNvPr id="12" name="TextBox 11"/>
          <p:cNvSpPr txBox="1"/>
          <p:nvPr/>
        </p:nvSpPr>
        <p:spPr>
          <a:xfrm>
            <a:off x="3462299" y="2736000"/>
            <a:ext cx="2418300" cy="523220"/>
          </a:xfrm>
          <a:prstGeom prst="rect">
            <a:avLst/>
          </a:prstGeom>
          <a:noFill/>
        </p:spPr>
        <p:txBody>
          <a:bodyPr wrap="square" anchor="t">
            <a:spAutoFit/>
          </a:bodyPr>
          <a:lstStyle/>
          <a:p>
            <a:pPr algn="ctr"/>
            <a:r>
              <a:rPr lang="de-DE" sz="1400" b="0" i="0">
                <a:solidFill>
                  <a:srgbClr val="374151"/>
                </a:solidFill>
                <a:latin typeface="Calibri"/>
              </a:rPr>
              <a:t>Tabellenblätter
pro Datei</a:t>
            </a:r>
            <a:endParaRPr sz="1400" b="0" i="0">
              <a:solidFill>
                <a:srgbClr val="374151"/>
              </a:solidFill>
              <a:latin typeface="Calibri"/>
            </a:endParaRPr>
          </a:p>
        </p:txBody>
      </p:sp>
      <p:sp>
        <p:nvSpPr>
          <p:cNvPr id="13" name="Rectangle 12"/>
          <p:cNvSpPr/>
          <p:nvPr/>
        </p:nvSpPr>
        <p:spPr>
          <a:xfrm>
            <a:off x="62045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04599" y="1692000"/>
            <a:ext cx="26343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12599" y="2070000"/>
            <a:ext cx="2418300" cy="638568"/>
          </a:xfrm>
          <a:prstGeom prst="rect">
            <a:avLst/>
          </a:prstGeom>
          <a:noFill/>
        </p:spPr>
        <p:txBody>
          <a:bodyPr wrap="square" anchor="t">
            <a:normAutofit/>
          </a:bodyPr>
          <a:lstStyle/>
          <a:p>
            <a:pPr algn="ctr"/>
            <a:r>
              <a:rPr lang="de-DE" sz="2000" b="1" i="0">
                <a:solidFill>
                  <a:srgbClr val="F59E0B"/>
                </a:solidFill>
                <a:latin typeface="Calibri"/>
              </a:rPr>
              <a:t>Jan 25 – Jun 26</a:t>
            </a:r>
          </a:p>
        </p:txBody>
      </p:sp>
      <p:sp>
        <p:nvSpPr>
          <p:cNvPr id="16" name="TextBox 15"/>
          <p:cNvSpPr txBox="1"/>
          <p:nvPr/>
        </p:nvSpPr>
        <p:spPr>
          <a:xfrm>
            <a:off x="6312599" y="2736000"/>
            <a:ext cx="2418300" cy="307777"/>
          </a:xfrm>
          <a:prstGeom prst="rect">
            <a:avLst/>
          </a:prstGeom>
          <a:noFill/>
        </p:spPr>
        <p:txBody>
          <a:bodyPr wrap="square" anchor="t">
            <a:spAutoFit/>
          </a:bodyPr>
          <a:lstStyle/>
          <a:p>
            <a:pPr algn="ctr"/>
            <a:r>
              <a:rPr lang="de-DE" sz="1400" b="0" i="0">
                <a:solidFill>
                  <a:srgbClr val="374151"/>
                </a:solidFill>
                <a:latin typeface="Calibri"/>
              </a:rPr>
              <a:t>Berichtszeitraum</a:t>
            </a:r>
            <a:endParaRPr sz="1400" b="0" i="0">
              <a:solidFill>
                <a:srgbClr val="374151"/>
              </a:solidFill>
              <a:latin typeface="Calibri"/>
            </a:endParaRPr>
          </a:p>
        </p:txBody>
      </p:sp>
      <p:sp>
        <p:nvSpPr>
          <p:cNvPr id="17" name="Rectangle 16"/>
          <p:cNvSpPr/>
          <p:nvPr/>
        </p:nvSpPr>
        <p:spPr>
          <a:xfrm>
            <a:off x="90548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54899" y="1692000"/>
            <a:ext cx="26343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62899" y="1980000"/>
            <a:ext cx="2418300" cy="728568"/>
          </a:xfrm>
          <a:prstGeom prst="rect">
            <a:avLst/>
          </a:prstGeom>
          <a:noFill/>
        </p:spPr>
        <p:txBody>
          <a:bodyPr wrap="square" anchor="t">
            <a:normAutofit/>
          </a:bodyPr>
          <a:lstStyle/>
          <a:p>
            <a:pPr algn="ctr"/>
            <a:r>
              <a:rPr lang="de-DE" sz="3000" b="1" i="0">
                <a:solidFill>
                  <a:srgbClr val="DC2626"/>
                </a:solidFill>
                <a:latin typeface="Calibri"/>
              </a:rPr>
              <a:t>SGB II</a:t>
            </a:r>
            <a:endParaRPr sz="3000" b="1" i="0">
              <a:solidFill>
                <a:srgbClr val="DC2626"/>
              </a:solidFill>
              <a:latin typeface="Calibri"/>
            </a:endParaRPr>
          </a:p>
        </p:txBody>
      </p:sp>
      <p:sp>
        <p:nvSpPr>
          <p:cNvPr id="20" name="TextBox 19"/>
          <p:cNvSpPr txBox="1"/>
          <p:nvPr/>
        </p:nvSpPr>
        <p:spPr>
          <a:xfrm>
            <a:off x="9162899" y="2736000"/>
            <a:ext cx="2418300" cy="523220"/>
          </a:xfrm>
          <a:prstGeom prst="rect">
            <a:avLst/>
          </a:prstGeom>
          <a:noFill/>
        </p:spPr>
        <p:txBody>
          <a:bodyPr wrap="square" anchor="t">
            <a:spAutoFit/>
          </a:bodyPr>
          <a:lstStyle/>
          <a:p>
            <a:pPr algn="ctr"/>
            <a:r>
              <a:rPr lang="de-DE" sz="1400" b="0" i="0">
                <a:solidFill>
                  <a:srgbClr val="374151"/>
                </a:solidFill>
                <a:latin typeface="Calibri"/>
              </a:rPr>
              <a:t>Rechtskreis
Jobcenter Regensburg</a:t>
            </a:r>
            <a:endParaRPr sz="1400" b="0" i="0">
              <a:solidFill>
                <a:srgbClr val="374151"/>
              </a:solidFill>
              <a:latin typeface="Calibri"/>
            </a:endParaRPr>
          </a:p>
        </p:txBody>
      </p:sp>
      <p:sp>
        <p:nvSpPr>
          <p:cNvPr id="21" name="TextBox 20"/>
          <p:cNvSpPr txBox="1"/>
          <p:nvPr/>
        </p:nvSpPr>
        <p:spPr>
          <a:xfrm>
            <a:off x="503999" y="1206000"/>
            <a:ext cx="11185200" cy="360000"/>
          </a:xfrm>
          <a:prstGeom prst="rect">
            <a:avLst/>
          </a:prstGeom>
          <a:noFill/>
        </p:spPr>
        <p:txBody>
          <a:bodyPr wrap="square">
            <a:spAutoFit/>
          </a:bodyPr>
          <a:lstStyle/>
          <a:p>
            <a:pPr algn="l"/>
            <a:r>
              <a:rPr sz="1500" b="0" i="1">
                <a:solidFill>
                  <a:srgbClr val="6B7280"/>
                </a:solidFill>
                <a:latin typeface="Calibri"/>
              </a:rPr>
              <a:t>Herausgeberin: Statistik der Bundesagentur für Arbeit — Bericht „Eckwerte für Jobcenter“, Jobcenter Regensburg (Statistik-Nr. t73906-0)</a:t>
            </a:r>
          </a:p>
        </p:txBody>
      </p:sp>
      <p:sp>
        <p:nvSpPr>
          <p:cNvPr id="22" name="Rectangle 21"/>
          <p:cNvSpPr/>
          <p:nvPr/>
        </p:nvSpPr>
        <p:spPr>
          <a:xfrm>
            <a:off x="503999" y="3671999"/>
            <a:ext cx="1118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3999" y="3671999"/>
            <a:ext cx="90000" cy="129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999" y="3797999"/>
            <a:ext cx="10620000" cy="324000"/>
          </a:xfrm>
          <a:prstGeom prst="rect">
            <a:avLst/>
          </a:prstGeom>
          <a:noFill/>
        </p:spPr>
        <p:txBody>
          <a:bodyPr wrap="square">
            <a:spAutoFit/>
          </a:bodyPr>
          <a:lstStyle/>
          <a:p>
            <a:r>
              <a:rPr sz="1700" b="1" i="0">
                <a:solidFill>
                  <a:srgbClr val="3B6EA8"/>
                </a:solidFill>
                <a:latin typeface="Calibri"/>
              </a:rPr>
              <a:t>Wichtig zu wissen</a:t>
            </a:r>
          </a:p>
        </p:txBody>
      </p:sp>
      <p:sp>
        <p:nvSpPr>
          <p:cNvPr id="25" name="TextBox 24"/>
          <p:cNvSpPr txBox="1"/>
          <p:nvPr/>
        </p:nvSpPr>
        <p:spPr>
          <a:xfrm>
            <a:off x="827999" y="4121999"/>
            <a:ext cx="10620000" cy="737999"/>
          </a:xfrm>
          <a:prstGeom prst="rect">
            <a:avLst/>
          </a:prstGeom>
          <a:noFill/>
        </p:spPr>
        <p:txBody>
          <a:bodyPr wrap="square">
            <a:spAutoFit/>
          </a:bodyPr>
          <a:lstStyle/>
          <a:p>
            <a:r>
              <a:rPr sz="1600" b="0" i="0">
                <a:solidFill>
                  <a:srgbClr val="374151"/>
                </a:solidFill>
                <a:latin typeface="Calibri"/>
              </a:rPr>
              <a:t>Jede Excel-Datei weist zwei Rechtskreise getrennt aus: „Insgesamt (SGB II und SGB III)“ und „Rechtskreis SGB II“ (= Jobcenter-Zuständigkeit). Diese Präsentation wertet ausschließlich den SGB-II-Anteil aus — Kapitel 11 vergleicht beide Rechtskreise direkt miteinander.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60568"/>
          </a:xfrm>
          <a:prstGeom prst="rect">
            <a:avLst/>
          </a:prstGeom>
          <a:noFill/>
        </p:spPr>
        <p:txBody>
          <a:bodyPr wrap="square" anchor="t">
            <a:normAutofit fontScale="55000" lnSpcReduction="20000"/>
          </a:bodyPr>
          <a:lstStyle/>
          <a:p>
            <a:pPr algn="l"/>
            <a:r>
              <a:rPr sz="2200" b="1" i="0">
                <a:solidFill>
                  <a:srgbClr val="BFDBFE"/>
                </a:solidFill>
                <a:latin typeface="Calibri"/>
              </a:rPr>
              <a:t>KAPITEL 2</a:t>
            </a:r>
          </a:p>
        </p:txBody>
      </p:sp>
      <p:sp>
        <p:nvSpPr>
          <p:cNvPr id="4" name="TextBox 3"/>
          <p:cNvSpPr txBox="1"/>
          <p:nvPr/>
        </p:nvSpPr>
        <p:spPr>
          <a:xfrm>
            <a:off x="720000" y="1602000"/>
            <a:ext cx="10753200" cy="792000"/>
          </a:xfrm>
          <a:prstGeom prst="rect">
            <a:avLst/>
          </a:prstGeom>
          <a:noFill/>
        </p:spPr>
        <p:txBody>
          <a:bodyPr wrap="square" anchor="t">
            <a:spAutoFit/>
          </a:bodyPr>
          <a:lstStyle/>
          <a:p>
            <a:pPr algn="l"/>
            <a:r>
              <a:rPr sz="4000" b="1" i="0">
                <a:solidFill>
                  <a:srgbClr val="FFFFFF"/>
                </a:solidFill>
                <a:latin typeface="Calibri"/>
              </a:rPr>
              <a:t>Datenexploration
und -aufbereitung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Tabellenblätter der Rohdaten untersuchen</a:t>
            </a:r>
          </a:p>
          <a:p>
            <a:pPr>
              <a:spcAft>
                <a:spcPts val="1200"/>
              </a:spcAft>
            </a:pPr>
            <a:r>
              <a:rPr sz="1800">
                <a:solidFill>
                  <a:srgbClr val="E0E7FF"/>
                </a:solidFill>
                <a:latin typeface="Calibri"/>
              </a:rPr>
              <a:t>●  Daten einlesen, bereinigen, aufbereiten</a:t>
            </a:r>
          </a:p>
          <a:p>
            <a:pPr>
              <a:spcAft>
                <a:spcPts val="1200"/>
              </a:spcAft>
            </a:pPr>
            <a:r>
              <a:rPr sz="1800">
                <a:solidFill>
                  <a:srgbClr val="E0E7FF"/>
                </a:solidFill>
                <a:latin typeface="Calibri"/>
              </a:rPr>
              <a:t>●  Export für die Weiterverarbeitung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Tabellenblätter der Rohdaten untersuchen</a:t>
            </a:r>
          </a:p>
        </p:txBody>
      </p:sp>
      <p:sp>
        <p:nvSpPr>
          <p:cNvPr id="5" name="Rectangle 4"/>
          <p:cNvSpPr/>
          <p:nvPr/>
        </p:nvSpPr>
        <p:spPr>
          <a:xfrm>
            <a:off x="503999" y="1224000"/>
            <a:ext cx="11185200" cy="111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1118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386000"/>
            <a:ext cx="10836000" cy="288000"/>
          </a:xfrm>
          <a:prstGeom prst="rect">
            <a:avLst/>
          </a:prstGeom>
          <a:noFill/>
        </p:spPr>
        <p:txBody>
          <a:bodyPr wrap="square">
            <a:spAutoFit/>
          </a:bodyPr>
          <a:lstStyle/>
          <a:p>
            <a:r>
              <a:rPr sz="1800" b="1" i="0">
                <a:solidFill>
                  <a:srgbClr val="6B5B8F"/>
                </a:solidFill>
                <a:latin typeface="Calibri"/>
              </a:rPr>
              <a:t>Vorgehen</a:t>
            </a:r>
          </a:p>
        </p:txBody>
      </p:sp>
      <p:sp>
        <p:nvSpPr>
          <p:cNvPr id="8" name="TextBox 7"/>
          <p:cNvSpPr txBox="1"/>
          <p:nvPr/>
        </p:nvSpPr>
        <p:spPr>
          <a:xfrm>
            <a:off x="684000" y="1674000"/>
            <a:ext cx="10836000" cy="630000"/>
          </a:xfrm>
          <a:prstGeom prst="rect">
            <a:avLst/>
          </a:prstGeom>
          <a:noFill/>
        </p:spPr>
        <p:txBody>
          <a:bodyPr wrap="square">
            <a:spAutoFit/>
          </a:bodyPr>
          <a:lstStyle/>
          <a:p>
            <a:r>
              <a:rPr sz="1600" b="0" i="0">
                <a:solidFill>
                  <a:srgbClr val="374151"/>
                </a:solidFill>
                <a:latin typeface="Calibri"/>
              </a:rPr>
              <a:t>Alle 21 Tabellenblätter je Datei systematisch gesichtet: Was steht drin, ist es relevant, welche Diagramme wären möglich?</a:t>
            </a:r>
          </a:p>
        </p:txBody>
      </p:sp>
      <p:sp>
        <p:nvSpPr>
          <p:cNvPr id="9" name="Rectangle 8"/>
          <p:cNvSpPr/>
          <p:nvPr/>
        </p:nvSpPr>
        <p:spPr>
          <a:xfrm>
            <a:off x="503999"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3999" y="2556000"/>
            <a:ext cx="3607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6000" y="2736000"/>
            <a:ext cx="3283199" cy="324000"/>
          </a:xfrm>
          <a:prstGeom prst="rect">
            <a:avLst/>
          </a:prstGeom>
          <a:noFill/>
        </p:spPr>
        <p:txBody>
          <a:bodyPr wrap="square">
            <a:spAutoFit/>
          </a:bodyPr>
          <a:lstStyle/>
          <a:p>
            <a:r>
              <a:rPr sz="1700" b="1" i="0">
                <a:solidFill>
                  <a:srgbClr val="C79A56"/>
                </a:solidFill>
                <a:latin typeface="Calibri"/>
              </a:rPr>
              <a:t>Metadaten</a:t>
            </a:r>
          </a:p>
        </p:txBody>
      </p:sp>
      <p:sp>
        <p:nvSpPr>
          <p:cNvPr id="12" name="TextBox 11"/>
          <p:cNvSpPr txBox="1"/>
          <p:nvPr/>
        </p:nvSpPr>
        <p:spPr>
          <a:xfrm>
            <a:off x="666000" y="3114000"/>
            <a:ext cx="3283199" cy="1800000"/>
          </a:xfrm>
          <a:prstGeom prst="rect">
            <a:avLst/>
          </a:prstGeom>
          <a:noFill/>
        </p:spPr>
        <p:txBody>
          <a:bodyPr wrap="square">
            <a:spAutoFit/>
          </a:bodyPr>
          <a:lstStyle/>
          <a:p>
            <a:r>
              <a:rPr sz="1400" b="0" i="0">
                <a:solidFill>
                  <a:srgbClr val="374151"/>
                </a:solidFill>
                <a:latin typeface="Calibri"/>
              </a:rPr>
              <a:t>6 Blätter enthalten reine Metadaten/Navigation ohne Analysewert.</a:t>
            </a:r>
          </a:p>
        </p:txBody>
      </p:sp>
      <p:sp>
        <p:nvSpPr>
          <p:cNvPr id="13" name="Rectangle 12"/>
          <p:cNvSpPr/>
          <p:nvPr/>
        </p:nvSpPr>
        <p:spPr>
          <a:xfrm>
            <a:off x="4291200"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1200" y="2556000"/>
            <a:ext cx="3607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200" y="2736000"/>
            <a:ext cx="3283199" cy="324000"/>
          </a:xfrm>
          <a:prstGeom prst="rect">
            <a:avLst/>
          </a:prstGeom>
          <a:noFill/>
        </p:spPr>
        <p:txBody>
          <a:bodyPr wrap="square">
            <a:spAutoFit/>
          </a:bodyPr>
          <a:lstStyle/>
          <a:p>
            <a:r>
              <a:rPr sz="1700" b="1" i="0">
                <a:solidFill>
                  <a:srgbClr val="3B6EA8"/>
                </a:solidFill>
                <a:latin typeface="Calibri"/>
              </a:rPr>
              <a:t>Hauptquelle</a:t>
            </a:r>
          </a:p>
        </p:txBody>
      </p:sp>
      <p:sp>
        <p:nvSpPr>
          <p:cNvPr id="16" name="TextBox 15"/>
          <p:cNvSpPr txBox="1"/>
          <p:nvPr/>
        </p:nvSpPr>
        <p:spPr>
          <a:xfrm>
            <a:off x="4453200" y="3114000"/>
            <a:ext cx="3283199" cy="1800000"/>
          </a:xfrm>
          <a:prstGeom prst="rect">
            <a:avLst/>
          </a:prstGeom>
          <a:noFill/>
        </p:spPr>
        <p:txBody>
          <a:bodyPr wrap="square">
            <a:spAutoFit/>
          </a:bodyPr>
          <a:lstStyle/>
          <a:p>
            <a:r>
              <a:rPr sz="1400" b="0" i="0">
                <a:solidFill>
                  <a:srgbClr val="374151"/>
                </a:solidFill>
                <a:latin typeface="Calibri"/>
              </a:rPr>
              <a:t>Blatt „1.1 Eckwerte“ als Hauptquelle für die gesamte Analyse identifiziert.</a:t>
            </a:r>
          </a:p>
        </p:txBody>
      </p:sp>
      <p:sp>
        <p:nvSpPr>
          <p:cNvPr id="17" name="Rectangle 16"/>
          <p:cNvSpPr/>
          <p:nvPr/>
        </p:nvSpPr>
        <p:spPr>
          <a:xfrm>
            <a:off x="8078400" y="2556000"/>
            <a:ext cx="3607200" cy="25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8400" y="2556000"/>
            <a:ext cx="3607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0400" y="2736000"/>
            <a:ext cx="3283199" cy="324000"/>
          </a:xfrm>
          <a:prstGeom prst="rect">
            <a:avLst/>
          </a:prstGeom>
          <a:noFill/>
        </p:spPr>
        <p:txBody>
          <a:bodyPr wrap="square">
            <a:spAutoFit/>
          </a:bodyPr>
          <a:lstStyle/>
          <a:p>
            <a:r>
              <a:rPr sz="1700" b="1" i="0">
                <a:solidFill>
                  <a:srgbClr val="A0453F"/>
                </a:solidFill>
                <a:latin typeface="Calibri"/>
              </a:rPr>
              <a:t>⚠️ Wartezeit</a:t>
            </a:r>
          </a:p>
        </p:txBody>
      </p:sp>
      <p:sp>
        <p:nvSpPr>
          <p:cNvPr id="20" name="TextBox 19"/>
          <p:cNvSpPr txBox="1"/>
          <p:nvPr/>
        </p:nvSpPr>
        <p:spPr>
          <a:xfrm>
            <a:off x="8240400" y="3114000"/>
            <a:ext cx="3283199" cy="1800000"/>
          </a:xfrm>
          <a:prstGeom prst="rect">
            <a:avLst/>
          </a:prstGeom>
          <a:noFill/>
        </p:spPr>
        <p:txBody>
          <a:bodyPr wrap="square">
            <a:spAutoFit/>
          </a:bodyPr>
          <a:lstStyle/>
          <a:p>
            <a:r>
              <a:rPr sz="1400" b="0" i="0">
                <a:solidFill>
                  <a:srgbClr val="374151"/>
                </a:solidFill>
                <a:latin typeface="Calibri"/>
              </a:rPr>
              <a:t>Blätter 3.1–3.6 und 4.1–4.2 melden Werte mit 3–6 Monaten Wartezeit statt dem aktuellen Berichtsmonat.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2.2 – 2.5</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Datenpipeline</a:t>
            </a:r>
          </a:p>
        </p:txBody>
      </p:sp>
      <p:sp>
        <p:nvSpPr>
          <p:cNvPr id="5" name="TextBox 4"/>
          <p:cNvSpPr txBox="1"/>
          <p:nvPr/>
        </p:nvSpPr>
        <p:spPr>
          <a:xfrm>
            <a:off x="503999" y="1206000"/>
            <a:ext cx="11185200" cy="288000"/>
          </a:xfrm>
          <a:prstGeom prst="rect">
            <a:avLst/>
          </a:prstGeom>
          <a:noFill/>
        </p:spPr>
        <p:txBody>
          <a:bodyPr wrap="square">
            <a:spAutoFit/>
          </a:bodyPr>
          <a:lstStyle/>
          <a:p>
            <a:r>
              <a:rPr sz="1600" b="0" i="1">
                <a:solidFill>
                  <a:srgbClr val="6B7280"/>
                </a:solidFill>
                <a:latin typeface="Calibri"/>
              </a:rPr>
              <a:t>Von den Rohdaten zur Kennzahlen-Zeitreihe — fünf Schritte:</a:t>
            </a:r>
          </a:p>
        </p:txBody>
      </p:sp>
      <p:sp>
        <p:nvSpPr>
          <p:cNvPr id="6" name="Rectangle 5"/>
          <p:cNvSpPr/>
          <p:nvPr/>
        </p:nvSpPr>
        <p:spPr>
          <a:xfrm>
            <a:off x="503999"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3999" y="1655999"/>
            <a:ext cx="187704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000" y="1818000"/>
            <a:ext cx="1661040" cy="288000"/>
          </a:xfrm>
          <a:prstGeom prst="rect">
            <a:avLst/>
          </a:prstGeom>
          <a:noFill/>
        </p:spPr>
        <p:txBody>
          <a:bodyPr wrap="square">
            <a:spAutoFit/>
          </a:bodyPr>
          <a:lstStyle/>
          <a:p>
            <a:r>
              <a:rPr sz="1600" b="1" i="0">
                <a:solidFill>
                  <a:srgbClr val="3B6EA8"/>
                </a:solidFill>
                <a:latin typeface="Calibri"/>
              </a:rPr>
              <a:t>01</a:t>
            </a:r>
          </a:p>
        </p:txBody>
      </p:sp>
      <p:sp>
        <p:nvSpPr>
          <p:cNvPr id="9" name="TextBox 8"/>
          <p:cNvSpPr txBox="1"/>
          <p:nvPr/>
        </p:nvSpPr>
        <p:spPr>
          <a:xfrm>
            <a:off x="612000" y="2106000"/>
            <a:ext cx="1661040" cy="576000"/>
          </a:xfrm>
          <a:prstGeom prst="rect">
            <a:avLst/>
          </a:prstGeom>
          <a:noFill/>
        </p:spPr>
        <p:txBody>
          <a:bodyPr wrap="square">
            <a:spAutoFit/>
          </a:bodyPr>
          <a:lstStyle/>
          <a:p>
            <a:r>
              <a:rPr sz="1400" b="1" i="0">
                <a:solidFill>
                  <a:srgbClr val="374151"/>
                </a:solidFill>
                <a:latin typeface="Calibri"/>
              </a:rPr>
              <a:t>normalize_label()</a:t>
            </a:r>
          </a:p>
        </p:txBody>
      </p:sp>
      <p:sp>
        <p:nvSpPr>
          <p:cNvPr id="10" name="TextBox 9"/>
          <p:cNvSpPr txBox="1"/>
          <p:nvPr/>
        </p:nvSpPr>
        <p:spPr>
          <a:xfrm>
            <a:off x="612000" y="2681999"/>
            <a:ext cx="1661040" cy="1961999"/>
          </a:xfrm>
          <a:prstGeom prst="rect">
            <a:avLst/>
          </a:prstGeom>
          <a:noFill/>
        </p:spPr>
        <p:txBody>
          <a:bodyPr wrap="square">
            <a:spAutoFit/>
          </a:bodyPr>
          <a:lstStyle/>
          <a:p>
            <a:r>
              <a:rPr sz="1150" b="0" i="0">
                <a:solidFill>
                  <a:srgbClr val="6B7280"/>
                </a:solidFill>
                <a:latin typeface="Calibri"/>
              </a:rPr>
              <a:t>entfernt Fußnotenmarker per Regex aus Zeilenbeschriftungen</a:t>
            </a:r>
          </a:p>
        </p:txBody>
      </p:sp>
      <p:sp>
        <p:nvSpPr>
          <p:cNvPr id="11" name="TextBox 10"/>
          <p:cNvSpPr txBox="1"/>
          <p:nvPr/>
        </p:nvSpPr>
        <p:spPr>
          <a:xfrm>
            <a:off x="250704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12" name="Rectangle 11"/>
          <p:cNvSpPr/>
          <p:nvPr/>
        </p:nvSpPr>
        <p:spPr>
          <a:xfrm>
            <a:off x="283104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31040" y="1655999"/>
            <a:ext cx="187704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040" y="1818000"/>
            <a:ext cx="1661040" cy="288000"/>
          </a:xfrm>
          <a:prstGeom prst="rect">
            <a:avLst/>
          </a:prstGeom>
          <a:noFill/>
        </p:spPr>
        <p:txBody>
          <a:bodyPr wrap="square">
            <a:spAutoFit/>
          </a:bodyPr>
          <a:lstStyle/>
          <a:p>
            <a:r>
              <a:rPr sz="1600" b="1" i="0">
                <a:solidFill>
                  <a:srgbClr val="6B5B8F"/>
                </a:solidFill>
                <a:latin typeface="Calibri"/>
              </a:rPr>
              <a:t>02</a:t>
            </a:r>
          </a:p>
        </p:txBody>
      </p:sp>
      <p:sp>
        <p:nvSpPr>
          <p:cNvPr id="15" name="TextBox 14"/>
          <p:cNvSpPr txBox="1"/>
          <p:nvPr/>
        </p:nvSpPr>
        <p:spPr>
          <a:xfrm>
            <a:off x="2939040" y="2106000"/>
            <a:ext cx="1661040" cy="576000"/>
          </a:xfrm>
          <a:prstGeom prst="rect">
            <a:avLst/>
          </a:prstGeom>
          <a:noFill/>
        </p:spPr>
        <p:txBody>
          <a:bodyPr wrap="square">
            <a:spAutoFit/>
          </a:bodyPr>
          <a:lstStyle/>
          <a:p>
            <a:r>
              <a:rPr sz="1400" b="1" i="0">
                <a:solidFill>
                  <a:srgbClr val="374151"/>
                </a:solidFill>
                <a:latin typeface="Calibri"/>
              </a:rPr>
              <a:t>parse_eckwerte()</a:t>
            </a:r>
          </a:p>
        </p:txBody>
      </p:sp>
      <p:sp>
        <p:nvSpPr>
          <p:cNvPr id="16" name="TextBox 15"/>
          <p:cNvSpPr txBox="1"/>
          <p:nvPr/>
        </p:nvSpPr>
        <p:spPr>
          <a:xfrm>
            <a:off x="2939040" y="2681999"/>
            <a:ext cx="1661040" cy="1961999"/>
          </a:xfrm>
          <a:prstGeom prst="rect">
            <a:avLst/>
          </a:prstGeom>
          <a:noFill/>
        </p:spPr>
        <p:txBody>
          <a:bodyPr wrap="square">
            <a:spAutoFit/>
          </a:bodyPr>
          <a:lstStyle/>
          <a:p>
            <a:r>
              <a:rPr sz="1150" b="0" i="0">
                <a:solidFill>
                  <a:srgbClr val="6B7280"/>
                </a:solidFill>
                <a:latin typeface="Calibri"/>
              </a:rPr>
              <a:t>liest Zeilen 9–47, Berichtsmonat aus Dateiname abgeleitet</a:t>
            </a:r>
          </a:p>
        </p:txBody>
      </p:sp>
      <p:sp>
        <p:nvSpPr>
          <p:cNvPr id="17" name="TextBox 16"/>
          <p:cNvSpPr txBox="1"/>
          <p:nvPr/>
        </p:nvSpPr>
        <p:spPr>
          <a:xfrm>
            <a:off x="483408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18" name="Rectangle 17"/>
          <p:cNvSpPr/>
          <p:nvPr/>
        </p:nvSpPr>
        <p:spPr>
          <a:xfrm>
            <a:off x="515808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58080" y="1655999"/>
            <a:ext cx="187704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66080" y="1818000"/>
            <a:ext cx="1661040" cy="288000"/>
          </a:xfrm>
          <a:prstGeom prst="rect">
            <a:avLst/>
          </a:prstGeom>
          <a:noFill/>
        </p:spPr>
        <p:txBody>
          <a:bodyPr wrap="square">
            <a:spAutoFit/>
          </a:bodyPr>
          <a:lstStyle/>
          <a:p>
            <a:r>
              <a:rPr sz="1600" b="1" i="0">
                <a:solidFill>
                  <a:srgbClr val="C79A56"/>
                </a:solidFill>
                <a:latin typeface="Calibri"/>
              </a:rPr>
              <a:t>03</a:t>
            </a:r>
          </a:p>
        </p:txBody>
      </p:sp>
      <p:sp>
        <p:nvSpPr>
          <p:cNvPr id="21" name="TextBox 20"/>
          <p:cNvSpPr txBox="1"/>
          <p:nvPr/>
        </p:nvSpPr>
        <p:spPr>
          <a:xfrm>
            <a:off x="5266080" y="2106000"/>
            <a:ext cx="1661040" cy="576000"/>
          </a:xfrm>
          <a:prstGeom prst="rect">
            <a:avLst/>
          </a:prstGeom>
          <a:noFill/>
        </p:spPr>
        <p:txBody>
          <a:bodyPr wrap="square">
            <a:spAutoFit/>
          </a:bodyPr>
          <a:lstStyle/>
          <a:p>
            <a:r>
              <a:rPr sz="1400" b="1" i="0">
                <a:solidFill>
                  <a:srgbClr val="374151"/>
                </a:solidFill>
                <a:latin typeface="Calibri"/>
              </a:rPr>
              <a:t>Bereinigung</a:t>
            </a:r>
          </a:p>
        </p:txBody>
      </p:sp>
      <p:sp>
        <p:nvSpPr>
          <p:cNvPr id="22" name="TextBox 21"/>
          <p:cNvSpPr txBox="1"/>
          <p:nvPr/>
        </p:nvSpPr>
        <p:spPr>
          <a:xfrm>
            <a:off x="5266080" y="2681999"/>
            <a:ext cx="1661040" cy="1961999"/>
          </a:xfrm>
          <a:prstGeom prst="rect">
            <a:avLst/>
          </a:prstGeom>
          <a:noFill/>
        </p:spPr>
        <p:txBody>
          <a:bodyPr wrap="square">
            <a:spAutoFit/>
          </a:bodyPr>
          <a:lstStyle/>
          <a:p>
            <a:r>
              <a:rPr sz="1150" b="0" i="0">
                <a:solidFill>
                  <a:srgbClr val="6B7280"/>
                </a:solidFill>
                <a:latin typeface="Calibri"/>
              </a:rPr>
              <a:t>0 Duplikate, 108/558 fehlende Werte identifiziert und erklärt</a:t>
            </a:r>
          </a:p>
        </p:txBody>
      </p:sp>
      <p:sp>
        <p:nvSpPr>
          <p:cNvPr id="23" name="TextBox 22"/>
          <p:cNvSpPr txBox="1"/>
          <p:nvPr/>
        </p:nvSpPr>
        <p:spPr>
          <a:xfrm>
            <a:off x="716112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24" name="Rectangle 23"/>
          <p:cNvSpPr/>
          <p:nvPr/>
        </p:nvSpPr>
        <p:spPr>
          <a:xfrm>
            <a:off x="748512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85120" y="1655999"/>
            <a:ext cx="187704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93120" y="1818000"/>
            <a:ext cx="1661040" cy="288000"/>
          </a:xfrm>
          <a:prstGeom prst="rect">
            <a:avLst/>
          </a:prstGeom>
          <a:noFill/>
        </p:spPr>
        <p:txBody>
          <a:bodyPr wrap="square">
            <a:spAutoFit/>
          </a:bodyPr>
          <a:lstStyle/>
          <a:p>
            <a:r>
              <a:rPr sz="1600" b="1" i="0">
                <a:solidFill>
                  <a:srgbClr val="3F7A72"/>
                </a:solidFill>
                <a:latin typeface="Calibri"/>
              </a:rPr>
              <a:t>04</a:t>
            </a:r>
          </a:p>
        </p:txBody>
      </p:sp>
      <p:sp>
        <p:nvSpPr>
          <p:cNvPr id="27" name="TextBox 26"/>
          <p:cNvSpPr txBox="1"/>
          <p:nvPr/>
        </p:nvSpPr>
        <p:spPr>
          <a:xfrm>
            <a:off x="7593120" y="2106000"/>
            <a:ext cx="1661040" cy="576000"/>
          </a:xfrm>
          <a:prstGeom prst="rect">
            <a:avLst/>
          </a:prstGeom>
          <a:noFill/>
        </p:spPr>
        <p:txBody>
          <a:bodyPr wrap="square">
            <a:spAutoFit/>
          </a:bodyPr>
          <a:lstStyle/>
          <a:p>
            <a:r>
              <a:rPr sz="1400" b="1" i="0">
                <a:solidFill>
                  <a:srgbClr val="374151"/>
                </a:solidFill>
                <a:latin typeface="Calibri"/>
              </a:rPr>
              <a:t>pivot_table()</a:t>
            </a:r>
          </a:p>
        </p:txBody>
      </p:sp>
      <p:sp>
        <p:nvSpPr>
          <p:cNvPr id="28" name="TextBox 27"/>
          <p:cNvSpPr txBox="1"/>
          <p:nvPr/>
        </p:nvSpPr>
        <p:spPr>
          <a:xfrm>
            <a:off x="7593120" y="2681999"/>
            <a:ext cx="1661040" cy="1961999"/>
          </a:xfrm>
          <a:prstGeom prst="rect">
            <a:avLst/>
          </a:prstGeom>
          <a:noFill/>
        </p:spPr>
        <p:txBody>
          <a:bodyPr wrap="square">
            <a:spAutoFit/>
          </a:bodyPr>
          <a:lstStyle/>
          <a:p>
            <a:r>
              <a:rPr sz="1150" b="0" i="0">
                <a:solidFill>
                  <a:srgbClr val="6B7280"/>
                </a:solidFill>
                <a:latin typeface="Calibri"/>
              </a:rPr>
              <a:t>erzeugt Wide-Format-Zeitreihe mit 9 zentralen Kennzahlen</a:t>
            </a:r>
          </a:p>
        </p:txBody>
      </p:sp>
      <p:sp>
        <p:nvSpPr>
          <p:cNvPr id="29" name="TextBox 28"/>
          <p:cNvSpPr txBox="1"/>
          <p:nvPr/>
        </p:nvSpPr>
        <p:spPr>
          <a:xfrm>
            <a:off x="9488160" y="3005999"/>
            <a:ext cx="198000" cy="396000"/>
          </a:xfrm>
          <a:prstGeom prst="rect">
            <a:avLst/>
          </a:prstGeom>
          <a:noFill/>
        </p:spPr>
        <p:txBody>
          <a:bodyPr wrap="square" anchor="ctr">
            <a:spAutoFit/>
          </a:bodyPr>
          <a:lstStyle/>
          <a:p>
            <a:pPr algn="ctr"/>
            <a:r>
              <a:rPr sz="2200" b="1" i="0">
                <a:solidFill>
                  <a:srgbClr val="6B7280"/>
                </a:solidFill>
                <a:latin typeface="Calibri"/>
              </a:rPr>
              <a:t>→</a:t>
            </a:r>
          </a:p>
        </p:txBody>
      </p:sp>
      <p:sp>
        <p:nvSpPr>
          <p:cNvPr id="30" name="Rectangle 29"/>
          <p:cNvSpPr/>
          <p:nvPr/>
        </p:nvSpPr>
        <p:spPr>
          <a:xfrm>
            <a:off x="9812160" y="1655999"/>
            <a:ext cx="1877040" cy="30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812160" y="1655999"/>
            <a:ext cx="187704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20160" y="1818000"/>
            <a:ext cx="1661040" cy="288000"/>
          </a:xfrm>
          <a:prstGeom prst="rect">
            <a:avLst/>
          </a:prstGeom>
          <a:noFill/>
        </p:spPr>
        <p:txBody>
          <a:bodyPr wrap="square">
            <a:spAutoFit/>
          </a:bodyPr>
          <a:lstStyle/>
          <a:p>
            <a:r>
              <a:rPr sz="1600" b="1" i="0">
                <a:solidFill>
                  <a:srgbClr val="A0453F"/>
                </a:solidFill>
                <a:latin typeface="Calibri"/>
              </a:rPr>
              <a:t>05</a:t>
            </a:r>
          </a:p>
        </p:txBody>
      </p:sp>
      <p:sp>
        <p:nvSpPr>
          <p:cNvPr id="33" name="TextBox 32"/>
          <p:cNvSpPr txBox="1"/>
          <p:nvPr/>
        </p:nvSpPr>
        <p:spPr>
          <a:xfrm>
            <a:off x="9920160" y="2106000"/>
            <a:ext cx="1661040" cy="576000"/>
          </a:xfrm>
          <a:prstGeom prst="rect">
            <a:avLst/>
          </a:prstGeom>
          <a:noFill/>
        </p:spPr>
        <p:txBody>
          <a:bodyPr wrap="square">
            <a:spAutoFit/>
          </a:bodyPr>
          <a:lstStyle/>
          <a:p>
            <a:r>
              <a:rPr sz="1400" b="1" i="0">
                <a:solidFill>
                  <a:srgbClr val="374151"/>
                </a:solidFill>
                <a:latin typeface="Calibri"/>
              </a:rPr>
              <a:t>Export</a:t>
            </a:r>
          </a:p>
        </p:txBody>
      </p:sp>
      <p:sp>
        <p:nvSpPr>
          <p:cNvPr id="34" name="TextBox 33"/>
          <p:cNvSpPr txBox="1"/>
          <p:nvPr/>
        </p:nvSpPr>
        <p:spPr>
          <a:xfrm>
            <a:off x="9920160" y="2681999"/>
            <a:ext cx="1661040" cy="1961999"/>
          </a:xfrm>
          <a:prstGeom prst="rect">
            <a:avLst/>
          </a:prstGeom>
          <a:noFill/>
        </p:spPr>
        <p:txBody>
          <a:bodyPr wrap="square">
            <a:spAutoFit/>
          </a:bodyPr>
          <a:lstStyle/>
          <a:p>
            <a:r>
              <a:rPr sz="1150" b="0" i="0">
                <a:solidFill>
                  <a:srgbClr val="6B7280"/>
                </a:solidFill>
                <a:latin typeface="Calibri"/>
              </a:rPr>
              <a:t>eckwerte_long.csv &amp; kennzahlen_sgb2.csv — Basis für Analyse &amp; Dashboard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2.3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Datenüberblick nach der Bereinigung</a:t>
            </a:r>
          </a:p>
        </p:txBody>
      </p:sp>
      <p:sp>
        <p:nvSpPr>
          <p:cNvPr id="5" name="Rectangle 4"/>
          <p:cNvSpPr/>
          <p:nvPr/>
        </p:nvSpPr>
        <p:spPr>
          <a:xfrm>
            <a:off x="5039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3999" y="1692000"/>
            <a:ext cx="26343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11999" y="1980000"/>
            <a:ext cx="2418300" cy="728568"/>
          </a:xfrm>
          <a:prstGeom prst="rect">
            <a:avLst/>
          </a:prstGeom>
          <a:noFill/>
        </p:spPr>
        <p:txBody>
          <a:bodyPr wrap="square" anchor="t">
            <a:normAutofit/>
          </a:bodyPr>
          <a:lstStyle/>
          <a:p>
            <a:pPr algn="ctr"/>
            <a:r>
              <a:rPr lang="de-DE" sz="3000" b="1" i="0">
                <a:solidFill>
                  <a:srgbClr val="7C3AED"/>
                </a:solidFill>
                <a:latin typeface="Calibri"/>
              </a:rPr>
              <a:t>558 </a:t>
            </a:r>
            <a:r>
              <a:rPr sz="3000" b="1" i="0">
                <a:solidFill>
                  <a:srgbClr val="7C3AED"/>
                </a:solidFill>
                <a:latin typeface="Calibri"/>
              </a:rPr>
              <a:t>× </a:t>
            </a:r>
            <a:r>
              <a:rPr lang="de-DE" sz="3000" b="1" i="0">
                <a:solidFill>
                  <a:srgbClr val="7C3AED"/>
                </a:solidFill>
                <a:latin typeface="Calibri"/>
              </a:rPr>
              <a:t>8</a:t>
            </a:r>
            <a:endParaRPr sz="3000" b="1" i="0">
              <a:solidFill>
                <a:srgbClr val="7C3AED"/>
              </a:solidFill>
              <a:latin typeface="Calibri"/>
            </a:endParaRPr>
          </a:p>
        </p:txBody>
      </p:sp>
      <p:sp>
        <p:nvSpPr>
          <p:cNvPr id="8" name="TextBox 7"/>
          <p:cNvSpPr txBox="1"/>
          <p:nvPr/>
        </p:nvSpPr>
        <p:spPr>
          <a:xfrm>
            <a:off x="611999" y="2736000"/>
            <a:ext cx="2418300" cy="307777"/>
          </a:xfrm>
          <a:prstGeom prst="rect">
            <a:avLst/>
          </a:prstGeom>
          <a:noFill/>
        </p:spPr>
        <p:txBody>
          <a:bodyPr wrap="square" anchor="t">
            <a:spAutoFit/>
          </a:bodyPr>
          <a:lstStyle/>
          <a:p>
            <a:pPr algn="ctr"/>
            <a:r>
              <a:rPr lang="de-DE" sz="1400" b="0" i="0">
                <a:solidFill>
                  <a:srgbClr val="374151"/>
                </a:solidFill>
                <a:latin typeface="Calibri"/>
              </a:rPr>
              <a:t>Zeilen </a:t>
            </a:r>
            <a:r>
              <a:rPr sz="1400" b="0" i="0">
                <a:solidFill>
                  <a:srgbClr val="374151"/>
                </a:solidFill>
                <a:latin typeface="Calibri"/>
              </a:rPr>
              <a:t>× </a:t>
            </a:r>
            <a:r>
              <a:rPr lang="de-DE" sz="1400" b="0" i="0">
                <a:solidFill>
                  <a:srgbClr val="374151"/>
                </a:solidFill>
                <a:latin typeface="Calibri"/>
              </a:rPr>
              <a:t>Spalten</a:t>
            </a:r>
            <a:endParaRPr sz="1400" b="0" i="0">
              <a:solidFill>
                <a:srgbClr val="374151"/>
              </a:solidFill>
              <a:latin typeface="Calibri"/>
            </a:endParaRPr>
          </a:p>
        </p:txBody>
      </p:sp>
      <p:sp>
        <p:nvSpPr>
          <p:cNvPr id="9" name="Rectangle 8"/>
          <p:cNvSpPr/>
          <p:nvPr/>
        </p:nvSpPr>
        <p:spPr>
          <a:xfrm>
            <a:off x="33542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54299" y="1692000"/>
            <a:ext cx="26343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62299" y="1980000"/>
            <a:ext cx="2418300" cy="728568"/>
          </a:xfrm>
          <a:prstGeom prst="rect">
            <a:avLst/>
          </a:prstGeom>
          <a:noFill/>
        </p:spPr>
        <p:txBody>
          <a:bodyPr wrap="square" anchor="t">
            <a:normAutofit/>
          </a:bodyPr>
          <a:lstStyle/>
          <a:p>
            <a:pPr algn="ctr"/>
            <a:r>
              <a:rPr lang="de-DE" sz="3000" b="1" i="0">
                <a:solidFill>
                  <a:srgbClr val="2563EB"/>
                </a:solidFill>
                <a:latin typeface="Calibri"/>
              </a:rPr>
              <a:t>0</a:t>
            </a:r>
            <a:endParaRPr sz="3000" b="1" i="0">
              <a:solidFill>
                <a:srgbClr val="2563EB"/>
              </a:solidFill>
              <a:latin typeface="Calibri"/>
            </a:endParaRPr>
          </a:p>
        </p:txBody>
      </p:sp>
      <p:sp>
        <p:nvSpPr>
          <p:cNvPr id="12" name="TextBox 11"/>
          <p:cNvSpPr txBox="1"/>
          <p:nvPr/>
        </p:nvSpPr>
        <p:spPr>
          <a:xfrm>
            <a:off x="3462299" y="2736000"/>
            <a:ext cx="2418300" cy="307777"/>
          </a:xfrm>
          <a:prstGeom prst="rect">
            <a:avLst/>
          </a:prstGeom>
          <a:noFill/>
        </p:spPr>
        <p:txBody>
          <a:bodyPr wrap="square" anchor="t">
            <a:spAutoFit/>
          </a:bodyPr>
          <a:lstStyle/>
          <a:p>
            <a:pPr algn="ctr"/>
            <a:r>
              <a:rPr lang="de-DE" sz="1400" b="0" i="0">
                <a:solidFill>
                  <a:srgbClr val="374151"/>
                </a:solidFill>
                <a:latin typeface="Calibri"/>
              </a:rPr>
              <a:t>Duplikate</a:t>
            </a:r>
            <a:endParaRPr sz="1400" b="0" i="0">
              <a:solidFill>
                <a:srgbClr val="374151"/>
              </a:solidFill>
              <a:latin typeface="Calibri"/>
            </a:endParaRPr>
          </a:p>
        </p:txBody>
      </p:sp>
      <p:sp>
        <p:nvSpPr>
          <p:cNvPr id="13" name="Rectangle 12"/>
          <p:cNvSpPr/>
          <p:nvPr/>
        </p:nvSpPr>
        <p:spPr>
          <a:xfrm>
            <a:off x="62045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04599" y="1692000"/>
            <a:ext cx="26343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12599" y="1980000"/>
            <a:ext cx="2418300" cy="728568"/>
          </a:xfrm>
          <a:prstGeom prst="rect">
            <a:avLst/>
          </a:prstGeom>
          <a:noFill/>
        </p:spPr>
        <p:txBody>
          <a:bodyPr wrap="square" anchor="t">
            <a:normAutofit/>
          </a:bodyPr>
          <a:lstStyle/>
          <a:p>
            <a:pPr algn="ctr"/>
            <a:r>
              <a:rPr lang="de-DE" sz="3000" b="1" i="0">
                <a:solidFill>
                  <a:srgbClr val="F59E0B"/>
                </a:solidFill>
                <a:latin typeface="Calibri"/>
              </a:rPr>
              <a:t>108 / 558</a:t>
            </a:r>
            <a:endParaRPr sz="3000" b="1" i="0">
              <a:solidFill>
                <a:srgbClr val="F59E0B"/>
              </a:solidFill>
              <a:latin typeface="Calibri"/>
            </a:endParaRPr>
          </a:p>
        </p:txBody>
      </p:sp>
      <p:sp>
        <p:nvSpPr>
          <p:cNvPr id="16" name="TextBox 15"/>
          <p:cNvSpPr txBox="1"/>
          <p:nvPr/>
        </p:nvSpPr>
        <p:spPr>
          <a:xfrm>
            <a:off x="6312599" y="2736000"/>
            <a:ext cx="2418300" cy="523220"/>
          </a:xfrm>
          <a:prstGeom prst="rect">
            <a:avLst/>
          </a:prstGeom>
          <a:noFill/>
        </p:spPr>
        <p:txBody>
          <a:bodyPr wrap="square" anchor="t">
            <a:spAutoFit/>
          </a:bodyPr>
          <a:lstStyle/>
          <a:p>
            <a:pPr algn="ctr"/>
            <a:r>
              <a:rPr lang="de-DE" sz="1400" b="0" i="0">
                <a:solidFill>
                  <a:srgbClr val="374151"/>
                </a:solidFill>
                <a:latin typeface="Calibri"/>
              </a:rPr>
              <a:t>fehlende Werte
(erklärt)</a:t>
            </a:r>
            <a:endParaRPr sz="1400" b="0" i="0">
              <a:solidFill>
                <a:srgbClr val="374151"/>
              </a:solidFill>
              <a:latin typeface="Calibri"/>
            </a:endParaRPr>
          </a:p>
        </p:txBody>
      </p:sp>
      <p:sp>
        <p:nvSpPr>
          <p:cNvPr id="17" name="Rectangle 16"/>
          <p:cNvSpPr/>
          <p:nvPr/>
        </p:nvSpPr>
        <p:spPr>
          <a:xfrm>
            <a:off x="9054899" y="1692000"/>
            <a:ext cx="26343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54899" y="1692000"/>
            <a:ext cx="26343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62899" y="1980000"/>
            <a:ext cx="2418300" cy="728568"/>
          </a:xfrm>
          <a:prstGeom prst="rect">
            <a:avLst/>
          </a:prstGeom>
          <a:noFill/>
        </p:spPr>
        <p:txBody>
          <a:bodyPr wrap="square" anchor="t">
            <a:normAutofit/>
          </a:bodyPr>
          <a:lstStyle/>
          <a:p>
            <a:pPr algn="ctr"/>
            <a:r>
              <a:rPr lang="de-DE" sz="3000" b="1" i="0">
                <a:solidFill>
                  <a:srgbClr val="DC2626"/>
                </a:solidFill>
                <a:latin typeface="Calibri"/>
              </a:rPr>
              <a:t>9</a:t>
            </a:r>
            <a:endParaRPr sz="3000" b="1" i="0">
              <a:solidFill>
                <a:srgbClr val="DC2626"/>
              </a:solidFill>
              <a:latin typeface="Calibri"/>
            </a:endParaRPr>
          </a:p>
        </p:txBody>
      </p:sp>
      <p:sp>
        <p:nvSpPr>
          <p:cNvPr id="20" name="TextBox 19"/>
          <p:cNvSpPr txBox="1"/>
          <p:nvPr/>
        </p:nvSpPr>
        <p:spPr>
          <a:xfrm>
            <a:off x="9162899" y="2736000"/>
            <a:ext cx="2418300" cy="523220"/>
          </a:xfrm>
          <a:prstGeom prst="rect">
            <a:avLst/>
          </a:prstGeom>
          <a:noFill/>
        </p:spPr>
        <p:txBody>
          <a:bodyPr wrap="square" anchor="t">
            <a:spAutoFit/>
          </a:bodyPr>
          <a:lstStyle/>
          <a:p>
            <a:pPr algn="ctr"/>
            <a:r>
              <a:rPr lang="de-DE" sz="1400" b="0" i="0">
                <a:solidFill>
                  <a:srgbClr val="374151"/>
                </a:solidFill>
                <a:latin typeface="Calibri"/>
              </a:rPr>
              <a:t>aufbereitete
Kennzahlen</a:t>
            </a:r>
            <a:endParaRPr sz="1400" b="0" i="0">
              <a:solidFill>
                <a:srgbClr val="374151"/>
              </a:solidFill>
              <a:latin typeface="Calibri"/>
            </a:endParaRPr>
          </a:p>
        </p:txBody>
      </p:sp>
      <p:sp>
        <p:nvSpPr>
          <p:cNvPr id="21" name="TextBox 20"/>
          <p:cNvSpPr txBox="1"/>
          <p:nvPr/>
        </p:nvSpPr>
        <p:spPr>
          <a:xfrm>
            <a:off x="503999" y="1206000"/>
            <a:ext cx="11185200" cy="360000"/>
          </a:xfrm>
          <a:prstGeom prst="rect">
            <a:avLst/>
          </a:prstGeom>
          <a:noFill/>
        </p:spPr>
        <p:txBody>
          <a:bodyPr wrap="square">
            <a:spAutoFit/>
          </a:bodyPr>
          <a:lstStyle/>
          <a:p>
            <a:r>
              <a:rPr sz="1500" b="0" i="1">
                <a:solidFill>
                  <a:srgbClr val="6B7280"/>
                </a:solidFill>
                <a:latin typeface="Calibri"/>
              </a:rPr>
              <a:t>Nach dem Einlesen aller 18 Excel-Dateien ergibt sich folgender Datenüberblick:</a:t>
            </a:r>
          </a:p>
        </p:txBody>
      </p:sp>
      <p:sp>
        <p:nvSpPr>
          <p:cNvPr id="22" name="Rectangle 21"/>
          <p:cNvSpPr/>
          <p:nvPr/>
        </p:nvSpPr>
        <p:spPr>
          <a:xfrm>
            <a:off x="503999" y="3671999"/>
            <a:ext cx="11185200" cy="129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3999" y="3671999"/>
            <a:ext cx="90000" cy="129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999" y="3797999"/>
            <a:ext cx="10620000" cy="324000"/>
          </a:xfrm>
          <a:prstGeom prst="rect">
            <a:avLst/>
          </a:prstGeom>
          <a:noFill/>
        </p:spPr>
        <p:txBody>
          <a:bodyPr wrap="square">
            <a:spAutoFit/>
          </a:bodyPr>
          <a:lstStyle/>
          <a:p>
            <a:r>
              <a:rPr sz="1700" b="1" i="0">
                <a:solidFill>
                  <a:srgbClr val="6B5B8F"/>
                </a:solidFill>
                <a:latin typeface="Calibri"/>
              </a:rPr>
              <a:t>Warum fehlen Werte?</a:t>
            </a:r>
          </a:p>
        </p:txBody>
      </p:sp>
      <p:sp>
        <p:nvSpPr>
          <p:cNvPr id="25" name="TextBox 24"/>
          <p:cNvSpPr txBox="1"/>
          <p:nvPr/>
        </p:nvSpPr>
        <p:spPr>
          <a:xfrm>
            <a:off x="827999" y="4121999"/>
            <a:ext cx="10620000" cy="737999"/>
          </a:xfrm>
          <a:prstGeom prst="rect">
            <a:avLst/>
          </a:prstGeom>
          <a:noFill/>
        </p:spPr>
        <p:txBody>
          <a:bodyPr wrap="square">
            <a:spAutoFit/>
          </a:bodyPr>
          <a:lstStyle/>
          <a:p>
            <a:r>
              <a:rPr sz="1600" b="0" i="0">
                <a:solidFill>
                  <a:srgbClr val="374151"/>
                </a:solidFill>
                <a:latin typeface="Calibri"/>
              </a:rPr>
              <a:t>Die 108 fehlenden Werte betreffen fast ausschließlich die Kategorie „gemeldete Arbeitsstellen“ — diese wird von der Bundesagentur nicht nach Rechtskreis differenziert ausgewiesen und besitzt daher keinen eigenen SGB-II-Wert.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C79A56"/>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60568"/>
          </a:xfrm>
          <a:prstGeom prst="rect">
            <a:avLst/>
          </a:prstGeom>
          <a:noFill/>
        </p:spPr>
        <p:txBody>
          <a:bodyPr wrap="square" anchor="t">
            <a:normAutofit fontScale="55000" lnSpcReduction="20000"/>
          </a:bodyPr>
          <a:lstStyle/>
          <a:p>
            <a:pPr algn="l"/>
            <a:r>
              <a:rPr sz="2200" b="1" i="0">
                <a:solidFill>
                  <a:srgbClr val="BFDBFE"/>
                </a:solidFill>
                <a:latin typeface="Calibri"/>
              </a:rPr>
              <a:t>KAPITEL 3</a:t>
            </a:r>
          </a:p>
        </p:txBody>
      </p:sp>
      <p:sp>
        <p:nvSpPr>
          <p:cNvPr id="4" name="TextBox 3"/>
          <p:cNvSpPr txBox="1"/>
          <p:nvPr/>
        </p:nvSpPr>
        <p:spPr>
          <a:xfrm>
            <a:off x="720000" y="1602000"/>
            <a:ext cx="10753200" cy="792000"/>
          </a:xfrm>
          <a:prstGeom prst="rect">
            <a:avLst/>
          </a:prstGeom>
          <a:noFill/>
        </p:spPr>
        <p:txBody>
          <a:bodyPr wrap="square" anchor="t">
            <a:spAutoFit/>
          </a:bodyPr>
          <a:lstStyle/>
          <a:p>
            <a:pPr algn="l"/>
            <a:r>
              <a:rPr sz="4000" b="1" i="0">
                <a:solidFill>
                  <a:srgbClr val="FFFFFF"/>
                </a:solidFill>
                <a:latin typeface="Calibri"/>
              </a:rPr>
              <a:t>Datenanalyse
und Visualisierung</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Kennzahlen im Vergleich (Übersicht &amp; indexiert)</a:t>
            </a:r>
          </a:p>
          <a:p>
            <a:pPr>
              <a:spcAft>
                <a:spcPts val="1200"/>
              </a:spcAft>
            </a:pPr>
            <a:r>
              <a:rPr sz="1800">
                <a:solidFill>
                  <a:srgbClr val="E0E7FF"/>
                </a:solidFill>
                <a:latin typeface="Calibri"/>
              </a:rPr>
              <a:t>●  Arbeitslosen- und Unterbeschäftigungsquote</a:t>
            </a:r>
          </a:p>
          <a:p>
            <a:pPr>
              <a:spcAft>
                <a:spcPts val="1200"/>
              </a:spcAft>
            </a:pPr>
            <a:r>
              <a:rPr sz="1800">
                <a:solidFill>
                  <a:srgbClr val="E0E7FF"/>
                </a:solidFill>
                <a:latin typeface="Calibri"/>
              </a:rPr>
              <a:t>●  Langzeitarbeitslosigkeit</a:t>
            </a:r>
          </a:p>
          <a:p>
            <a:pPr>
              <a:spcAft>
                <a:spcPts val="1200"/>
              </a:spcAft>
            </a:pPr>
            <a:r>
              <a:rPr sz="1800">
                <a:solidFill>
                  <a:srgbClr val="E0E7FF"/>
                </a:solidFill>
                <a:latin typeface="Calibri"/>
              </a:rPr>
              <a:t>●  Altersstruktur, Geschlecht, Veränderungen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Übersicht: Kennzahlen im Vergleich</a:t>
            </a:r>
          </a:p>
        </p:txBody>
      </p:sp>
      <p:pic>
        <p:nvPicPr>
          <p:cNvPr id="5" name="Picture 4" descr="abb1_uebersicht.png"/>
          <p:cNvPicPr>
            <a:picLocks noChangeAspect="1"/>
          </p:cNvPicPr>
          <p:nvPr/>
        </p:nvPicPr>
        <p:blipFill>
          <a:blip r:embed="rId2"/>
          <a:stretch>
            <a:fillRect/>
          </a:stretch>
        </p:blipFill>
        <p:spPr>
          <a:xfrm>
            <a:off x="1236600" y="1152000"/>
            <a:ext cx="9720000" cy="4860000"/>
          </a:xfrm>
          <a:prstGeom prst="rect">
            <a:avLst/>
          </a:prstGeom>
        </p:spPr>
      </p:pic>
      <p:sp>
        <p:nvSpPr>
          <p:cNvPr id="6" name="TextBox 5"/>
          <p:cNvSpPr txBox="1"/>
          <p:nvPr/>
        </p:nvSpPr>
        <p:spPr>
          <a:xfrm>
            <a:off x="503999" y="6084000"/>
            <a:ext cx="11185201" cy="432000"/>
          </a:xfrm>
          <a:prstGeom prst="rect">
            <a:avLst/>
          </a:prstGeom>
          <a:noFill/>
        </p:spPr>
        <p:txBody>
          <a:bodyPr wrap="square" anchor="t">
            <a:spAutoFit/>
          </a:bodyPr>
          <a:lstStyle/>
          <a:p>
            <a:pPr algn="ctr"/>
            <a:r>
              <a:rPr sz="1300" b="0" i="1">
                <a:solidFill>
                  <a:srgbClr val="6B7280"/>
                </a:solidFill>
                <a:latin typeface="Calibri"/>
              </a:rPr>
              <a:t>Personen in BG (Fläche) sowie Bedarfsgemeinschaften, Arbeitslose und Langzeitarbeitslose (überlappende Balken), Januar 2025 – Juni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Arbeitslosen- vs. Unterbeschäftigungsquote</a:t>
            </a:r>
          </a:p>
        </p:txBody>
      </p:sp>
      <p:pic>
        <p:nvPicPr>
          <p:cNvPr id="5" name="Picture 4" descr="abb2_quote.png"/>
          <p:cNvPicPr>
            <a:picLocks noChangeAspect="1"/>
          </p:cNvPicPr>
          <p:nvPr/>
        </p:nvPicPr>
        <p:blipFill>
          <a:blip r:embed="rId2"/>
          <a:stretch>
            <a:fillRect/>
          </a:stretch>
        </p:blipFill>
        <p:spPr>
          <a:xfrm>
            <a:off x="720000" y="1152000"/>
            <a:ext cx="10753200" cy="4838940"/>
          </a:xfrm>
          <a:prstGeom prst="rect">
            <a:avLst/>
          </a:prstGeom>
        </p:spPr>
      </p:pic>
      <p:sp>
        <p:nvSpPr>
          <p:cNvPr id="6" name="TextBox 5"/>
          <p:cNvSpPr txBox="1"/>
          <p:nvPr/>
        </p:nvSpPr>
        <p:spPr>
          <a:xfrm>
            <a:off x="503999" y="6062940"/>
            <a:ext cx="11185201" cy="432000"/>
          </a:xfrm>
          <a:prstGeom prst="rect">
            <a:avLst/>
          </a:prstGeom>
          <a:noFill/>
        </p:spPr>
        <p:txBody>
          <a:bodyPr wrap="square" anchor="t">
            <a:spAutoFit/>
          </a:bodyPr>
          <a:lstStyle/>
          <a:p>
            <a:pPr algn="ctr"/>
            <a:r>
              <a:rPr sz="1300" b="0" i="1">
                <a:solidFill>
                  <a:srgbClr val="6B7280"/>
                </a:solidFill>
                <a:latin typeface="Calibri"/>
              </a:rPr>
              <a:t>Beide Quoten bewegen sich in einer engen, stabilen Bandbreite (1,2–1,9 %).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3.3</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Langzeitarbeitslosigkeit</a:t>
            </a:r>
          </a:p>
        </p:txBody>
      </p:sp>
      <p:pic>
        <p:nvPicPr>
          <p:cNvPr id="5" name="Picture 4" descr="abb3_lza_anteil.png"/>
          <p:cNvPicPr>
            <a:picLocks noChangeAspect="1"/>
          </p:cNvPicPr>
          <p:nvPr/>
        </p:nvPicPr>
        <p:blipFill>
          <a:blip r:embed="rId2"/>
          <a:stretch>
            <a:fillRect/>
          </a:stretch>
        </p:blipFill>
        <p:spPr>
          <a:xfrm>
            <a:off x="720000" y="1152000"/>
            <a:ext cx="10753200" cy="4516344"/>
          </a:xfrm>
          <a:prstGeom prst="rect">
            <a:avLst/>
          </a:prstGeom>
        </p:spPr>
      </p:pic>
      <p:sp>
        <p:nvSpPr>
          <p:cNvPr id="6" name="TextBox 5"/>
          <p:cNvSpPr txBox="1"/>
          <p:nvPr/>
        </p:nvSpPr>
        <p:spPr>
          <a:xfrm>
            <a:off x="503999" y="5740344"/>
            <a:ext cx="11185201" cy="432000"/>
          </a:xfrm>
          <a:prstGeom prst="rect">
            <a:avLst/>
          </a:prstGeom>
          <a:noFill/>
        </p:spPr>
        <p:txBody>
          <a:bodyPr wrap="square" anchor="t">
            <a:spAutoFit/>
          </a:bodyPr>
          <a:lstStyle/>
          <a:p>
            <a:pPr algn="ctr"/>
            <a:r>
              <a:rPr sz="1300" b="0" i="1">
                <a:solidFill>
                  <a:srgbClr val="6B7280"/>
                </a:solidFill>
                <a:latin typeface="Calibri"/>
              </a:rPr>
              <a:t>Deutlichster Trend im Datensatz: Anteil an allen Arbeitslosen von 34,1 % auf 47,3 % gestiegen.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3.4</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Kennzahlen im Vergleich (indexiert)</a:t>
            </a:r>
          </a:p>
        </p:txBody>
      </p:sp>
      <p:pic>
        <p:nvPicPr>
          <p:cNvPr id="5" name="Picture 4" descr="abb4_indexiert.png"/>
          <p:cNvPicPr>
            <a:picLocks noChangeAspect="1"/>
          </p:cNvPicPr>
          <p:nvPr/>
        </p:nvPicPr>
        <p:blipFill>
          <a:blip r:embed="rId2"/>
          <a:stretch>
            <a:fillRect/>
          </a:stretch>
        </p:blipFill>
        <p:spPr>
          <a:xfrm>
            <a:off x="720000" y="1152000"/>
            <a:ext cx="10753200" cy="4838940"/>
          </a:xfrm>
          <a:prstGeom prst="rect">
            <a:avLst/>
          </a:prstGeom>
        </p:spPr>
      </p:pic>
      <p:sp>
        <p:nvSpPr>
          <p:cNvPr id="6" name="TextBox 5"/>
          <p:cNvSpPr txBox="1"/>
          <p:nvPr/>
        </p:nvSpPr>
        <p:spPr>
          <a:xfrm>
            <a:off x="503999" y="6062940"/>
            <a:ext cx="11185201" cy="432000"/>
          </a:xfrm>
          <a:prstGeom prst="rect">
            <a:avLst/>
          </a:prstGeom>
          <a:noFill/>
        </p:spPr>
        <p:txBody>
          <a:bodyPr wrap="square" anchor="t">
            <a:spAutoFit/>
          </a:bodyPr>
          <a:lstStyle/>
          <a:p>
            <a:pPr algn="ctr"/>
            <a:r>
              <a:rPr sz="1300" b="0" i="1">
                <a:solidFill>
                  <a:srgbClr val="6B7280"/>
                </a:solidFill>
                <a:latin typeface="Calibri"/>
              </a:rPr>
              <a:t>Startmonat = 100 %: der Index der Langzeitarbeitslosen steigt sichtbar über die anderen Kennzahlen hinaus.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3.5</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Altersstruktur und Geschlecht</a:t>
            </a:r>
          </a:p>
        </p:txBody>
      </p:sp>
      <p:pic>
        <p:nvPicPr>
          <p:cNvPr id="5" name="Picture 4" descr="abb5_alter_geschlecht.png"/>
          <p:cNvPicPr>
            <a:picLocks noChangeAspect="1"/>
          </p:cNvPicPr>
          <p:nvPr/>
        </p:nvPicPr>
        <p:blipFill>
          <a:blip r:embed="rId2"/>
          <a:stretch>
            <a:fillRect/>
          </a:stretch>
        </p:blipFill>
        <p:spPr>
          <a:xfrm>
            <a:off x="720000" y="1152000"/>
            <a:ext cx="10753200" cy="4399036"/>
          </a:xfrm>
          <a:prstGeom prst="rect">
            <a:avLst/>
          </a:prstGeom>
        </p:spPr>
      </p:pic>
      <p:sp>
        <p:nvSpPr>
          <p:cNvPr id="6" name="TextBox 5"/>
          <p:cNvSpPr txBox="1"/>
          <p:nvPr/>
        </p:nvSpPr>
        <p:spPr>
          <a:xfrm>
            <a:off x="503999" y="5623036"/>
            <a:ext cx="11185201" cy="432000"/>
          </a:xfrm>
          <a:prstGeom prst="rect">
            <a:avLst/>
          </a:prstGeom>
          <a:noFill/>
        </p:spPr>
        <p:txBody>
          <a:bodyPr wrap="square" anchor="t">
            <a:spAutoFit/>
          </a:bodyPr>
          <a:lstStyle/>
          <a:p>
            <a:pPr algn="ctr"/>
            <a:r>
              <a:rPr sz="1300" b="0" i="1">
                <a:solidFill>
                  <a:srgbClr val="6B7280"/>
                </a:solidFill>
                <a:latin typeface="Calibri"/>
              </a:rPr>
              <a:t>Momentaufnahme für den letzten Berichtsmonat (Juni 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3.6</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Veränderung zum Vormonat und Vorjahresmonat (Juni 2026)</a:t>
            </a:r>
          </a:p>
        </p:txBody>
      </p:sp>
      <p:sp>
        <p:nvSpPr>
          <p:cNvPr id="5" name="Rectangle 4"/>
          <p:cNvSpPr/>
          <p:nvPr/>
        </p:nvSpPr>
        <p:spPr>
          <a:xfrm>
            <a:off x="503999"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96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458000"/>
            <a:ext cx="2383200" cy="576000"/>
          </a:xfrm>
          <a:prstGeom prst="rect">
            <a:avLst/>
          </a:prstGeom>
          <a:noFill/>
        </p:spPr>
        <p:txBody>
          <a:bodyPr wrap="square">
            <a:spAutoFit/>
          </a:bodyPr>
          <a:lstStyle/>
          <a:p>
            <a:r>
              <a:rPr sz="1500" b="1" i="0">
                <a:solidFill>
                  <a:srgbClr val="3B6EA8"/>
                </a:solidFill>
                <a:latin typeface="Calibri"/>
              </a:rPr>
              <a:t>Arbeitslose
(Bestand)</a:t>
            </a:r>
          </a:p>
        </p:txBody>
      </p:sp>
      <p:sp>
        <p:nvSpPr>
          <p:cNvPr id="8" name="TextBox 7"/>
          <p:cNvSpPr txBox="1"/>
          <p:nvPr/>
        </p:nvSpPr>
        <p:spPr>
          <a:xfrm>
            <a:off x="630000" y="2214000"/>
            <a:ext cx="2383200" cy="342000"/>
          </a:xfrm>
          <a:prstGeom prst="rect">
            <a:avLst/>
          </a:prstGeom>
          <a:noFill/>
        </p:spPr>
        <p:txBody>
          <a:bodyPr wrap="square">
            <a:spAutoFit/>
          </a:bodyPr>
          <a:lstStyle/>
          <a:p>
            <a:r>
              <a:rPr sz="950" b="1" i="0">
                <a:solidFill>
                  <a:srgbClr val="6B7280"/>
                </a:solidFill>
                <a:latin typeface="Calibri"/>
              </a:rPr>
              <a:t>ZUM VORMONAT (MAI 2026)</a:t>
            </a:r>
          </a:p>
        </p:txBody>
      </p:sp>
      <p:sp>
        <p:nvSpPr>
          <p:cNvPr id="9" name="TextBox 8"/>
          <p:cNvSpPr txBox="1"/>
          <p:nvPr/>
        </p:nvSpPr>
        <p:spPr>
          <a:xfrm>
            <a:off x="630000" y="2592000"/>
            <a:ext cx="2383200" cy="468000"/>
          </a:xfrm>
          <a:prstGeom prst="rect">
            <a:avLst/>
          </a:prstGeom>
          <a:noFill/>
        </p:spPr>
        <p:txBody>
          <a:bodyPr wrap="square">
            <a:spAutoFit/>
          </a:bodyPr>
          <a:lstStyle/>
          <a:p>
            <a:r>
              <a:rPr sz="1600" b="1" i="0">
                <a:solidFill>
                  <a:srgbClr val="3F7A72"/>
                </a:solidFill>
                <a:latin typeface="Calibri"/>
              </a:rPr>
              <a:t>↓ −52 (−3,4 %)</a:t>
            </a:r>
          </a:p>
        </p:txBody>
      </p:sp>
      <p:sp>
        <p:nvSpPr>
          <p:cNvPr id="10" name="Rectangle 9"/>
          <p:cNvSpPr/>
          <p:nvPr/>
        </p:nvSpPr>
        <p:spPr>
          <a:xfrm>
            <a:off x="6300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000" y="3221999"/>
            <a:ext cx="2383200" cy="342000"/>
          </a:xfrm>
          <a:prstGeom prst="rect">
            <a:avLst/>
          </a:prstGeom>
          <a:noFill/>
        </p:spPr>
        <p:txBody>
          <a:bodyPr wrap="square">
            <a:spAutoFit/>
          </a:bodyPr>
          <a:lstStyle/>
          <a:p>
            <a:r>
              <a:rPr sz="950" b="1" i="0">
                <a:solidFill>
                  <a:srgbClr val="6B7280"/>
                </a:solidFill>
                <a:latin typeface="Calibri"/>
              </a:rPr>
              <a:t>ZUM VORJAHRESMONAT (JUNI 2025)</a:t>
            </a:r>
          </a:p>
        </p:txBody>
      </p:sp>
      <p:sp>
        <p:nvSpPr>
          <p:cNvPr id="12" name="TextBox 11"/>
          <p:cNvSpPr txBox="1"/>
          <p:nvPr/>
        </p:nvSpPr>
        <p:spPr>
          <a:xfrm>
            <a:off x="630000" y="3600000"/>
            <a:ext cx="2383200" cy="468000"/>
          </a:xfrm>
          <a:prstGeom prst="rect">
            <a:avLst/>
          </a:prstGeom>
          <a:noFill/>
        </p:spPr>
        <p:txBody>
          <a:bodyPr wrap="square">
            <a:spAutoFit/>
          </a:bodyPr>
          <a:lstStyle/>
          <a:p>
            <a:r>
              <a:rPr sz="1600" b="1" i="0">
                <a:solidFill>
                  <a:srgbClr val="3F7A72"/>
                </a:solidFill>
                <a:latin typeface="Calibri"/>
              </a:rPr>
              <a:t>↓ −9 (−0,6 %)</a:t>
            </a:r>
          </a:p>
        </p:txBody>
      </p:sp>
      <p:sp>
        <p:nvSpPr>
          <p:cNvPr id="13" name="Rectangle 12"/>
          <p:cNvSpPr/>
          <p:nvPr/>
        </p:nvSpPr>
        <p:spPr>
          <a:xfrm>
            <a:off x="33552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55200" y="1296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81200" y="1458000"/>
            <a:ext cx="2383200" cy="576000"/>
          </a:xfrm>
          <a:prstGeom prst="rect">
            <a:avLst/>
          </a:prstGeom>
          <a:noFill/>
        </p:spPr>
        <p:txBody>
          <a:bodyPr wrap="square">
            <a:spAutoFit/>
          </a:bodyPr>
          <a:lstStyle/>
          <a:p>
            <a:r>
              <a:rPr sz="1500" b="1" i="0">
                <a:solidFill>
                  <a:srgbClr val="6B5B8F"/>
                </a:solidFill>
                <a:latin typeface="Calibri"/>
              </a:rPr>
              <a:t>Langzeit-
arbeitslose</a:t>
            </a:r>
          </a:p>
        </p:txBody>
      </p:sp>
      <p:sp>
        <p:nvSpPr>
          <p:cNvPr id="16" name="TextBox 15"/>
          <p:cNvSpPr txBox="1"/>
          <p:nvPr/>
        </p:nvSpPr>
        <p:spPr>
          <a:xfrm>
            <a:off x="3481200" y="2214000"/>
            <a:ext cx="2383200" cy="342000"/>
          </a:xfrm>
          <a:prstGeom prst="rect">
            <a:avLst/>
          </a:prstGeom>
          <a:noFill/>
        </p:spPr>
        <p:txBody>
          <a:bodyPr wrap="square">
            <a:spAutoFit/>
          </a:bodyPr>
          <a:lstStyle/>
          <a:p>
            <a:r>
              <a:rPr sz="950" b="1" i="0">
                <a:solidFill>
                  <a:srgbClr val="6B7280"/>
                </a:solidFill>
                <a:latin typeface="Calibri"/>
              </a:rPr>
              <a:t>ZUM VORMONAT (MAI 2026)</a:t>
            </a:r>
          </a:p>
        </p:txBody>
      </p:sp>
      <p:sp>
        <p:nvSpPr>
          <p:cNvPr id="17" name="TextBox 16"/>
          <p:cNvSpPr txBox="1"/>
          <p:nvPr/>
        </p:nvSpPr>
        <p:spPr>
          <a:xfrm>
            <a:off x="3481200" y="2592000"/>
            <a:ext cx="2383200" cy="468000"/>
          </a:xfrm>
          <a:prstGeom prst="rect">
            <a:avLst/>
          </a:prstGeom>
          <a:noFill/>
        </p:spPr>
        <p:txBody>
          <a:bodyPr wrap="square">
            <a:spAutoFit/>
          </a:bodyPr>
          <a:lstStyle/>
          <a:p>
            <a:r>
              <a:rPr sz="1600" b="1" i="0">
                <a:solidFill>
                  <a:srgbClr val="3F7A72"/>
                </a:solidFill>
                <a:latin typeface="Calibri"/>
              </a:rPr>
              <a:t>↓ −5 (−0,7 %)</a:t>
            </a:r>
          </a:p>
        </p:txBody>
      </p:sp>
      <p:sp>
        <p:nvSpPr>
          <p:cNvPr id="18" name="Rectangle 17"/>
          <p:cNvSpPr/>
          <p:nvPr/>
        </p:nvSpPr>
        <p:spPr>
          <a:xfrm>
            <a:off x="34812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1200" y="3221999"/>
            <a:ext cx="2383200" cy="342000"/>
          </a:xfrm>
          <a:prstGeom prst="rect">
            <a:avLst/>
          </a:prstGeom>
          <a:noFill/>
        </p:spPr>
        <p:txBody>
          <a:bodyPr wrap="square">
            <a:spAutoFit/>
          </a:bodyPr>
          <a:lstStyle/>
          <a:p>
            <a:r>
              <a:rPr sz="950" b="1" i="0">
                <a:solidFill>
                  <a:srgbClr val="6B7280"/>
                </a:solidFill>
                <a:latin typeface="Calibri"/>
              </a:rPr>
              <a:t>ZUM VORJAHRESMONAT (JUNI 2025)</a:t>
            </a:r>
          </a:p>
        </p:txBody>
      </p:sp>
      <p:sp>
        <p:nvSpPr>
          <p:cNvPr id="20" name="TextBox 19"/>
          <p:cNvSpPr txBox="1"/>
          <p:nvPr/>
        </p:nvSpPr>
        <p:spPr>
          <a:xfrm>
            <a:off x="3481200" y="3600000"/>
            <a:ext cx="2383200" cy="468000"/>
          </a:xfrm>
          <a:prstGeom prst="rect">
            <a:avLst/>
          </a:prstGeom>
          <a:noFill/>
        </p:spPr>
        <p:txBody>
          <a:bodyPr wrap="square">
            <a:spAutoFit/>
          </a:bodyPr>
          <a:lstStyle/>
          <a:p>
            <a:r>
              <a:rPr sz="1600" b="1" i="0">
                <a:solidFill>
                  <a:srgbClr val="A0453F"/>
                </a:solidFill>
                <a:latin typeface="Calibri"/>
              </a:rPr>
              <a:t>↑ +158 (+28,7 %)</a:t>
            </a:r>
          </a:p>
        </p:txBody>
      </p:sp>
      <p:sp>
        <p:nvSpPr>
          <p:cNvPr id="21" name="Rectangle 20"/>
          <p:cNvSpPr/>
          <p:nvPr/>
        </p:nvSpPr>
        <p:spPr>
          <a:xfrm>
            <a:off x="62028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2800" y="1296000"/>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8800" y="1458000"/>
            <a:ext cx="2383200" cy="576000"/>
          </a:xfrm>
          <a:prstGeom prst="rect">
            <a:avLst/>
          </a:prstGeom>
          <a:noFill/>
        </p:spPr>
        <p:txBody>
          <a:bodyPr wrap="square">
            <a:spAutoFit/>
          </a:bodyPr>
          <a:lstStyle/>
          <a:p>
            <a:r>
              <a:rPr sz="1500" b="1" i="0">
                <a:solidFill>
                  <a:srgbClr val="C79A56"/>
                </a:solidFill>
                <a:latin typeface="Calibri"/>
              </a:rPr>
              <a:t>Bedarfs-
gemeinschaften</a:t>
            </a:r>
          </a:p>
        </p:txBody>
      </p:sp>
      <p:sp>
        <p:nvSpPr>
          <p:cNvPr id="24" name="TextBox 23"/>
          <p:cNvSpPr txBox="1"/>
          <p:nvPr/>
        </p:nvSpPr>
        <p:spPr>
          <a:xfrm>
            <a:off x="6328800" y="2214000"/>
            <a:ext cx="2383200" cy="342000"/>
          </a:xfrm>
          <a:prstGeom prst="rect">
            <a:avLst/>
          </a:prstGeom>
          <a:noFill/>
        </p:spPr>
        <p:txBody>
          <a:bodyPr wrap="square">
            <a:spAutoFit/>
          </a:bodyPr>
          <a:lstStyle/>
          <a:p>
            <a:r>
              <a:rPr sz="950" b="1" i="0">
                <a:solidFill>
                  <a:srgbClr val="6B7280"/>
                </a:solidFill>
                <a:latin typeface="Calibri"/>
              </a:rPr>
              <a:t>ZUM VORMONAT (MAI 2026)</a:t>
            </a:r>
          </a:p>
        </p:txBody>
      </p:sp>
      <p:sp>
        <p:nvSpPr>
          <p:cNvPr id="25" name="TextBox 24"/>
          <p:cNvSpPr txBox="1"/>
          <p:nvPr/>
        </p:nvSpPr>
        <p:spPr>
          <a:xfrm>
            <a:off x="6328800" y="2592000"/>
            <a:ext cx="2383200" cy="468000"/>
          </a:xfrm>
          <a:prstGeom prst="rect">
            <a:avLst/>
          </a:prstGeom>
          <a:noFill/>
        </p:spPr>
        <p:txBody>
          <a:bodyPr wrap="square">
            <a:spAutoFit/>
          </a:bodyPr>
          <a:lstStyle/>
          <a:p>
            <a:r>
              <a:rPr sz="1600" b="1" i="0">
                <a:solidFill>
                  <a:srgbClr val="3F7A72"/>
                </a:solidFill>
                <a:latin typeface="Calibri"/>
              </a:rPr>
              <a:t>↓ −41 (−1,5 %)</a:t>
            </a:r>
          </a:p>
        </p:txBody>
      </p:sp>
      <p:sp>
        <p:nvSpPr>
          <p:cNvPr id="26" name="Rectangle 25"/>
          <p:cNvSpPr/>
          <p:nvPr/>
        </p:nvSpPr>
        <p:spPr>
          <a:xfrm>
            <a:off x="63288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8800" y="3221999"/>
            <a:ext cx="2383200" cy="342000"/>
          </a:xfrm>
          <a:prstGeom prst="rect">
            <a:avLst/>
          </a:prstGeom>
          <a:noFill/>
        </p:spPr>
        <p:txBody>
          <a:bodyPr wrap="square">
            <a:spAutoFit/>
          </a:bodyPr>
          <a:lstStyle/>
          <a:p>
            <a:r>
              <a:rPr sz="950" b="1" i="0">
                <a:solidFill>
                  <a:srgbClr val="6B7280"/>
                </a:solidFill>
                <a:latin typeface="Calibri"/>
              </a:rPr>
              <a:t>ZUM VORJAHRESMONAT (JUNI 2025)</a:t>
            </a:r>
          </a:p>
        </p:txBody>
      </p:sp>
      <p:sp>
        <p:nvSpPr>
          <p:cNvPr id="28" name="TextBox 27"/>
          <p:cNvSpPr txBox="1"/>
          <p:nvPr/>
        </p:nvSpPr>
        <p:spPr>
          <a:xfrm>
            <a:off x="6328800" y="3600000"/>
            <a:ext cx="2383200" cy="468000"/>
          </a:xfrm>
          <a:prstGeom prst="rect">
            <a:avLst/>
          </a:prstGeom>
          <a:noFill/>
        </p:spPr>
        <p:txBody>
          <a:bodyPr wrap="square">
            <a:spAutoFit/>
          </a:bodyPr>
          <a:lstStyle/>
          <a:p>
            <a:r>
              <a:rPr sz="1600" b="1" i="0">
                <a:solidFill>
                  <a:srgbClr val="3F7A72"/>
                </a:solidFill>
                <a:latin typeface="Calibri"/>
              </a:rPr>
              <a:t>↓ −23 (−0,9 %)</a:t>
            </a:r>
          </a:p>
        </p:txBody>
      </p:sp>
      <p:sp>
        <p:nvSpPr>
          <p:cNvPr id="29" name="Rectangle 28"/>
          <p:cNvSpPr/>
          <p:nvPr/>
        </p:nvSpPr>
        <p:spPr>
          <a:xfrm>
            <a:off x="9054000" y="1296000"/>
            <a:ext cx="2635200" cy="3564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054000" y="1296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80000" y="1458000"/>
            <a:ext cx="2383200" cy="576000"/>
          </a:xfrm>
          <a:prstGeom prst="rect">
            <a:avLst/>
          </a:prstGeom>
          <a:noFill/>
        </p:spPr>
        <p:txBody>
          <a:bodyPr wrap="square">
            <a:spAutoFit/>
          </a:bodyPr>
          <a:lstStyle/>
          <a:p>
            <a:r>
              <a:rPr sz="1500" b="1" i="0">
                <a:solidFill>
                  <a:srgbClr val="3F7A72"/>
                </a:solidFill>
                <a:latin typeface="Calibri"/>
              </a:rPr>
              <a:t>Personen
in BG</a:t>
            </a:r>
          </a:p>
        </p:txBody>
      </p:sp>
      <p:sp>
        <p:nvSpPr>
          <p:cNvPr id="32" name="TextBox 31"/>
          <p:cNvSpPr txBox="1"/>
          <p:nvPr/>
        </p:nvSpPr>
        <p:spPr>
          <a:xfrm>
            <a:off x="9180000" y="2214000"/>
            <a:ext cx="2383200" cy="342000"/>
          </a:xfrm>
          <a:prstGeom prst="rect">
            <a:avLst/>
          </a:prstGeom>
          <a:noFill/>
        </p:spPr>
        <p:txBody>
          <a:bodyPr wrap="square">
            <a:spAutoFit/>
          </a:bodyPr>
          <a:lstStyle/>
          <a:p>
            <a:r>
              <a:rPr sz="950" b="1" i="0">
                <a:solidFill>
                  <a:srgbClr val="6B7280"/>
                </a:solidFill>
                <a:latin typeface="Calibri"/>
              </a:rPr>
              <a:t>ZUM VORMONAT (MAI 2026)</a:t>
            </a:r>
          </a:p>
        </p:txBody>
      </p:sp>
      <p:sp>
        <p:nvSpPr>
          <p:cNvPr id="33" name="TextBox 32"/>
          <p:cNvSpPr txBox="1"/>
          <p:nvPr/>
        </p:nvSpPr>
        <p:spPr>
          <a:xfrm>
            <a:off x="9180000" y="2592000"/>
            <a:ext cx="2383200" cy="468000"/>
          </a:xfrm>
          <a:prstGeom prst="rect">
            <a:avLst/>
          </a:prstGeom>
          <a:noFill/>
        </p:spPr>
        <p:txBody>
          <a:bodyPr wrap="square">
            <a:spAutoFit/>
          </a:bodyPr>
          <a:lstStyle/>
          <a:p>
            <a:r>
              <a:rPr sz="1600" b="1" i="0">
                <a:solidFill>
                  <a:srgbClr val="3F7A72"/>
                </a:solidFill>
                <a:latin typeface="Calibri"/>
              </a:rPr>
              <a:t>↓ −65 (−1,2 %)</a:t>
            </a:r>
          </a:p>
        </p:txBody>
      </p:sp>
      <p:sp>
        <p:nvSpPr>
          <p:cNvPr id="34" name="Rectangle 33"/>
          <p:cNvSpPr/>
          <p:nvPr/>
        </p:nvSpPr>
        <p:spPr>
          <a:xfrm>
            <a:off x="9180000" y="3114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000" y="3221999"/>
            <a:ext cx="2383200" cy="342000"/>
          </a:xfrm>
          <a:prstGeom prst="rect">
            <a:avLst/>
          </a:prstGeom>
          <a:noFill/>
        </p:spPr>
        <p:txBody>
          <a:bodyPr wrap="square">
            <a:spAutoFit/>
          </a:bodyPr>
          <a:lstStyle/>
          <a:p>
            <a:r>
              <a:rPr sz="950" b="1" i="0">
                <a:solidFill>
                  <a:srgbClr val="6B7280"/>
                </a:solidFill>
                <a:latin typeface="Calibri"/>
              </a:rPr>
              <a:t>ZUM VORJAHRESMONAT (JUNI 2025)</a:t>
            </a:r>
          </a:p>
        </p:txBody>
      </p:sp>
      <p:sp>
        <p:nvSpPr>
          <p:cNvPr id="36" name="TextBox 35"/>
          <p:cNvSpPr txBox="1"/>
          <p:nvPr/>
        </p:nvSpPr>
        <p:spPr>
          <a:xfrm>
            <a:off x="9180000" y="3600000"/>
            <a:ext cx="2383200" cy="468000"/>
          </a:xfrm>
          <a:prstGeom prst="rect">
            <a:avLst/>
          </a:prstGeom>
          <a:noFill/>
        </p:spPr>
        <p:txBody>
          <a:bodyPr wrap="square">
            <a:spAutoFit/>
          </a:bodyPr>
          <a:lstStyle/>
          <a:p>
            <a:r>
              <a:rPr sz="1600" b="1" i="0">
                <a:solidFill>
                  <a:srgbClr val="3F7A72"/>
                </a:solidFill>
                <a:latin typeface="Calibri"/>
              </a:rPr>
              <a:t>↓ −126 (−2,4 %)</a:t>
            </a:r>
          </a:p>
        </p:txBody>
      </p:sp>
      <p:sp>
        <p:nvSpPr>
          <p:cNvPr id="37" name="TextBox 36"/>
          <p:cNvSpPr txBox="1"/>
          <p:nvPr/>
        </p:nvSpPr>
        <p:spPr>
          <a:xfrm>
            <a:off x="503999" y="5004000"/>
            <a:ext cx="11185200" cy="432000"/>
          </a:xfrm>
          <a:prstGeom prst="rect">
            <a:avLst/>
          </a:prstGeom>
          <a:noFill/>
        </p:spPr>
        <p:txBody>
          <a:bodyPr wrap="square">
            <a:spAutoFit/>
          </a:bodyPr>
          <a:lstStyle/>
          <a:p>
            <a:r>
              <a:rPr sz="1400" b="0" i="1">
                <a:solidFill>
                  <a:srgbClr val="6B7280"/>
                </a:solidFill>
                <a:latin typeface="Calibri"/>
              </a:rPr>
              <a:t>Auffällig: Die Langzeitarbeitslosigkeit ist die einzige Kennzahl mit einem deutlichen Anstieg zum Vorjahresmonat (+28,7 %) — alle anderen Kennzahlen sind gegenüber Vormonat und Vorjahr rückläufig.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3.7</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Zusammenfassung der Analyseergebnisse</a:t>
            </a:r>
          </a:p>
        </p:txBody>
      </p:sp>
      <p:sp>
        <p:nvSpPr>
          <p:cNvPr id="5" name="Rectangle 4"/>
          <p:cNvSpPr/>
          <p:nvPr/>
        </p:nvSpPr>
        <p:spPr>
          <a:xfrm>
            <a:off x="503999"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350000"/>
            <a:ext cx="2383200" cy="468000"/>
          </a:xfrm>
          <a:prstGeom prst="rect">
            <a:avLst/>
          </a:prstGeom>
          <a:noFill/>
        </p:spPr>
        <p:txBody>
          <a:bodyPr wrap="square">
            <a:spAutoFit/>
          </a:bodyPr>
          <a:lstStyle/>
          <a:p>
            <a:r>
              <a:rPr sz="1400" b="1" i="0">
                <a:solidFill>
                  <a:srgbClr val="3B6EA8"/>
                </a:solidFill>
                <a:latin typeface="Calibri"/>
              </a:rPr>
              <a:t>Arbeitslose (Bestand)</a:t>
            </a:r>
          </a:p>
        </p:txBody>
      </p:sp>
      <p:sp>
        <p:nvSpPr>
          <p:cNvPr id="8" name="TextBox 7"/>
          <p:cNvSpPr txBox="1"/>
          <p:nvPr/>
        </p:nvSpPr>
        <p:spPr>
          <a:xfrm>
            <a:off x="630000" y="1854000"/>
            <a:ext cx="2383200" cy="198000"/>
          </a:xfrm>
          <a:prstGeom prst="rect">
            <a:avLst/>
          </a:prstGeom>
          <a:noFill/>
        </p:spPr>
        <p:txBody>
          <a:bodyPr wrap="square">
            <a:spAutoFit/>
          </a:bodyPr>
          <a:lstStyle/>
          <a:p>
            <a:r>
              <a:rPr sz="850" b="1" i="0">
                <a:solidFill>
                  <a:srgbClr val="6B7280"/>
                </a:solidFill>
                <a:latin typeface="Calibri"/>
              </a:rPr>
              <a:t>ZEITRAUM: JAN 2025 – JUN 2026</a:t>
            </a:r>
          </a:p>
        </p:txBody>
      </p:sp>
      <p:sp>
        <p:nvSpPr>
          <p:cNvPr id="9" name="TextBox 8"/>
          <p:cNvSpPr txBox="1"/>
          <p:nvPr/>
        </p:nvSpPr>
        <p:spPr>
          <a:xfrm>
            <a:off x="630000" y="2088000"/>
            <a:ext cx="2383200" cy="558000"/>
          </a:xfrm>
          <a:prstGeom prst="rect">
            <a:avLst/>
          </a:prstGeom>
          <a:noFill/>
        </p:spPr>
        <p:txBody>
          <a:bodyPr wrap="square">
            <a:spAutoFit/>
          </a:bodyPr>
          <a:lstStyle/>
          <a:p>
            <a:r>
              <a:rPr sz="2200" b="1" i="0">
                <a:solidFill>
                  <a:srgbClr val="374151"/>
                </a:solidFill>
                <a:latin typeface="Calibri"/>
              </a:rPr>
              <a:t>1.470 → 1.500</a:t>
            </a:r>
          </a:p>
        </p:txBody>
      </p:sp>
      <p:sp>
        <p:nvSpPr>
          <p:cNvPr id="10" name="TextBox 9"/>
          <p:cNvSpPr txBox="1"/>
          <p:nvPr/>
        </p:nvSpPr>
        <p:spPr>
          <a:xfrm>
            <a:off x="630000" y="2681999"/>
            <a:ext cx="2383200" cy="756000"/>
          </a:xfrm>
          <a:prstGeom prst="rect">
            <a:avLst/>
          </a:prstGeom>
          <a:noFill/>
        </p:spPr>
        <p:txBody>
          <a:bodyPr wrap="square">
            <a:spAutoFit/>
          </a:bodyPr>
          <a:lstStyle/>
          <a:p>
            <a:r>
              <a:rPr sz="1250" b="0" i="0">
                <a:solidFill>
                  <a:srgbClr val="6B7280"/>
                </a:solidFill>
                <a:latin typeface="Calibri"/>
              </a:rPr>
              <a:t>leicht gestiegen · Spanne 1.382–1.587</a:t>
            </a:r>
          </a:p>
        </p:txBody>
      </p:sp>
      <p:sp>
        <p:nvSpPr>
          <p:cNvPr id="11" name="Rectangle 10"/>
          <p:cNvSpPr/>
          <p:nvPr/>
        </p:nvSpPr>
        <p:spPr>
          <a:xfrm>
            <a:off x="33552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1200" y="1350000"/>
            <a:ext cx="2383200" cy="468000"/>
          </a:xfrm>
          <a:prstGeom prst="rect">
            <a:avLst/>
          </a:prstGeom>
          <a:noFill/>
        </p:spPr>
        <p:txBody>
          <a:bodyPr wrap="square">
            <a:spAutoFit/>
          </a:bodyPr>
          <a:lstStyle/>
          <a:p>
            <a:r>
              <a:rPr sz="1400" b="1" i="0">
                <a:solidFill>
                  <a:srgbClr val="6B5B8F"/>
                </a:solidFill>
                <a:latin typeface="Calibri"/>
              </a:rPr>
              <a:t>Arbeitslosenquote</a:t>
            </a:r>
          </a:p>
        </p:txBody>
      </p:sp>
      <p:sp>
        <p:nvSpPr>
          <p:cNvPr id="14" name="TextBox 13"/>
          <p:cNvSpPr txBox="1"/>
          <p:nvPr/>
        </p:nvSpPr>
        <p:spPr>
          <a:xfrm>
            <a:off x="3481200" y="1854000"/>
            <a:ext cx="2383200" cy="198000"/>
          </a:xfrm>
          <a:prstGeom prst="rect">
            <a:avLst/>
          </a:prstGeom>
          <a:noFill/>
        </p:spPr>
        <p:txBody>
          <a:bodyPr wrap="square">
            <a:spAutoFit/>
          </a:bodyPr>
          <a:lstStyle/>
          <a:p>
            <a:r>
              <a:rPr sz="850" b="1" i="0">
                <a:solidFill>
                  <a:srgbClr val="6B7280"/>
                </a:solidFill>
                <a:latin typeface="Calibri"/>
              </a:rPr>
              <a:t>ZEITRAUM: JAN 2025 – JUN 2026</a:t>
            </a:r>
          </a:p>
        </p:txBody>
      </p:sp>
      <p:sp>
        <p:nvSpPr>
          <p:cNvPr id="15" name="TextBox 14"/>
          <p:cNvSpPr txBox="1"/>
          <p:nvPr/>
        </p:nvSpPr>
        <p:spPr>
          <a:xfrm>
            <a:off x="3481200" y="2088000"/>
            <a:ext cx="2383200" cy="558000"/>
          </a:xfrm>
          <a:prstGeom prst="rect">
            <a:avLst/>
          </a:prstGeom>
          <a:noFill/>
        </p:spPr>
        <p:txBody>
          <a:bodyPr wrap="square">
            <a:spAutoFit/>
          </a:bodyPr>
          <a:lstStyle/>
          <a:p>
            <a:r>
              <a:rPr sz="2200" b="1" i="0">
                <a:solidFill>
                  <a:srgbClr val="374151"/>
                </a:solidFill>
                <a:latin typeface="Calibri"/>
              </a:rPr>
              <a:t>1,2–1,4 %</a:t>
            </a:r>
          </a:p>
        </p:txBody>
      </p:sp>
      <p:sp>
        <p:nvSpPr>
          <p:cNvPr id="16" name="TextBox 15"/>
          <p:cNvSpPr txBox="1"/>
          <p:nvPr/>
        </p:nvSpPr>
        <p:spPr>
          <a:xfrm>
            <a:off x="3481200" y="2681999"/>
            <a:ext cx="2383200" cy="756000"/>
          </a:xfrm>
          <a:prstGeom prst="rect">
            <a:avLst/>
          </a:prstGeom>
          <a:noFill/>
        </p:spPr>
        <p:txBody>
          <a:bodyPr wrap="square">
            <a:spAutoFit/>
          </a:bodyPr>
          <a:lstStyle/>
          <a:p>
            <a:r>
              <a:rPr sz="1250" b="0" i="0">
                <a:solidFill>
                  <a:srgbClr val="6B7280"/>
                </a:solidFill>
                <a:latin typeface="Calibri"/>
              </a:rPr>
              <a:t>stabil über den gesamten Zeitraum</a:t>
            </a:r>
          </a:p>
        </p:txBody>
      </p:sp>
      <p:sp>
        <p:nvSpPr>
          <p:cNvPr id="17" name="Rectangle 16"/>
          <p:cNvSpPr/>
          <p:nvPr/>
        </p:nvSpPr>
        <p:spPr>
          <a:xfrm>
            <a:off x="62028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8800" y="1350000"/>
            <a:ext cx="2383200" cy="468000"/>
          </a:xfrm>
          <a:prstGeom prst="rect">
            <a:avLst/>
          </a:prstGeom>
          <a:noFill/>
        </p:spPr>
        <p:txBody>
          <a:bodyPr wrap="square">
            <a:spAutoFit/>
          </a:bodyPr>
          <a:lstStyle/>
          <a:p>
            <a:r>
              <a:rPr sz="1400" b="1" i="0">
                <a:solidFill>
                  <a:srgbClr val="A0453F"/>
                </a:solidFill>
                <a:latin typeface="Calibri"/>
              </a:rPr>
              <a:t>Langzeitarbeitslosigkeit</a:t>
            </a:r>
          </a:p>
        </p:txBody>
      </p:sp>
      <p:sp>
        <p:nvSpPr>
          <p:cNvPr id="20" name="TextBox 19"/>
          <p:cNvSpPr txBox="1"/>
          <p:nvPr/>
        </p:nvSpPr>
        <p:spPr>
          <a:xfrm>
            <a:off x="6328800" y="1854000"/>
            <a:ext cx="2383200" cy="198000"/>
          </a:xfrm>
          <a:prstGeom prst="rect">
            <a:avLst/>
          </a:prstGeom>
          <a:noFill/>
        </p:spPr>
        <p:txBody>
          <a:bodyPr wrap="square">
            <a:spAutoFit/>
          </a:bodyPr>
          <a:lstStyle/>
          <a:p>
            <a:r>
              <a:rPr sz="850" b="1" i="0">
                <a:solidFill>
                  <a:srgbClr val="6B7280"/>
                </a:solidFill>
                <a:latin typeface="Calibri"/>
              </a:rPr>
              <a:t>ZEITRAUM: JAN 2025 – JUN 2026</a:t>
            </a:r>
          </a:p>
        </p:txBody>
      </p:sp>
      <p:sp>
        <p:nvSpPr>
          <p:cNvPr id="21" name="TextBox 20"/>
          <p:cNvSpPr txBox="1"/>
          <p:nvPr/>
        </p:nvSpPr>
        <p:spPr>
          <a:xfrm>
            <a:off x="6328800" y="2088000"/>
            <a:ext cx="2383200" cy="558000"/>
          </a:xfrm>
          <a:prstGeom prst="rect">
            <a:avLst/>
          </a:prstGeom>
          <a:noFill/>
        </p:spPr>
        <p:txBody>
          <a:bodyPr wrap="square">
            <a:spAutoFit/>
          </a:bodyPr>
          <a:lstStyle/>
          <a:p>
            <a:r>
              <a:rPr sz="2200" b="1" i="0">
                <a:solidFill>
                  <a:srgbClr val="374151"/>
                </a:solidFill>
                <a:latin typeface="Calibri"/>
              </a:rPr>
              <a:t>502 → 709</a:t>
            </a:r>
          </a:p>
        </p:txBody>
      </p:sp>
      <p:sp>
        <p:nvSpPr>
          <p:cNvPr id="22" name="TextBox 21"/>
          <p:cNvSpPr txBox="1"/>
          <p:nvPr/>
        </p:nvSpPr>
        <p:spPr>
          <a:xfrm>
            <a:off x="6328800" y="2681999"/>
            <a:ext cx="2383200" cy="756000"/>
          </a:xfrm>
          <a:prstGeom prst="rect">
            <a:avLst/>
          </a:prstGeom>
          <a:noFill/>
        </p:spPr>
        <p:txBody>
          <a:bodyPr wrap="square">
            <a:spAutoFit/>
          </a:bodyPr>
          <a:lstStyle/>
          <a:p>
            <a:r>
              <a:rPr sz="1250" b="0" i="0">
                <a:solidFill>
                  <a:srgbClr val="6B7280"/>
                </a:solidFill>
                <a:latin typeface="Calibri"/>
              </a:rPr>
              <a:t>+ rund 41 % — deutlichster Trend</a:t>
            </a:r>
          </a:p>
        </p:txBody>
      </p:sp>
      <p:sp>
        <p:nvSpPr>
          <p:cNvPr id="23" name="Rectangle 22"/>
          <p:cNvSpPr/>
          <p:nvPr/>
        </p:nvSpPr>
        <p:spPr>
          <a:xfrm>
            <a:off x="9054000" y="1224000"/>
            <a:ext cx="2635200" cy="22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0000" y="1350000"/>
            <a:ext cx="2383200" cy="468000"/>
          </a:xfrm>
          <a:prstGeom prst="rect">
            <a:avLst/>
          </a:prstGeom>
          <a:noFill/>
        </p:spPr>
        <p:txBody>
          <a:bodyPr wrap="square">
            <a:spAutoFit/>
          </a:bodyPr>
          <a:lstStyle/>
          <a:p>
            <a:r>
              <a:rPr sz="1400" b="1" i="0">
                <a:solidFill>
                  <a:srgbClr val="3F7A72"/>
                </a:solidFill>
                <a:latin typeface="Calibri"/>
              </a:rPr>
              <a:t>Bedarfsgemeinschaften /
Personen in BG</a:t>
            </a:r>
          </a:p>
        </p:txBody>
      </p:sp>
      <p:sp>
        <p:nvSpPr>
          <p:cNvPr id="26" name="TextBox 25"/>
          <p:cNvSpPr txBox="1"/>
          <p:nvPr/>
        </p:nvSpPr>
        <p:spPr>
          <a:xfrm>
            <a:off x="9180000" y="1854000"/>
            <a:ext cx="2383200" cy="198000"/>
          </a:xfrm>
          <a:prstGeom prst="rect">
            <a:avLst/>
          </a:prstGeom>
          <a:noFill/>
        </p:spPr>
        <p:txBody>
          <a:bodyPr wrap="square">
            <a:spAutoFit/>
          </a:bodyPr>
          <a:lstStyle/>
          <a:p>
            <a:r>
              <a:rPr sz="850" b="1" i="0">
                <a:solidFill>
                  <a:srgbClr val="6B7280"/>
                </a:solidFill>
                <a:latin typeface="Calibri"/>
              </a:rPr>
              <a:t>ZEITRAUM: JAN 2025 – JUN 2026</a:t>
            </a:r>
          </a:p>
        </p:txBody>
      </p:sp>
      <p:sp>
        <p:nvSpPr>
          <p:cNvPr id="27" name="TextBox 26"/>
          <p:cNvSpPr txBox="1"/>
          <p:nvPr/>
        </p:nvSpPr>
        <p:spPr>
          <a:xfrm>
            <a:off x="9180000" y="2088000"/>
            <a:ext cx="2383200" cy="558000"/>
          </a:xfrm>
          <a:prstGeom prst="rect">
            <a:avLst/>
          </a:prstGeom>
          <a:noFill/>
        </p:spPr>
        <p:txBody>
          <a:bodyPr wrap="square">
            <a:spAutoFit/>
          </a:bodyPr>
          <a:lstStyle/>
          <a:p>
            <a:r>
              <a:rPr sz="2200" b="1" i="0">
                <a:solidFill>
                  <a:srgbClr val="374151"/>
                </a:solidFill>
                <a:latin typeface="Calibri"/>
              </a:rPr>
              <a:t>−4 % / −6 %</a:t>
            </a:r>
          </a:p>
        </p:txBody>
      </p:sp>
      <p:sp>
        <p:nvSpPr>
          <p:cNvPr id="28" name="TextBox 27"/>
          <p:cNvSpPr txBox="1"/>
          <p:nvPr/>
        </p:nvSpPr>
        <p:spPr>
          <a:xfrm>
            <a:off x="9180000" y="2681999"/>
            <a:ext cx="2383200" cy="756000"/>
          </a:xfrm>
          <a:prstGeom prst="rect">
            <a:avLst/>
          </a:prstGeom>
          <a:noFill/>
        </p:spPr>
        <p:txBody>
          <a:bodyPr wrap="square">
            <a:spAutoFit/>
          </a:bodyPr>
          <a:lstStyle/>
          <a:p>
            <a:r>
              <a:rPr sz="1250" b="0" i="0">
                <a:solidFill>
                  <a:srgbClr val="6B7280"/>
                </a:solidFill>
                <a:latin typeface="Calibri"/>
              </a:rPr>
              <a:t>beide Kennzahlen rückläufig</a:t>
            </a:r>
          </a:p>
        </p:txBody>
      </p:sp>
      <p:sp>
        <p:nvSpPr>
          <p:cNvPr id="29" name="Rectangle 28"/>
          <p:cNvSpPr/>
          <p:nvPr/>
        </p:nvSpPr>
        <p:spPr>
          <a:xfrm>
            <a:off x="503999" y="3690000"/>
            <a:ext cx="11185200" cy="1655999"/>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3999" y="3690000"/>
            <a:ext cx="90000" cy="1655999"/>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999" y="3834000"/>
            <a:ext cx="10620000" cy="324000"/>
          </a:xfrm>
          <a:prstGeom prst="rect">
            <a:avLst/>
          </a:prstGeom>
          <a:noFill/>
        </p:spPr>
        <p:txBody>
          <a:bodyPr wrap="square">
            <a:spAutoFit/>
          </a:bodyPr>
          <a:lstStyle/>
          <a:p>
            <a:r>
              <a:rPr sz="1800" b="1" i="0">
                <a:solidFill>
                  <a:srgbClr val="A0453F"/>
                </a:solidFill>
                <a:latin typeface="Calibri"/>
              </a:rPr>
              <a:t>Interpretation</a:t>
            </a:r>
          </a:p>
        </p:txBody>
      </p:sp>
      <p:sp>
        <p:nvSpPr>
          <p:cNvPr id="32" name="TextBox 31"/>
          <p:cNvSpPr txBox="1"/>
          <p:nvPr/>
        </p:nvSpPr>
        <p:spPr>
          <a:xfrm>
            <a:off x="827999" y="4176000"/>
            <a:ext cx="10620000" cy="1062000"/>
          </a:xfrm>
          <a:prstGeom prst="rect">
            <a:avLst/>
          </a:prstGeom>
          <a:noFill/>
        </p:spPr>
        <p:txBody>
          <a:bodyPr wrap="square">
            <a:spAutoFit/>
          </a:bodyPr>
          <a:lstStyle/>
          <a:p>
            <a:r>
              <a:rPr sz="1600" b="0" i="0">
                <a:solidFill>
                  <a:srgbClr val="374151"/>
                </a:solidFill>
                <a:latin typeface="Calibri"/>
              </a:rPr>
              <a:t>Die reine Arbeitslosenzahl ist stabil geblieben — aber die Langzeitarbeitslosigkeit verfestigt sich deutlich, trotz insgesamt sinkender Bedarfsgemeinschaften. Ein Befund, der ohne strukturierte Aufbereitung der Rohdaten kaum erkennbar gewesen wäre.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F7A72"/>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4</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Vertiefte statistische Analyse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Deskriptive Statistik im Detail (Median, Varianz, IQR, Variationskoeffizient)</a:t>
            </a:r>
          </a:p>
          <a:p>
            <a:pPr>
              <a:spcAft>
                <a:spcPts val="1400"/>
              </a:spcAft>
            </a:pPr>
            <a:r>
              <a:rPr sz="1800" b="0" i="0">
                <a:solidFill>
                  <a:srgbClr val="E0E7FF"/>
                </a:solidFill>
                <a:latin typeface="Calibri"/>
              </a:rPr>
              <a:t>●  Korrelationsanalyse und Verteilungen</a:t>
            </a:r>
          </a:p>
          <a:p>
            <a:pPr>
              <a:spcAft>
                <a:spcPts val="1400"/>
              </a:spcAft>
            </a:pPr>
            <a:r>
              <a:rPr sz="1800" b="0" i="0">
                <a:solidFill>
                  <a:srgbClr val="E0E7FF"/>
                </a:solidFill>
                <a:latin typeface="Calibri"/>
              </a:rPr>
              <a:t>●  Inferenzstatistik (Hypothesentest) und lineare Regression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Deskriptive Statistik im Detail</a:t>
            </a:r>
          </a:p>
        </p:txBody>
      </p:sp>
      <p:sp>
        <p:nvSpPr>
          <p:cNvPr id="5" name="TextBox 4"/>
          <p:cNvSpPr txBox="1"/>
          <p:nvPr/>
        </p:nvSpPr>
        <p:spPr>
          <a:xfrm>
            <a:off x="503999" y="1206000"/>
            <a:ext cx="11185200" cy="288000"/>
          </a:xfrm>
          <a:prstGeom prst="rect">
            <a:avLst/>
          </a:prstGeom>
          <a:noFill/>
        </p:spPr>
        <p:txBody>
          <a:bodyPr wrap="square">
            <a:spAutoFit/>
          </a:bodyPr>
          <a:lstStyle/>
          <a:p>
            <a:r>
              <a:rPr sz="1500" b="0" i="1">
                <a:solidFill>
                  <a:srgbClr val="6B7280"/>
                </a:solidFill>
                <a:latin typeface="Calibri"/>
              </a:rPr>
              <a:t>Streuung und zentrale Tendenz der vier Kernkennzahlen über den gesamten Zeitraum (Jan 2025 – Jun 2026):</a:t>
            </a:r>
          </a:p>
        </p:txBody>
      </p:sp>
      <p:sp>
        <p:nvSpPr>
          <p:cNvPr id="6" name="Rectangle 5"/>
          <p:cNvSpPr/>
          <p:nvPr/>
        </p:nvSpPr>
        <p:spPr>
          <a:xfrm>
            <a:off x="503999"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3999" y="1655999"/>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000" y="1781999"/>
            <a:ext cx="2383200" cy="432000"/>
          </a:xfrm>
          <a:prstGeom prst="rect">
            <a:avLst/>
          </a:prstGeom>
          <a:noFill/>
        </p:spPr>
        <p:txBody>
          <a:bodyPr wrap="square">
            <a:spAutoFit/>
          </a:bodyPr>
          <a:lstStyle/>
          <a:p>
            <a:r>
              <a:rPr sz="1400" b="1" i="0">
                <a:solidFill>
                  <a:srgbClr val="3B6EA8"/>
                </a:solidFill>
                <a:latin typeface="Calibri"/>
              </a:rPr>
              <a:t>Arbeitslose
(Bestand)</a:t>
            </a:r>
          </a:p>
        </p:txBody>
      </p:sp>
      <p:sp>
        <p:nvSpPr>
          <p:cNvPr id="9" name="TextBox 8"/>
          <p:cNvSpPr txBox="1"/>
          <p:nvPr/>
        </p:nvSpPr>
        <p:spPr>
          <a:xfrm>
            <a:off x="6300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10" name="TextBox 9"/>
          <p:cNvSpPr txBox="1"/>
          <p:nvPr/>
        </p:nvSpPr>
        <p:spPr>
          <a:xfrm>
            <a:off x="630000" y="2430000"/>
            <a:ext cx="2383200" cy="270000"/>
          </a:xfrm>
          <a:prstGeom prst="rect">
            <a:avLst/>
          </a:prstGeom>
          <a:noFill/>
        </p:spPr>
        <p:txBody>
          <a:bodyPr wrap="square">
            <a:spAutoFit/>
          </a:bodyPr>
          <a:lstStyle/>
          <a:p>
            <a:r>
              <a:rPr sz="1500" b="1" i="0">
                <a:solidFill>
                  <a:srgbClr val="374151"/>
                </a:solidFill>
                <a:latin typeface="Calibri"/>
              </a:rPr>
              <a:t>1.504,0</a:t>
            </a:r>
          </a:p>
        </p:txBody>
      </p:sp>
      <p:sp>
        <p:nvSpPr>
          <p:cNvPr id="11" name="TextBox 10"/>
          <p:cNvSpPr txBox="1"/>
          <p:nvPr/>
        </p:nvSpPr>
        <p:spPr>
          <a:xfrm>
            <a:off x="6300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12" name="TextBox 11"/>
          <p:cNvSpPr txBox="1"/>
          <p:nvPr/>
        </p:nvSpPr>
        <p:spPr>
          <a:xfrm>
            <a:off x="630000" y="2898000"/>
            <a:ext cx="2383200" cy="270000"/>
          </a:xfrm>
          <a:prstGeom prst="rect">
            <a:avLst/>
          </a:prstGeom>
          <a:noFill/>
        </p:spPr>
        <p:txBody>
          <a:bodyPr wrap="square">
            <a:spAutoFit/>
          </a:bodyPr>
          <a:lstStyle/>
          <a:p>
            <a:r>
              <a:rPr sz="1500" b="1" i="0">
                <a:solidFill>
                  <a:srgbClr val="374151"/>
                </a:solidFill>
                <a:latin typeface="Calibri"/>
              </a:rPr>
              <a:t>1.513,0</a:t>
            </a:r>
          </a:p>
        </p:txBody>
      </p:sp>
      <p:sp>
        <p:nvSpPr>
          <p:cNvPr id="13" name="Rectangle 12"/>
          <p:cNvSpPr/>
          <p:nvPr/>
        </p:nvSpPr>
        <p:spPr>
          <a:xfrm>
            <a:off x="6300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15" name="TextBox 14"/>
          <p:cNvSpPr txBox="1"/>
          <p:nvPr/>
        </p:nvSpPr>
        <p:spPr>
          <a:xfrm>
            <a:off x="630000" y="3491999"/>
            <a:ext cx="2383200" cy="468000"/>
          </a:xfrm>
          <a:prstGeom prst="rect">
            <a:avLst/>
          </a:prstGeom>
          <a:noFill/>
        </p:spPr>
        <p:txBody>
          <a:bodyPr wrap="square">
            <a:spAutoFit/>
          </a:bodyPr>
          <a:lstStyle/>
          <a:p>
            <a:r>
              <a:rPr sz="2200" b="1" i="0">
                <a:solidFill>
                  <a:srgbClr val="374151"/>
                </a:solidFill>
                <a:latin typeface="Calibri"/>
              </a:rPr>
              <a:t>3,9 %</a:t>
            </a:r>
          </a:p>
        </p:txBody>
      </p:sp>
      <p:sp>
        <p:nvSpPr>
          <p:cNvPr id="16" name="Rectangle 15"/>
          <p:cNvSpPr/>
          <p:nvPr/>
        </p:nvSpPr>
        <p:spPr>
          <a:xfrm>
            <a:off x="33552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55200" y="1655999"/>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81200" y="1781999"/>
            <a:ext cx="2383200" cy="432000"/>
          </a:xfrm>
          <a:prstGeom prst="rect">
            <a:avLst/>
          </a:prstGeom>
          <a:noFill/>
        </p:spPr>
        <p:txBody>
          <a:bodyPr wrap="square">
            <a:spAutoFit/>
          </a:bodyPr>
          <a:lstStyle/>
          <a:p>
            <a:r>
              <a:rPr sz="1400" b="1" i="0">
                <a:solidFill>
                  <a:srgbClr val="6B5B8F"/>
                </a:solidFill>
                <a:latin typeface="Calibri"/>
              </a:rPr>
              <a:t>Langzeit-
arbeitslose</a:t>
            </a:r>
          </a:p>
        </p:txBody>
      </p:sp>
      <p:sp>
        <p:nvSpPr>
          <p:cNvPr id="19" name="TextBox 18"/>
          <p:cNvSpPr txBox="1"/>
          <p:nvPr/>
        </p:nvSpPr>
        <p:spPr>
          <a:xfrm>
            <a:off x="34812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20" name="TextBox 19"/>
          <p:cNvSpPr txBox="1"/>
          <p:nvPr/>
        </p:nvSpPr>
        <p:spPr>
          <a:xfrm>
            <a:off x="3481200" y="2430000"/>
            <a:ext cx="2383200" cy="270000"/>
          </a:xfrm>
          <a:prstGeom prst="rect">
            <a:avLst/>
          </a:prstGeom>
          <a:noFill/>
        </p:spPr>
        <p:txBody>
          <a:bodyPr wrap="square">
            <a:spAutoFit/>
          </a:bodyPr>
          <a:lstStyle/>
          <a:p>
            <a:r>
              <a:rPr sz="1500" b="1" i="0">
                <a:solidFill>
                  <a:srgbClr val="374151"/>
                </a:solidFill>
                <a:latin typeface="Calibri"/>
              </a:rPr>
              <a:t>602,2</a:t>
            </a:r>
          </a:p>
        </p:txBody>
      </p:sp>
      <p:sp>
        <p:nvSpPr>
          <p:cNvPr id="21" name="TextBox 20"/>
          <p:cNvSpPr txBox="1"/>
          <p:nvPr/>
        </p:nvSpPr>
        <p:spPr>
          <a:xfrm>
            <a:off x="34812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22" name="TextBox 21"/>
          <p:cNvSpPr txBox="1"/>
          <p:nvPr/>
        </p:nvSpPr>
        <p:spPr>
          <a:xfrm>
            <a:off x="3481200" y="2898000"/>
            <a:ext cx="2383200" cy="270000"/>
          </a:xfrm>
          <a:prstGeom prst="rect">
            <a:avLst/>
          </a:prstGeom>
          <a:noFill/>
        </p:spPr>
        <p:txBody>
          <a:bodyPr wrap="square">
            <a:spAutoFit/>
          </a:bodyPr>
          <a:lstStyle/>
          <a:p>
            <a:r>
              <a:rPr sz="1500" b="1" i="0">
                <a:solidFill>
                  <a:srgbClr val="374151"/>
                </a:solidFill>
                <a:latin typeface="Calibri"/>
              </a:rPr>
              <a:t>599,0</a:t>
            </a:r>
          </a:p>
        </p:txBody>
      </p:sp>
      <p:sp>
        <p:nvSpPr>
          <p:cNvPr id="23" name="Rectangle 22"/>
          <p:cNvSpPr/>
          <p:nvPr/>
        </p:nvSpPr>
        <p:spPr>
          <a:xfrm>
            <a:off x="34812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812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25" name="TextBox 24"/>
          <p:cNvSpPr txBox="1"/>
          <p:nvPr/>
        </p:nvSpPr>
        <p:spPr>
          <a:xfrm>
            <a:off x="3481200" y="3491999"/>
            <a:ext cx="2383200" cy="468000"/>
          </a:xfrm>
          <a:prstGeom prst="rect">
            <a:avLst/>
          </a:prstGeom>
          <a:noFill/>
        </p:spPr>
        <p:txBody>
          <a:bodyPr wrap="square">
            <a:spAutoFit/>
          </a:bodyPr>
          <a:lstStyle/>
          <a:p>
            <a:r>
              <a:rPr sz="2200" b="1" i="0">
                <a:solidFill>
                  <a:srgbClr val="A0453F"/>
                </a:solidFill>
                <a:latin typeface="Calibri"/>
              </a:rPr>
              <a:t>11,8 %</a:t>
            </a:r>
          </a:p>
        </p:txBody>
      </p:sp>
      <p:sp>
        <p:nvSpPr>
          <p:cNvPr id="26" name="Rectangle 25"/>
          <p:cNvSpPr/>
          <p:nvPr/>
        </p:nvSpPr>
        <p:spPr>
          <a:xfrm>
            <a:off x="62028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02800" y="1655999"/>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8800" y="1781999"/>
            <a:ext cx="2383200" cy="432000"/>
          </a:xfrm>
          <a:prstGeom prst="rect">
            <a:avLst/>
          </a:prstGeom>
          <a:noFill/>
        </p:spPr>
        <p:txBody>
          <a:bodyPr wrap="square">
            <a:spAutoFit/>
          </a:bodyPr>
          <a:lstStyle/>
          <a:p>
            <a:r>
              <a:rPr sz="1400" b="1" i="0">
                <a:solidFill>
                  <a:srgbClr val="C79A56"/>
                </a:solidFill>
                <a:latin typeface="Calibri"/>
              </a:rPr>
              <a:t>Bedarfs-
gemeinschaften</a:t>
            </a:r>
          </a:p>
        </p:txBody>
      </p:sp>
      <p:sp>
        <p:nvSpPr>
          <p:cNvPr id="29" name="TextBox 28"/>
          <p:cNvSpPr txBox="1"/>
          <p:nvPr/>
        </p:nvSpPr>
        <p:spPr>
          <a:xfrm>
            <a:off x="63288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30" name="TextBox 29"/>
          <p:cNvSpPr txBox="1"/>
          <p:nvPr/>
        </p:nvSpPr>
        <p:spPr>
          <a:xfrm>
            <a:off x="6328800" y="2430000"/>
            <a:ext cx="2383200" cy="270000"/>
          </a:xfrm>
          <a:prstGeom prst="rect">
            <a:avLst/>
          </a:prstGeom>
          <a:noFill/>
        </p:spPr>
        <p:txBody>
          <a:bodyPr wrap="square">
            <a:spAutoFit/>
          </a:bodyPr>
          <a:lstStyle/>
          <a:p>
            <a:r>
              <a:rPr sz="1500" b="1" i="0">
                <a:solidFill>
                  <a:srgbClr val="374151"/>
                </a:solidFill>
                <a:latin typeface="Calibri"/>
              </a:rPr>
              <a:t>2.691,7</a:t>
            </a:r>
          </a:p>
        </p:txBody>
      </p:sp>
      <p:sp>
        <p:nvSpPr>
          <p:cNvPr id="31" name="TextBox 30"/>
          <p:cNvSpPr txBox="1"/>
          <p:nvPr/>
        </p:nvSpPr>
        <p:spPr>
          <a:xfrm>
            <a:off x="63288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32" name="TextBox 31"/>
          <p:cNvSpPr txBox="1"/>
          <p:nvPr/>
        </p:nvSpPr>
        <p:spPr>
          <a:xfrm>
            <a:off x="6328800" y="2898000"/>
            <a:ext cx="2383200" cy="270000"/>
          </a:xfrm>
          <a:prstGeom prst="rect">
            <a:avLst/>
          </a:prstGeom>
          <a:noFill/>
        </p:spPr>
        <p:txBody>
          <a:bodyPr wrap="square">
            <a:spAutoFit/>
          </a:bodyPr>
          <a:lstStyle/>
          <a:p>
            <a:r>
              <a:rPr sz="1500" b="1" i="0">
                <a:solidFill>
                  <a:srgbClr val="374151"/>
                </a:solidFill>
                <a:latin typeface="Calibri"/>
              </a:rPr>
              <a:t>2.692,1</a:t>
            </a:r>
          </a:p>
        </p:txBody>
      </p:sp>
      <p:sp>
        <p:nvSpPr>
          <p:cNvPr id="33" name="Rectangle 32"/>
          <p:cNvSpPr/>
          <p:nvPr/>
        </p:nvSpPr>
        <p:spPr>
          <a:xfrm>
            <a:off x="63288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288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35" name="TextBox 34"/>
          <p:cNvSpPr txBox="1"/>
          <p:nvPr/>
        </p:nvSpPr>
        <p:spPr>
          <a:xfrm>
            <a:off x="6328800" y="3491999"/>
            <a:ext cx="2383200" cy="468000"/>
          </a:xfrm>
          <a:prstGeom prst="rect">
            <a:avLst/>
          </a:prstGeom>
          <a:noFill/>
        </p:spPr>
        <p:txBody>
          <a:bodyPr wrap="square">
            <a:spAutoFit/>
          </a:bodyPr>
          <a:lstStyle/>
          <a:p>
            <a:r>
              <a:rPr sz="2200" b="1" i="0">
                <a:solidFill>
                  <a:srgbClr val="3F7A72"/>
                </a:solidFill>
                <a:latin typeface="Calibri"/>
              </a:rPr>
              <a:t>2,1 %</a:t>
            </a:r>
          </a:p>
        </p:txBody>
      </p:sp>
      <p:sp>
        <p:nvSpPr>
          <p:cNvPr id="36" name="Rectangle 35"/>
          <p:cNvSpPr/>
          <p:nvPr/>
        </p:nvSpPr>
        <p:spPr>
          <a:xfrm>
            <a:off x="9054000" y="1655999"/>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54000" y="1655999"/>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0000" y="1781999"/>
            <a:ext cx="2383200" cy="432000"/>
          </a:xfrm>
          <a:prstGeom prst="rect">
            <a:avLst/>
          </a:prstGeom>
          <a:noFill/>
        </p:spPr>
        <p:txBody>
          <a:bodyPr wrap="square">
            <a:spAutoFit/>
          </a:bodyPr>
          <a:lstStyle/>
          <a:p>
            <a:r>
              <a:rPr sz="1400" b="1" i="0">
                <a:solidFill>
                  <a:srgbClr val="3F7A72"/>
                </a:solidFill>
                <a:latin typeface="Calibri"/>
              </a:rPr>
              <a:t>Personen
in BG</a:t>
            </a:r>
          </a:p>
        </p:txBody>
      </p:sp>
      <p:sp>
        <p:nvSpPr>
          <p:cNvPr id="39" name="TextBox 38"/>
          <p:cNvSpPr txBox="1"/>
          <p:nvPr/>
        </p:nvSpPr>
        <p:spPr>
          <a:xfrm>
            <a:off x="9180000" y="2286000"/>
            <a:ext cx="2383200" cy="144000"/>
          </a:xfrm>
          <a:prstGeom prst="rect">
            <a:avLst/>
          </a:prstGeom>
          <a:noFill/>
        </p:spPr>
        <p:txBody>
          <a:bodyPr wrap="square">
            <a:spAutoFit/>
          </a:bodyPr>
          <a:lstStyle/>
          <a:p>
            <a:r>
              <a:rPr sz="900" b="1" i="0">
                <a:solidFill>
                  <a:srgbClr val="6B7280"/>
                </a:solidFill>
                <a:latin typeface="Calibri"/>
              </a:rPr>
              <a:t>Ø (MITTELWERT)</a:t>
            </a:r>
          </a:p>
        </p:txBody>
      </p:sp>
      <p:sp>
        <p:nvSpPr>
          <p:cNvPr id="40" name="TextBox 39"/>
          <p:cNvSpPr txBox="1"/>
          <p:nvPr/>
        </p:nvSpPr>
        <p:spPr>
          <a:xfrm>
            <a:off x="9180000" y="2430000"/>
            <a:ext cx="2383200" cy="270000"/>
          </a:xfrm>
          <a:prstGeom prst="rect">
            <a:avLst/>
          </a:prstGeom>
          <a:noFill/>
        </p:spPr>
        <p:txBody>
          <a:bodyPr wrap="square">
            <a:spAutoFit/>
          </a:bodyPr>
          <a:lstStyle/>
          <a:p>
            <a:r>
              <a:rPr sz="1500" b="1" i="0">
                <a:solidFill>
                  <a:srgbClr val="374151"/>
                </a:solidFill>
                <a:latin typeface="Calibri"/>
              </a:rPr>
              <a:t>5.247,4</a:t>
            </a:r>
          </a:p>
        </p:txBody>
      </p:sp>
      <p:sp>
        <p:nvSpPr>
          <p:cNvPr id="41" name="TextBox 40"/>
          <p:cNvSpPr txBox="1"/>
          <p:nvPr/>
        </p:nvSpPr>
        <p:spPr>
          <a:xfrm>
            <a:off x="9180000" y="2754000"/>
            <a:ext cx="2383200" cy="144000"/>
          </a:xfrm>
          <a:prstGeom prst="rect">
            <a:avLst/>
          </a:prstGeom>
          <a:noFill/>
        </p:spPr>
        <p:txBody>
          <a:bodyPr wrap="square">
            <a:spAutoFit/>
          </a:bodyPr>
          <a:lstStyle/>
          <a:p>
            <a:r>
              <a:rPr sz="900" b="1" i="0">
                <a:solidFill>
                  <a:srgbClr val="6B7280"/>
                </a:solidFill>
                <a:latin typeface="Calibri"/>
              </a:rPr>
              <a:t>MEDIAN</a:t>
            </a:r>
          </a:p>
        </p:txBody>
      </p:sp>
      <p:sp>
        <p:nvSpPr>
          <p:cNvPr id="42" name="TextBox 41"/>
          <p:cNvSpPr txBox="1"/>
          <p:nvPr/>
        </p:nvSpPr>
        <p:spPr>
          <a:xfrm>
            <a:off x="9180000" y="2898000"/>
            <a:ext cx="2383200" cy="270000"/>
          </a:xfrm>
          <a:prstGeom prst="rect">
            <a:avLst/>
          </a:prstGeom>
          <a:noFill/>
        </p:spPr>
        <p:txBody>
          <a:bodyPr wrap="square">
            <a:spAutoFit/>
          </a:bodyPr>
          <a:lstStyle/>
          <a:p>
            <a:r>
              <a:rPr sz="1500" b="1" i="0">
                <a:solidFill>
                  <a:srgbClr val="374151"/>
                </a:solidFill>
                <a:latin typeface="Calibri"/>
              </a:rPr>
              <a:t>5.216,6</a:t>
            </a:r>
          </a:p>
        </p:txBody>
      </p:sp>
      <p:sp>
        <p:nvSpPr>
          <p:cNvPr id="43" name="Rectangle 42"/>
          <p:cNvSpPr/>
          <p:nvPr/>
        </p:nvSpPr>
        <p:spPr>
          <a:xfrm>
            <a:off x="9180000" y="3240000"/>
            <a:ext cx="2383200" cy="1080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80000" y="3348000"/>
            <a:ext cx="2383200" cy="144000"/>
          </a:xfrm>
          <a:prstGeom prst="rect">
            <a:avLst/>
          </a:prstGeom>
          <a:noFill/>
        </p:spPr>
        <p:txBody>
          <a:bodyPr wrap="square">
            <a:spAutoFit/>
          </a:bodyPr>
          <a:lstStyle/>
          <a:p>
            <a:r>
              <a:rPr sz="900" b="1" i="0">
                <a:solidFill>
                  <a:srgbClr val="6B7280"/>
                </a:solidFill>
                <a:latin typeface="Calibri"/>
              </a:rPr>
              <a:t>VARIATIONSKOEFFIZIENT</a:t>
            </a:r>
          </a:p>
        </p:txBody>
      </p:sp>
      <p:sp>
        <p:nvSpPr>
          <p:cNvPr id="45" name="TextBox 44"/>
          <p:cNvSpPr txBox="1"/>
          <p:nvPr/>
        </p:nvSpPr>
        <p:spPr>
          <a:xfrm>
            <a:off x="9180000" y="3491999"/>
            <a:ext cx="2383200" cy="468000"/>
          </a:xfrm>
          <a:prstGeom prst="rect">
            <a:avLst/>
          </a:prstGeom>
          <a:noFill/>
        </p:spPr>
        <p:txBody>
          <a:bodyPr wrap="square">
            <a:spAutoFit/>
          </a:bodyPr>
          <a:lstStyle/>
          <a:p>
            <a:r>
              <a:rPr sz="2200" b="1" i="0">
                <a:solidFill>
                  <a:srgbClr val="3F7A72"/>
                </a:solidFill>
                <a:latin typeface="Calibri"/>
              </a:rPr>
              <a:t>2,4 %</a:t>
            </a:r>
          </a:p>
        </p:txBody>
      </p:sp>
      <p:sp>
        <p:nvSpPr>
          <p:cNvPr id="46" name="Rectangle 45"/>
          <p:cNvSpPr/>
          <p:nvPr/>
        </p:nvSpPr>
        <p:spPr>
          <a:xfrm>
            <a:off x="503999" y="4410000"/>
            <a:ext cx="11185200" cy="136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3999" y="4410000"/>
            <a:ext cx="90000" cy="136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999" y="4554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49" name="TextBox 48"/>
          <p:cNvSpPr txBox="1"/>
          <p:nvPr/>
        </p:nvSpPr>
        <p:spPr>
          <a:xfrm>
            <a:off x="827999" y="4896000"/>
            <a:ext cx="10620000" cy="774000"/>
          </a:xfrm>
          <a:prstGeom prst="rect">
            <a:avLst/>
          </a:prstGeom>
          <a:noFill/>
        </p:spPr>
        <p:txBody>
          <a:bodyPr wrap="square">
            <a:spAutoFit/>
          </a:bodyPr>
          <a:lstStyle/>
          <a:p>
            <a:r>
              <a:rPr sz="1600" b="0" i="0">
                <a:solidFill>
                  <a:srgbClr val="374151"/>
                </a:solidFill>
                <a:latin typeface="Calibri"/>
              </a:rPr>
              <a:t>Langzeitarbeitslose zeigen mit CV ≈ 11,8 % die mit Abstand stärkste relative Veränderung — Bedarfsgemeinschaften (2,1 %) und Personen in BG (2,4 %) sind am stabilsten.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Korrelationsanalyse: Korrelationsmatrix</a:t>
            </a:r>
          </a:p>
        </p:txBody>
      </p:sp>
      <p:pic>
        <p:nvPicPr>
          <p:cNvPr id="5" name="Picture 4" descr="abb6_korrelation.png"/>
          <p:cNvPicPr>
            <a:picLocks noChangeAspect="1"/>
          </p:cNvPicPr>
          <p:nvPr/>
        </p:nvPicPr>
        <p:blipFill>
          <a:blip r:embed="rId2"/>
          <a:stretch>
            <a:fillRect/>
          </a:stretch>
        </p:blipFill>
        <p:spPr>
          <a:xfrm>
            <a:off x="2937794" y="1152000"/>
            <a:ext cx="6318000" cy="4860000"/>
          </a:xfrm>
          <a:prstGeom prst="rect">
            <a:avLst/>
          </a:prstGeom>
        </p:spPr>
      </p:pic>
      <p:sp>
        <p:nvSpPr>
          <p:cNvPr id="6" name="TextBox 5"/>
          <p:cNvSpPr txBox="1"/>
          <p:nvPr/>
        </p:nvSpPr>
        <p:spPr>
          <a:xfrm>
            <a:off x="503999" y="6120000"/>
            <a:ext cx="11185200" cy="432000"/>
          </a:xfrm>
          <a:prstGeom prst="rect">
            <a:avLst/>
          </a:prstGeom>
          <a:noFill/>
        </p:spPr>
        <p:txBody>
          <a:bodyPr wrap="square">
            <a:spAutoFit/>
          </a:bodyPr>
          <a:lstStyle/>
          <a:p>
            <a:pPr algn="ctr"/>
            <a:r>
              <a:rPr sz="1300" b="0" i="1">
                <a:solidFill>
                  <a:srgbClr val="6B7280"/>
                </a:solidFill>
                <a:latin typeface="Calibri"/>
              </a:rPr>
              <a:t>Bedarfsgemeinschaften und Personen in BG korrelieren mit r ≈ 0,95 sehr stark positiv.</a:t>
            </a:r>
          </a:p>
        </p:txBody>
      </p:sp>
      <p:sp>
        <p:nvSpPr>
          <p:cNvPr id="7" name="Rectangle 6"/>
          <p:cNvSpPr/>
          <p:nvPr/>
        </p:nvSpPr>
        <p:spPr>
          <a:xfrm>
            <a:off x="503999" y="1152000"/>
            <a:ext cx="2289600" cy="48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3999" y="1152000"/>
            <a:ext cx="2289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000" y="1314000"/>
            <a:ext cx="2037600" cy="576000"/>
          </a:xfrm>
          <a:prstGeom prst="rect">
            <a:avLst/>
          </a:prstGeom>
          <a:noFill/>
        </p:spPr>
        <p:txBody>
          <a:bodyPr wrap="square">
            <a:spAutoFit/>
          </a:bodyPr>
          <a:lstStyle/>
          <a:p>
            <a:r>
              <a:rPr sz="1500" b="1" i="0">
                <a:solidFill>
                  <a:srgbClr val="3B6EA8"/>
                </a:solidFill>
                <a:latin typeface="Calibri"/>
              </a:rPr>
              <a:t>Was zeigt die Matrix?</a:t>
            </a:r>
          </a:p>
        </p:txBody>
      </p:sp>
      <p:sp>
        <p:nvSpPr>
          <p:cNvPr id="10" name="TextBox 9"/>
          <p:cNvSpPr txBox="1"/>
          <p:nvPr/>
        </p:nvSpPr>
        <p:spPr>
          <a:xfrm>
            <a:off x="630000" y="1925999"/>
            <a:ext cx="2037600" cy="3960000"/>
          </a:xfrm>
          <a:prstGeom prst="rect">
            <a:avLst/>
          </a:prstGeom>
          <a:noFill/>
        </p:spPr>
        <p:txBody>
          <a:bodyPr wrap="square">
            <a:spAutoFit/>
          </a:bodyPr>
          <a:lstStyle/>
          <a:p>
            <a:r>
              <a:rPr sz="1250" b="0" i="0">
                <a:solidFill>
                  <a:srgbClr val="374151"/>
                </a:solidFill>
                <a:latin typeface="Calibri"/>
              </a:rPr>
              <a:t>Paarweise Pearson-Korrelation der vier Kernkennzahlen (Arbeitslose, Langzeitarbeitslose, Bedarfsgemeinschaften, Personen in BG). Werte von −1 bis +1 — je intensiver die Farbe, desto stärker der lineare Zusammenhang zwischen zwei Kennzahlen.</a:t>
            </a:r>
          </a:p>
        </p:txBody>
      </p:sp>
      <p:sp>
        <p:nvSpPr>
          <p:cNvPr id="11" name="Rectangle 10"/>
          <p:cNvSpPr/>
          <p:nvPr/>
        </p:nvSpPr>
        <p:spPr>
          <a:xfrm>
            <a:off x="9399600" y="1152000"/>
            <a:ext cx="2289600" cy="48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99600" y="1152000"/>
            <a:ext cx="2289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600" y="1314000"/>
            <a:ext cx="2037600" cy="576000"/>
          </a:xfrm>
          <a:prstGeom prst="rect">
            <a:avLst/>
          </a:prstGeom>
          <a:noFill/>
        </p:spPr>
        <p:txBody>
          <a:bodyPr wrap="square">
            <a:spAutoFit/>
          </a:bodyPr>
          <a:lstStyle/>
          <a:p>
            <a:r>
              <a:rPr sz="1500" b="1" i="0">
                <a:solidFill>
                  <a:srgbClr val="6B5B8F"/>
                </a:solidFill>
                <a:latin typeface="Calibri"/>
              </a:rPr>
              <a:t>Wofür wird sie gebraucht?</a:t>
            </a:r>
          </a:p>
        </p:txBody>
      </p:sp>
      <p:sp>
        <p:nvSpPr>
          <p:cNvPr id="14" name="TextBox 13"/>
          <p:cNvSpPr txBox="1"/>
          <p:nvPr/>
        </p:nvSpPr>
        <p:spPr>
          <a:xfrm>
            <a:off x="9525600" y="1925999"/>
            <a:ext cx="2037600" cy="3960000"/>
          </a:xfrm>
          <a:prstGeom prst="rect">
            <a:avLst/>
          </a:prstGeom>
          <a:noFill/>
        </p:spPr>
        <p:txBody>
          <a:bodyPr wrap="square">
            <a:spAutoFit/>
          </a:bodyPr>
          <a:lstStyle/>
          <a:p>
            <a:r>
              <a:rPr sz="1250" b="0" i="0">
                <a:solidFill>
                  <a:srgbClr val="374151"/>
                </a:solidFill>
                <a:latin typeface="Calibri"/>
              </a:rPr>
              <a:t>Zeigt auf einen Blick, welche Kennzahlen sich gemeinsam bewegen. Auffällige Werte — hier r ≈ 0,95 zwischen Bedarfsgemeinschaften und Personen in BG — liefern die Ausgangsbasis für vertiefende Streudiagramme wie auf der nächsten Folie.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Langzeitarbeitslose vs. Bedarfsgemeinschaften</a:t>
            </a:r>
          </a:p>
        </p:txBody>
      </p:sp>
      <p:pic>
        <p:nvPicPr>
          <p:cNvPr id="5" name="Picture 4" descr="abb7_streudiagramm.png"/>
          <p:cNvPicPr>
            <a:picLocks noChangeAspect="1"/>
          </p:cNvPicPr>
          <p:nvPr/>
        </p:nvPicPr>
        <p:blipFill>
          <a:blip r:embed="rId2"/>
          <a:stretch>
            <a:fillRect/>
          </a:stretch>
        </p:blipFill>
        <p:spPr>
          <a:xfrm>
            <a:off x="2496600" y="1080000"/>
            <a:ext cx="7200000" cy="3600000"/>
          </a:xfrm>
          <a:prstGeom prst="rect">
            <a:avLst/>
          </a:prstGeom>
        </p:spPr>
      </p:pic>
      <p:sp>
        <p:nvSpPr>
          <p:cNvPr id="6" name="Rectangle 5"/>
          <p:cNvSpPr/>
          <p:nvPr/>
        </p:nvSpPr>
        <p:spPr>
          <a:xfrm>
            <a:off x="503999" y="4806000"/>
            <a:ext cx="5484600" cy="187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3999" y="4806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999" y="4950000"/>
            <a:ext cx="5196600" cy="324000"/>
          </a:xfrm>
          <a:prstGeom prst="rect">
            <a:avLst/>
          </a:prstGeom>
          <a:noFill/>
        </p:spPr>
        <p:txBody>
          <a:bodyPr wrap="square">
            <a:spAutoFit/>
          </a:bodyPr>
          <a:lstStyle/>
          <a:p>
            <a:r>
              <a:rPr sz="1600" b="1" i="0">
                <a:solidFill>
                  <a:srgbClr val="3B6EA8"/>
                </a:solidFill>
                <a:latin typeface="Calibri"/>
              </a:rPr>
              <a:t>Was zeigen die Zahlen?</a:t>
            </a:r>
          </a:p>
        </p:txBody>
      </p:sp>
      <p:sp>
        <p:nvSpPr>
          <p:cNvPr id="9" name="TextBox 8"/>
          <p:cNvSpPr txBox="1"/>
          <p:nvPr/>
        </p:nvSpPr>
        <p:spPr>
          <a:xfrm>
            <a:off x="647999" y="5292000"/>
            <a:ext cx="5196600" cy="1278000"/>
          </a:xfrm>
          <a:prstGeom prst="rect">
            <a:avLst/>
          </a:prstGeom>
          <a:noFill/>
        </p:spPr>
        <p:txBody>
          <a:bodyPr wrap="square">
            <a:spAutoFit/>
          </a:bodyPr>
          <a:lstStyle/>
          <a:p>
            <a:r>
              <a:rPr sz="1350" b="0" i="0">
                <a:solidFill>
                  <a:srgbClr val="374151"/>
                </a:solidFill>
                <a:latin typeface="Calibri"/>
              </a:rPr>
              <a:t>r = −0,49, p = 0,04 — Langzeitarbeitslose und Bedarfsgemeinschaften hängen jetzt signifikant negativ zusammen. Mit den ursprünglichen 15 Monaten war das noch nicht nachweisbar (r = −0,08, p = 0,78) — ein Beispiel dafür, wie empfindlich Korrelationstests bei kleinen Stichproben auf neue Datenpunkte reagieren.</a:t>
            </a:r>
          </a:p>
        </p:txBody>
      </p:sp>
      <p:sp>
        <p:nvSpPr>
          <p:cNvPr id="10" name="Rectangle 9"/>
          <p:cNvSpPr/>
          <p:nvPr/>
        </p:nvSpPr>
        <p:spPr>
          <a:xfrm>
            <a:off x="6204600" y="4806000"/>
            <a:ext cx="5484600" cy="187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600" y="4806000"/>
            <a:ext cx="5484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8599" y="4950000"/>
            <a:ext cx="5196600" cy="324000"/>
          </a:xfrm>
          <a:prstGeom prst="rect">
            <a:avLst/>
          </a:prstGeom>
          <a:noFill/>
        </p:spPr>
        <p:txBody>
          <a:bodyPr wrap="square">
            <a:spAutoFit/>
          </a:bodyPr>
          <a:lstStyle/>
          <a:p>
            <a:r>
              <a:rPr sz="1600" b="1" i="0">
                <a:solidFill>
                  <a:srgbClr val="6B5B8F"/>
                </a:solidFill>
                <a:latin typeface="Calibri"/>
              </a:rPr>
              <a:t>Warum ein Streudiagramm?</a:t>
            </a:r>
          </a:p>
        </p:txBody>
      </p:sp>
      <p:sp>
        <p:nvSpPr>
          <p:cNvPr id="13" name="TextBox 12"/>
          <p:cNvSpPr txBox="1"/>
          <p:nvPr/>
        </p:nvSpPr>
        <p:spPr>
          <a:xfrm>
            <a:off x="6348599" y="5292000"/>
            <a:ext cx="5196600" cy="1278000"/>
          </a:xfrm>
          <a:prstGeom prst="rect">
            <a:avLst/>
          </a:prstGeom>
          <a:noFill/>
        </p:spPr>
        <p:txBody>
          <a:bodyPr wrap="square">
            <a:spAutoFit/>
          </a:bodyPr>
          <a:lstStyle/>
          <a:p>
            <a:r>
              <a:rPr sz="1350" b="0" i="0">
                <a:solidFill>
                  <a:srgbClr val="374151"/>
                </a:solidFill>
                <a:latin typeface="Calibri"/>
              </a:rPr>
              <a:t>Ein Scatterplot macht den Zusammenhang zwischen zwei Kennzahlen direkt sichtbar; die eingezeichnete OLS-Trendlinie zeigt Richtung und Stärke des linearen Zusammenhangs auf einen Blick — ideal, um einen in der Korrelationsmatrix (Folie 20) entdeckten Wert inhaltlich zu prüfen.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Verteilungen: Arbeitslose (Bestand)</a:t>
            </a:r>
          </a:p>
        </p:txBody>
      </p:sp>
      <p:pic>
        <p:nvPicPr>
          <p:cNvPr id="5" name="Picture 4" descr="abb_verteilung_boxstrip.png"/>
          <p:cNvPicPr>
            <a:picLocks noChangeAspect="1"/>
          </p:cNvPicPr>
          <p:nvPr/>
        </p:nvPicPr>
        <p:blipFill>
          <a:blip r:embed="rId3"/>
          <a:stretch>
            <a:fillRect/>
          </a:stretch>
        </p:blipFill>
        <p:spPr>
          <a:xfrm>
            <a:off x="1894885" y="1080000"/>
            <a:ext cx="8403429" cy="3096000"/>
          </a:xfrm>
          <a:prstGeom prst="rect">
            <a:avLst/>
          </a:prstGeom>
        </p:spPr>
      </p:pic>
      <p:sp>
        <p:nvSpPr>
          <p:cNvPr id="6" name="Rectangle 5"/>
          <p:cNvSpPr/>
          <p:nvPr/>
        </p:nvSpPr>
        <p:spPr>
          <a:xfrm>
            <a:off x="503999" y="437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3999" y="4374000"/>
            <a:ext cx="54846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999" y="4518000"/>
            <a:ext cx="5196600" cy="324000"/>
          </a:xfrm>
          <a:prstGeom prst="rect">
            <a:avLst/>
          </a:prstGeom>
          <a:noFill/>
        </p:spPr>
        <p:txBody>
          <a:bodyPr wrap="square">
            <a:spAutoFit/>
          </a:bodyPr>
          <a:lstStyle/>
          <a:p>
            <a:r>
              <a:rPr sz="1600" b="1" i="0">
                <a:solidFill>
                  <a:srgbClr val="C79A56"/>
                </a:solidFill>
                <a:latin typeface="Calibri"/>
              </a:rPr>
              <a:t>Was zeigt die Grafik?</a:t>
            </a:r>
          </a:p>
        </p:txBody>
      </p:sp>
      <p:sp>
        <p:nvSpPr>
          <p:cNvPr id="9" name="TextBox 8"/>
          <p:cNvSpPr txBox="1"/>
          <p:nvPr/>
        </p:nvSpPr>
        <p:spPr>
          <a:xfrm>
            <a:off x="647999" y="4860000"/>
            <a:ext cx="5196600" cy="1745999"/>
          </a:xfrm>
          <a:prstGeom prst="rect">
            <a:avLst/>
          </a:prstGeom>
          <a:noFill/>
        </p:spPr>
        <p:txBody>
          <a:bodyPr wrap="square">
            <a:spAutoFit/>
          </a:bodyPr>
          <a:lstStyle/>
          <a:p>
            <a:r>
              <a:rPr sz="1300" b="0" i="0">
                <a:solidFill>
                  <a:srgbClr val="374151"/>
                </a:solidFill>
                <a:latin typeface="Calibri"/>
              </a:rPr>
              <a:t>Jeder der 18 Punkte entspricht genau einem Berichtsmonat. Die Box zeigt Median (durchgezogene Linie) und Mittelwert (gestrichelt) sowie den Bereich der mittleren 50 % der Werte — keine auffälligen Ausreißer, leicht linksschiefe Verteilung (Median knapp über dem Mittelwert).</a:t>
            </a:r>
          </a:p>
        </p:txBody>
      </p:sp>
      <p:sp>
        <p:nvSpPr>
          <p:cNvPr id="10" name="Rectangle 9"/>
          <p:cNvSpPr/>
          <p:nvPr/>
        </p:nvSpPr>
        <p:spPr>
          <a:xfrm>
            <a:off x="6204600" y="437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600" y="4374000"/>
            <a:ext cx="54846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8599" y="4518000"/>
            <a:ext cx="5196600" cy="324000"/>
          </a:xfrm>
          <a:prstGeom prst="rect">
            <a:avLst/>
          </a:prstGeom>
          <a:noFill/>
        </p:spPr>
        <p:txBody>
          <a:bodyPr wrap="square">
            <a:spAutoFit/>
          </a:bodyPr>
          <a:lstStyle/>
          <a:p>
            <a:r>
              <a:rPr sz="1600" b="1" i="0">
                <a:solidFill>
                  <a:srgbClr val="3F7A72"/>
                </a:solidFill>
                <a:latin typeface="Calibri"/>
              </a:rPr>
              <a:t>Warum diese Darstellung?</a:t>
            </a:r>
          </a:p>
        </p:txBody>
      </p:sp>
      <p:sp>
        <p:nvSpPr>
          <p:cNvPr id="13" name="TextBox 12"/>
          <p:cNvSpPr txBox="1"/>
          <p:nvPr/>
        </p:nvSpPr>
        <p:spPr>
          <a:xfrm>
            <a:off x="6348599" y="4860000"/>
            <a:ext cx="5196600" cy="1745999"/>
          </a:xfrm>
          <a:prstGeom prst="rect">
            <a:avLst/>
          </a:prstGeom>
          <a:noFill/>
        </p:spPr>
        <p:txBody>
          <a:bodyPr wrap="square">
            <a:spAutoFit/>
          </a:bodyPr>
          <a:lstStyle/>
          <a:p>
            <a:r>
              <a:rPr sz="1300" b="0" i="0">
                <a:solidFill>
                  <a:srgbClr val="374151"/>
                </a:solidFill>
                <a:latin typeface="Calibri"/>
              </a:rPr>
              <a:t>Bei nur 18 Datenpunkten kann ein Histogramm mit Balken-Bins leicht missverständlich wirken (Balkenhöhe zeigt nur den häufigsten Bereich, nicht die Gesamtzahl der Monate). Ein Boxplot mit allen Einzelpunkten zeigt jeden Wert direkt und vermeidet diese Verwirrung.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Inferenzstatistik: Hypothesentest</a:t>
            </a:r>
          </a:p>
        </p:txBody>
      </p:sp>
      <p:sp>
        <p:nvSpPr>
          <p:cNvPr id="5" name="Rectangle 4"/>
          <p:cNvSpPr/>
          <p:nvPr/>
        </p:nvSpPr>
        <p:spPr>
          <a:xfrm>
            <a:off x="503999" y="1224000"/>
            <a:ext cx="11185200" cy="7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1118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4000" y="1368000"/>
            <a:ext cx="10836000" cy="251999"/>
          </a:xfrm>
          <a:prstGeom prst="rect">
            <a:avLst/>
          </a:prstGeom>
          <a:noFill/>
        </p:spPr>
        <p:txBody>
          <a:bodyPr wrap="square">
            <a:spAutoFit/>
          </a:bodyPr>
          <a:lstStyle/>
          <a:p>
            <a:r>
              <a:rPr sz="1600" b="1" i="0">
                <a:solidFill>
                  <a:srgbClr val="6B5B8F"/>
                </a:solidFill>
                <a:latin typeface="Calibri"/>
              </a:rPr>
              <a:t>Fragestellung</a:t>
            </a:r>
          </a:p>
        </p:txBody>
      </p:sp>
      <p:sp>
        <p:nvSpPr>
          <p:cNvPr id="8" name="TextBox 7"/>
          <p:cNvSpPr txBox="1"/>
          <p:nvPr/>
        </p:nvSpPr>
        <p:spPr>
          <a:xfrm>
            <a:off x="684000" y="1602000"/>
            <a:ext cx="10836000" cy="360000"/>
          </a:xfrm>
          <a:prstGeom prst="rect">
            <a:avLst/>
          </a:prstGeom>
          <a:noFill/>
        </p:spPr>
        <p:txBody>
          <a:bodyPr wrap="square">
            <a:spAutoFit/>
          </a:bodyPr>
          <a:lstStyle/>
          <a:p>
            <a:r>
              <a:rPr sz="1500" b="0" i="0">
                <a:solidFill>
                  <a:srgbClr val="374151"/>
                </a:solidFill>
                <a:latin typeface="Calibri"/>
              </a:rPr>
              <a:t>Unterscheidet sich die Langzeitarbeitslosigkeit zwischen erster und zweiter Hälfte des Beobachtungszeitraums signifikant?</a:t>
            </a:r>
          </a:p>
        </p:txBody>
      </p:sp>
      <p:sp>
        <p:nvSpPr>
          <p:cNvPr id="9" name="Rectangle 8"/>
          <p:cNvSpPr/>
          <p:nvPr/>
        </p:nvSpPr>
        <p:spPr>
          <a:xfrm>
            <a:off x="503999" y="2160000"/>
            <a:ext cx="5484600" cy="21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3999" y="2160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999" y="2304000"/>
            <a:ext cx="5196600" cy="288000"/>
          </a:xfrm>
          <a:prstGeom prst="rect">
            <a:avLst/>
          </a:prstGeom>
          <a:noFill/>
        </p:spPr>
        <p:txBody>
          <a:bodyPr wrap="square">
            <a:spAutoFit/>
          </a:bodyPr>
          <a:lstStyle/>
          <a:p>
            <a:r>
              <a:rPr sz="1500" b="1" i="0">
                <a:solidFill>
                  <a:srgbClr val="3B6EA8"/>
                </a:solidFill>
                <a:latin typeface="Calibri"/>
              </a:rPr>
              <a:t>1. HÄLFTE</a:t>
            </a:r>
          </a:p>
        </p:txBody>
      </p:sp>
      <p:sp>
        <p:nvSpPr>
          <p:cNvPr id="12" name="TextBox 11"/>
          <p:cNvSpPr txBox="1"/>
          <p:nvPr/>
        </p:nvSpPr>
        <p:spPr>
          <a:xfrm>
            <a:off x="647999" y="2628000"/>
            <a:ext cx="5196600" cy="198000"/>
          </a:xfrm>
          <a:prstGeom prst="rect">
            <a:avLst/>
          </a:prstGeom>
          <a:noFill/>
        </p:spPr>
        <p:txBody>
          <a:bodyPr wrap="square">
            <a:spAutoFit/>
          </a:bodyPr>
          <a:lstStyle/>
          <a:p>
            <a:r>
              <a:rPr sz="1200" b="1" i="0">
                <a:solidFill>
                  <a:srgbClr val="6B7280"/>
                </a:solidFill>
                <a:latin typeface="Calibri"/>
              </a:rPr>
              <a:t>n = 9</a:t>
            </a:r>
          </a:p>
        </p:txBody>
      </p:sp>
      <p:sp>
        <p:nvSpPr>
          <p:cNvPr id="13" name="TextBox 12"/>
          <p:cNvSpPr txBox="1"/>
          <p:nvPr/>
        </p:nvSpPr>
        <p:spPr>
          <a:xfrm>
            <a:off x="647999" y="2880000"/>
            <a:ext cx="5196600" cy="684000"/>
          </a:xfrm>
          <a:prstGeom prst="rect">
            <a:avLst/>
          </a:prstGeom>
          <a:noFill/>
        </p:spPr>
        <p:txBody>
          <a:bodyPr wrap="square">
            <a:spAutoFit/>
          </a:bodyPr>
          <a:lstStyle/>
          <a:p>
            <a:r>
              <a:rPr sz="3400" b="1" i="0">
                <a:solidFill>
                  <a:srgbClr val="374151"/>
                </a:solidFill>
                <a:latin typeface="Calibri"/>
              </a:rPr>
              <a:t>Ø 543,3</a:t>
            </a:r>
          </a:p>
        </p:txBody>
      </p:sp>
      <p:sp>
        <p:nvSpPr>
          <p:cNvPr id="14" name="TextBox 13"/>
          <p:cNvSpPr txBox="1"/>
          <p:nvPr/>
        </p:nvSpPr>
        <p:spPr>
          <a:xfrm>
            <a:off x="647999" y="3600000"/>
            <a:ext cx="5196600" cy="288000"/>
          </a:xfrm>
          <a:prstGeom prst="rect">
            <a:avLst/>
          </a:prstGeom>
          <a:noFill/>
        </p:spPr>
        <p:txBody>
          <a:bodyPr wrap="square">
            <a:spAutoFit/>
          </a:bodyPr>
          <a:lstStyle/>
          <a:p>
            <a:r>
              <a:rPr sz="1400" b="0" i="0">
                <a:solidFill>
                  <a:srgbClr val="6B7280"/>
                </a:solidFill>
                <a:latin typeface="Calibri"/>
              </a:rPr>
              <a:t>± 34,1 (Std.-Abw.)</a:t>
            </a:r>
          </a:p>
        </p:txBody>
      </p:sp>
      <p:sp>
        <p:nvSpPr>
          <p:cNvPr id="15" name="Rectangle 14"/>
          <p:cNvSpPr/>
          <p:nvPr/>
        </p:nvSpPr>
        <p:spPr>
          <a:xfrm>
            <a:off x="6204600" y="2160000"/>
            <a:ext cx="5484600" cy="216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4600" y="2160000"/>
            <a:ext cx="54846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8599" y="2304000"/>
            <a:ext cx="5196600" cy="288000"/>
          </a:xfrm>
          <a:prstGeom prst="rect">
            <a:avLst/>
          </a:prstGeom>
          <a:noFill/>
        </p:spPr>
        <p:txBody>
          <a:bodyPr wrap="square">
            <a:spAutoFit/>
          </a:bodyPr>
          <a:lstStyle/>
          <a:p>
            <a:r>
              <a:rPr sz="1500" b="1" i="0">
                <a:solidFill>
                  <a:srgbClr val="A0453F"/>
                </a:solidFill>
                <a:latin typeface="Calibri"/>
              </a:rPr>
              <a:t>2. HÄLFTE</a:t>
            </a:r>
          </a:p>
        </p:txBody>
      </p:sp>
      <p:sp>
        <p:nvSpPr>
          <p:cNvPr id="18" name="TextBox 17"/>
          <p:cNvSpPr txBox="1"/>
          <p:nvPr/>
        </p:nvSpPr>
        <p:spPr>
          <a:xfrm>
            <a:off x="6348599" y="2628000"/>
            <a:ext cx="5196600" cy="198000"/>
          </a:xfrm>
          <a:prstGeom prst="rect">
            <a:avLst/>
          </a:prstGeom>
          <a:noFill/>
        </p:spPr>
        <p:txBody>
          <a:bodyPr wrap="square">
            <a:spAutoFit/>
          </a:bodyPr>
          <a:lstStyle/>
          <a:p>
            <a:r>
              <a:rPr sz="1200" b="1" i="0">
                <a:solidFill>
                  <a:srgbClr val="6B7280"/>
                </a:solidFill>
                <a:latin typeface="Calibri"/>
              </a:rPr>
              <a:t>n = 9</a:t>
            </a:r>
          </a:p>
        </p:txBody>
      </p:sp>
      <p:sp>
        <p:nvSpPr>
          <p:cNvPr id="19" name="TextBox 18"/>
          <p:cNvSpPr txBox="1"/>
          <p:nvPr/>
        </p:nvSpPr>
        <p:spPr>
          <a:xfrm>
            <a:off x="6348599" y="2880000"/>
            <a:ext cx="5196600" cy="684000"/>
          </a:xfrm>
          <a:prstGeom prst="rect">
            <a:avLst/>
          </a:prstGeom>
          <a:noFill/>
        </p:spPr>
        <p:txBody>
          <a:bodyPr wrap="square">
            <a:spAutoFit/>
          </a:bodyPr>
          <a:lstStyle/>
          <a:p>
            <a:r>
              <a:rPr sz="3400" b="1" i="0">
                <a:solidFill>
                  <a:srgbClr val="374151"/>
                </a:solidFill>
                <a:latin typeface="Calibri"/>
              </a:rPr>
              <a:t>Ø 661,1</a:t>
            </a:r>
          </a:p>
        </p:txBody>
      </p:sp>
      <p:sp>
        <p:nvSpPr>
          <p:cNvPr id="20" name="TextBox 19"/>
          <p:cNvSpPr txBox="1"/>
          <p:nvPr/>
        </p:nvSpPr>
        <p:spPr>
          <a:xfrm>
            <a:off x="6348599" y="3600000"/>
            <a:ext cx="5196600" cy="288000"/>
          </a:xfrm>
          <a:prstGeom prst="rect">
            <a:avLst/>
          </a:prstGeom>
          <a:noFill/>
        </p:spPr>
        <p:txBody>
          <a:bodyPr wrap="square">
            <a:spAutoFit/>
          </a:bodyPr>
          <a:lstStyle/>
          <a:p>
            <a:r>
              <a:rPr sz="1400" b="0" i="0">
                <a:solidFill>
                  <a:srgbClr val="6B7280"/>
                </a:solidFill>
                <a:latin typeface="Calibri"/>
              </a:rPr>
              <a:t>± 41,2 (Std.-Abw.)</a:t>
            </a:r>
          </a:p>
        </p:txBody>
      </p:sp>
      <p:sp>
        <p:nvSpPr>
          <p:cNvPr id="21" name="TextBox 20"/>
          <p:cNvSpPr txBox="1"/>
          <p:nvPr/>
        </p:nvSpPr>
        <p:spPr>
          <a:xfrm>
            <a:off x="5952599" y="3024000"/>
            <a:ext cx="288000" cy="432000"/>
          </a:xfrm>
          <a:prstGeom prst="rect">
            <a:avLst/>
          </a:prstGeom>
          <a:noFill/>
        </p:spPr>
        <p:txBody>
          <a:bodyPr wrap="square">
            <a:spAutoFit/>
          </a:bodyPr>
          <a:lstStyle/>
          <a:p>
            <a:pPr algn="ctr"/>
            <a:r>
              <a:rPr sz="3000" b="1" i="0">
                <a:solidFill>
                  <a:srgbClr val="6B7280"/>
                </a:solidFill>
                <a:latin typeface="Calibri"/>
              </a:rPr>
              <a:t>→</a:t>
            </a:r>
          </a:p>
        </p:txBody>
      </p:sp>
      <p:sp>
        <p:nvSpPr>
          <p:cNvPr id="22" name="Rectangle 21"/>
          <p:cNvSpPr/>
          <p:nvPr/>
        </p:nvSpPr>
        <p:spPr>
          <a:xfrm>
            <a:off x="503999" y="4518000"/>
            <a:ext cx="11185200" cy="172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3999" y="4518000"/>
            <a:ext cx="90000" cy="172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999" y="4662000"/>
            <a:ext cx="10620000" cy="324000"/>
          </a:xfrm>
          <a:prstGeom prst="rect">
            <a:avLst/>
          </a:prstGeom>
          <a:noFill/>
        </p:spPr>
        <p:txBody>
          <a:bodyPr wrap="square">
            <a:spAutoFit/>
          </a:bodyPr>
          <a:lstStyle/>
          <a:p>
            <a:r>
              <a:rPr sz="1800" b="1" i="0">
                <a:solidFill>
                  <a:srgbClr val="A0453F"/>
                </a:solidFill>
                <a:latin typeface="Calibri"/>
              </a:rPr>
              <a:t>Ergebnis</a:t>
            </a:r>
          </a:p>
        </p:txBody>
      </p:sp>
      <p:sp>
        <p:nvSpPr>
          <p:cNvPr id="25" name="TextBox 24"/>
          <p:cNvSpPr txBox="1"/>
          <p:nvPr/>
        </p:nvSpPr>
        <p:spPr>
          <a:xfrm>
            <a:off x="827999" y="5004000"/>
            <a:ext cx="10620000" cy="1134000"/>
          </a:xfrm>
          <a:prstGeom prst="rect">
            <a:avLst/>
          </a:prstGeom>
          <a:noFill/>
        </p:spPr>
        <p:txBody>
          <a:bodyPr wrap="square">
            <a:spAutoFit/>
          </a:bodyPr>
          <a:lstStyle/>
          <a:p>
            <a:r>
              <a:rPr sz="1600" b="0" i="0">
                <a:solidFill>
                  <a:srgbClr val="374151"/>
                </a:solidFill>
                <a:latin typeface="Calibri"/>
              </a:rPr>
              <a:t>Mittelwertdifferenz: 117,8 Personen (95 %-Konfidenzintervall: [82,8; 152,7]). Welch-t-Test: t = 6,61, p ≈ 0,00001 — statistisch hoch signifikant, H₀ wird verworfen.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4.5</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Regressionsanalyse: Trend der Langzeitarbeitslosigkeit</a:t>
            </a:r>
          </a:p>
        </p:txBody>
      </p:sp>
      <p:sp>
        <p:nvSpPr>
          <p:cNvPr id="5" name="Rectangle 4"/>
          <p:cNvSpPr/>
          <p:nvPr/>
        </p:nvSpPr>
        <p:spPr>
          <a:xfrm>
            <a:off x="503999" y="1224000"/>
            <a:ext cx="5484600" cy="16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000" y="1368000"/>
            <a:ext cx="5196600" cy="288000"/>
          </a:xfrm>
          <a:prstGeom prst="rect">
            <a:avLst/>
          </a:prstGeom>
          <a:noFill/>
        </p:spPr>
        <p:txBody>
          <a:bodyPr wrap="square">
            <a:spAutoFit/>
          </a:bodyPr>
          <a:lstStyle/>
          <a:p>
            <a:r>
              <a:rPr sz="1500" b="1" i="0">
                <a:solidFill>
                  <a:srgbClr val="3B6EA8"/>
                </a:solidFill>
                <a:latin typeface="Calibri"/>
              </a:rPr>
              <a:t>Regressionsgleichung</a:t>
            </a:r>
          </a:p>
        </p:txBody>
      </p:sp>
      <p:sp>
        <p:nvSpPr>
          <p:cNvPr id="8" name="TextBox 7"/>
          <p:cNvSpPr txBox="1"/>
          <p:nvPr/>
        </p:nvSpPr>
        <p:spPr>
          <a:xfrm>
            <a:off x="648000" y="1745999"/>
            <a:ext cx="5196600" cy="576000"/>
          </a:xfrm>
          <a:prstGeom prst="rect">
            <a:avLst/>
          </a:prstGeom>
          <a:noFill/>
        </p:spPr>
        <p:txBody>
          <a:bodyPr wrap="square">
            <a:spAutoFit/>
          </a:bodyPr>
          <a:lstStyle/>
          <a:p>
            <a:r>
              <a:rPr sz="2000" b="1" i="0">
                <a:solidFill>
                  <a:srgbClr val="374151"/>
                </a:solidFill>
                <a:latin typeface="Consolas"/>
              </a:rPr>
              <a:t>LZA = 490,4 + 13,16 × Monatsindex</a:t>
            </a:r>
          </a:p>
        </p:txBody>
      </p:sp>
      <p:sp>
        <p:nvSpPr>
          <p:cNvPr id="9" name="TextBox 8"/>
          <p:cNvSpPr txBox="1"/>
          <p:nvPr/>
        </p:nvSpPr>
        <p:spPr>
          <a:xfrm>
            <a:off x="648000" y="2340000"/>
            <a:ext cx="5196600" cy="396000"/>
          </a:xfrm>
          <a:prstGeom prst="rect">
            <a:avLst/>
          </a:prstGeom>
          <a:noFill/>
        </p:spPr>
        <p:txBody>
          <a:bodyPr wrap="square">
            <a:spAutoFit/>
          </a:bodyPr>
          <a:lstStyle/>
          <a:p>
            <a:r>
              <a:rPr sz="1350" b="0" i="0">
                <a:solidFill>
                  <a:srgbClr val="6B7280"/>
                </a:solidFill>
                <a:latin typeface="Calibri"/>
              </a:rPr>
              <a:t>Steigung: +13,2 Personen pro Monat</a:t>
            </a:r>
          </a:p>
        </p:txBody>
      </p:sp>
      <p:sp>
        <p:nvSpPr>
          <p:cNvPr id="10" name="Rectangle 9"/>
          <p:cNvSpPr/>
          <p:nvPr/>
        </p:nvSpPr>
        <p:spPr>
          <a:xfrm>
            <a:off x="6204600" y="1224000"/>
            <a:ext cx="5484600" cy="162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600" y="1224000"/>
            <a:ext cx="54846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8599" y="1368000"/>
            <a:ext cx="5196600" cy="288000"/>
          </a:xfrm>
          <a:prstGeom prst="rect">
            <a:avLst/>
          </a:prstGeom>
          <a:noFill/>
        </p:spPr>
        <p:txBody>
          <a:bodyPr wrap="square">
            <a:spAutoFit/>
          </a:bodyPr>
          <a:lstStyle/>
          <a:p>
            <a:r>
              <a:rPr sz="1500" b="1" i="0">
                <a:solidFill>
                  <a:srgbClr val="6B5B8F"/>
                </a:solidFill>
                <a:latin typeface="Calibri"/>
              </a:rPr>
              <a:t>Bestimmtheitsmaß R²</a:t>
            </a:r>
          </a:p>
        </p:txBody>
      </p:sp>
      <p:sp>
        <p:nvSpPr>
          <p:cNvPr id="13" name="TextBox 12"/>
          <p:cNvSpPr txBox="1"/>
          <p:nvPr/>
        </p:nvSpPr>
        <p:spPr>
          <a:xfrm>
            <a:off x="6348599" y="1692000"/>
            <a:ext cx="5196600" cy="648000"/>
          </a:xfrm>
          <a:prstGeom prst="rect">
            <a:avLst/>
          </a:prstGeom>
          <a:noFill/>
        </p:spPr>
        <p:txBody>
          <a:bodyPr wrap="square">
            <a:spAutoFit/>
          </a:bodyPr>
          <a:lstStyle/>
          <a:p>
            <a:r>
              <a:rPr sz="3400" b="1" i="0">
                <a:solidFill>
                  <a:srgbClr val="374151"/>
                </a:solidFill>
                <a:latin typeface="Calibri"/>
              </a:rPr>
              <a:t>0,983</a:t>
            </a:r>
          </a:p>
        </p:txBody>
      </p:sp>
      <p:sp>
        <p:nvSpPr>
          <p:cNvPr id="14" name="TextBox 13"/>
          <p:cNvSpPr txBox="1"/>
          <p:nvPr/>
        </p:nvSpPr>
        <p:spPr>
          <a:xfrm>
            <a:off x="6348599" y="2340000"/>
            <a:ext cx="5196600" cy="396000"/>
          </a:xfrm>
          <a:prstGeom prst="rect">
            <a:avLst/>
          </a:prstGeom>
          <a:noFill/>
        </p:spPr>
        <p:txBody>
          <a:bodyPr wrap="square">
            <a:spAutoFit/>
          </a:bodyPr>
          <a:lstStyle/>
          <a:p>
            <a:r>
              <a:rPr sz="1350" b="0" i="0">
                <a:solidFill>
                  <a:srgbClr val="6B7280"/>
                </a:solidFill>
                <a:latin typeface="Calibri"/>
              </a:rPr>
              <a:t>außergewöhnlich guter linearer Fit</a:t>
            </a:r>
          </a:p>
        </p:txBody>
      </p:sp>
      <p:sp>
        <p:nvSpPr>
          <p:cNvPr id="15" name="Rectangle 14"/>
          <p:cNvSpPr/>
          <p:nvPr/>
        </p:nvSpPr>
        <p:spPr>
          <a:xfrm>
            <a:off x="503999"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3999"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000" y="3186000"/>
            <a:ext cx="3332400" cy="198000"/>
          </a:xfrm>
          <a:prstGeom prst="rect">
            <a:avLst/>
          </a:prstGeom>
          <a:noFill/>
        </p:spPr>
        <p:txBody>
          <a:bodyPr wrap="square">
            <a:spAutoFit/>
          </a:bodyPr>
          <a:lstStyle/>
          <a:p>
            <a:r>
              <a:rPr sz="1250" b="1" i="0">
                <a:solidFill>
                  <a:srgbClr val="3F7A72"/>
                </a:solidFill>
                <a:latin typeface="Calibri"/>
              </a:rPr>
              <a:t>JULI 2026</a:t>
            </a:r>
          </a:p>
        </p:txBody>
      </p:sp>
      <p:sp>
        <p:nvSpPr>
          <p:cNvPr id="18" name="TextBox 17"/>
          <p:cNvSpPr txBox="1"/>
          <p:nvPr/>
        </p:nvSpPr>
        <p:spPr>
          <a:xfrm>
            <a:off x="630000" y="3456000"/>
            <a:ext cx="3332400" cy="576000"/>
          </a:xfrm>
          <a:prstGeom prst="rect">
            <a:avLst/>
          </a:prstGeom>
          <a:noFill/>
        </p:spPr>
        <p:txBody>
          <a:bodyPr wrap="square">
            <a:spAutoFit/>
          </a:bodyPr>
          <a:lstStyle/>
          <a:p>
            <a:r>
              <a:rPr sz="2600" b="1" i="0">
                <a:solidFill>
                  <a:srgbClr val="374151"/>
                </a:solidFill>
                <a:latin typeface="Calibri"/>
              </a:rPr>
              <a:t>↑ ≈ 727</a:t>
            </a:r>
          </a:p>
        </p:txBody>
      </p:sp>
      <p:sp>
        <p:nvSpPr>
          <p:cNvPr id="19" name="TextBox 18"/>
          <p:cNvSpPr txBox="1"/>
          <p:nvPr/>
        </p:nvSpPr>
        <p:spPr>
          <a:xfrm>
            <a:off x="6300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20" name="Rectangle 19"/>
          <p:cNvSpPr/>
          <p:nvPr/>
        </p:nvSpPr>
        <p:spPr>
          <a:xfrm>
            <a:off x="4304400"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04400"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0400" y="3186000"/>
            <a:ext cx="3332400" cy="198000"/>
          </a:xfrm>
          <a:prstGeom prst="rect">
            <a:avLst/>
          </a:prstGeom>
          <a:noFill/>
        </p:spPr>
        <p:txBody>
          <a:bodyPr wrap="square">
            <a:spAutoFit/>
          </a:bodyPr>
          <a:lstStyle/>
          <a:p>
            <a:r>
              <a:rPr sz="1250" b="1" i="0">
                <a:solidFill>
                  <a:srgbClr val="3F7A72"/>
                </a:solidFill>
                <a:latin typeface="Calibri"/>
              </a:rPr>
              <a:t>AUGUST 2026</a:t>
            </a:r>
          </a:p>
        </p:txBody>
      </p:sp>
      <p:sp>
        <p:nvSpPr>
          <p:cNvPr id="23" name="TextBox 22"/>
          <p:cNvSpPr txBox="1"/>
          <p:nvPr/>
        </p:nvSpPr>
        <p:spPr>
          <a:xfrm>
            <a:off x="4430400" y="3456000"/>
            <a:ext cx="3332400" cy="576000"/>
          </a:xfrm>
          <a:prstGeom prst="rect">
            <a:avLst/>
          </a:prstGeom>
          <a:noFill/>
        </p:spPr>
        <p:txBody>
          <a:bodyPr wrap="square">
            <a:spAutoFit/>
          </a:bodyPr>
          <a:lstStyle/>
          <a:p>
            <a:r>
              <a:rPr sz="2600" b="1" i="0">
                <a:solidFill>
                  <a:srgbClr val="374151"/>
                </a:solidFill>
                <a:latin typeface="Calibri"/>
              </a:rPr>
              <a:t>↑ ≈ 740</a:t>
            </a:r>
          </a:p>
        </p:txBody>
      </p:sp>
      <p:sp>
        <p:nvSpPr>
          <p:cNvPr id="24" name="TextBox 23"/>
          <p:cNvSpPr txBox="1"/>
          <p:nvPr/>
        </p:nvSpPr>
        <p:spPr>
          <a:xfrm>
            <a:off x="44304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25" name="Rectangle 24"/>
          <p:cNvSpPr/>
          <p:nvPr/>
        </p:nvSpPr>
        <p:spPr>
          <a:xfrm>
            <a:off x="8104799" y="3042000"/>
            <a:ext cx="35844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4799" y="3042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30800" y="3186000"/>
            <a:ext cx="3332400" cy="198000"/>
          </a:xfrm>
          <a:prstGeom prst="rect">
            <a:avLst/>
          </a:prstGeom>
          <a:noFill/>
        </p:spPr>
        <p:txBody>
          <a:bodyPr wrap="square">
            <a:spAutoFit/>
          </a:bodyPr>
          <a:lstStyle/>
          <a:p>
            <a:r>
              <a:rPr sz="1250" b="1" i="0">
                <a:solidFill>
                  <a:srgbClr val="3F7A72"/>
                </a:solidFill>
                <a:latin typeface="Calibri"/>
              </a:rPr>
              <a:t>SEPTEMBER 2026</a:t>
            </a:r>
          </a:p>
        </p:txBody>
      </p:sp>
      <p:sp>
        <p:nvSpPr>
          <p:cNvPr id="28" name="TextBox 27"/>
          <p:cNvSpPr txBox="1"/>
          <p:nvPr/>
        </p:nvSpPr>
        <p:spPr>
          <a:xfrm>
            <a:off x="8230800" y="3456000"/>
            <a:ext cx="3332400" cy="576000"/>
          </a:xfrm>
          <a:prstGeom prst="rect">
            <a:avLst/>
          </a:prstGeom>
          <a:noFill/>
        </p:spPr>
        <p:txBody>
          <a:bodyPr wrap="square">
            <a:spAutoFit/>
          </a:bodyPr>
          <a:lstStyle/>
          <a:p>
            <a:r>
              <a:rPr sz="2600" b="1" i="0">
                <a:solidFill>
                  <a:srgbClr val="374151"/>
                </a:solidFill>
                <a:latin typeface="Calibri"/>
              </a:rPr>
              <a:t>↑ ≈ 754</a:t>
            </a:r>
          </a:p>
        </p:txBody>
      </p:sp>
      <p:sp>
        <p:nvSpPr>
          <p:cNvPr id="29" name="TextBox 28"/>
          <p:cNvSpPr txBox="1"/>
          <p:nvPr/>
        </p:nvSpPr>
        <p:spPr>
          <a:xfrm>
            <a:off x="8230800" y="4032000"/>
            <a:ext cx="3332400" cy="360000"/>
          </a:xfrm>
          <a:prstGeom prst="rect">
            <a:avLst/>
          </a:prstGeom>
          <a:noFill/>
        </p:spPr>
        <p:txBody>
          <a:bodyPr wrap="square">
            <a:spAutoFit/>
          </a:bodyPr>
          <a:lstStyle/>
          <a:p>
            <a:r>
              <a:rPr sz="1150" b="0" i="0">
                <a:solidFill>
                  <a:srgbClr val="6B7280"/>
                </a:solidFill>
                <a:latin typeface="Calibri"/>
              </a:rPr>
              <a:t>Personen (prognostiziert)</a:t>
            </a:r>
          </a:p>
        </p:txBody>
      </p:sp>
      <p:sp>
        <p:nvSpPr>
          <p:cNvPr id="30" name="Rectangle 29"/>
          <p:cNvSpPr/>
          <p:nvPr/>
        </p:nvSpPr>
        <p:spPr>
          <a:xfrm>
            <a:off x="503999" y="4680000"/>
            <a:ext cx="11185200" cy="115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3999" y="4680000"/>
            <a:ext cx="90000" cy="1152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999" y="4806000"/>
            <a:ext cx="10620000" cy="288000"/>
          </a:xfrm>
          <a:prstGeom prst="rect">
            <a:avLst/>
          </a:prstGeom>
          <a:noFill/>
        </p:spPr>
        <p:txBody>
          <a:bodyPr wrap="square">
            <a:spAutoFit/>
          </a:bodyPr>
          <a:lstStyle/>
          <a:p>
            <a:r>
              <a:rPr sz="1600" b="1" i="0">
                <a:solidFill>
                  <a:srgbClr val="C79A56"/>
                </a:solidFill>
                <a:latin typeface="Calibri"/>
              </a:rPr>
              <a:t>⚠️ Einschränkung</a:t>
            </a:r>
          </a:p>
        </p:txBody>
      </p:sp>
      <p:sp>
        <p:nvSpPr>
          <p:cNvPr id="33" name="TextBox 32"/>
          <p:cNvSpPr txBox="1"/>
          <p:nvPr/>
        </p:nvSpPr>
        <p:spPr>
          <a:xfrm>
            <a:off x="827999" y="5112000"/>
            <a:ext cx="10620000" cy="612000"/>
          </a:xfrm>
          <a:prstGeom prst="rect">
            <a:avLst/>
          </a:prstGeom>
          <a:noFill/>
        </p:spPr>
        <p:txBody>
          <a:bodyPr wrap="square">
            <a:spAutoFit/>
          </a:bodyPr>
          <a:lstStyle/>
          <a:p>
            <a:r>
              <a:rPr sz="1400" b="0" i="0">
                <a:solidFill>
                  <a:srgbClr val="374151"/>
                </a:solidFill>
                <a:latin typeface="Calibri"/>
              </a:rPr>
              <a:t>Lineare Extrapolation aus nur 18 Datenpunkten, ohne Berücksichtigung von Saisonalität oder möglichen Strukturbrüchen — nur eine grobe Orientierung.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4.5</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Linearer Trend und Prognose</a:t>
            </a:r>
          </a:p>
        </p:txBody>
      </p:sp>
      <p:pic>
        <p:nvPicPr>
          <p:cNvPr id="5" name="Picture 4" descr="abb9_regression.png"/>
          <p:cNvPicPr>
            <a:picLocks noChangeAspect="1"/>
          </p:cNvPicPr>
          <p:nvPr/>
        </p:nvPicPr>
        <p:blipFill>
          <a:blip r:embed="rId2"/>
          <a:stretch>
            <a:fillRect/>
          </a:stretch>
        </p:blipFill>
        <p:spPr>
          <a:xfrm>
            <a:off x="1287419" y="1152000"/>
            <a:ext cx="9618750" cy="4860000"/>
          </a:xfrm>
          <a:prstGeom prst="rect">
            <a:avLst/>
          </a:prstGeom>
        </p:spPr>
      </p:pic>
      <p:sp>
        <p:nvSpPr>
          <p:cNvPr id="6" name="TextBox 5"/>
          <p:cNvSpPr txBox="1"/>
          <p:nvPr/>
        </p:nvSpPr>
        <p:spPr>
          <a:xfrm>
            <a:off x="503999" y="6120000"/>
            <a:ext cx="11185200" cy="432000"/>
          </a:xfrm>
          <a:prstGeom prst="rect">
            <a:avLst/>
          </a:prstGeom>
          <a:noFill/>
        </p:spPr>
        <p:txBody>
          <a:bodyPr wrap="square">
            <a:spAutoFit/>
          </a:bodyPr>
          <a:lstStyle/>
          <a:p>
            <a:pPr algn="ctr"/>
            <a:r>
              <a:rPr sz="1300" b="0" i="1">
                <a:solidFill>
                  <a:srgbClr val="6B7280"/>
                </a:solidFill>
                <a:latin typeface="Calibri"/>
              </a:rPr>
              <a:t>R² = 0,983 — ein außergewöhnlich guter linearer Fit für die Langzeitarbeitslosen-Zahl.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4.6</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 der statistischen Befunde</a:t>
            </a:r>
          </a:p>
        </p:txBody>
      </p:sp>
      <p:sp>
        <p:nvSpPr>
          <p:cNvPr id="5" name="Rectangle 4"/>
          <p:cNvSpPr/>
          <p:nvPr/>
        </p:nvSpPr>
        <p:spPr>
          <a:xfrm>
            <a:off x="503999"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350000"/>
            <a:ext cx="2383200" cy="468000"/>
          </a:xfrm>
          <a:prstGeom prst="rect">
            <a:avLst/>
          </a:prstGeom>
          <a:noFill/>
        </p:spPr>
        <p:txBody>
          <a:bodyPr wrap="square">
            <a:spAutoFit/>
          </a:bodyPr>
          <a:lstStyle/>
          <a:p>
            <a:r>
              <a:rPr sz="1400" b="1" i="0">
                <a:solidFill>
                  <a:srgbClr val="3B6EA8"/>
                </a:solidFill>
                <a:latin typeface="Calibri"/>
              </a:rPr>
              <a:t>Deskriptive
Statistik</a:t>
            </a:r>
          </a:p>
        </p:txBody>
      </p:sp>
      <p:sp>
        <p:nvSpPr>
          <p:cNvPr id="8" name="TextBox 7"/>
          <p:cNvSpPr txBox="1"/>
          <p:nvPr/>
        </p:nvSpPr>
        <p:spPr>
          <a:xfrm>
            <a:off x="630000" y="1854000"/>
            <a:ext cx="2383200" cy="576000"/>
          </a:xfrm>
          <a:prstGeom prst="rect">
            <a:avLst/>
          </a:prstGeom>
          <a:noFill/>
        </p:spPr>
        <p:txBody>
          <a:bodyPr wrap="square">
            <a:spAutoFit/>
          </a:bodyPr>
          <a:lstStyle/>
          <a:p>
            <a:r>
              <a:rPr sz="2100" b="1" i="0">
                <a:solidFill>
                  <a:srgbClr val="374151"/>
                </a:solidFill>
                <a:latin typeface="Calibri"/>
              </a:rPr>
              <a:t>CV ≈ 11,8 %</a:t>
            </a:r>
          </a:p>
        </p:txBody>
      </p:sp>
      <p:sp>
        <p:nvSpPr>
          <p:cNvPr id="9" name="TextBox 8"/>
          <p:cNvSpPr txBox="1"/>
          <p:nvPr/>
        </p:nvSpPr>
        <p:spPr>
          <a:xfrm>
            <a:off x="630000" y="2430000"/>
            <a:ext cx="2383200" cy="1314000"/>
          </a:xfrm>
          <a:prstGeom prst="rect">
            <a:avLst/>
          </a:prstGeom>
          <a:noFill/>
        </p:spPr>
        <p:txBody>
          <a:bodyPr wrap="square">
            <a:spAutoFit/>
          </a:bodyPr>
          <a:lstStyle/>
          <a:p>
            <a:r>
              <a:rPr sz="1250" b="0" i="0">
                <a:solidFill>
                  <a:srgbClr val="374151"/>
                </a:solidFill>
                <a:latin typeface="Calibri"/>
              </a:rPr>
              <a:t>Langzeitarbeitslose: stärkste relative Veränderung aller Kernkennzahlen</a:t>
            </a:r>
          </a:p>
        </p:txBody>
      </p:sp>
      <p:sp>
        <p:nvSpPr>
          <p:cNvPr id="10" name="Rectangle 9"/>
          <p:cNvSpPr/>
          <p:nvPr/>
        </p:nvSpPr>
        <p:spPr>
          <a:xfrm>
            <a:off x="33552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81200" y="1350000"/>
            <a:ext cx="2383200" cy="468000"/>
          </a:xfrm>
          <a:prstGeom prst="rect">
            <a:avLst/>
          </a:prstGeom>
          <a:noFill/>
        </p:spPr>
        <p:txBody>
          <a:bodyPr wrap="square">
            <a:spAutoFit/>
          </a:bodyPr>
          <a:lstStyle/>
          <a:p>
            <a:r>
              <a:rPr sz="1400" b="1" i="0">
                <a:solidFill>
                  <a:srgbClr val="6B5B8F"/>
                </a:solidFill>
                <a:latin typeface="Calibri"/>
              </a:rPr>
              <a:t>Korrelations-
analyse</a:t>
            </a:r>
          </a:p>
        </p:txBody>
      </p:sp>
      <p:sp>
        <p:nvSpPr>
          <p:cNvPr id="13" name="TextBox 12"/>
          <p:cNvSpPr txBox="1"/>
          <p:nvPr/>
        </p:nvSpPr>
        <p:spPr>
          <a:xfrm>
            <a:off x="3481200" y="1854000"/>
            <a:ext cx="2383200" cy="576000"/>
          </a:xfrm>
          <a:prstGeom prst="rect">
            <a:avLst/>
          </a:prstGeom>
          <a:noFill/>
        </p:spPr>
        <p:txBody>
          <a:bodyPr wrap="square">
            <a:spAutoFit/>
          </a:bodyPr>
          <a:lstStyle/>
          <a:p>
            <a:r>
              <a:rPr sz="2100" b="1" i="0">
                <a:solidFill>
                  <a:srgbClr val="374151"/>
                </a:solidFill>
                <a:latin typeface="Calibri"/>
              </a:rPr>
              <a:t>2 neu signifikant</a:t>
            </a:r>
          </a:p>
        </p:txBody>
      </p:sp>
      <p:sp>
        <p:nvSpPr>
          <p:cNvPr id="14" name="TextBox 13"/>
          <p:cNvSpPr txBox="1"/>
          <p:nvPr/>
        </p:nvSpPr>
        <p:spPr>
          <a:xfrm>
            <a:off x="3481200" y="2430000"/>
            <a:ext cx="2383200" cy="1314000"/>
          </a:xfrm>
          <a:prstGeom prst="rect">
            <a:avLst/>
          </a:prstGeom>
          <a:noFill/>
        </p:spPr>
        <p:txBody>
          <a:bodyPr wrap="square">
            <a:spAutoFit/>
          </a:bodyPr>
          <a:lstStyle/>
          <a:p>
            <a:r>
              <a:rPr sz="1250" b="0" i="0">
                <a:solidFill>
                  <a:srgbClr val="374151"/>
                </a:solidFill>
                <a:latin typeface="Calibri"/>
              </a:rPr>
              <a:t>LZA–Bedarfsgemeinschaften und LZA–Bestand erst durch 3 zusätzliche Monate nachweisbar</a:t>
            </a:r>
          </a:p>
        </p:txBody>
      </p:sp>
      <p:sp>
        <p:nvSpPr>
          <p:cNvPr id="15" name="Rectangle 14"/>
          <p:cNvSpPr/>
          <p:nvPr/>
        </p:nvSpPr>
        <p:spPr>
          <a:xfrm>
            <a:off x="62028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800" y="1350000"/>
            <a:ext cx="2383200" cy="468000"/>
          </a:xfrm>
          <a:prstGeom prst="rect">
            <a:avLst/>
          </a:prstGeom>
          <a:noFill/>
        </p:spPr>
        <p:txBody>
          <a:bodyPr wrap="square">
            <a:spAutoFit/>
          </a:bodyPr>
          <a:lstStyle/>
          <a:p>
            <a:r>
              <a:rPr sz="1400" b="1" i="0">
                <a:solidFill>
                  <a:srgbClr val="A0453F"/>
                </a:solidFill>
                <a:latin typeface="Calibri"/>
              </a:rPr>
              <a:t>Hypothesen-
test</a:t>
            </a:r>
          </a:p>
        </p:txBody>
      </p:sp>
      <p:sp>
        <p:nvSpPr>
          <p:cNvPr id="18" name="TextBox 17"/>
          <p:cNvSpPr txBox="1"/>
          <p:nvPr/>
        </p:nvSpPr>
        <p:spPr>
          <a:xfrm>
            <a:off x="6328800" y="1854000"/>
            <a:ext cx="2383200" cy="576000"/>
          </a:xfrm>
          <a:prstGeom prst="rect">
            <a:avLst/>
          </a:prstGeom>
          <a:noFill/>
        </p:spPr>
        <p:txBody>
          <a:bodyPr wrap="square">
            <a:spAutoFit/>
          </a:bodyPr>
          <a:lstStyle/>
          <a:p>
            <a:r>
              <a:rPr sz="2100" b="1" i="0">
                <a:solidFill>
                  <a:srgbClr val="374151"/>
                </a:solidFill>
                <a:latin typeface="Calibri"/>
              </a:rPr>
              <a:t>p ≈ 0,00001</a:t>
            </a:r>
          </a:p>
        </p:txBody>
      </p:sp>
      <p:sp>
        <p:nvSpPr>
          <p:cNvPr id="19" name="TextBox 18"/>
          <p:cNvSpPr txBox="1"/>
          <p:nvPr/>
        </p:nvSpPr>
        <p:spPr>
          <a:xfrm>
            <a:off x="6328800" y="2430000"/>
            <a:ext cx="2383200" cy="1314000"/>
          </a:xfrm>
          <a:prstGeom prst="rect">
            <a:avLst/>
          </a:prstGeom>
          <a:noFill/>
        </p:spPr>
        <p:txBody>
          <a:bodyPr wrap="square">
            <a:spAutoFit/>
          </a:bodyPr>
          <a:lstStyle/>
          <a:p>
            <a:r>
              <a:rPr sz="1250" b="0" i="0">
                <a:solidFill>
                  <a:srgbClr val="374151"/>
                </a:solidFill>
                <a:latin typeface="Calibri"/>
              </a:rPr>
              <a:t>Anstieg der Langzeitarbeitslosigkeit zwischen 1. und 2. Hälfte: statistisch hoch signifikant</a:t>
            </a:r>
          </a:p>
        </p:txBody>
      </p:sp>
      <p:sp>
        <p:nvSpPr>
          <p:cNvPr id="20" name="Rectangle 19"/>
          <p:cNvSpPr/>
          <p:nvPr/>
        </p:nvSpPr>
        <p:spPr>
          <a:xfrm>
            <a:off x="9054000" y="1224000"/>
            <a:ext cx="26352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000" y="1350000"/>
            <a:ext cx="2383200" cy="468000"/>
          </a:xfrm>
          <a:prstGeom prst="rect">
            <a:avLst/>
          </a:prstGeom>
          <a:noFill/>
        </p:spPr>
        <p:txBody>
          <a:bodyPr wrap="square">
            <a:spAutoFit/>
          </a:bodyPr>
          <a:lstStyle/>
          <a:p>
            <a:r>
              <a:rPr sz="1400" b="1" i="0">
                <a:solidFill>
                  <a:srgbClr val="3F7A72"/>
                </a:solidFill>
                <a:latin typeface="Calibri"/>
              </a:rPr>
              <a:t>Regression</a:t>
            </a:r>
          </a:p>
        </p:txBody>
      </p:sp>
      <p:sp>
        <p:nvSpPr>
          <p:cNvPr id="23" name="TextBox 22"/>
          <p:cNvSpPr txBox="1"/>
          <p:nvPr/>
        </p:nvSpPr>
        <p:spPr>
          <a:xfrm>
            <a:off x="9180000" y="1854000"/>
            <a:ext cx="2383200" cy="576000"/>
          </a:xfrm>
          <a:prstGeom prst="rect">
            <a:avLst/>
          </a:prstGeom>
          <a:noFill/>
        </p:spPr>
        <p:txBody>
          <a:bodyPr wrap="square">
            <a:spAutoFit/>
          </a:bodyPr>
          <a:lstStyle/>
          <a:p>
            <a:r>
              <a:rPr sz="2100" b="1" i="0">
                <a:solidFill>
                  <a:srgbClr val="374151"/>
                </a:solidFill>
                <a:latin typeface="Calibri"/>
              </a:rPr>
              <a:t>R² = 0,983</a:t>
            </a:r>
          </a:p>
        </p:txBody>
      </p:sp>
      <p:sp>
        <p:nvSpPr>
          <p:cNvPr id="24" name="TextBox 23"/>
          <p:cNvSpPr txBox="1"/>
          <p:nvPr/>
        </p:nvSpPr>
        <p:spPr>
          <a:xfrm>
            <a:off x="9180000" y="2430000"/>
            <a:ext cx="2383200" cy="1314000"/>
          </a:xfrm>
          <a:prstGeom prst="rect">
            <a:avLst/>
          </a:prstGeom>
          <a:noFill/>
        </p:spPr>
        <p:txBody>
          <a:bodyPr wrap="square">
            <a:spAutoFit/>
          </a:bodyPr>
          <a:lstStyle/>
          <a:p>
            <a:r>
              <a:rPr sz="1250" b="0" i="0">
                <a:solidFill>
                  <a:srgbClr val="374151"/>
                </a:solidFill>
                <a:latin typeface="Calibri"/>
              </a:rPr>
              <a:t>Linearer Zeittrend erklärt 98,3 % der Schwankung — Prognose: 727–754 Personen</a:t>
            </a:r>
          </a:p>
        </p:txBody>
      </p:sp>
      <p:sp>
        <p:nvSpPr>
          <p:cNvPr id="25" name="Rectangle 24"/>
          <p:cNvSpPr/>
          <p:nvPr/>
        </p:nvSpPr>
        <p:spPr>
          <a:xfrm>
            <a:off x="503999" y="4014000"/>
            <a:ext cx="11185200" cy="1548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3999" y="4014000"/>
            <a:ext cx="90000" cy="1548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999" y="4158000"/>
            <a:ext cx="10620000" cy="324000"/>
          </a:xfrm>
          <a:prstGeom prst="rect">
            <a:avLst/>
          </a:prstGeom>
          <a:noFill/>
        </p:spPr>
        <p:txBody>
          <a:bodyPr wrap="square">
            <a:spAutoFit/>
          </a:bodyPr>
          <a:lstStyle/>
          <a:p>
            <a:r>
              <a:rPr sz="1800" b="1" i="0">
                <a:solidFill>
                  <a:srgbClr val="A0453F"/>
                </a:solidFill>
                <a:latin typeface="Calibri"/>
              </a:rPr>
              <a:t>Gesamtfazit</a:t>
            </a:r>
          </a:p>
        </p:txBody>
      </p:sp>
      <p:sp>
        <p:nvSpPr>
          <p:cNvPr id="28" name="TextBox 27"/>
          <p:cNvSpPr txBox="1"/>
          <p:nvPr/>
        </p:nvSpPr>
        <p:spPr>
          <a:xfrm>
            <a:off x="827999" y="4500000"/>
            <a:ext cx="10620000" cy="954000"/>
          </a:xfrm>
          <a:prstGeom prst="rect">
            <a:avLst/>
          </a:prstGeom>
          <a:noFill/>
        </p:spPr>
        <p:txBody>
          <a:bodyPr wrap="square">
            <a:spAutoFit/>
          </a:bodyPr>
          <a:lstStyle/>
          <a:p>
            <a:r>
              <a:rPr sz="1600" b="0" i="0">
                <a:solidFill>
                  <a:srgbClr val="374151"/>
                </a:solidFill>
                <a:latin typeface="Calibri"/>
              </a:rPr>
              <a:t>Die Verschärfung der Langzeitarbeitslosigkeit ist über alle vier statistischen Verfahren hinweg konsistent nachweisbar — sie ist der am stärksten abgesicherte Trend im gesamten Datensatz.</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5</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Fluktuation</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Zugang und Abgang im Monatsverlauf</a:t>
            </a:r>
          </a:p>
          <a:p>
            <a:pPr>
              <a:spcAft>
                <a:spcPts val="1400"/>
              </a:spcAft>
            </a:pPr>
            <a:r>
              <a:rPr sz="1800" b="0" i="0">
                <a:solidFill>
                  <a:srgbClr val="E0E7FF"/>
                </a:solidFill>
                <a:latin typeface="Calibri"/>
              </a:rPr>
              <a:t>●  Netto-Fluktuation vs. Bestandsänderung</a:t>
            </a:r>
          </a:p>
          <a:p>
            <a:pPr>
              <a:spcAft>
                <a:spcPts val="1400"/>
              </a:spcAft>
            </a:pPr>
            <a:r>
              <a:rPr sz="1800" b="0" i="0">
                <a:solidFill>
                  <a:srgbClr val="E0E7FF"/>
                </a:solidFill>
                <a:latin typeface="Calibri"/>
              </a:rPr>
              <a:t>●  12-Monatssummen als mittelfristiger Trend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Zugang und Abgang im Monatsverlauf</a:t>
            </a:r>
          </a:p>
        </p:txBody>
      </p:sp>
      <p:pic>
        <p:nvPicPr>
          <p:cNvPr id="5" name="Picture 4" descr="abb10_zugang_abgang.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Zugang Ø 267/Monat, Abgang Ø 281/Monat — im Mittel etwas mehr Abgang als Zugang.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Netto-Fluktuation vs. Bestandsänderung</a:t>
            </a:r>
          </a:p>
        </p:txBody>
      </p:sp>
      <p:pic>
        <p:nvPicPr>
          <p:cNvPr id="5" name="Picture 4" descr="abb11_netto_fluktuation.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Netto-Fluktuation liegt in allen 18 Monaten unter der tatsächlichen Bestandsänderung (Ø −20,9 Personen) — plausibel durch Rechtskreiswechsel SGB II/SGB III.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12-Monatssummen: der mittelfristige Trend</a:t>
            </a:r>
          </a:p>
        </p:txBody>
      </p:sp>
      <p:pic>
        <p:nvPicPr>
          <p:cNvPr id="5" name="Picture 4" descr="abb12_12m_summen.png"/>
          <p:cNvPicPr>
            <a:picLocks noChangeAspect="1"/>
          </p:cNvPicPr>
          <p:nvPr/>
        </p:nvPicPr>
        <p:blipFill>
          <a:blip r:embed="rId2"/>
          <a:stretch>
            <a:fillRect/>
          </a:stretch>
        </p:blipFill>
        <p:spPr>
          <a:xfrm>
            <a:off x="816794" y="1116000"/>
            <a:ext cx="1056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Rollierende Netto-Fluktuation verschlechtert sich von −58 auf −264 Personen pro Jahr.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5.4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Zugang &amp; Abgang</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ZUGANG (Ø / MONAT)</a:t>
            </a:r>
          </a:p>
        </p:txBody>
      </p:sp>
      <p:sp>
        <p:nvSpPr>
          <p:cNvPr id="9" name="TextBox 8"/>
          <p:cNvSpPr txBox="1"/>
          <p:nvPr/>
        </p:nvSpPr>
        <p:spPr>
          <a:xfrm>
            <a:off x="647999" y="2124000"/>
            <a:ext cx="3296400" cy="396000"/>
          </a:xfrm>
          <a:prstGeom prst="rect">
            <a:avLst/>
          </a:prstGeom>
          <a:noFill/>
        </p:spPr>
        <p:txBody>
          <a:bodyPr wrap="square">
            <a:spAutoFit/>
          </a:bodyPr>
          <a:lstStyle/>
          <a:p>
            <a:r>
              <a:rPr sz="2400" b="1" i="0">
                <a:solidFill>
                  <a:srgbClr val="3F7A72"/>
                </a:solidFill>
                <a:latin typeface="Calibri"/>
              </a:rPr>
              <a:t>267</a:t>
            </a:r>
          </a:p>
        </p:txBody>
      </p:sp>
      <p:sp>
        <p:nvSpPr>
          <p:cNvPr id="10" name="TextBox 9"/>
          <p:cNvSpPr txBox="1"/>
          <p:nvPr/>
        </p:nvSpPr>
        <p:spPr>
          <a:xfrm>
            <a:off x="647999" y="2556000"/>
            <a:ext cx="3296400" cy="162000"/>
          </a:xfrm>
          <a:prstGeom prst="rect">
            <a:avLst/>
          </a:prstGeom>
          <a:noFill/>
        </p:spPr>
        <p:txBody>
          <a:bodyPr wrap="square">
            <a:spAutoFit/>
          </a:bodyPr>
          <a:lstStyle/>
          <a:p>
            <a:r>
              <a:rPr sz="1050" b="1" i="0">
                <a:solidFill>
                  <a:srgbClr val="6B7280"/>
                </a:solidFill>
                <a:latin typeface="Calibri"/>
              </a:rPr>
              <a:t>ABGANG (Ø / MONAT)</a:t>
            </a:r>
          </a:p>
        </p:txBody>
      </p:sp>
      <p:sp>
        <p:nvSpPr>
          <p:cNvPr id="11" name="TextBox 10"/>
          <p:cNvSpPr txBox="1"/>
          <p:nvPr/>
        </p:nvSpPr>
        <p:spPr>
          <a:xfrm>
            <a:off x="647999" y="2718000"/>
            <a:ext cx="3296400" cy="396000"/>
          </a:xfrm>
          <a:prstGeom prst="rect">
            <a:avLst/>
          </a:prstGeom>
          <a:noFill/>
        </p:spPr>
        <p:txBody>
          <a:bodyPr wrap="square">
            <a:spAutoFit/>
          </a:bodyPr>
          <a:lstStyle/>
          <a:p>
            <a:r>
              <a:rPr sz="2400" b="1" i="0">
                <a:solidFill>
                  <a:srgbClr val="A0453F"/>
                </a:solidFill>
                <a:latin typeface="Calibri"/>
              </a:rPr>
              <a:t>281</a:t>
            </a:r>
          </a:p>
        </p:txBody>
      </p:sp>
      <p:sp>
        <p:nvSpPr>
          <p:cNvPr id="12" name="TextBox 11"/>
          <p:cNvSpPr txBox="1"/>
          <p:nvPr/>
        </p:nvSpPr>
        <p:spPr>
          <a:xfrm>
            <a:off x="647999" y="3186000"/>
            <a:ext cx="3296400" cy="1530000"/>
          </a:xfrm>
          <a:prstGeom prst="rect">
            <a:avLst/>
          </a:prstGeom>
          <a:noFill/>
        </p:spPr>
        <p:txBody>
          <a:bodyPr wrap="square">
            <a:spAutoFit/>
          </a:bodyPr>
          <a:lstStyle/>
          <a:p>
            <a:r>
              <a:rPr sz="1300" b="0" i="0">
                <a:solidFill>
                  <a:srgbClr val="374151"/>
                </a:solidFill>
                <a:latin typeface="Calibri"/>
              </a:rPr>
              <a:t>Deutlich mehr Dynamik als der stabile Bestand vermuten lässt.</a:t>
            </a:r>
          </a:p>
        </p:txBody>
      </p:sp>
      <p:sp>
        <p:nvSpPr>
          <p:cNvPr id="13" name="Rectangle 12"/>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Netto-Fluktuation</a:t>
            </a:r>
          </a:p>
        </p:txBody>
      </p:sp>
      <p:sp>
        <p:nvSpPr>
          <p:cNvPr id="16" name="TextBox 15"/>
          <p:cNvSpPr txBox="1"/>
          <p:nvPr/>
        </p:nvSpPr>
        <p:spPr>
          <a:xfrm>
            <a:off x="4448400" y="2015999"/>
            <a:ext cx="3296400" cy="612000"/>
          </a:xfrm>
          <a:prstGeom prst="rect">
            <a:avLst/>
          </a:prstGeom>
          <a:noFill/>
        </p:spPr>
        <p:txBody>
          <a:bodyPr wrap="square">
            <a:spAutoFit/>
          </a:bodyPr>
          <a:lstStyle/>
          <a:p>
            <a:r>
              <a:rPr sz="3000" b="1" i="0">
                <a:solidFill>
                  <a:srgbClr val="374151"/>
                </a:solidFill>
                <a:latin typeface="Calibri"/>
              </a:rPr>
              <a:t>−14,4</a:t>
            </a:r>
          </a:p>
        </p:txBody>
      </p:sp>
      <p:sp>
        <p:nvSpPr>
          <p:cNvPr id="17" name="TextBox 16"/>
          <p:cNvSpPr txBox="1"/>
          <p:nvPr/>
        </p:nvSpPr>
        <p:spPr>
          <a:xfrm>
            <a:off x="4448400" y="2646000"/>
            <a:ext cx="3296400" cy="270000"/>
          </a:xfrm>
          <a:prstGeom prst="rect">
            <a:avLst/>
          </a:prstGeom>
          <a:noFill/>
        </p:spPr>
        <p:txBody>
          <a:bodyPr wrap="square">
            <a:spAutoFit/>
          </a:bodyPr>
          <a:lstStyle/>
          <a:p>
            <a:r>
              <a:rPr sz="1050" b="1" i="0">
                <a:solidFill>
                  <a:srgbClr val="6B7280"/>
                </a:solidFill>
                <a:latin typeface="Calibri"/>
              </a:rPr>
              <a:t>PERSONEN / MONAT (MITTELWERT)</a:t>
            </a:r>
          </a:p>
        </p:txBody>
      </p:sp>
      <p:sp>
        <p:nvSpPr>
          <p:cNvPr id="18" name="TextBox 17"/>
          <p:cNvSpPr txBox="1"/>
          <p:nvPr/>
        </p:nvSpPr>
        <p:spPr>
          <a:xfrm>
            <a:off x="4448400" y="3186000"/>
            <a:ext cx="3296400" cy="1530000"/>
          </a:xfrm>
          <a:prstGeom prst="rect">
            <a:avLst/>
          </a:prstGeom>
          <a:noFill/>
        </p:spPr>
        <p:txBody>
          <a:bodyPr wrap="square">
            <a:spAutoFit/>
          </a:bodyPr>
          <a:lstStyle/>
          <a:p>
            <a:r>
              <a:rPr sz="1300" b="0" i="0">
                <a:solidFill>
                  <a:srgbClr val="374151"/>
                </a:solidFill>
                <a:latin typeface="Calibri"/>
              </a:rPr>
              <a:t>Leicht rückläufige Tendenz seit Anfang 2025.</a:t>
            </a:r>
          </a:p>
        </p:txBody>
      </p:sp>
      <p:sp>
        <p:nvSpPr>
          <p:cNvPr id="19" name="Rectangle 18"/>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4799" y="140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48799" y="1565999"/>
            <a:ext cx="3296400" cy="324000"/>
          </a:xfrm>
          <a:prstGeom prst="rect">
            <a:avLst/>
          </a:prstGeom>
          <a:noFill/>
        </p:spPr>
        <p:txBody>
          <a:bodyPr wrap="square">
            <a:spAutoFit/>
          </a:bodyPr>
          <a:lstStyle/>
          <a:p>
            <a:r>
              <a:rPr sz="1500" b="1" i="0">
                <a:solidFill>
                  <a:srgbClr val="3F7A72"/>
                </a:solidFill>
                <a:latin typeface="Calibri"/>
              </a:rPr>
              <a:t>Erklärung</a:t>
            </a:r>
          </a:p>
        </p:txBody>
      </p:sp>
      <p:sp>
        <p:nvSpPr>
          <p:cNvPr id="22" name="TextBox 21"/>
          <p:cNvSpPr txBox="1"/>
          <p:nvPr/>
        </p:nvSpPr>
        <p:spPr>
          <a:xfrm>
            <a:off x="8248799" y="2034000"/>
            <a:ext cx="3296400" cy="576000"/>
          </a:xfrm>
          <a:prstGeom prst="rect">
            <a:avLst/>
          </a:prstGeom>
          <a:noFill/>
        </p:spPr>
        <p:txBody>
          <a:bodyPr wrap="square">
            <a:spAutoFit/>
          </a:bodyPr>
          <a:lstStyle/>
          <a:p>
            <a:r>
              <a:rPr sz="1700" b="1" i="0">
                <a:solidFill>
                  <a:srgbClr val="3F7A72"/>
                </a:solidFill>
                <a:latin typeface="Calibri"/>
              </a:rPr>
              <a:t>⇄ Rechtskreiswechsel</a:t>
            </a:r>
          </a:p>
        </p:txBody>
      </p:sp>
      <p:sp>
        <p:nvSpPr>
          <p:cNvPr id="23" name="TextBox 22"/>
          <p:cNvSpPr txBox="1"/>
          <p:nvPr/>
        </p:nvSpPr>
        <p:spPr>
          <a:xfrm>
            <a:off x="8248799" y="2538000"/>
            <a:ext cx="3296400" cy="270000"/>
          </a:xfrm>
          <a:prstGeom prst="rect">
            <a:avLst/>
          </a:prstGeom>
          <a:noFill/>
        </p:spPr>
        <p:txBody>
          <a:bodyPr wrap="square">
            <a:spAutoFit/>
          </a:bodyPr>
          <a:lstStyle/>
          <a:p>
            <a:r>
              <a:rPr sz="1200" b="0" i="0">
                <a:solidFill>
                  <a:srgbClr val="6B7280"/>
                </a:solidFill>
                <a:latin typeface="Calibri"/>
              </a:rPr>
              <a:t>SGB II ↔ SGB III</a:t>
            </a:r>
          </a:p>
        </p:txBody>
      </p:sp>
      <p:sp>
        <p:nvSpPr>
          <p:cNvPr id="24" name="TextBox 23"/>
          <p:cNvSpPr txBox="1"/>
          <p:nvPr/>
        </p:nvSpPr>
        <p:spPr>
          <a:xfrm>
            <a:off x="8248799" y="3186000"/>
            <a:ext cx="3296400" cy="1530000"/>
          </a:xfrm>
          <a:prstGeom prst="rect">
            <a:avLst/>
          </a:prstGeom>
          <a:noFill/>
        </p:spPr>
        <p:txBody>
          <a:bodyPr wrap="square">
            <a:spAutoFit/>
          </a:bodyPr>
          <a:lstStyle/>
          <a:p>
            <a:r>
              <a:rPr sz="1300" b="0" i="0">
                <a:solidFill>
                  <a:srgbClr val="374151"/>
                </a:solidFill>
                <a:latin typeface="Calibri"/>
              </a:rPr>
              <a:t>Differenz zur tatsächlichen Bestandsänderung ist dadurch plausibel erklärbar.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6</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Demografie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Altersstruktur und Geschlecht als Zeitreihe</a:t>
            </a:r>
          </a:p>
          <a:p>
            <a:pPr>
              <a:spcAft>
                <a:spcPts val="1400"/>
              </a:spcAft>
            </a:pPr>
            <a:r>
              <a:rPr sz="1800" b="0" i="0">
                <a:solidFill>
                  <a:srgbClr val="E0E7FF"/>
                </a:solidFill>
                <a:latin typeface="Calibri"/>
              </a:rPr>
              <a:t>●  Ausländer und Schwerbehinderte erstmals ausgewertet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Altersstruktur im Zeitverlauf</a:t>
            </a:r>
          </a:p>
        </p:txBody>
      </p:sp>
      <p:pic>
        <p:nvPicPr>
          <p:cNvPr id="5" name="Picture 4" descr="abb13_altersstruktur.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25-50 Jahre größte Gruppe (~57 %); Anteil der 55+ an der Gruppe 50+ steigt von 64,8 % auf 68,8 %.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Geschlechterverteilung im Zeitverlauf</a:t>
            </a:r>
          </a:p>
        </p:txBody>
      </p:sp>
      <p:pic>
        <p:nvPicPr>
          <p:cNvPr id="5" name="Picture 4" descr="abb14_geschlecht.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Männeranteil steigt leicht von 53,1 % auf 54,5 %.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Ausländische Arbeitslose im Zeitverlauf</a:t>
            </a:r>
          </a:p>
        </p:txBody>
      </p:sp>
      <p:pic>
        <p:nvPicPr>
          <p:cNvPr id="5" name="Picture 4" descr="abb15_auslaender.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Überraschend hoher, deutlich rückläufiger Anteil: 51,7 % → 45,4 % des Bestands.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Schwerbehinderte Menschen im Zeitverlauf</a:t>
            </a:r>
          </a:p>
        </p:txBody>
      </p:sp>
      <p:pic>
        <p:nvPicPr>
          <p:cNvPr id="5" name="Picture 4" descr="abb16_schwerbehinderte.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Kleinerer, leicht steigender Anteil: 7,9 % → 8,7 %.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6.5</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350000"/>
            <a:ext cx="2383200" cy="324000"/>
          </a:xfrm>
          <a:prstGeom prst="rect">
            <a:avLst/>
          </a:prstGeom>
          <a:noFill/>
        </p:spPr>
        <p:txBody>
          <a:bodyPr wrap="square">
            <a:spAutoFit/>
          </a:bodyPr>
          <a:lstStyle/>
          <a:p>
            <a:r>
              <a:rPr sz="1400" b="1" i="0">
                <a:solidFill>
                  <a:srgbClr val="3B6EA8"/>
                </a:solidFill>
                <a:latin typeface="Calibri"/>
              </a:rPr>
              <a:t>Altersstruktur</a:t>
            </a:r>
          </a:p>
        </p:txBody>
      </p:sp>
      <p:sp>
        <p:nvSpPr>
          <p:cNvPr id="8" name="TextBox 7"/>
          <p:cNvSpPr txBox="1"/>
          <p:nvPr/>
        </p:nvSpPr>
        <p:spPr>
          <a:xfrm>
            <a:off x="630000" y="1782000"/>
            <a:ext cx="2383200" cy="576000"/>
          </a:xfrm>
          <a:prstGeom prst="rect">
            <a:avLst/>
          </a:prstGeom>
          <a:noFill/>
        </p:spPr>
        <p:txBody>
          <a:bodyPr wrap="square">
            <a:spAutoFit/>
          </a:bodyPr>
          <a:lstStyle/>
          <a:p>
            <a:r>
              <a:rPr sz="1800" b="1" i="0">
                <a:solidFill>
                  <a:srgbClr val="374151"/>
                </a:solidFill>
                <a:latin typeface="Calibri"/>
              </a:rPr>
              <a:t>64,8 % → 68,8 %</a:t>
            </a:r>
          </a:p>
        </p:txBody>
      </p:sp>
      <p:sp>
        <p:nvSpPr>
          <p:cNvPr id="9" name="TextBox 8"/>
          <p:cNvSpPr txBox="1"/>
          <p:nvPr/>
        </p:nvSpPr>
        <p:spPr>
          <a:xfrm>
            <a:off x="630000" y="2376000"/>
            <a:ext cx="2383200" cy="1332000"/>
          </a:xfrm>
          <a:prstGeom prst="rect">
            <a:avLst/>
          </a:prstGeom>
          <a:noFill/>
        </p:spPr>
        <p:txBody>
          <a:bodyPr wrap="square">
            <a:spAutoFit/>
          </a:bodyPr>
          <a:lstStyle/>
          <a:p>
            <a:r>
              <a:rPr sz="1250" b="0" i="0">
                <a:solidFill>
                  <a:srgbClr val="374151"/>
                </a:solidFill>
                <a:latin typeface="Calibri"/>
              </a:rPr>
              <a:t>Anteil der 55+ an der Gruppe 50+ — leichte Alterung</a:t>
            </a:r>
          </a:p>
        </p:txBody>
      </p:sp>
      <p:sp>
        <p:nvSpPr>
          <p:cNvPr id="10" name="Rectangle 9"/>
          <p:cNvSpPr/>
          <p:nvPr/>
        </p:nvSpPr>
        <p:spPr>
          <a:xfrm>
            <a:off x="33552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81200" y="1350000"/>
            <a:ext cx="2383200" cy="324000"/>
          </a:xfrm>
          <a:prstGeom prst="rect">
            <a:avLst/>
          </a:prstGeom>
          <a:noFill/>
        </p:spPr>
        <p:txBody>
          <a:bodyPr wrap="square">
            <a:spAutoFit/>
          </a:bodyPr>
          <a:lstStyle/>
          <a:p>
            <a:r>
              <a:rPr sz="1400" b="1" i="0">
                <a:solidFill>
                  <a:srgbClr val="6B5B8F"/>
                </a:solidFill>
                <a:latin typeface="Calibri"/>
              </a:rPr>
              <a:t>Geschlecht</a:t>
            </a:r>
          </a:p>
        </p:txBody>
      </p:sp>
      <p:sp>
        <p:nvSpPr>
          <p:cNvPr id="13" name="TextBox 12"/>
          <p:cNvSpPr txBox="1"/>
          <p:nvPr/>
        </p:nvSpPr>
        <p:spPr>
          <a:xfrm>
            <a:off x="3481200" y="1782000"/>
            <a:ext cx="2383200" cy="576000"/>
          </a:xfrm>
          <a:prstGeom prst="rect">
            <a:avLst/>
          </a:prstGeom>
          <a:noFill/>
        </p:spPr>
        <p:txBody>
          <a:bodyPr wrap="square">
            <a:spAutoFit/>
          </a:bodyPr>
          <a:lstStyle/>
          <a:p>
            <a:r>
              <a:rPr sz="1800" b="1" i="0">
                <a:solidFill>
                  <a:srgbClr val="374151"/>
                </a:solidFill>
                <a:latin typeface="Calibri"/>
              </a:rPr>
              <a:t>53,1 % → 54,5 %</a:t>
            </a:r>
          </a:p>
        </p:txBody>
      </p:sp>
      <p:sp>
        <p:nvSpPr>
          <p:cNvPr id="14" name="TextBox 13"/>
          <p:cNvSpPr txBox="1"/>
          <p:nvPr/>
        </p:nvSpPr>
        <p:spPr>
          <a:xfrm>
            <a:off x="3481200" y="2376000"/>
            <a:ext cx="2383200" cy="1332000"/>
          </a:xfrm>
          <a:prstGeom prst="rect">
            <a:avLst/>
          </a:prstGeom>
          <a:noFill/>
        </p:spPr>
        <p:txBody>
          <a:bodyPr wrap="square">
            <a:spAutoFit/>
          </a:bodyPr>
          <a:lstStyle/>
          <a:p>
            <a:r>
              <a:rPr sz="1250" b="0" i="0">
                <a:solidFill>
                  <a:srgbClr val="374151"/>
                </a:solidFill>
                <a:latin typeface="Calibri"/>
              </a:rPr>
              <a:t>Männeranteil — bemerkenswert stabil</a:t>
            </a:r>
          </a:p>
        </p:txBody>
      </p:sp>
      <p:sp>
        <p:nvSpPr>
          <p:cNvPr id="15" name="Rectangle 14"/>
          <p:cNvSpPr/>
          <p:nvPr/>
        </p:nvSpPr>
        <p:spPr>
          <a:xfrm>
            <a:off x="62028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2800" y="1224000"/>
            <a:ext cx="26352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800" y="1350000"/>
            <a:ext cx="2383200" cy="324000"/>
          </a:xfrm>
          <a:prstGeom prst="rect">
            <a:avLst/>
          </a:prstGeom>
          <a:noFill/>
        </p:spPr>
        <p:txBody>
          <a:bodyPr wrap="square">
            <a:spAutoFit/>
          </a:bodyPr>
          <a:lstStyle/>
          <a:p>
            <a:r>
              <a:rPr sz="1400" b="1" i="0">
                <a:solidFill>
                  <a:srgbClr val="A0453F"/>
                </a:solidFill>
                <a:latin typeface="Calibri"/>
              </a:rPr>
              <a:t>Ausländeranteil</a:t>
            </a:r>
          </a:p>
        </p:txBody>
      </p:sp>
      <p:sp>
        <p:nvSpPr>
          <p:cNvPr id="18" name="TextBox 17"/>
          <p:cNvSpPr txBox="1"/>
          <p:nvPr/>
        </p:nvSpPr>
        <p:spPr>
          <a:xfrm>
            <a:off x="6328800" y="1782000"/>
            <a:ext cx="2383200" cy="576000"/>
          </a:xfrm>
          <a:prstGeom prst="rect">
            <a:avLst/>
          </a:prstGeom>
          <a:noFill/>
        </p:spPr>
        <p:txBody>
          <a:bodyPr wrap="square">
            <a:spAutoFit/>
          </a:bodyPr>
          <a:lstStyle/>
          <a:p>
            <a:r>
              <a:rPr sz="1800" b="1" i="0">
                <a:solidFill>
                  <a:srgbClr val="374151"/>
                </a:solidFill>
                <a:latin typeface="Calibri"/>
              </a:rPr>
              <a:t>51,7 % → 45,4 %</a:t>
            </a:r>
          </a:p>
        </p:txBody>
      </p:sp>
      <p:sp>
        <p:nvSpPr>
          <p:cNvPr id="19" name="TextBox 18"/>
          <p:cNvSpPr txBox="1"/>
          <p:nvPr/>
        </p:nvSpPr>
        <p:spPr>
          <a:xfrm>
            <a:off x="6328800" y="2376000"/>
            <a:ext cx="2383200" cy="1332000"/>
          </a:xfrm>
          <a:prstGeom prst="rect">
            <a:avLst/>
          </a:prstGeom>
          <a:noFill/>
        </p:spPr>
        <p:txBody>
          <a:bodyPr wrap="square">
            <a:spAutoFit/>
          </a:bodyPr>
          <a:lstStyle/>
          <a:p>
            <a:r>
              <a:rPr sz="1250" b="0" i="0">
                <a:solidFill>
                  <a:srgbClr val="374151"/>
                </a:solidFill>
                <a:latin typeface="Calibri"/>
              </a:rPr>
              <a:t>★ Deutlich rückläufig — auffälligste neue Erkenntnis</a:t>
            </a:r>
          </a:p>
        </p:txBody>
      </p:sp>
      <p:sp>
        <p:nvSpPr>
          <p:cNvPr id="20" name="Rectangle 19"/>
          <p:cNvSpPr/>
          <p:nvPr/>
        </p:nvSpPr>
        <p:spPr>
          <a:xfrm>
            <a:off x="90540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000" y="1350000"/>
            <a:ext cx="2383200" cy="324000"/>
          </a:xfrm>
          <a:prstGeom prst="rect">
            <a:avLst/>
          </a:prstGeom>
          <a:noFill/>
        </p:spPr>
        <p:txBody>
          <a:bodyPr wrap="square">
            <a:spAutoFit/>
          </a:bodyPr>
          <a:lstStyle/>
          <a:p>
            <a:r>
              <a:rPr sz="1400" b="1" i="0">
                <a:solidFill>
                  <a:srgbClr val="3F7A72"/>
                </a:solidFill>
                <a:latin typeface="Calibri"/>
              </a:rPr>
              <a:t>Schwerbehinderte</a:t>
            </a:r>
          </a:p>
        </p:txBody>
      </p:sp>
      <p:sp>
        <p:nvSpPr>
          <p:cNvPr id="23" name="TextBox 22"/>
          <p:cNvSpPr txBox="1"/>
          <p:nvPr/>
        </p:nvSpPr>
        <p:spPr>
          <a:xfrm>
            <a:off x="9180000" y="1782000"/>
            <a:ext cx="2383200" cy="576000"/>
          </a:xfrm>
          <a:prstGeom prst="rect">
            <a:avLst/>
          </a:prstGeom>
          <a:noFill/>
        </p:spPr>
        <p:txBody>
          <a:bodyPr wrap="square">
            <a:spAutoFit/>
          </a:bodyPr>
          <a:lstStyle/>
          <a:p>
            <a:r>
              <a:rPr sz="1800" b="1" i="0">
                <a:solidFill>
                  <a:srgbClr val="374151"/>
                </a:solidFill>
                <a:latin typeface="Calibri"/>
              </a:rPr>
              <a:t>7,9 % → 8,7 %</a:t>
            </a:r>
          </a:p>
        </p:txBody>
      </p:sp>
      <p:sp>
        <p:nvSpPr>
          <p:cNvPr id="24" name="TextBox 23"/>
          <p:cNvSpPr txBox="1"/>
          <p:nvPr/>
        </p:nvSpPr>
        <p:spPr>
          <a:xfrm>
            <a:off x="9180000" y="2376000"/>
            <a:ext cx="2383200" cy="1332000"/>
          </a:xfrm>
          <a:prstGeom prst="rect">
            <a:avLst/>
          </a:prstGeom>
          <a:noFill/>
        </p:spPr>
        <p:txBody>
          <a:bodyPr wrap="square">
            <a:spAutoFit/>
          </a:bodyPr>
          <a:lstStyle/>
          <a:p>
            <a:r>
              <a:rPr sz="1250" b="0" i="0">
                <a:solidFill>
                  <a:srgbClr val="374151"/>
                </a:solidFill>
                <a:latin typeface="Calibri"/>
              </a:rPr>
              <a:t>Kleinerer, leicht steigender Anteil</a:t>
            </a:r>
          </a:p>
        </p:txBody>
      </p:sp>
      <p:sp>
        <p:nvSpPr>
          <p:cNvPr id="25" name="Rectangle 24"/>
          <p:cNvSpPr/>
          <p:nvPr/>
        </p:nvSpPr>
        <p:spPr>
          <a:xfrm>
            <a:off x="503999" y="397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3999" y="397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999" y="4122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8" name="TextBox 27"/>
          <p:cNvSpPr txBox="1"/>
          <p:nvPr/>
        </p:nvSpPr>
        <p:spPr>
          <a:xfrm>
            <a:off x="827999" y="4464000"/>
            <a:ext cx="10620000" cy="846000"/>
          </a:xfrm>
          <a:prstGeom prst="rect">
            <a:avLst/>
          </a:prstGeom>
          <a:noFill/>
        </p:spPr>
        <p:txBody>
          <a:bodyPr wrap="square">
            <a:spAutoFit/>
          </a:bodyPr>
          <a:lstStyle/>
          <a:p>
            <a:r>
              <a:rPr sz="1600" b="0" i="0">
                <a:solidFill>
                  <a:srgbClr val="374151"/>
                </a:solidFill>
                <a:latin typeface="Calibri"/>
              </a:rPr>
              <a:t>Der deutlich rückläufige Ausländeranteil (51,7 % → 45,4 %) ist die auffälligste neue Erkenntnis dieses Kapitels — Altersstruktur, Geschlecht und der Anteil Schwerbehinderter sind vergleichsweise stabil.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C79A56"/>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7</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Erwerbstätigkeit ("Aufstocker")</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Aufstockerquote im Zeitverlauf</a:t>
            </a:r>
          </a:p>
          <a:p>
            <a:pPr>
              <a:spcAft>
                <a:spcPts val="1400"/>
              </a:spcAft>
            </a:pPr>
            <a:r>
              <a:rPr sz="1800" b="0" i="0">
                <a:solidFill>
                  <a:srgbClr val="E0E7FF"/>
                </a:solidFill>
                <a:latin typeface="Calibri"/>
              </a:rPr>
              <a:t>●  Erwerbsform und Einkommensstruktur</a:t>
            </a:r>
          </a:p>
          <a:p>
            <a:pPr>
              <a:spcAft>
                <a:spcPts val="1400"/>
              </a:spcAft>
            </a:pPr>
            <a:r>
              <a:rPr sz="1800" b="0" i="0">
                <a:solidFill>
                  <a:srgbClr val="E0E7FF"/>
                </a:solidFill>
                <a:latin typeface="Calibri"/>
              </a:rPr>
              <a:t>●  Neues Tabellenblatt: 3.3 Erwerbstätigkeit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Aufstockerquote im Zeitverlauf</a:t>
            </a:r>
          </a:p>
        </p:txBody>
      </p:sp>
      <p:pic>
        <p:nvPicPr>
          <p:cNvPr id="5" name="Picture 4" descr="abb17_aufstockerquote.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Stabil bei Ø 21,4 % — rund jede fünfte ELB ist erwerbstätig, verdient aber nicht genug für den Ausstieg aus dem Bürgergeld.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Abhängig vs. selbständig erwerbstätig</a:t>
            </a:r>
          </a:p>
        </p:txBody>
      </p:sp>
      <p:pic>
        <p:nvPicPr>
          <p:cNvPr id="5" name="Picture 4" descr="abb18_abhaengig_selbstaendig.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Klar dominiert von abhängiger Beschäftigung (93–94 %).</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Einkommensstruktur der abhängig Erwerbstätigen</a:t>
            </a:r>
          </a:p>
        </p:txBody>
      </p:sp>
      <p:pic>
        <p:nvPicPr>
          <p:cNvPr id="5" name="Picture 4" descr="abb19_einkommensstruktur.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Leichte Verschiebung zu höheren Einkommen: „bis Geringfügigkeitsgrenze“ sinkt, „im/über Übergangsbereich“ steigen.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7.4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350000"/>
            <a:ext cx="2383200" cy="324000"/>
          </a:xfrm>
          <a:prstGeom prst="rect">
            <a:avLst/>
          </a:prstGeom>
          <a:noFill/>
        </p:spPr>
        <p:txBody>
          <a:bodyPr wrap="square">
            <a:spAutoFit/>
          </a:bodyPr>
          <a:lstStyle/>
          <a:p>
            <a:r>
              <a:rPr sz="1400" b="1" i="0">
                <a:solidFill>
                  <a:srgbClr val="3B6EA8"/>
                </a:solidFill>
                <a:latin typeface="Calibri"/>
              </a:rPr>
              <a:t>Aufstockerquote</a:t>
            </a:r>
          </a:p>
        </p:txBody>
      </p:sp>
      <p:sp>
        <p:nvSpPr>
          <p:cNvPr id="8" name="TextBox 7"/>
          <p:cNvSpPr txBox="1"/>
          <p:nvPr/>
        </p:nvSpPr>
        <p:spPr>
          <a:xfrm>
            <a:off x="630000" y="1782000"/>
            <a:ext cx="2383200" cy="576000"/>
          </a:xfrm>
          <a:prstGeom prst="rect">
            <a:avLst/>
          </a:prstGeom>
          <a:noFill/>
        </p:spPr>
        <p:txBody>
          <a:bodyPr wrap="square">
            <a:spAutoFit/>
          </a:bodyPr>
          <a:lstStyle/>
          <a:p>
            <a:r>
              <a:rPr sz="1800" b="1" i="0">
                <a:solidFill>
                  <a:srgbClr val="374151"/>
                </a:solidFill>
                <a:latin typeface="Calibri"/>
              </a:rPr>
              <a:t>Ø 21,4 %</a:t>
            </a:r>
          </a:p>
        </p:txBody>
      </p:sp>
      <p:sp>
        <p:nvSpPr>
          <p:cNvPr id="9" name="TextBox 8"/>
          <p:cNvSpPr txBox="1"/>
          <p:nvPr/>
        </p:nvSpPr>
        <p:spPr>
          <a:xfrm>
            <a:off x="630000" y="2376000"/>
            <a:ext cx="2383200" cy="1332000"/>
          </a:xfrm>
          <a:prstGeom prst="rect">
            <a:avLst/>
          </a:prstGeom>
          <a:noFill/>
        </p:spPr>
        <p:txBody>
          <a:bodyPr wrap="square">
            <a:spAutoFit/>
          </a:bodyPr>
          <a:lstStyle/>
          <a:p>
            <a:r>
              <a:rPr sz="1250" b="0" i="0">
                <a:solidFill>
                  <a:srgbClr val="374151"/>
                </a:solidFill>
                <a:latin typeface="Calibri"/>
              </a:rPr>
              <a:t>Rund jede fünfte ELB ist erwerbstätig</a:t>
            </a:r>
          </a:p>
        </p:txBody>
      </p:sp>
      <p:sp>
        <p:nvSpPr>
          <p:cNvPr id="10" name="Rectangle 9"/>
          <p:cNvSpPr/>
          <p:nvPr/>
        </p:nvSpPr>
        <p:spPr>
          <a:xfrm>
            <a:off x="33552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81200" y="1350000"/>
            <a:ext cx="2383200" cy="324000"/>
          </a:xfrm>
          <a:prstGeom prst="rect">
            <a:avLst/>
          </a:prstGeom>
          <a:noFill/>
        </p:spPr>
        <p:txBody>
          <a:bodyPr wrap="square">
            <a:spAutoFit/>
          </a:bodyPr>
          <a:lstStyle/>
          <a:p>
            <a:r>
              <a:rPr sz="1400" b="1" i="0">
                <a:solidFill>
                  <a:srgbClr val="6B5B8F"/>
                </a:solidFill>
                <a:latin typeface="Calibri"/>
              </a:rPr>
              <a:t>Erwerbsform</a:t>
            </a:r>
          </a:p>
        </p:txBody>
      </p:sp>
      <p:sp>
        <p:nvSpPr>
          <p:cNvPr id="13" name="TextBox 12"/>
          <p:cNvSpPr txBox="1"/>
          <p:nvPr/>
        </p:nvSpPr>
        <p:spPr>
          <a:xfrm>
            <a:off x="3481200" y="1782000"/>
            <a:ext cx="2383200" cy="576000"/>
          </a:xfrm>
          <a:prstGeom prst="rect">
            <a:avLst/>
          </a:prstGeom>
          <a:noFill/>
        </p:spPr>
        <p:txBody>
          <a:bodyPr wrap="square">
            <a:spAutoFit/>
          </a:bodyPr>
          <a:lstStyle/>
          <a:p>
            <a:r>
              <a:rPr sz="1800" b="1" i="0">
                <a:solidFill>
                  <a:srgbClr val="374151"/>
                </a:solidFill>
                <a:latin typeface="Calibri"/>
              </a:rPr>
              <a:t>93–94 %</a:t>
            </a:r>
          </a:p>
        </p:txBody>
      </p:sp>
      <p:sp>
        <p:nvSpPr>
          <p:cNvPr id="14" name="TextBox 13"/>
          <p:cNvSpPr txBox="1"/>
          <p:nvPr/>
        </p:nvSpPr>
        <p:spPr>
          <a:xfrm>
            <a:off x="3481200" y="2376000"/>
            <a:ext cx="2383200" cy="1332000"/>
          </a:xfrm>
          <a:prstGeom prst="rect">
            <a:avLst/>
          </a:prstGeom>
          <a:noFill/>
        </p:spPr>
        <p:txBody>
          <a:bodyPr wrap="square">
            <a:spAutoFit/>
          </a:bodyPr>
          <a:lstStyle/>
          <a:p>
            <a:r>
              <a:rPr sz="1250" b="0" i="0">
                <a:solidFill>
                  <a:srgbClr val="374151"/>
                </a:solidFill>
                <a:latin typeface="Calibri"/>
              </a:rPr>
              <a:t>Klar dominiert von abhängiger Beschäftigung</a:t>
            </a:r>
          </a:p>
        </p:txBody>
      </p:sp>
      <p:sp>
        <p:nvSpPr>
          <p:cNvPr id="15" name="Rectangle 14"/>
          <p:cNvSpPr/>
          <p:nvPr/>
        </p:nvSpPr>
        <p:spPr>
          <a:xfrm>
            <a:off x="62028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28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800" y="1350000"/>
            <a:ext cx="2383200" cy="324000"/>
          </a:xfrm>
          <a:prstGeom prst="rect">
            <a:avLst/>
          </a:prstGeom>
          <a:noFill/>
        </p:spPr>
        <p:txBody>
          <a:bodyPr wrap="square">
            <a:spAutoFit/>
          </a:bodyPr>
          <a:lstStyle/>
          <a:p>
            <a:r>
              <a:rPr sz="1400" b="1" i="0">
                <a:solidFill>
                  <a:srgbClr val="3F7A72"/>
                </a:solidFill>
                <a:latin typeface="Calibri"/>
              </a:rPr>
              <a:t>Einkommensstruktur</a:t>
            </a:r>
          </a:p>
        </p:txBody>
      </p:sp>
      <p:sp>
        <p:nvSpPr>
          <p:cNvPr id="18" name="TextBox 17"/>
          <p:cNvSpPr txBox="1"/>
          <p:nvPr/>
        </p:nvSpPr>
        <p:spPr>
          <a:xfrm>
            <a:off x="6328800" y="1782000"/>
            <a:ext cx="2383200" cy="576000"/>
          </a:xfrm>
          <a:prstGeom prst="rect">
            <a:avLst/>
          </a:prstGeom>
          <a:noFill/>
        </p:spPr>
        <p:txBody>
          <a:bodyPr wrap="square">
            <a:spAutoFit/>
          </a:bodyPr>
          <a:lstStyle/>
          <a:p>
            <a:r>
              <a:rPr sz="1800" b="1" i="0">
                <a:solidFill>
                  <a:srgbClr val="374151"/>
                </a:solidFill>
                <a:latin typeface="Calibri"/>
              </a:rPr>
              <a:t>↗ leicht steigend</a:t>
            </a:r>
          </a:p>
        </p:txBody>
      </p:sp>
      <p:sp>
        <p:nvSpPr>
          <p:cNvPr id="19" name="TextBox 18"/>
          <p:cNvSpPr txBox="1"/>
          <p:nvPr/>
        </p:nvSpPr>
        <p:spPr>
          <a:xfrm>
            <a:off x="6328800" y="2376000"/>
            <a:ext cx="2383200" cy="1332000"/>
          </a:xfrm>
          <a:prstGeom prst="rect">
            <a:avLst/>
          </a:prstGeom>
          <a:noFill/>
        </p:spPr>
        <p:txBody>
          <a:bodyPr wrap="square">
            <a:spAutoFit/>
          </a:bodyPr>
          <a:lstStyle/>
          <a:p>
            <a:r>
              <a:rPr sz="1250" b="0" i="0">
                <a:solidFill>
                  <a:srgbClr val="374151"/>
                </a:solidFill>
                <a:latin typeface="Calibri"/>
              </a:rPr>
              <a:t>Verschiebung zu höheren Einkommen innerhalb der Aufstocker</a:t>
            </a:r>
          </a:p>
        </p:txBody>
      </p:sp>
      <p:sp>
        <p:nvSpPr>
          <p:cNvPr id="20" name="Rectangle 19"/>
          <p:cNvSpPr/>
          <p:nvPr/>
        </p:nvSpPr>
        <p:spPr>
          <a:xfrm>
            <a:off x="90540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54000" y="1224000"/>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000" y="1350000"/>
            <a:ext cx="2383200" cy="324000"/>
          </a:xfrm>
          <a:prstGeom prst="rect">
            <a:avLst/>
          </a:prstGeom>
          <a:noFill/>
        </p:spPr>
        <p:txBody>
          <a:bodyPr wrap="square">
            <a:spAutoFit/>
          </a:bodyPr>
          <a:lstStyle/>
          <a:p>
            <a:r>
              <a:rPr sz="1400" b="1" i="0">
                <a:solidFill>
                  <a:srgbClr val="C79A56"/>
                </a:solidFill>
                <a:latin typeface="Calibri"/>
              </a:rPr>
              <a:t>Datenbesonderheit</a:t>
            </a:r>
          </a:p>
        </p:txBody>
      </p:sp>
      <p:sp>
        <p:nvSpPr>
          <p:cNvPr id="23" name="TextBox 22"/>
          <p:cNvSpPr txBox="1"/>
          <p:nvPr/>
        </p:nvSpPr>
        <p:spPr>
          <a:xfrm>
            <a:off x="9180000" y="1782000"/>
            <a:ext cx="2383200" cy="576000"/>
          </a:xfrm>
          <a:prstGeom prst="rect">
            <a:avLst/>
          </a:prstGeom>
          <a:noFill/>
        </p:spPr>
        <p:txBody>
          <a:bodyPr wrap="square">
            <a:spAutoFit/>
          </a:bodyPr>
          <a:lstStyle/>
          <a:p>
            <a:r>
              <a:rPr sz="1800" b="1" i="0">
                <a:solidFill>
                  <a:srgbClr val="374151"/>
                </a:solidFill>
                <a:latin typeface="Calibri"/>
              </a:rPr>
              <a:t>Okt 2024 – Mär 2026</a:t>
            </a:r>
          </a:p>
        </p:txBody>
      </p:sp>
      <p:sp>
        <p:nvSpPr>
          <p:cNvPr id="24" name="TextBox 23"/>
          <p:cNvSpPr txBox="1"/>
          <p:nvPr/>
        </p:nvSpPr>
        <p:spPr>
          <a:xfrm>
            <a:off x="9180000" y="2376000"/>
            <a:ext cx="2383200" cy="1332000"/>
          </a:xfrm>
          <a:prstGeom prst="rect">
            <a:avLst/>
          </a:prstGeom>
          <a:noFill/>
        </p:spPr>
        <p:txBody>
          <a:bodyPr wrap="square">
            <a:spAutoFit/>
          </a:bodyPr>
          <a:lstStyle/>
          <a:p>
            <a:r>
              <a:rPr sz="1250" b="0" i="0">
                <a:solidFill>
                  <a:srgbClr val="374151"/>
                </a:solidFill>
                <a:latin typeface="Calibri"/>
              </a:rPr>
              <a:t>Eigenes Zeitfenster mit 3 Monaten Wartezeit, unabhängig vom Sidebar-Filter</a:t>
            </a:r>
          </a:p>
        </p:txBody>
      </p:sp>
      <p:sp>
        <p:nvSpPr>
          <p:cNvPr id="25" name="Rectangle 24"/>
          <p:cNvSpPr/>
          <p:nvPr/>
        </p:nvSpPr>
        <p:spPr>
          <a:xfrm>
            <a:off x="503999" y="397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3999" y="3978000"/>
            <a:ext cx="90000" cy="144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999" y="4122000"/>
            <a:ext cx="10620000" cy="324000"/>
          </a:xfrm>
          <a:prstGeom prst="rect">
            <a:avLst/>
          </a:prstGeom>
          <a:noFill/>
        </p:spPr>
        <p:txBody>
          <a:bodyPr wrap="square">
            <a:spAutoFit/>
          </a:bodyPr>
          <a:lstStyle/>
          <a:p>
            <a:r>
              <a:rPr sz="1800" b="1" i="0">
                <a:solidFill>
                  <a:srgbClr val="3B6EA8"/>
                </a:solidFill>
                <a:latin typeface="Calibri"/>
              </a:rPr>
              <a:t>Fazit</a:t>
            </a:r>
          </a:p>
        </p:txBody>
      </p:sp>
      <p:sp>
        <p:nvSpPr>
          <p:cNvPr id="28" name="TextBox 27"/>
          <p:cNvSpPr txBox="1"/>
          <p:nvPr/>
        </p:nvSpPr>
        <p:spPr>
          <a:xfrm>
            <a:off x="827999" y="4464000"/>
            <a:ext cx="10620000" cy="846000"/>
          </a:xfrm>
          <a:prstGeom prst="rect">
            <a:avLst/>
          </a:prstGeom>
          <a:noFill/>
        </p:spPr>
        <p:txBody>
          <a:bodyPr wrap="square">
            <a:spAutoFit/>
          </a:bodyPr>
          <a:lstStyle/>
          <a:p>
            <a:r>
              <a:rPr sz="1600" b="0" i="0">
                <a:solidFill>
                  <a:srgbClr val="374151"/>
                </a:solidFill>
                <a:latin typeface="Calibri"/>
              </a:rPr>
              <a:t>Die Aufstockerquote bleibt über den gesamten Beobachtungszeitraum bemerkenswert konstant — die Erwerbstätigenstruktur unter Bürgergeld-Beziehenden zeigt sich stabil, mit nur leichten Verschiebungen hin zu höheren Einkommen.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3F7A72"/>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8</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Finanzen (Zahlungsansprüche)</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Einzige Quelle für Euro-Beträge im Datensatz</a:t>
            </a:r>
          </a:p>
          <a:p>
            <a:pPr>
              <a:spcAft>
                <a:spcPts val="1400"/>
              </a:spcAft>
            </a:pPr>
            <a:r>
              <a:rPr sz="1800" b="0" i="0">
                <a:solidFill>
                  <a:srgbClr val="E0E7FF"/>
                </a:solidFill>
                <a:latin typeface="Calibri"/>
              </a:rPr>
              <a:t>●  Gesamtvolumen und Struktur der Zahlungsansprüche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Gesamtvolumen und Ø je Bedarfsgemeinschaft</a:t>
            </a:r>
          </a:p>
        </p:txBody>
      </p:sp>
      <p:pic>
        <p:nvPicPr>
          <p:cNvPr id="5" name="Picture 4" descr="abb20_zahlungsanspruch_volumen.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Gesamtvolumen praktisch stabil (3.451,5 → 3.473,0 Tsd. Euro), Ø je BG spürbar gestiegen (1.251 € → 1.288 €).</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der Zahlungsansprüche</a:t>
            </a:r>
          </a:p>
        </p:txBody>
      </p:sp>
      <p:pic>
        <p:nvPicPr>
          <p:cNvPr id="5" name="Picture 4" descr="abb21_zahlungsanspruch_struktur.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Regelbedarf ELB (~40 %) und Kosten der Unterkunft (~36 %) dominieren; Sozialversicherungsbeiträge-Anteil steigt deutlich.</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8.3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Gesamtvolumen &amp; Ø je BG</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GESAMTVOLUMEN (TSD. €)</a:t>
            </a:r>
          </a:p>
        </p:txBody>
      </p:sp>
      <p:sp>
        <p:nvSpPr>
          <p:cNvPr id="9" name="TextBox 8"/>
          <p:cNvSpPr txBox="1"/>
          <p:nvPr/>
        </p:nvSpPr>
        <p:spPr>
          <a:xfrm>
            <a:off x="647999" y="2124000"/>
            <a:ext cx="3296400" cy="396000"/>
          </a:xfrm>
          <a:prstGeom prst="rect">
            <a:avLst/>
          </a:prstGeom>
          <a:noFill/>
        </p:spPr>
        <p:txBody>
          <a:bodyPr wrap="square">
            <a:spAutoFit/>
          </a:bodyPr>
          <a:lstStyle/>
          <a:p>
            <a:r>
              <a:rPr sz="1900" b="1" i="0">
                <a:solidFill>
                  <a:srgbClr val="374151"/>
                </a:solidFill>
                <a:latin typeface="Calibri"/>
              </a:rPr>
              <a:t>3.451,5 → 3.473,0</a:t>
            </a:r>
          </a:p>
        </p:txBody>
      </p:sp>
      <p:sp>
        <p:nvSpPr>
          <p:cNvPr id="10" name="TextBox 9"/>
          <p:cNvSpPr txBox="1"/>
          <p:nvPr/>
        </p:nvSpPr>
        <p:spPr>
          <a:xfrm>
            <a:off x="647999" y="2592000"/>
            <a:ext cx="3296400" cy="162000"/>
          </a:xfrm>
          <a:prstGeom prst="rect">
            <a:avLst/>
          </a:prstGeom>
          <a:noFill/>
        </p:spPr>
        <p:txBody>
          <a:bodyPr wrap="square">
            <a:spAutoFit/>
          </a:bodyPr>
          <a:lstStyle/>
          <a:p>
            <a:r>
              <a:rPr sz="1050" b="1" i="0">
                <a:solidFill>
                  <a:srgbClr val="6B7280"/>
                </a:solidFill>
                <a:latin typeface="Calibri"/>
              </a:rPr>
              <a:t>Ø JE BEDARFSGEMEINSCHAFT</a:t>
            </a:r>
          </a:p>
        </p:txBody>
      </p:sp>
      <p:sp>
        <p:nvSpPr>
          <p:cNvPr id="11" name="TextBox 10"/>
          <p:cNvSpPr txBox="1"/>
          <p:nvPr/>
        </p:nvSpPr>
        <p:spPr>
          <a:xfrm>
            <a:off x="647999" y="2754000"/>
            <a:ext cx="3296400" cy="396000"/>
          </a:xfrm>
          <a:prstGeom prst="rect">
            <a:avLst/>
          </a:prstGeom>
          <a:noFill/>
        </p:spPr>
        <p:txBody>
          <a:bodyPr wrap="square">
            <a:spAutoFit/>
          </a:bodyPr>
          <a:lstStyle/>
          <a:p>
            <a:r>
              <a:rPr sz="1900" b="1" i="0">
                <a:solidFill>
                  <a:srgbClr val="374151"/>
                </a:solidFill>
                <a:latin typeface="Calibri"/>
              </a:rPr>
              <a:t>1.251 € → 1.288 €</a:t>
            </a:r>
          </a:p>
        </p:txBody>
      </p:sp>
      <p:sp>
        <p:nvSpPr>
          <p:cNvPr id="12" name="TextBox 11"/>
          <p:cNvSpPr txBox="1"/>
          <p:nvPr/>
        </p:nvSpPr>
        <p:spPr>
          <a:xfrm>
            <a:off x="647999" y="3311999"/>
            <a:ext cx="3296400" cy="1404000"/>
          </a:xfrm>
          <a:prstGeom prst="rect">
            <a:avLst/>
          </a:prstGeom>
          <a:noFill/>
        </p:spPr>
        <p:txBody>
          <a:bodyPr wrap="square">
            <a:spAutoFit/>
          </a:bodyPr>
          <a:lstStyle/>
          <a:p>
            <a:r>
              <a:rPr sz="1250" b="0" i="0">
                <a:solidFill>
                  <a:srgbClr val="374151"/>
                </a:solidFill>
                <a:latin typeface="Calibri"/>
              </a:rPr>
              <a:t>Gesamtvolumen praktisch stabil, Durchschnitt je BG deutlich gestiegen.</a:t>
            </a:r>
          </a:p>
        </p:txBody>
      </p:sp>
      <p:sp>
        <p:nvSpPr>
          <p:cNvPr id="13" name="Rectangle 12"/>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Kostenstruktur</a:t>
            </a:r>
          </a:p>
        </p:txBody>
      </p:sp>
      <p:sp>
        <p:nvSpPr>
          <p:cNvPr id="16" name="TextBox 15"/>
          <p:cNvSpPr txBox="1"/>
          <p:nvPr/>
        </p:nvSpPr>
        <p:spPr>
          <a:xfrm>
            <a:off x="4448400" y="1962000"/>
            <a:ext cx="3296400" cy="162000"/>
          </a:xfrm>
          <a:prstGeom prst="rect">
            <a:avLst/>
          </a:prstGeom>
          <a:noFill/>
        </p:spPr>
        <p:txBody>
          <a:bodyPr wrap="square">
            <a:spAutoFit/>
          </a:bodyPr>
          <a:lstStyle/>
          <a:p>
            <a:r>
              <a:rPr sz="1050" b="1" i="0">
                <a:solidFill>
                  <a:srgbClr val="6B7280"/>
                </a:solidFill>
                <a:latin typeface="Calibri"/>
              </a:rPr>
              <a:t>REGELBEDARF ELB</a:t>
            </a:r>
          </a:p>
        </p:txBody>
      </p:sp>
      <p:sp>
        <p:nvSpPr>
          <p:cNvPr id="17" name="TextBox 16"/>
          <p:cNvSpPr txBox="1"/>
          <p:nvPr/>
        </p:nvSpPr>
        <p:spPr>
          <a:xfrm>
            <a:off x="4448400" y="2124000"/>
            <a:ext cx="3296400" cy="396000"/>
          </a:xfrm>
          <a:prstGeom prst="rect">
            <a:avLst/>
          </a:prstGeom>
          <a:noFill/>
        </p:spPr>
        <p:txBody>
          <a:bodyPr wrap="square">
            <a:spAutoFit/>
          </a:bodyPr>
          <a:lstStyle/>
          <a:p>
            <a:r>
              <a:rPr sz="1900" b="1" i="0">
                <a:solidFill>
                  <a:srgbClr val="374151"/>
                </a:solidFill>
                <a:latin typeface="Calibri"/>
              </a:rPr>
              <a:t>~ 40 %</a:t>
            </a:r>
          </a:p>
        </p:txBody>
      </p:sp>
      <p:sp>
        <p:nvSpPr>
          <p:cNvPr id="18" name="TextBox 17"/>
          <p:cNvSpPr txBox="1"/>
          <p:nvPr/>
        </p:nvSpPr>
        <p:spPr>
          <a:xfrm>
            <a:off x="4448400" y="2592000"/>
            <a:ext cx="3296400" cy="162000"/>
          </a:xfrm>
          <a:prstGeom prst="rect">
            <a:avLst/>
          </a:prstGeom>
          <a:noFill/>
        </p:spPr>
        <p:txBody>
          <a:bodyPr wrap="square">
            <a:spAutoFit/>
          </a:bodyPr>
          <a:lstStyle/>
          <a:p>
            <a:r>
              <a:rPr sz="1050" b="1" i="0">
                <a:solidFill>
                  <a:srgbClr val="6B7280"/>
                </a:solidFill>
                <a:latin typeface="Calibri"/>
              </a:rPr>
              <a:t>KOSTEN DER UNTERKUNFT</a:t>
            </a:r>
          </a:p>
        </p:txBody>
      </p:sp>
      <p:sp>
        <p:nvSpPr>
          <p:cNvPr id="19" name="TextBox 18"/>
          <p:cNvSpPr txBox="1"/>
          <p:nvPr/>
        </p:nvSpPr>
        <p:spPr>
          <a:xfrm>
            <a:off x="4448400" y="2754000"/>
            <a:ext cx="3296400" cy="396000"/>
          </a:xfrm>
          <a:prstGeom prst="rect">
            <a:avLst/>
          </a:prstGeom>
          <a:noFill/>
        </p:spPr>
        <p:txBody>
          <a:bodyPr wrap="square">
            <a:spAutoFit/>
          </a:bodyPr>
          <a:lstStyle/>
          <a:p>
            <a:r>
              <a:rPr sz="1900" b="1" i="0">
                <a:solidFill>
                  <a:srgbClr val="374151"/>
                </a:solidFill>
                <a:latin typeface="Calibri"/>
              </a:rPr>
              <a:t>~ 36 %</a:t>
            </a:r>
          </a:p>
        </p:txBody>
      </p:sp>
      <p:sp>
        <p:nvSpPr>
          <p:cNvPr id="20" name="TextBox 19"/>
          <p:cNvSpPr txBox="1"/>
          <p:nvPr/>
        </p:nvSpPr>
        <p:spPr>
          <a:xfrm>
            <a:off x="4448400" y="3311999"/>
            <a:ext cx="3296400" cy="1404000"/>
          </a:xfrm>
          <a:prstGeom prst="rect">
            <a:avLst/>
          </a:prstGeom>
          <a:noFill/>
        </p:spPr>
        <p:txBody>
          <a:bodyPr wrap="square">
            <a:spAutoFit/>
          </a:bodyPr>
          <a:lstStyle/>
          <a:p>
            <a:r>
              <a:rPr sz="1250" b="0" i="0">
                <a:solidFill>
                  <a:srgbClr val="374151"/>
                </a:solidFill>
                <a:latin typeface="Calibri"/>
              </a:rPr>
              <a:t>Regelbedarf ELB und Kosten der Unterkunft dominieren die Struktur.</a:t>
            </a:r>
          </a:p>
        </p:txBody>
      </p:sp>
      <p:sp>
        <p:nvSpPr>
          <p:cNvPr id="21" name="Rectangle 20"/>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04799" y="140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8799" y="1565999"/>
            <a:ext cx="3296400" cy="324000"/>
          </a:xfrm>
          <a:prstGeom prst="rect">
            <a:avLst/>
          </a:prstGeom>
          <a:noFill/>
        </p:spPr>
        <p:txBody>
          <a:bodyPr wrap="square">
            <a:spAutoFit/>
          </a:bodyPr>
          <a:lstStyle/>
          <a:p>
            <a:r>
              <a:rPr sz="1500" b="1" i="0">
                <a:solidFill>
                  <a:srgbClr val="A0453F"/>
                </a:solidFill>
                <a:latin typeface="Calibri"/>
              </a:rPr>
              <a:t>Sozialversicherung</a:t>
            </a:r>
          </a:p>
        </p:txBody>
      </p:sp>
      <p:sp>
        <p:nvSpPr>
          <p:cNvPr id="24" name="TextBox 23"/>
          <p:cNvSpPr txBox="1"/>
          <p:nvPr/>
        </p:nvSpPr>
        <p:spPr>
          <a:xfrm>
            <a:off x="8248799" y="1962000"/>
            <a:ext cx="3296400" cy="162000"/>
          </a:xfrm>
          <a:prstGeom prst="rect">
            <a:avLst/>
          </a:prstGeom>
          <a:noFill/>
        </p:spPr>
        <p:txBody>
          <a:bodyPr wrap="square">
            <a:spAutoFit/>
          </a:bodyPr>
          <a:lstStyle/>
          <a:p>
            <a:r>
              <a:rPr sz="1050" b="1" i="0">
                <a:solidFill>
                  <a:srgbClr val="6B7280"/>
                </a:solidFill>
                <a:latin typeface="Calibri"/>
              </a:rPr>
              <a:t>ANTEIL AN DER STRUKTUR</a:t>
            </a:r>
          </a:p>
        </p:txBody>
      </p:sp>
      <p:sp>
        <p:nvSpPr>
          <p:cNvPr id="25" name="TextBox 24"/>
          <p:cNvSpPr txBox="1"/>
          <p:nvPr/>
        </p:nvSpPr>
        <p:spPr>
          <a:xfrm>
            <a:off x="8248799" y="2124000"/>
            <a:ext cx="3296400" cy="396000"/>
          </a:xfrm>
          <a:prstGeom prst="rect">
            <a:avLst/>
          </a:prstGeom>
          <a:noFill/>
        </p:spPr>
        <p:txBody>
          <a:bodyPr wrap="square">
            <a:spAutoFit/>
          </a:bodyPr>
          <a:lstStyle/>
          <a:p>
            <a:r>
              <a:rPr sz="1900" b="1" i="0">
                <a:solidFill>
                  <a:srgbClr val="A0453F"/>
                </a:solidFill>
                <a:latin typeface="Calibri"/>
              </a:rPr>
              <a:t>15,6 % → 18,3 %</a:t>
            </a:r>
          </a:p>
        </p:txBody>
      </p:sp>
      <p:sp>
        <p:nvSpPr>
          <p:cNvPr id="26" name="TextBox 25"/>
          <p:cNvSpPr txBox="1"/>
          <p:nvPr/>
        </p:nvSpPr>
        <p:spPr>
          <a:xfrm>
            <a:off x="8248799" y="2682000"/>
            <a:ext cx="3296400" cy="2033999"/>
          </a:xfrm>
          <a:prstGeom prst="rect">
            <a:avLst/>
          </a:prstGeom>
          <a:noFill/>
        </p:spPr>
        <p:txBody>
          <a:bodyPr wrap="square">
            <a:spAutoFit/>
          </a:bodyPr>
          <a:lstStyle/>
          <a:p>
            <a:r>
              <a:rPr sz="1250" b="0" i="0">
                <a:solidFill>
                  <a:srgbClr val="374151"/>
                </a:solidFill>
                <a:latin typeface="Calibri"/>
              </a:rPr>
              <a:t>Anteil steigt spürbar — der Regelbedarf-NEF-Anteil sinkt entsprechend.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A0453F"/>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9</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Förderung (aktive Arbeitsmarktpolitik)</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Eintritte und Bestand an Fördermaßnahmen</a:t>
            </a:r>
          </a:p>
          <a:p>
            <a:pPr>
              <a:spcAft>
                <a:spcPts val="1400"/>
              </a:spcAft>
            </a:pPr>
            <a:r>
              <a:rPr sz="1800" b="0" i="0">
                <a:solidFill>
                  <a:srgbClr val="E0E7FF"/>
                </a:solidFill>
                <a:latin typeface="Calibri"/>
              </a:rPr>
              <a:t>●  Aktivierungsquote AQ1/AQ2a</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Eintritte und Bestand an Fördermaßnahmen</a:t>
            </a:r>
          </a:p>
        </p:txBody>
      </p:sp>
      <p:pic>
        <p:nvPicPr>
          <p:cNvPr id="5" name="Picture 4" descr="abb22_eintritte_bestand.png"/>
          <p:cNvPicPr>
            <a:picLocks noChangeAspect="1"/>
          </p:cNvPicPr>
          <p:nvPr/>
        </p:nvPicPr>
        <p:blipFill>
          <a:blip r:embed="rId2"/>
          <a:stretch>
            <a:fillRect/>
          </a:stretch>
        </p:blipFill>
        <p:spPr>
          <a:xfrm>
            <a:off x="1146794" y="1116000"/>
            <a:ext cx="9900000"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Eintritte volatil und leicht rückläufig; Bestand mit Höchststand 313 im April 2025, seither wieder gesunken.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Aktivierungsquote im Zeitverlauf</a:t>
            </a:r>
          </a:p>
        </p:txBody>
      </p:sp>
      <p:pic>
        <p:nvPicPr>
          <p:cNvPr id="5" name="Picture 4" descr="abb23_aktivierungsquote.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AQ1 (13,3 % → 9,9 %) und AQ2a (6,0 % → 5,5 %) beide rückläufig.</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Geschlecht und Vorgeschichte</a:t>
            </a:r>
          </a:p>
        </p:txBody>
      </p:sp>
      <p:pic>
        <p:nvPicPr>
          <p:cNvPr id="5" name="Picture 4" descr="abb24_foerderung_anteile.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Frauenanteil stabil (~44 %); Anteil zuvor Langzeitarbeitsloser steigt deutlich (16,2 % → 23,6 %).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9.4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40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565999"/>
            <a:ext cx="3296400" cy="324000"/>
          </a:xfrm>
          <a:prstGeom prst="rect">
            <a:avLst/>
          </a:prstGeom>
          <a:noFill/>
        </p:spPr>
        <p:txBody>
          <a:bodyPr wrap="square">
            <a:spAutoFit/>
          </a:bodyPr>
          <a:lstStyle/>
          <a:p>
            <a:r>
              <a:rPr sz="1500" b="1" i="0">
                <a:solidFill>
                  <a:srgbClr val="3B6EA8"/>
                </a:solidFill>
                <a:latin typeface="Calibri"/>
              </a:rPr>
              <a:t>Eintritte &amp; Bestand</a:t>
            </a:r>
          </a:p>
        </p:txBody>
      </p:sp>
      <p:sp>
        <p:nvSpPr>
          <p:cNvPr id="8" name="TextBox 7"/>
          <p:cNvSpPr txBox="1"/>
          <p:nvPr/>
        </p:nvSpPr>
        <p:spPr>
          <a:xfrm>
            <a:off x="647999" y="1962000"/>
            <a:ext cx="3296400" cy="162000"/>
          </a:xfrm>
          <a:prstGeom prst="rect">
            <a:avLst/>
          </a:prstGeom>
          <a:noFill/>
        </p:spPr>
        <p:txBody>
          <a:bodyPr wrap="square">
            <a:spAutoFit/>
          </a:bodyPr>
          <a:lstStyle/>
          <a:p>
            <a:r>
              <a:rPr sz="1050" b="1" i="0">
                <a:solidFill>
                  <a:srgbClr val="6B7280"/>
                </a:solidFill>
                <a:latin typeface="Calibri"/>
              </a:rPr>
              <a:t>HÖCHSTSTAND BESTAND</a:t>
            </a:r>
          </a:p>
        </p:txBody>
      </p:sp>
      <p:sp>
        <p:nvSpPr>
          <p:cNvPr id="9" name="TextBox 8"/>
          <p:cNvSpPr txBox="1"/>
          <p:nvPr/>
        </p:nvSpPr>
        <p:spPr>
          <a:xfrm>
            <a:off x="647999" y="2124000"/>
            <a:ext cx="3296400" cy="396000"/>
          </a:xfrm>
          <a:prstGeom prst="rect">
            <a:avLst/>
          </a:prstGeom>
          <a:noFill/>
        </p:spPr>
        <p:txBody>
          <a:bodyPr wrap="square">
            <a:spAutoFit/>
          </a:bodyPr>
          <a:lstStyle/>
          <a:p>
            <a:r>
              <a:rPr sz="1900" b="1" i="0">
                <a:solidFill>
                  <a:srgbClr val="374151"/>
                </a:solidFill>
                <a:latin typeface="Calibri"/>
              </a:rPr>
              <a:t>313 (April 2025)</a:t>
            </a:r>
          </a:p>
        </p:txBody>
      </p:sp>
      <p:sp>
        <p:nvSpPr>
          <p:cNvPr id="10" name="TextBox 9"/>
          <p:cNvSpPr txBox="1"/>
          <p:nvPr/>
        </p:nvSpPr>
        <p:spPr>
          <a:xfrm>
            <a:off x="647999" y="2682000"/>
            <a:ext cx="3296400" cy="2033999"/>
          </a:xfrm>
          <a:prstGeom prst="rect">
            <a:avLst/>
          </a:prstGeom>
          <a:noFill/>
        </p:spPr>
        <p:txBody>
          <a:bodyPr wrap="square">
            <a:spAutoFit/>
          </a:bodyPr>
          <a:lstStyle/>
          <a:p>
            <a:r>
              <a:rPr sz="1250" b="0" i="0">
                <a:solidFill>
                  <a:srgbClr val="374151"/>
                </a:solidFill>
                <a:latin typeface="Calibri"/>
              </a:rPr>
              <a:t>Eintritte volatil und leicht rückläufig; Bestand seither wieder gesunken.</a:t>
            </a:r>
          </a:p>
        </p:txBody>
      </p:sp>
      <p:sp>
        <p:nvSpPr>
          <p:cNvPr id="11" name="Rectangle 10"/>
          <p:cNvSpPr/>
          <p:nvPr/>
        </p:nvSpPr>
        <p:spPr>
          <a:xfrm>
            <a:off x="4304400"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04400" y="140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8400" y="1565999"/>
            <a:ext cx="3296400" cy="324000"/>
          </a:xfrm>
          <a:prstGeom prst="rect">
            <a:avLst/>
          </a:prstGeom>
          <a:noFill/>
        </p:spPr>
        <p:txBody>
          <a:bodyPr wrap="square">
            <a:spAutoFit/>
          </a:bodyPr>
          <a:lstStyle/>
          <a:p>
            <a:r>
              <a:rPr sz="1500" b="1" i="0">
                <a:solidFill>
                  <a:srgbClr val="6B5B8F"/>
                </a:solidFill>
                <a:latin typeface="Calibri"/>
              </a:rPr>
              <a:t>Aktivierungsquoten</a:t>
            </a:r>
          </a:p>
        </p:txBody>
      </p:sp>
      <p:sp>
        <p:nvSpPr>
          <p:cNvPr id="14" name="TextBox 13"/>
          <p:cNvSpPr txBox="1"/>
          <p:nvPr/>
        </p:nvSpPr>
        <p:spPr>
          <a:xfrm>
            <a:off x="4448400" y="1962000"/>
            <a:ext cx="3296400" cy="162000"/>
          </a:xfrm>
          <a:prstGeom prst="rect">
            <a:avLst/>
          </a:prstGeom>
          <a:noFill/>
        </p:spPr>
        <p:txBody>
          <a:bodyPr wrap="square">
            <a:spAutoFit/>
          </a:bodyPr>
          <a:lstStyle/>
          <a:p>
            <a:r>
              <a:rPr sz="1050" b="1" i="0">
                <a:solidFill>
                  <a:srgbClr val="6B7280"/>
                </a:solidFill>
                <a:latin typeface="Calibri"/>
              </a:rPr>
              <a:t>AQ1</a:t>
            </a:r>
          </a:p>
        </p:txBody>
      </p:sp>
      <p:sp>
        <p:nvSpPr>
          <p:cNvPr id="15" name="TextBox 14"/>
          <p:cNvSpPr txBox="1"/>
          <p:nvPr/>
        </p:nvSpPr>
        <p:spPr>
          <a:xfrm>
            <a:off x="4448400" y="2124000"/>
            <a:ext cx="3296400" cy="396000"/>
          </a:xfrm>
          <a:prstGeom prst="rect">
            <a:avLst/>
          </a:prstGeom>
          <a:noFill/>
        </p:spPr>
        <p:txBody>
          <a:bodyPr wrap="square">
            <a:spAutoFit/>
          </a:bodyPr>
          <a:lstStyle/>
          <a:p>
            <a:r>
              <a:rPr sz="1900" b="1" i="0">
                <a:solidFill>
                  <a:srgbClr val="374151"/>
                </a:solidFill>
                <a:latin typeface="Calibri"/>
              </a:rPr>
              <a:t>13,3 % → 9,9 %</a:t>
            </a:r>
          </a:p>
        </p:txBody>
      </p:sp>
      <p:sp>
        <p:nvSpPr>
          <p:cNvPr id="16" name="TextBox 15"/>
          <p:cNvSpPr txBox="1"/>
          <p:nvPr/>
        </p:nvSpPr>
        <p:spPr>
          <a:xfrm>
            <a:off x="4448400" y="2592000"/>
            <a:ext cx="3296400" cy="162000"/>
          </a:xfrm>
          <a:prstGeom prst="rect">
            <a:avLst/>
          </a:prstGeom>
          <a:noFill/>
        </p:spPr>
        <p:txBody>
          <a:bodyPr wrap="square">
            <a:spAutoFit/>
          </a:bodyPr>
          <a:lstStyle/>
          <a:p>
            <a:r>
              <a:rPr sz="1050" b="1" i="0">
                <a:solidFill>
                  <a:srgbClr val="6B7280"/>
                </a:solidFill>
                <a:latin typeface="Calibri"/>
              </a:rPr>
              <a:t>AQ2A</a:t>
            </a:r>
          </a:p>
        </p:txBody>
      </p:sp>
      <p:sp>
        <p:nvSpPr>
          <p:cNvPr id="17" name="TextBox 16"/>
          <p:cNvSpPr txBox="1"/>
          <p:nvPr/>
        </p:nvSpPr>
        <p:spPr>
          <a:xfrm>
            <a:off x="4448400" y="2754000"/>
            <a:ext cx="3296400" cy="396000"/>
          </a:xfrm>
          <a:prstGeom prst="rect">
            <a:avLst/>
          </a:prstGeom>
          <a:noFill/>
        </p:spPr>
        <p:txBody>
          <a:bodyPr wrap="square">
            <a:spAutoFit/>
          </a:bodyPr>
          <a:lstStyle/>
          <a:p>
            <a:r>
              <a:rPr sz="1900" b="1" i="0">
                <a:solidFill>
                  <a:srgbClr val="374151"/>
                </a:solidFill>
                <a:latin typeface="Calibri"/>
              </a:rPr>
              <a:t>6,0 % → 5,5 %</a:t>
            </a:r>
          </a:p>
        </p:txBody>
      </p:sp>
      <p:sp>
        <p:nvSpPr>
          <p:cNvPr id="18" name="TextBox 17"/>
          <p:cNvSpPr txBox="1"/>
          <p:nvPr/>
        </p:nvSpPr>
        <p:spPr>
          <a:xfrm>
            <a:off x="4448400" y="3311999"/>
            <a:ext cx="3296400" cy="1404000"/>
          </a:xfrm>
          <a:prstGeom prst="rect">
            <a:avLst/>
          </a:prstGeom>
          <a:noFill/>
        </p:spPr>
        <p:txBody>
          <a:bodyPr wrap="square">
            <a:spAutoFit/>
          </a:bodyPr>
          <a:lstStyle/>
          <a:p>
            <a:r>
              <a:rPr sz="1250" b="0" i="0">
                <a:solidFill>
                  <a:srgbClr val="374151"/>
                </a:solidFill>
                <a:latin typeface="Calibri"/>
              </a:rPr>
              <a:t>Beide Quoten rückläufig.</a:t>
            </a:r>
          </a:p>
        </p:txBody>
      </p:sp>
      <p:sp>
        <p:nvSpPr>
          <p:cNvPr id="19" name="Rectangle 18"/>
          <p:cNvSpPr/>
          <p:nvPr/>
        </p:nvSpPr>
        <p:spPr>
          <a:xfrm>
            <a:off x="8104799" y="1404000"/>
            <a:ext cx="3584400" cy="34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4799" y="140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48799" y="1565999"/>
            <a:ext cx="3296400" cy="324000"/>
          </a:xfrm>
          <a:prstGeom prst="rect">
            <a:avLst/>
          </a:prstGeom>
          <a:noFill/>
        </p:spPr>
        <p:txBody>
          <a:bodyPr wrap="square">
            <a:spAutoFit/>
          </a:bodyPr>
          <a:lstStyle/>
          <a:p>
            <a:r>
              <a:rPr sz="1500" b="1" i="0">
                <a:solidFill>
                  <a:srgbClr val="A0453F"/>
                </a:solidFill>
                <a:latin typeface="Calibri"/>
              </a:rPr>
              <a:t>Vorgeschichte</a:t>
            </a:r>
          </a:p>
        </p:txBody>
      </p:sp>
      <p:sp>
        <p:nvSpPr>
          <p:cNvPr id="22" name="TextBox 21"/>
          <p:cNvSpPr txBox="1"/>
          <p:nvPr/>
        </p:nvSpPr>
        <p:spPr>
          <a:xfrm>
            <a:off x="8248799" y="1962000"/>
            <a:ext cx="3296400" cy="162000"/>
          </a:xfrm>
          <a:prstGeom prst="rect">
            <a:avLst/>
          </a:prstGeom>
          <a:noFill/>
        </p:spPr>
        <p:txBody>
          <a:bodyPr wrap="square">
            <a:spAutoFit/>
          </a:bodyPr>
          <a:lstStyle/>
          <a:p>
            <a:r>
              <a:rPr sz="1050" b="1" i="0">
                <a:solidFill>
                  <a:srgbClr val="6B7280"/>
                </a:solidFill>
                <a:latin typeface="Calibri"/>
              </a:rPr>
              <a:t>ANTEIL ZUVOR LANGZEITARBEITSLOS</a:t>
            </a:r>
          </a:p>
        </p:txBody>
      </p:sp>
      <p:sp>
        <p:nvSpPr>
          <p:cNvPr id="23" name="TextBox 22"/>
          <p:cNvSpPr txBox="1"/>
          <p:nvPr/>
        </p:nvSpPr>
        <p:spPr>
          <a:xfrm>
            <a:off x="8248799" y="2124000"/>
            <a:ext cx="3296400" cy="396000"/>
          </a:xfrm>
          <a:prstGeom prst="rect">
            <a:avLst/>
          </a:prstGeom>
          <a:noFill/>
        </p:spPr>
        <p:txBody>
          <a:bodyPr wrap="square">
            <a:spAutoFit/>
          </a:bodyPr>
          <a:lstStyle/>
          <a:p>
            <a:r>
              <a:rPr sz="1900" b="1" i="0">
                <a:solidFill>
                  <a:srgbClr val="A0453F"/>
                </a:solidFill>
                <a:latin typeface="Calibri"/>
              </a:rPr>
              <a:t>16,2 % → 23,6 %</a:t>
            </a:r>
          </a:p>
        </p:txBody>
      </p:sp>
      <p:sp>
        <p:nvSpPr>
          <p:cNvPr id="24" name="TextBox 23"/>
          <p:cNvSpPr txBox="1"/>
          <p:nvPr/>
        </p:nvSpPr>
        <p:spPr>
          <a:xfrm>
            <a:off x="8248799" y="2682000"/>
            <a:ext cx="3296400" cy="2033999"/>
          </a:xfrm>
          <a:prstGeom prst="rect">
            <a:avLst/>
          </a:prstGeom>
          <a:noFill/>
        </p:spPr>
        <p:txBody>
          <a:bodyPr wrap="square">
            <a:spAutoFit/>
          </a:bodyPr>
          <a:lstStyle/>
          <a:p>
            <a:r>
              <a:rPr sz="1250" b="0" i="0">
                <a:solidFill>
                  <a:srgbClr val="374151"/>
                </a:solidFill>
                <a:latin typeface="Calibri"/>
              </a:rPr>
              <a:t>Steigt deutlich — Anknüpfungspunkt an die Langzeitarbeitslosigkeit.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10</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Bezugsdauer</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Haushaltsstruktur, Langzeitleistungsbezug</a:t>
            </a:r>
          </a:p>
          <a:p>
            <a:pPr>
              <a:spcAft>
                <a:spcPts val="1400"/>
              </a:spcAft>
            </a:pPr>
            <a:r>
              <a:rPr sz="1800" b="0" i="0">
                <a:solidFill>
                  <a:srgbClr val="E0E7FF"/>
                </a:solidFill>
                <a:latin typeface="Calibri"/>
              </a:rPr>
              <a:t>●  Der "Drehtür-Effekt"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Struktur der Bedarfsgemeinschaften: Größe und Typ</a:t>
            </a:r>
          </a:p>
        </p:txBody>
      </p:sp>
      <p:pic>
        <p:nvPicPr>
          <p:cNvPr id="5" name="Picture 4" descr="abb25_bg_groesse.png"/>
          <p:cNvPicPr>
            <a:picLocks noChangeAspect="1"/>
          </p:cNvPicPr>
          <p:nvPr/>
        </p:nvPicPr>
        <p:blipFill>
          <a:blip r:embed="rId2"/>
          <a:stretch>
            <a:fillRect/>
          </a:stretch>
        </p:blipFill>
        <p:spPr>
          <a:xfrm>
            <a:off x="503999" y="1188000"/>
            <a:ext cx="5580000" cy="2455200"/>
          </a:xfrm>
          <a:prstGeom prst="rect">
            <a:avLst/>
          </a:prstGeom>
        </p:spPr>
      </p:pic>
      <p:sp>
        <p:nvSpPr>
          <p:cNvPr id="6" name="TextBox 5"/>
          <p:cNvSpPr txBox="1"/>
          <p:nvPr/>
        </p:nvSpPr>
        <p:spPr>
          <a:xfrm>
            <a:off x="503999" y="3733200"/>
            <a:ext cx="5580000" cy="576000"/>
          </a:xfrm>
          <a:prstGeom prst="rect">
            <a:avLst/>
          </a:prstGeom>
          <a:noFill/>
        </p:spPr>
        <p:txBody>
          <a:bodyPr wrap="square">
            <a:spAutoFit/>
          </a:bodyPr>
          <a:lstStyle/>
          <a:p>
            <a:pPr algn="ctr"/>
            <a:r>
              <a:rPr sz="1200" b="0" i="1">
                <a:solidFill>
                  <a:srgbClr val="6B7280"/>
                </a:solidFill>
                <a:latin typeface="Calibri"/>
              </a:rPr>
              <a:t>Nach Haushaltsgröße</a:t>
            </a:r>
          </a:p>
        </p:txBody>
      </p:sp>
      <p:pic>
        <p:nvPicPr>
          <p:cNvPr id="7" name="Picture 6" descr="abb26_bg_typ.png"/>
          <p:cNvPicPr>
            <a:picLocks noChangeAspect="1"/>
          </p:cNvPicPr>
          <p:nvPr/>
        </p:nvPicPr>
        <p:blipFill>
          <a:blip r:embed="rId3"/>
          <a:stretch>
            <a:fillRect/>
          </a:stretch>
        </p:blipFill>
        <p:spPr>
          <a:xfrm>
            <a:off x="6120000" y="1188000"/>
            <a:ext cx="5580000" cy="2455200"/>
          </a:xfrm>
          <a:prstGeom prst="rect">
            <a:avLst/>
          </a:prstGeom>
        </p:spPr>
      </p:pic>
      <p:sp>
        <p:nvSpPr>
          <p:cNvPr id="8" name="TextBox 7"/>
          <p:cNvSpPr txBox="1"/>
          <p:nvPr/>
        </p:nvSpPr>
        <p:spPr>
          <a:xfrm>
            <a:off x="6120000" y="3733200"/>
            <a:ext cx="5580000" cy="576000"/>
          </a:xfrm>
          <a:prstGeom prst="rect">
            <a:avLst/>
          </a:prstGeom>
          <a:noFill/>
        </p:spPr>
        <p:txBody>
          <a:bodyPr wrap="square">
            <a:spAutoFit/>
          </a:bodyPr>
          <a:lstStyle/>
          <a:p>
            <a:pPr algn="ctr"/>
            <a:r>
              <a:rPr sz="1200" b="0" i="1">
                <a:solidFill>
                  <a:srgbClr val="6B7280"/>
                </a:solidFill>
                <a:latin typeface="Calibri"/>
              </a:rPr>
              <a:t>Nach BG-Typ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Langzeitleistungsbezug (LZB) vs. Langzeitarbeitslosigkeit (LZA)</a:t>
            </a:r>
          </a:p>
        </p:txBody>
      </p:sp>
      <p:pic>
        <p:nvPicPr>
          <p:cNvPr id="5" name="Picture 4" descr="abb27_lzb_lza.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LZB-Anteil an allen ELB steigt deutlich: 48,9 % → 55,1 %.</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Bewegungsdynamik: der "Drehtür-Effekt"</a:t>
            </a:r>
          </a:p>
        </p:txBody>
      </p:sp>
      <p:pic>
        <p:nvPicPr>
          <p:cNvPr id="5" name="Picture 4" descr="abb28_drehtuer.png"/>
          <p:cNvPicPr>
            <a:picLocks noChangeAspect="1"/>
          </p:cNvPicPr>
          <p:nvPr/>
        </p:nvPicPr>
        <p:blipFill>
          <a:blip r:embed="rId2"/>
          <a:stretch>
            <a:fillRect/>
          </a:stretch>
        </p:blipFill>
        <p:spPr>
          <a:xfrm>
            <a:off x="720193" y="1116000"/>
            <a:ext cx="10753200" cy="4731408"/>
          </a:xfrm>
          <a:prstGeom prst="rect">
            <a:avLst/>
          </a:prstGeom>
        </p:spPr>
      </p:pic>
      <p:sp>
        <p:nvSpPr>
          <p:cNvPr id="6" name="TextBox 5"/>
          <p:cNvSpPr txBox="1"/>
          <p:nvPr/>
        </p:nvSpPr>
        <p:spPr>
          <a:xfrm>
            <a:off x="503999" y="5955408"/>
            <a:ext cx="11185200" cy="576000"/>
          </a:xfrm>
          <a:prstGeom prst="rect">
            <a:avLst/>
          </a:prstGeom>
          <a:noFill/>
        </p:spPr>
        <p:txBody>
          <a:bodyPr wrap="square">
            <a:spAutoFit/>
          </a:bodyPr>
          <a:lstStyle/>
          <a:p>
            <a:pPr algn="ctr"/>
            <a:r>
              <a:rPr sz="1300" b="0" i="1">
                <a:solidFill>
                  <a:srgbClr val="6B7280"/>
                </a:solidFill>
                <a:latin typeface="Calibri"/>
              </a:rPr>
              <a:t>Anteil Zugang mit Vorbezug steigt deutlich (56,1 % → 73,4 %) — echte Erstzugänge werden seltener.</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10.4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386000"/>
            <a:ext cx="3296400" cy="324000"/>
          </a:xfrm>
          <a:prstGeom prst="rect">
            <a:avLst/>
          </a:prstGeom>
          <a:noFill/>
        </p:spPr>
        <p:txBody>
          <a:bodyPr wrap="square">
            <a:spAutoFit/>
          </a:bodyPr>
          <a:lstStyle/>
          <a:p>
            <a:r>
              <a:rPr sz="1500" b="1" i="0">
                <a:solidFill>
                  <a:srgbClr val="3B6EA8"/>
                </a:solidFill>
                <a:latin typeface="Calibri"/>
              </a:rPr>
              <a:t>Haushaltsstruktur</a:t>
            </a:r>
          </a:p>
        </p:txBody>
      </p:sp>
      <p:sp>
        <p:nvSpPr>
          <p:cNvPr id="8" name="TextBox 7"/>
          <p:cNvSpPr txBox="1"/>
          <p:nvPr/>
        </p:nvSpPr>
        <p:spPr>
          <a:xfrm>
            <a:off x="647999" y="1800000"/>
            <a:ext cx="3296400" cy="576000"/>
          </a:xfrm>
          <a:prstGeom prst="rect">
            <a:avLst/>
          </a:prstGeom>
          <a:noFill/>
        </p:spPr>
        <p:txBody>
          <a:bodyPr wrap="square">
            <a:spAutoFit/>
          </a:bodyPr>
          <a:lstStyle/>
          <a:p>
            <a:r>
              <a:rPr sz="2000" b="1" i="0">
                <a:solidFill>
                  <a:srgbClr val="374151"/>
                </a:solidFill>
                <a:latin typeface="Calibri"/>
              </a:rPr>
              <a:t>57,0 % → 59,3 %</a:t>
            </a:r>
          </a:p>
        </p:txBody>
      </p:sp>
      <p:sp>
        <p:nvSpPr>
          <p:cNvPr id="9" name="TextBox 8"/>
          <p:cNvSpPr txBox="1"/>
          <p:nvPr/>
        </p:nvSpPr>
        <p:spPr>
          <a:xfrm>
            <a:off x="647999" y="2411999"/>
            <a:ext cx="3296400" cy="1260000"/>
          </a:xfrm>
          <a:prstGeom prst="rect">
            <a:avLst/>
          </a:prstGeom>
          <a:noFill/>
        </p:spPr>
        <p:txBody>
          <a:bodyPr wrap="square">
            <a:spAutoFit/>
          </a:bodyPr>
          <a:lstStyle/>
          <a:p>
            <a:r>
              <a:rPr sz="1300" b="0" i="0">
                <a:solidFill>
                  <a:srgbClr val="374151"/>
                </a:solidFill>
                <a:latin typeface="Calibri"/>
              </a:rPr>
              <a:t>Anteil Single-Bedarfsgemeinschaften nimmt relativ zu.</a:t>
            </a:r>
          </a:p>
        </p:txBody>
      </p:sp>
      <p:sp>
        <p:nvSpPr>
          <p:cNvPr id="10" name="Rectangle 9"/>
          <p:cNvSpPr/>
          <p:nvPr/>
        </p:nvSpPr>
        <p:spPr>
          <a:xfrm>
            <a:off x="4304400"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04400" y="122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8400" y="1386000"/>
            <a:ext cx="3296400" cy="324000"/>
          </a:xfrm>
          <a:prstGeom prst="rect">
            <a:avLst/>
          </a:prstGeom>
          <a:noFill/>
        </p:spPr>
        <p:txBody>
          <a:bodyPr wrap="square">
            <a:spAutoFit/>
          </a:bodyPr>
          <a:lstStyle/>
          <a:p>
            <a:r>
              <a:rPr sz="1500" b="1" i="0">
                <a:solidFill>
                  <a:srgbClr val="6B5B8F"/>
                </a:solidFill>
                <a:latin typeface="Calibri"/>
              </a:rPr>
              <a:t>Langzeitleistungsbezug</a:t>
            </a:r>
          </a:p>
        </p:txBody>
      </p:sp>
      <p:sp>
        <p:nvSpPr>
          <p:cNvPr id="13" name="TextBox 12"/>
          <p:cNvSpPr txBox="1"/>
          <p:nvPr/>
        </p:nvSpPr>
        <p:spPr>
          <a:xfrm>
            <a:off x="4448400" y="1800000"/>
            <a:ext cx="3296400" cy="576000"/>
          </a:xfrm>
          <a:prstGeom prst="rect">
            <a:avLst/>
          </a:prstGeom>
          <a:noFill/>
        </p:spPr>
        <p:txBody>
          <a:bodyPr wrap="square">
            <a:spAutoFit/>
          </a:bodyPr>
          <a:lstStyle/>
          <a:p>
            <a:r>
              <a:rPr sz="2000" b="1" i="0">
                <a:solidFill>
                  <a:srgbClr val="374151"/>
                </a:solidFill>
                <a:latin typeface="Calibri"/>
              </a:rPr>
              <a:t>48,9 % → 55,1 %</a:t>
            </a:r>
          </a:p>
        </p:txBody>
      </p:sp>
      <p:sp>
        <p:nvSpPr>
          <p:cNvPr id="14" name="TextBox 13"/>
          <p:cNvSpPr txBox="1"/>
          <p:nvPr/>
        </p:nvSpPr>
        <p:spPr>
          <a:xfrm>
            <a:off x="4448400" y="2411999"/>
            <a:ext cx="3296400" cy="1260000"/>
          </a:xfrm>
          <a:prstGeom prst="rect">
            <a:avLst/>
          </a:prstGeom>
          <a:noFill/>
        </p:spPr>
        <p:txBody>
          <a:bodyPr wrap="square">
            <a:spAutoFit/>
          </a:bodyPr>
          <a:lstStyle/>
          <a:p>
            <a:r>
              <a:rPr sz="1300" b="0" i="0">
                <a:solidFill>
                  <a:srgbClr val="374151"/>
                </a:solidFill>
                <a:latin typeface="Calibri"/>
              </a:rPr>
              <a:t>Über die Hälfte aller ELB ist inzwischen langzeitleistungsbeziehend.</a:t>
            </a:r>
          </a:p>
        </p:txBody>
      </p:sp>
      <p:sp>
        <p:nvSpPr>
          <p:cNvPr id="15" name="Rectangle 14"/>
          <p:cNvSpPr/>
          <p:nvPr/>
        </p:nvSpPr>
        <p:spPr>
          <a:xfrm>
            <a:off x="8104799" y="1224000"/>
            <a:ext cx="3584400" cy="2592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4799" y="1224000"/>
            <a:ext cx="35844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8799" y="1386000"/>
            <a:ext cx="3296400" cy="324000"/>
          </a:xfrm>
          <a:prstGeom prst="rect">
            <a:avLst/>
          </a:prstGeom>
          <a:noFill/>
        </p:spPr>
        <p:txBody>
          <a:bodyPr wrap="square">
            <a:spAutoFit/>
          </a:bodyPr>
          <a:lstStyle/>
          <a:p>
            <a:r>
              <a:rPr sz="1500" b="1" i="0">
                <a:solidFill>
                  <a:srgbClr val="A0453F"/>
                </a:solidFill>
                <a:latin typeface="Calibri"/>
              </a:rPr>
              <a:t>Drehtür-Effekt</a:t>
            </a:r>
          </a:p>
        </p:txBody>
      </p:sp>
      <p:sp>
        <p:nvSpPr>
          <p:cNvPr id="18" name="TextBox 17"/>
          <p:cNvSpPr txBox="1"/>
          <p:nvPr/>
        </p:nvSpPr>
        <p:spPr>
          <a:xfrm>
            <a:off x="8248799" y="1800000"/>
            <a:ext cx="3296400" cy="576000"/>
          </a:xfrm>
          <a:prstGeom prst="rect">
            <a:avLst/>
          </a:prstGeom>
          <a:noFill/>
        </p:spPr>
        <p:txBody>
          <a:bodyPr wrap="square">
            <a:spAutoFit/>
          </a:bodyPr>
          <a:lstStyle/>
          <a:p>
            <a:r>
              <a:rPr sz="2000" b="1" i="0">
                <a:solidFill>
                  <a:srgbClr val="374151"/>
                </a:solidFill>
                <a:latin typeface="Calibri"/>
              </a:rPr>
              <a:t>56,1 % → 73,4 %</a:t>
            </a:r>
          </a:p>
        </p:txBody>
      </p:sp>
      <p:sp>
        <p:nvSpPr>
          <p:cNvPr id="19" name="TextBox 18"/>
          <p:cNvSpPr txBox="1"/>
          <p:nvPr/>
        </p:nvSpPr>
        <p:spPr>
          <a:xfrm>
            <a:off x="8248799" y="2411999"/>
            <a:ext cx="3296400" cy="1260000"/>
          </a:xfrm>
          <a:prstGeom prst="rect">
            <a:avLst/>
          </a:prstGeom>
          <a:noFill/>
        </p:spPr>
        <p:txBody>
          <a:bodyPr wrap="square">
            <a:spAutoFit/>
          </a:bodyPr>
          <a:lstStyle/>
          <a:p>
            <a:r>
              <a:rPr sz="1300" b="0" i="0">
                <a:solidFill>
                  <a:srgbClr val="374151"/>
                </a:solidFill>
                <a:latin typeface="Calibri"/>
              </a:rPr>
              <a:t>Anteil Zugang mit Vorbezug — echte Erstzugänge werden seltener.</a:t>
            </a:r>
          </a:p>
        </p:txBody>
      </p:sp>
      <p:sp>
        <p:nvSpPr>
          <p:cNvPr id="20" name="Rectangle 19"/>
          <p:cNvSpPr/>
          <p:nvPr/>
        </p:nvSpPr>
        <p:spPr>
          <a:xfrm>
            <a:off x="503999" y="4014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3999" y="4014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999" y="4158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3" name="TextBox 22"/>
          <p:cNvSpPr txBox="1"/>
          <p:nvPr/>
        </p:nvSpPr>
        <p:spPr>
          <a:xfrm>
            <a:off x="827999" y="4500000"/>
            <a:ext cx="10620000" cy="846000"/>
          </a:xfrm>
          <a:prstGeom prst="rect">
            <a:avLst/>
          </a:prstGeom>
          <a:noFill/>
        </p:spPr>
        <p:txBody>
          <a:bodyPr wrap="square">
            <a:spAutoFit/>
          </a:bodyPr>
          <a:lstStyle/>
          <a:p>
            <a:r>
              <a:rPr sz="1600" b="0" i="0">
                <a:solidFill>
                  <a:srgbClr val="374151"/>
                </a:solidFill>
                <a:latin typeface="Calibri"/>
              </a:rPr>
              <a:t>Bestätigt unabhängig von den Kapiteln 3 und 9 dieselbe Verfestigungstendenz wie die Langzeitarbeitslosigkeit.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4A3F5E"/>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588"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314000"/>
            <a:ext cx="10753200" cy="259200"/>
          </a:xfrm>
          <a:prstGeom prst="rect">
            <a:avLst/>
          </a:prstGeom>
          <a:noFill/>
        </p:spPr>
        <p:txBody>
          <a:bodyPr wrap="square">
            <a:spAutoFit/>
          </a:bodyPr>
          <a:lstStyle/>
          <a:p>
            <a:r>
              <a:rPr sz="2200" b="1" i="0">
                <a:solidFill>
                  <a:srgbClr val="BFDBFE"/>
                </a:solidFill>
                <a:latin typeface="Calibri"/>
              </a:rPr>
              <a:t>KAPITEL 11</a:t>
            </a:r>
          </a:p>
        </p:txBody>
      </p:sp>
      <p:sp>
        <p:nvSpPr>
          <p:cNvPr id="4" name="TextBox 3"/>
          <p:cNvSpPr txBox="1"/>
          <p:nvPr/>
        </p:nvSpPr>
        <p:spPr>
          <a:xfrm>
            <a:off x="720000" y="1602000"/>
            <a:ext cx="10753200" cy="792000"/>
          </a:xfrm>
          <a:prstGeom prst="rect">
            <a:avLst/>
          </a:prstGeom>
          <a:noFill/>
        </p:spPr>
        <p:txBody>
          <a:bodyPr wrap="square">
            <a:spAutoFit/>
          </a:bodyPr>
          <a:lstStyle/>
          <a:p>
            <a:r>
              <a:rPr sz="4000" b="1" i="0">
                <a:solidFill>
                  <a:srgbClr val="FFFFFF"/>
                </a:solidFill>
                <a:latin typeface="Calibri"/>
              </a:rPr>
              <a:t>Rechtskreisvergleich: SGB II vs. SGB III</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400"/>
              </a:spcAft>
            </a:pPr>
            <a:r>
              <a:rPr sz="1800" b="0" i="0">
                <a:solidFill>
                  <a:srgbClr val="E0E7FF"/>
                </a:solidFill>
                <a:latin typeface="Calibri"/>
              </a:rPr>
              <a:t>●  Jobcenter-Anteil an der Gesamtarbeitslosigkeit</a:t>
            </a:r>
          </a:p>
          <a:p>
            <a:pPr>
              <a:spcAft>
                <a:spcPts val="1400"/>
              </a:spcAft>
            </a:pPr>
            <a:r>
              <a:rPr sz="1800" b="0" i="0">
                <a:solidFill>
                  <a:srgbClr val="E0E7FF"/>
                </a:solidFill>
                <a:latin typeface="Calibri"/>
              </a:rPr>
              <a:t>●  Keine neuen Rohdaten nötig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11.1</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Jobcenter-Anteil am Arbeitslosenbestand insgesamt</a:t>
            </a:r>
          </a:p>
        </p:txBody>
      </p:sp>
      <p:pic>
        <p:nvPicPr>
          <p:cNvPr id="5" name="Picture 4" descr="abb29_rechtskreis_bestand.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Jobcenter-Anteil stabil bei Ø 39,8 % — die Mehrheit (≈ 60 %) fällt in die Zuständigkeit der Agentur für Arbeit.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11.2</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Langzeitarbeitslosigkeit: Konzentration im SGB II</a:t>
            </a:r>
          </a:p>
        </p:txBody>
      </p:sp>
      <p:pic>
        <p:nvPicPr>
          <p:cNvPr id="5" name="Picture 4" descr="abb30_rechtskreis_lza.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Jobcenter-Anteil hier Ø 72,3 % — plausibel durch die Befristung von Arbeitslosengeld I.</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11.3</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Quoten im Vergleich</a:t>
            </a:r>
          </a:p>
        </p:txBody>
      </p:sp>
      <p:pic>
        <p:nvPicPr>
          <p:cNvPr id="5" name="Picture 4" descr="abb31_rechtskreis_quoten.png"/>
          <p:cNvPicPr>
            <a:picLocks noChangeAspect="1"/>
          </p:cNvPicPr>
          <p:nvPr/>
        </p:nvPicPr>
        <p:blipFill>
          <a:blip r:embed="rId2"/>
          <a:stretch>
            <a:fillRect/>
          </a:stretch>
        </p:blipFill>
        <p:spPr>
          <a:xfrm>
            <a:off x="931576" y="1116000"/>
            <a:ext cx="10330434" cy="4752000"/>
          </a:xfrm>
          <a:prstGeom prst="rect">
            <a:avLst/>
          </a:prstGeom>
        </p:spPr>
      </p:pic>
      <p:sp>
        <p:nvSpPr>
          <p:cNvPr id="6" name="TextBox 5"/>
          <p:cNvSpPr txBox="1"/>
          <p:nvPr/>
        </p:nvSpPr>
        <p:spPr>
          <a:xfrm>
            <a:off x="503999" y="5976000"/>
            <a:ext cx="11185200" cy="576000"/>
          </a:xfrm>
          <a:prstGeom prst="rect">
            <a:avLst/>
          </a:prstGeom>
          <a:noFill/>
        </p:spPr>
        <p:txBody>
          <a:bodyPr wrap="square">
            <a:spAutoFit/>
          </a:bodyPr>
          <a:lstStyle/>
          <a:p>
            <a:pPr algn="ctr"/>
            <a:r>
              <a:rPr sz="1300" b="0" i="1">
                <a:solidFill>
                  <a:srgbClr val="6B7280"/>
                </a:solidFill>
                <a:latin typeface="Calibri"/>
              </a:rPr>
              <a:t>SGB-II-Anteil an der Arbeitslosenquote ≈ 40 %, an der Unterbeschäftigungsquote ≈ 46 %.</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Rectangle 1"/>
          <p:cNvSpPr/>
          <p:nvPr/>
        </p:nvSpPr>
        <p:spPr>
          <a:xfrm>
            <a:off x="0" y="0"/>
            <a:ext cx="12193588"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spAutoFit/>
          </a:bodyPr>
          <a:lstStyle/>
          <a:p>
            <a:r>
              <a:rPr sz="1400" b="1" i="0">
                <a:solidFill>
                  <a:srgbClr val="FFFFFF"/>
                </a:solidFill>
                <a:latin typeface="Calibri"/>
              </a:rPr>
              <a:t>11.4</a:t>
            </a:r>
          </a:p>
        </p:txBody>
      </p:sp>
      <p:sp>
        <p:nvSpPr>
          <p:cNvPr id="4" name="TextBox 3"/>
          <p:cNvSpPr txBox="1"/>
          <p:nvPr/>
        </p:nvSpPr>
        <p:spPr>
          <a:xfrm>
            <a:off x="432000" y="306000"/>
            <a:ext cx="11329200" cy="540000"/>
          </a:xfrm>
          <a:prstGeom prst="rect">
            <a:avLst/>
          </a:prstGeom>
          <a:noFill/>
        </p:spPr>
        <p:txBody>
          <a:bodyPr wrap="square">
            <a:spAutoFit/>
          </a:bodyPr>
          <a:lstStyle/>
          <a:p>
            <a:r>
              <a:rPr sz="2800" b="1" i="0">
                <a:solidFill>
                  <a:srgbClr val="FFFFFF"/>
                </a:solidFill>
                <a:latin typeface="Calibri"/>
              </a:rPr>
              <a:t>Zusammenfassung</a:t>
            </a:r>
          </a:p>
        </p:txBody>
      </p:sp>
      <p:sp>
        <p:nvSpPr>
          <p:cNvPr id="5" name="Rectangle 4"/>
          <p:cNvSpPr/>
          <p:nvPr/>
        </p:nvSpPr>
        <p:spPr>
          <a:xfrm>
            <a:off x="503999" y="122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54846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386000"/>
            <a:ext cx="5196600" cy="396000"/>
          </a:xfrm>
          <a:prstGeom prst="rect">
            <a:avLst/>
          </a:prstGeom>
          <a:noFill/>
        </p:spPr>
        <p:txBody>
          <a:bodyPr wrap="square">
            <a:spAutoFit/>
          </a:bodyPr>
          <a:lstStyle/>
          <a:p>
            <a:r>
              <a:rPr sz="1600" b="1" i="0">
                <a:solidFill>
                  <a:srgbClr val="3B6EA8"/>
                </a:solidFill>
                <a:latin typeface="Calibri"/>
              </a:rPr>
              <a:t>Anteil an Gesamtarbeitslosigkeit</a:t>
            </a:r>
          </a:p>
        </p:txBody>
      </p:sp>
      <p:sp>
        <p:nvSpPr>
          <p:cNvPr id="8" name="TextBox 7"/>
          <p:cNvSpPr txBox="1"/>
          <p:nvPr/>
        </p:nvSpPr>
        <p:spPr>
          <a:xfrm>
            <a:off x="647999" y="1854000"/>
            <a:ext cx="5196600" cy="648000"/>
          </a:xfrm>
          <a:prstGeom prst="rect">
            <a:avLst/>
          </a:prstGeom>
          <a:noFill/>
        </p:spPr>
        <p:txBody>
          <a:bodyPr wrap="square">
            <a:spAutoFit/>
          </a:bodyPr>
          <a:lstStyle/>
          <a:p>
            <a:r>
              <a:rPr sz="3400" b="1" i="0">
                <a:solidFill>
                  <a:srgbClr val="374151"/>
                </a:solidFill>
                <a:latin typeface="Calibri"/>
              </a:rPr>
              <a:t>≈ 40 %</a:t>
            </a:r>
          </a:p>
        </p:txBody>
      </p:sp>
      <p:sp>
        <p:nvSpPr>
          <p:cNvPr id="9" name="TextBox 8"/>
          <p:cNvSpPr txBox="1"/>
          <p:nvPr/>
        </p:nvSpPr>
        <p:spPr>
          <a:xfrm>
            <a:off x="647999" y="2574000"/>
            <a:ext cx="5196600" cy="845999"/>
          </a:xfrm>
          <a:prstGeom prst="rect">
            <a:avLst/>
          </a:prstGeom>
          <a:noFill/>
        </p:spPr>
        <p:txBody>
          <a:bodyPr wrap="square">
            <a:spAutoFit/>
          </a:bodyPr>
          <a:lstStyle/>
          <a:p>
            <a:r>
              <a:rPr sz="1350" b="0" i="0">
                <a:solidFill>
                  <a:srgbClr val="374151"/>
                </a:solidFill>
                <a:latin typeface="Calibri"/>
              </a:rPr>
              <a:t>Jobcenter (SGB II) trägt nur rund 40 % der gesamten Arbeitslosigkeit in Regensburg.</a:t>
            </a:r>
          </a:p>
        </p:txBody>
      </p:sp>
      <p:sp>
        <p:nvSpPr>
          <p:cNvPr id="10" name="Rectangle 9"/>
          <p:cNvSpPr/>
          <p:nvPr/>
        </p:nvSpPr>
        <p:spPr>
          <a:xfrm>
            <a:off x="6204600" y="1224000"/>
            <a:ext cx="5484600" cy="23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600" y="1224000"/>
            <a:ext cx="5484600" cy="9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8599" y="1386000"/>
            <a:ext cx="5196600" cy="396000"/>
          </a:xfrm>
          <a:prstGeom prst="rect">
            <a:avLst/>
          </a:prstGeom>
          <a:noFill/>
        </p:spPr>
        <p:txBody>
          <a:bodyPr wrap="square">
            <a:spAutoFit/>
          </a:bodyPr>
          <a:lstStyle/>
          <a:p>
            <a:r>
              <a:rPr sz="1600" b="1" i="0">
                <a:solidFill>
                  <a:srgbClr val="A0453F"/>
                </a:solidFill>
                <a:latin typeface="Calibri"/>
              </a:rPr>
              <a:t>Anteil an Langzeitarbeitslosigkeit</a:t>
            </a:r>
          </a:p>
        </p:txBody>
      </p:sp>
      <p:sp>
        <p:nvSpPr>
          <p:cNvPr id="13" name="TextBox 12"/>
          <p:cNvSpPr txBox="1"/>
          <p:nvPr/>
        </p:nvSpPr>
        <p:spPr>
          <a:xfrm>
            <a:off x="6348599" y="1854000"/>
            <a:ext cx="5196600" cy="648000"/>
          </a:xfrm>
          <a:prstGeom prst="rect">
            <a:avLst/>
          </a:prstGeom>
          <a:noFill/>
        </p:spPr>
        <p:txBody>
          <a:bodyPr wrap="square">
            <a:spAutoFit/>
          </a:bodyPr>
          <a:lstStyle/>
          <a:p>
            <a:r>
              <a:rPr sz="3400" b="1" i="0">
                <a:solidFill>
                  <a:srgbClr val="374151"/>
                </a:solidFill>
                <a:latin typeface="Calibri"/>
              </a:rPr>
              <a:t>≈ 72 %</a:t>
            </a:r>
          </a:p>
        </p:txBody>
      </p:sp>
      <p:sp>
        <p:nvSpPr>
          <p:cNvPr id="14" name="TextBox 13"/>
          <p:cNvSpPr txBox="1"/>
          <p:nvPr/>
        </p:nvSpPr>
        <p:spPr>
          <a:xfrm>
            <a:off x="6348599" y="2574000"/>
            <a:ext cx="5196600" cy="845999"/>
          </a:xfrm>
          <a:prstGeom prst="rect">
            <a:avLst/>
          </a:prstGeom>
          <a:noFill/>
        </p:spPr>
        <p:txBody>
          <a:bodyPr wrap="square">
            <a:spAutoFit/>
          </a:bodyPr>
          <a:lstStyle/>
          <a:p>
            <a:r>
              <a:rPr sz="1350" b="0" i="0">
                <a:solidFill>
                  <a:srgbClr val="374151"/>
                </a:solidFill>
                <a:latin typeface="Calibri"/>
              </a:rPr>
              <a:t>Deutlich höherer Jobcenter-Anteil, sobald es um Langzeitarbeitslosigkeit geht.</a:t>
            </a:r>
          </a:p>
        </p:txBody>
      </p:sp>
      <p:sp>
        <p:nvSpPr>
          <p:cNvPr id="15" name="Rectangle 14"/>
          <p:cNvSpPr/>
          <p:nvPr/>
        </p:nvSpPr>
        <p:spPr>
          <a:xfrm>
            <a:off x="503999" y="3762000"/>
            <a:ext cx="11185200" cy="1655999"/>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3999" y="3762000"/>
            <a:ext cx="90000" cy="1655999"/>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999" y="3906000"/>
            <a:ext cx="10620000" cy="324000"/>
          </a:xfrm>
          <a:prstGeom prst="rect">
            <a:avLst/>
          </a:prstGeom>
          <a:noFill/>
        </p:spPr>
        <p:txBody>
          <a:bodyPr wrap="square">
            <a:spAutoFit/>
          </a:bodyPr>
          <a:lstStyle/>
          <a:p>
            <a:r>
              <a:rPr sz="1800" b="1" i="0">
                <a:solidFill>
                  <a:srgbClr val="6B5B8F"/>
                </a:solidFill>
                <a:latin typeface="Calibri"/>
              </a:rPr>
              <a:t>Kernaussage</a:t>
            </a:r>
          </a:p>
        </p:txBody>
      </p:sp>
      <p:sp>
        <p:nvSpPr>
          <p:cNvPr id="18" name="TextBox 17"/>
          <p:cNvSpPr txBox="1"/>
          <p:nvPr/>
        </p:nvSpPr>
        <p:spPr>
          <a:xfrm>
            <a:off x="827999" y="4248000"/>
            <a:ext cx="10620000" cy="1062000"/>
          </a:xfrm>
          <a:prstGeom prst="rect">
            <a:avLst/>
          </a:prstGeom>
          <a:noFill/>
        </p:spPr>
        <p:txBody>
          <a:bodyPr wrap="square">
            <a:spAutoFit/>
          </a:bodyPr>
          <a:lstStyle/>
          <a:p>
            <a:r>
              <a:rPr sz="1600" b="0" i="0">
                <a:solidFill>
                  <a:srgbClr val="374151"/>
                </a:solidFill>
                <a:latin typeface="Calibri"/>
              </a:rPr>
              <a:t>Der Jobcenter-Fokus bildet nur einen Teil der Gesamtarbeitslosigkeit ab — aber genau den Teil mit der stärksten Konzentration von Langzeitarbeitslosigkeit.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A0453F"/>
        </a:solidFill>
        <a:effectLst/>
      </p:bgPr>
    </p:bg>
    <p:spTree>
      <p:nvGrpSpPr>
        <p:cNvPr id="1" name=""/>
        <p:cNvGrpSpPr/>
        <p:nvPr/>
      </p:nvGrpSpPr>
      <p:grpSpPr>
        <a:xfrm>
          <a:off x="0" y="0"/>
          <a:ext cx="0" cy="0"/>
          <a:chOff x="0" y="0"/>
          <a:chExt cx="0" cy="0"/>
        </a:xfrm>
      </p:grpSpPr>
      <p:sp>
        <p:nvSpPr>
          <p:cNvPr id="2" name="Rectangle 1"/>
          <p:cNvSpPr/>
          <p:nvPr/>
        </p:nvSpPr>
        <p:spPr>
          <a:xfrm>
            <a:off x="0" y="2951999"/>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1944000"/>
            <a:ext cx="10753200" cy="540000"/>
          </a:xfrm>
          <a:prstGeom prst="rect">
            <a:avLst/>
          </a:prstGeom>
          <a:noFill/>
        </p:spPr>
        <p:txBody>
          <a:bodyPr wrap="square" anchor="t">
            <a:spAutoFit/>
          </a:bodyPr>
          <a:lstStyle/>
          <a:p>
            <a:pPr algn="l"/>
            <a:r>
              <a:rPr sz="2200" b="1" i="0">
                <a:solidFill>
                  <a:srgbClr val="BFDBFE"/>
                </a:solidFill>
                <a:latin typeface="Calibri"/>
              </a:rPr>
              <a:t>KAPITEL 12</a:t>
            </a:r>
          </a:p>
        </p:txBody>
      </p:sp>
      <p:sp>
        <p:nvSpPr>
          <p:cNvPr id="4" name="TextBox 3"/>
          <p:cNvSpPr txBox="1"/>
          <p:nvPr/>
        </p:nvSpPr>
        <p:spPr>
          <a:xfrm>
            <a:off x="720000" y="2196000"/>
            <a:ext cx="10753200" cy="792000"/>
          </a:xfrm>
          <a:prstGeom prst="rect">
            <a:avLst/>
          </a:prstGeom>
          <a:noFill/>
        </p:spPr>
        <p:txBody>
          <a:bodyPr wrap="square" anchor="t">
            <a:spAutoFit/>
          </a:bodyPr>
          <a:lstStyle/>
          <a:p>
            <a:pPr algn="l"/>
            <a:r>
              <a:rPr sz="4000" b="1" i="0">
                <a:solidFill>
                  <a:srgbClr val="FFFFFF"/>
                </a:solidFill>
                <a:latin typeface="Calibri"/>
              </a:rPr>
              <a:t>Fazit und Ausblick</a:t>
            </a:r>
          </a:p>
        </p:txBody>
      </p:sp>
      <p:sp>
        <p:nvSpPr>
          <p:cNvPr id="5" name="TextBox 4"/>
          <p:cNvSpPr txBox="1"/>
          <p:nvPr/>
        </p:nvSpPr>
        <p:spPr>
          <a:xfrm>
            <a:off x="720000" y="3311999"/>
            <a:ext cx="10753200" cy="2880000"/>
          </a:xfrm>
          <a:prstGeom prst="rect">
            <a:avLst/>
          </a:prstGeom>
          <a:noFill/>
        </p:spPr>
        <p:txBody>
          <a:bodyPr wrap="square">
            <a:spAutoFit/>
          </a:bodyPr>
          <a:lstStyle/>
          <a:p>
            <a:pPr>
              <a:spcAft>
                <a:spcPts val="1200"/>
              </a:spcAft>
            </a:pPr>
            <a:r>
              <a:rPr sz="1800">
                <a:solidFill>
                  <a:srgbClr val="E0E7FF"/>
                </a:solidFill>
                <a:latin typeface="Calibri"/>
              </a:rPr>
              <a:t>●  Zusammenfassung der Projektergebnisse</a:t>
            </a:r>
          </a:p>
          <a:p>
            <a:pPr>
              <a:spcAft>
                <a:spcPts val="1200"/>
              </a:spcAft>
            </a:pPr>
            <a:r>
              <a:rPr sz="1800">
                <a:solidFill>
                  <a:srgbClr val="E0E7FF"/>
                </a:solidFill>
                <a:latin typeface="Calibri"/>
              </a:rPr>
              <a:t>●  Priorisierte Themen für die Fortsetzung</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12.1</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Fazit</a:t>
            </a:r>
          </a:p>
        </p:txBody>
      </p:sp>
      <p:sp>
        <p:nvSpPr>
          <p:cNvPr id="5" name="Rectangle 4"/>
          <p:cNvSpPr/>
          <p:nvPr/>
        </p:nvSpPr>
        <p:spPr>
          <a:xfrm>
            <a:off x="503999"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35844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999" y="1368000"/>
            <a:ext cx="3296400" cy="324000"/>
          </a:xfrm>
          <a:prstGeom prst="rect">
            <a:avLst/>
          </a:prstGeom>
          <a:noFill/>
        </p:spPr>
        <p:txBody>
          <a:bodyPr wrap="square">
            <a:spAutoFit/>
          </a:bodyPr>
          <a:lstStyle/>
          <a:p>
            <a:r>
              <a:rPr sz="1500" b="1" i="0">
                <a:solidFill>
                  <a:srgbClr val="3B6EA8"/>
                </a:solidFill>
                <a:latin typeface="Calibri"/>
              </a:rPr>
              <a:t>Datengrundlage</a:t>
            </a:r>
          </a:p>
        </p:txBody>
      </p:sp>
      <p:sp>
        <p:nvSpPr>
          <p:cNvPr id="8" name="TextBox 7"/>
          <p:cNvSpPr txBox="1"/>
          <p:nvPr/>
        </p:nvSpPr>
        <p:spPr>
          <a:xfrm>
            <a:off x="647999" y="1745999"/>
            <a:ext cx="3296400" cy="432000"/>
          </a:xfrm>
          <a:prstGeom prst="rect">
            <a:avLst/>
          </a:prstGeom>
          <a:noFill/>
        </p:spPr>
        <p:txBody>
          <a:bodyPr wrap="square">
            <a:spAutoFit/>
          </a:bodyPr>
          <a:lstStyle/>
          <a:p>
            <a:r>
              <a:rPr sz="2000" b="1" i="0">
                <a:solidFill>
                  <a:srgbClr val="374151"/>
                </a:solidFill>
                <a:latin typeface="Calibri"/>
              </a:rPr>
              <a:t>9 Kennzahlen</a:t>
            </a:r>
          </a:p>
        </p:txBody>
      </p:sp>
      <p:sp>
        <p:nvSpPr>
          <p:cNvPr id="9" name="TextBox 8"/>
          <p:cNvSpPr txBox="1"/>
          <p:nvPr/>
        </p:nvSpPr>
        <p:spPr>
          <a:xfrm>
            <a:off x="647999" y="2214000"/>
            <a:ext cx="3296400" cy="1259999"/>
          </a:xfrm>
          <a:prstGeom prst="rect">
            <a:avLst/>
          </a:prstGeom>
          <a:noFill/>
        </p:spPr>
        <p:txBody>
          <a:bodyPr wrap="square">
            <a:spAutoFit/>
          </a:bodyPr>
          <a:lstStyle/>
          <a:p>
            <a:r>
              <a:rPr sz="1200" b="0" i="0">
                <a:solidFill>
                  <a:srgbClr val="374151"/>
                </a:solidFill>
                <a:latin typeface="Calibri"/>
              </a:rPr>
              <a:t>Aus 18 Excel-Berichten (Kap. 2) — visuell ausgewertet (Kap. 3), statistisch vertieft (Kap. 4).</a:t>
            </a:r>
          </a:p>
        </p:txBody>
      </p:sp>
      <p:sp>
        <p:nvSpPr>
          <p:cNvPr id="10" name="Rectangle 9"/>
          <p:cNvSpPr/>
          <p:nvPr/>
        </p:nvSpPr>
        <p:spPr>
          <a:xfrm>
            <a:off x="4304400"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04400" y="1224000"/>
            <a:ext cx="35844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8400" y="1368000"/>
            <a:ext cx="3296400" cy="324000"/>
          </a:xfrm>
          <a:prstGeom prst="rect">
            <a:avLst/>
          </a:prstGeom>
          <a:noFill/>
        </p:spPr>
        <p:txBody>
          <a:bodyPr wrap="square">
            <a:spAutoFit/>
          </a:bodyPr>
          <a:lstStyle/>
          <a:p>
            <a:r>
              <a:rPr sz="1500" b="1" i="0">
                <a:solidFill>
                  <a:srgbClr val="6B5B8F"/>
                </a:solidFill>
                <a:latin typeface="Calibri"/>
              </a:rPr>
              <a:t>Themenfelder</a:t>
            </a:r>
          </a:p>
        </p:txBody>
      </p:sp>
      <p:sp>
        <p:nvSpPr>
          <p:cNvPr id="13" name="TextBox 12"/>
          <p:cNvSpPr txBox="1"/>
          <p:nvPr/>
        </p:nvSpPr>
        <p:spPr>
          <a:xfrm>
            <a:off x="4448400" y="1745999"/>
            <a:ext cx="3296400" cy="432000"/>
          </a:xfrm>
          <a:prstGeom prst="rect">
            <a:avLst/>
          </a:prstGeom>
          <a:noFill/>
        </p:spPr>
        <p:txBody>
          <a:bodyPr wrap="square">
            <a:spAutoFit/>
          </a:bodyPr>
          <a:lstStyle/>
          <a:p>
            <a:r>
              <a:rPr sz="2000" b="1" i="0">
                <a:solidFill>
                  <a:srgbClr val="374151"/>
                </a:solidFill>
                <a:latin typeface="Calibri"/>
              </a:rPr>
              <a:t>+ 7 Themen</a:t>
            </a:r>
          </a:p>
        </p:txBody>
      </p:sp>
      <p:sp>
        <p:nvSpPr>
          <p:cNvPr id="14" name="TextBox 13"/>
          <p:cNvSpPr txBox="1"/>
          <p:nvPr/>
        </p:nvSpPr>
        <p:spPr>
          <a:xfrm>
            <a:off x="4448400" y="2214000"/>
            <a:ext cx="3296400" cy="1259999"/>
          </a:xfrm>
          <a:prstGeom prst="rect">
            <a:avLst/>
          </a:prstGeom>
          <a:noFill/>
        </p:spPr>
        <p:txBody>
          <a:bodyPr wrap="square">
            <a:spAutoFit/>
          </a:bodyPr>
          <a:lstStyle/>
          <a:p>
            <a:r>
              <a:rPr sz="1200" b="0" i="0">
                <a:solidFill>
                  <a:srgbClr val="374151"/>
                </a:solidFill>
                <a:latin typeface="Calibri"/>
              </a:rPr>
              <a:t>Kapitel 5–11: Fluktuation, Demografie, Erwerbstätigkeit, Finanzen, Förderung, Bezugsdauer, Rechtskreisvergleich — 6 neue Tabellenblätter.</a:t>
            </a:r>
          </a:p>
        </p:txBody>
      </p:sp>
      <p:sp>
        <p:nvSpPr>
          <p:cNvPr id="15" name="Rectangle 14"/>
          <p:cNvSpPr/>
          <p:nvPr/>
        </p:nvSpPr>
        <p:spPr>
          <a:xfrm>
            <a:off x="8104799" y="1224000"/>
            <a:ext cx="3584400" cy="237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4799" y="1224000"/>
            <a:ext cx="35844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8799" y="1368000"/>
            <a:ext cx="3296400" cy="324000"/>
          </a:xfrm>
          <a:prstGeom prst="rect">
            <a:avLst/>
          </a:prstGeom>
          <a:noFill/>
        </p:spPr>
        <p:txBody>
          <a:bodyPr wrap="square">
            <a:spAutoFit/>
          </a:bodyPr>
          <a:lstStyle/>
          <a:p>
            <a:r>
              <a:rPr sz="1500" b="1" i="0">
                <a:solidFill>
                  <a:srgbClr val="3F7A72"/>
                </a:solidFill>
                <a:latin typeface="Calibri"/>
              </a:rPr>
              <a:t>Dashboard</a:t>
            </a:r>
          </a:p>
        </p:txBody>
      </p:sp>
      <p:sp>
        <p:nvSpPr>
          <p:cNvPr id="18" name="TextBox 17"/>
          <p:cNvSpPr txBox="1"/>
          <p:nvPr/>
        </p:nvSpPr>
        <p:spPr>
          <a:xfrm>
            <a:off x="8248799" y="1745999"/>
            <a:ext cx="3296400" cy="432000"/>
          </a:xfrm>
          <a:prstGeom prst="rect">
            <a:avLst/>
          </a:prstGeom>
          <a:noFill/>
        </p:spPr>
        <p:txBody>
          <a:bodyPr wrap="square">
            <a:spAutoFit/>
          </a:bodyPr>
          <a:lstStyle/>
          <a:p>
            <a:r>
              <a:rPr sz="2000" b="1" i="0">
                <a:solidFill>
                  <a:srgbClr val="374151"/>
                </a:solidFill>
                <a:latin typeface="Calibri"/>
              </a:rPr>
              <a:t>8 Tabs + Glossar</a:t>
            </a:r>
          </a:p>
        </p:txBody>
      </p:sp>
      <p:sp>
        <p:nvSpPr>
          <p:cNvPr id="19" name="TextBox 18"/>
          <p:cNvSpPr txBox="1"/>
          <p:nvPr/>
        </p:nvSpPr>
        <p:spPr>
          <a:xfrm>
            <a:off x="8248799" y="2214000"/>
            <a:ext cx="3296400" cy="1259999"/>
          </a:xfrm>
          <a:prstGeom prst="rect">
            <a:avLst/>
          </a:prstGeom>
          <a:noFill/>
        </p:spPr>
        <p:txBody>
          <a:bodyPr wrap="square">
            <a:spAutoFit/>
          </a:bodyPr>
          <a:lstStyle/>
          <a:p>
            <a:r>
              <a:rPr sz="1200" b="0" i="0">
                <a:solidFill>
                  <a:srgbClr val="374151"/>
                </a:solidFill>
                <a:latin typeface="Calibri"/>
              </a:rPr>
              <a:t>Ergebnisse zusätzlich interaktiv in einem Streamlit-Dashboard bereitgestellt.</a:t>
            </a:r>
          </a:p>
        </p:txBody>
      </p:sp>
      <p:sp>
        <p:nvSpPr>
          <p:cNvPr id="20" name="Rectangle 19"/>
          <p:cNvSpPr/>
          <p:nvPr/>
        </p:nvSpPr>
        <p:spPr>
          <a:xfrm>
            <a:off x="503999" y="3798000"/>
            <a:ext cx="11185200" cy="273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3999" y="3798000"/>
            <a:ext cx="90000" cy="27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999" y="3942000"/>
            <a:ext cx="10620000" cy="324000"/>
          </a:xfrm>
          <a:prstGeom prst="rect">
            <a:avLst/>
          </a:prstGeom>
          <a:noFill/>
        </p:spPr>
        <p:txBody>
          <a:bodyPr wrap="square">
            <a:spAutoFit/>
          </a:bodyPr>
          <a:lstStyle/>
          <a:p>
            <a:r>
              <a:rPr sz="1800" b="1" i="0">
                <a:solidFill>
                  <a:srgbClr val="A0453F"/>
                </a:solidFill>
                <a:latin typeface="Calibri"/>
              </a:rPr>
              <a:t>Kernbefund</a:t>
            </a:r>
          </a:p>
        </p:txBody>
      </p:sp>
      <p:sp>
        <p:nvSpPr>
          <p:cNvPr id="23" name="TextBox 22"/>
          <p:cNvSpPr txBox="1"/>
          <p:nvPr/>
        </p:nvSpPr>
        <p:spPr>
          <a:xfrm>
            <a:off x="827999" y="4284000"/>
            <a:ext cx="10620000" cy="684000"/>
          </a:xfrm>
          <a:prstGeom prst="rect">
            <a:avLst/>
          </a:prstGeom>
          <a:noFill/>
        </p:spPr>
        <p:txBody>
          <a:bodyPr wrap="square">
            <a:spAutoFit/>
          </a:bodyPr>
          <a:lstStyle/>
          <a:p>
            <a:r>
              <a:rPr sz="1600" b="0" i="0">
                <a:solidFill>
                  <a:srgbClr val="374151"/>
                </a:solidFill>
                <a:latin typeface="Calibri"/>
              </a:rPr>
              <a:t>Die Langzeitarbeitslosigkeit verschärft sich konsistent durch alle Kapitel hinweg — sichtbar in:</a:t>
            </a:r>
          </a:p>
        </p:txBody>
      </p:sp>
      <p:sp>
        <p:nvSpPr>
          <p:cNvPr id="24" name="Rectangle 23"/>
          <p:cNvSpPr/>
          <p:nvPr/>
        </p:nvSpPr>
        <p:spPr>
          <a:xfrm>
            <a:off x="827999"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7999" y="5202000"/>
            <a:ext cx="2346300" cy="684000"/>
          </a:xfrm>
          <a:prstGeom prst="rect">
            <a:avLst/>
          </a:prstGeom>
          <a:noFill/>
        </p:spPr>
        <p:txBody>
          <a:bodyPr wrap="square">
            <a:spAutoFit/>
          </a:bodyPr>
          <a:lstStyle/>
          <a:p>
            <a:pPr algn="ctr"/>
            <a:r>
              <a:rPr sz="1300" b="1" i="0">
                <a:solidFill>
                  <a:srgbClr val="374151"/>
                </a:solidFill>
                <a:latin typeface="Calibri"/>
              </a:rPr>
              <a:t>Bestand</a:t>
            </a:r>
          </a:p>
        </p:txBody>
      </p:sp>
      <p:sp>
        <p:nvSpPr>
          <p:cNvPr id="26" name="TextBox 25"/>
          <p:cNvSpPr txBox="1"/>
          <p:nvPr/>
        </p:nvSpPr>
        <p:spPr>
          <a:xfrm>
            <a:off x="917999" y="5940000"/>
            <a:ext cx="2346300" cy="216000"/>
          </a:xfrm>
          <a:prstGeom prst="rect">
            <a:avLst/>
          </a:prstGeom>
          <a:noFill/>
        </p:spPr>
        <p:txBody>
          <a:bodyPr wrap="square">
            <a:spAutoFit/>
          </a:bodyPr>
          <a:lstStyle/>
          <a:p>
            <a:pPr algn="ctr"/>
            <a:r>
              <a:rPr sz="1150" b="1" i="0">
                <a:solidFill>
                  <a:srgbClr val="A0453F"/>
                </a:solidFill>
                <a:latin typeface="Calibri"/>
              </a:rPr>
              <a:t>Kapitel 3.3</a:t>
            </a:r>
          </a:p>
        </p:txBody>
      </p:sp>
      <p:sp>
        <p:nvSpPr>
          <p:cNvPr id="27" name="Rectangle 26"/>
          <p:cNvSpPr/>
          <p:nvPr/>
        </p:nvSpPr>
        <p:spPr>
          <a:xfrm>
            <a:off x="34983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88300" y="5202000"/>
            <a:ext cx="2346300" cy="684000"/>
          </a:xfrm>
          <a:prstGeom prst="rect">
            <a:avLst/>
          </a:prstGeom>
          <a:noFill/>
        </p:spPr>
        <p:txBody>
          <a:bodyPr wrap="square">
            <a:spAutoFit/>
          </a:bodyPr>
          <a:lstStyle/>
          <a:p>
            <a:pPr algn="ctr"/>
            <a:r>
              <a:rPr sz="1300" b="1" i="0">
                <a:solidFill>
                  <a:srgbClr val="374151"/>
                </a:solidFill>
                <a:latin typeface="Calibri"/>
              </a:rPr>
              <a:t>Langzeitleistungsbezug</a:t>
            </a:r>
          </a:p>
        </p:txBody>
      </p:sp>
      <p:sp>
        <p:nvSpPr>
          <p:cNvPr id="29" name="TextBox 28"/>
          <p:cNvSpPr txBox="1"/>
          <p:nvPr/>
        </p:nvSpPr>
        <p:spPr>
          <a:xfrm>
            <a:off x="3588300" y="5940000"/>
            <a:ext cx="2346300" cy="216000"/>
          </a:xfrm>
          <a:prstGeom prst="rect">
            <a:avLst/>
          </a:prstGeom>
          <a:noFill/>
        </p:spPr>
        <p:txBody>
          <a:bodyPr wrap="square">
            <a:spAutoFit/>
          </a:bodyPr>
          <a:lstStyle/>
          <a:p>
            <a:pPr algn="ctr"/>
            <a:r>
              <a:rPr sz="1150" b="1" i="0">
                <a:solidFill>
                  <a:srgbClr val="A0453F"/>
                </a:solidFill>
                <a:latin typeface="Calibri"/>
              </a:rPr>
              <a:t>Kapitel 10.2</a:t>
            </a:r>
          </a:p>
        </p:txBody>
      </p:sp>
      <p:sp>
        <p:nvSpPr>
          <p:cNvPr id="30" name="Rectangle 29"/>
          <p:cNvSpPr/>
          <p:nvPr/>
        </p:nvSpPr>
        <p:spPr>
          <a:xfrm>
            <a:off x="61686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58600" y="5202000"/>
            <a:ext cx="2346300" cy="684000"/>
          </a:xfrm>
          <a:prstGeom prst="rect">
            <a:avLst/>
          </a:prstGeom>
          <a:noFill/>
        </p:spPr>
        <p:txBody>
          <a:bodyPr wrap="square">
            <a:spAutoFit/>
          </a:bodyPr>
          <a:lstStyle/>
          <a:p>
            <a:pPr algn="ctr"/>
            <a:r>
              <a:rPr sz="1300" b="1" i="0">
                <a:solidFill>
                  <a:srgbClr val="374151"/>
                </a:solidFill>
                <a:latin typeface="Calibri"/>
              </a:rPr>
              <a:t>Förderungs-
teilnehmende</a:t>
            </a:r>
          </a:p>
        </p:txBody>
      </p:sp>
      <p:sp>
        <p:nvSpPr>
          <p:cNvPr id="32" name="TextBox 31"/>
          <p:cNvSpPr txBox="1"/>
          <p:nvPr/>
        </p:nvSpPr>
        <p:spPr>
          <a:xfrm>
            <a:off x="6258600" y="5940000"/>
            <a:ext cx="2346300" cy="216000"/>
          </a:xfrm>
          <a:prstGeom prst="rect">
            <a:avLst/>
          </a:prstGeom>
          <a:noFill/>
        </p:spPr>
        <p:txBody>
          <a:bodyPr wrap="square">
            <a:spAutoFit/>
          </a:bodyPr>
          <a:lstStyle/>
          <a:p>
            <a:pPr algn="ctr"/>
            <a:r>
              <a:rPr sz="1150" b="1" i="0">
                <a:solidFill>
                  <a:srgbClr val="A0453F"/>
                </a:solidFill>
                <a:latin typeface="Calibri"/>
              </a:rPr>
              <a:t>Kapitel 9.3</a:t>
            </a:r>
          </a:p>
        </p:txBody>
      </p:sp>
      <p:sp>
        <p:nvSpPr>
          <p:cNvPr id="33" name="Rectangle 32"/>
          <p:cNvSpPr/>
          <p:nvPr/>
        </p:nvSpPr>
        <p:spPr>
          <a:xfrm>
            <a:off x="8838900" y="5094000"/>
            <a:ext cx="2526300" cy="1152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8900" y="5202000"/>
            <a:ext cx="2346300" cy="684000"/>
          </a:xfrm>
          <a:prstGeom prst="rect">
            <a:avLst/>
          </a:prstGeom>
          <a:noFill/>
        </p:spPr>
        <p:txBody>
          <a:bodyPr wrap="square">
            <a:spAutoFit/>
          </a:bodyPr>
          <a:lstStyle/>
          <a:p>
            <a:pPr algn="ctr"/>
            <a:r>
              <a:rPr sz="1300" b="1" i="0">
                <a:solidFill>
                  <a:srgbClr val="374151"/>
                </a:solidFill>
                <a:latin typeface="Calibri"/>
              </a:rPr>
              <a:t>Rechtskreis-
vergleich</a:t>
            </a:r>
          </a:p>
        </p:txBody>
      </p:sp>
      <p:sp>
        <p:nvSpPr>
          <p:cNvPr id="35" name="TextBox 34"/>
          <p:cNvSpPr txBox="1"/>
          <p:nvPr/>
        </p:nvSpPr>
        <p:spPr>
          <a:xfrm>
            <a:off x="8928900" y="5940000"/>
            <a:ext cx="2346300" cy="216000"/>
          </a:xfrm>
          <a:prstGeom prst="rect">
            <a:avLst/>
          </a:prstGeom>
          <a:noFill/>
        </p:spPr>
        <p:txBody>
          <a:bodyPr wrap="square">
            <a:spAutoFit/>
          </a:bodyPr>
          <a:lstStyle/>
          <a:p>
            <a:pPr algn="ctr"/>
            <a:r>
              <a:rPr sz="1150" b="1" i="0">
                <a:solidFill>
                  <a:srgbClr val="A0453F"/>
                </a:solidFill>
                <a:latin typeface="Calibri"/>
              </a:rPr>
              <a:t>Kapitel 11.2</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3200" cy="936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32000" y="90000"/>
            <a:ext cx="11329200" cy="251999"/>
          </a:xfrm>
          <a:prstGeom prst="rect">
            <a:avLst/>
          </a:prstGeom>
          <a:noFill/>
        </p:spPr>
        <p:txBody>
          <a:bodyPr wrap="square" anchor="t">
            <a:spAutoFit/>
          </a:bodyPr>
          <a:lstStyle/>
          <a:p>
            <a:pPr algn="l"/>
            <a:r>
              <a:rPr sz="1400" b="1" i="0">
                <a:solidFill>
                  <a:srgbClr val="FFFFFF"/>
                </a:solidFill>
                <a:latin typeface="Calibri"/>
              </a:rPr>
              <a:t>12.2</a:t>
            </a:r>
          </a:p>
        </p:txBody>
      </p:sp>
      <p:sp>
        <p:nvSpPr>
          <p:cNvPr id="4" name="TextBox 3"/>
          <p:cNvSpPr txBox="1"/>
          <p:nvPr/>
        </p:nvSpPr>
        <p:spPr>
          <a:xfrm>
            <a:off x="432000" y="306000"/>
            <a:ext cx="11329200" cy="540000"/>
          </a:xfrm>
          <a:prstGeom prst="rect">
            <a:avLst/>
          </a:prstGeom>
          <a:noFill/>
        </p:spPr>
        <p:txBody>
          <a:bodyPr wrap="square" anchor="t">
            <a:spAutoFit/>
          </a:bodyPr>
          <a:lstStyle/>
          <a:p>
            <a:pPr algn="l"/>
            <a:r>
              <a:rPr sz="2800" b="1" i="0">
                <a:solidFill>
                  <a:srgbClr val="FFFFFF"/>
                </a:solidFill>
                <a:latin typeface="Calibri"/>
              </a:rPr>
              <a:t>Ausblick — verbleibende Erweiterungsideen</a:t>
            </a:r>
          </a:p>
        </p:txBody>
      </p:sp>
      <p:sp>
        <p:nvSpPr>
          <p:cNvPr id="5" name="Rectangle 4"/>
          <p:cNvSpPr/>
          <p:nvPr/>
        </p:nvSpPr>
        <p:spPr>
          <a:xfrm>
            <a:off x="503999"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3999" y="1224000"/>
            <a:ext cx="2635200" cy="90000"/>
          </a:xfrm>
          <a:prstGeom prst="rect">
            <a:avLst/>
          </a:prstGeom>
          <a:solidFill>
            <a:srgbClr val="3B6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000" y="1350000"/>
            <a:ext cx="2383200" cy="324000"/>
          </a:xfrm>
          <a:prstGeom prst="rect">
            <a:avLst/>
          </a:prstGeom>
          <a:noFill/>
        </p:spPr>
        <p:txBody>
          <a:bodyPr wrap="square">
            <a:spAutoFit/>
          </a:bodyPr>
          <a:lstStyle/>
          <a:p>
            <a:r>
              <a:rPr sz="1400" b="1" i="0">
                <a:solidFill>
                  <a:srgbClr val="3B6EA8"/>
                </a:solidFill>
                <a:latin typeface="Calibri"/>
              </a:rPr>
              <a:t>Arbeitsstellen</a:t>
            </a:r>
          </a:p>
        </p:txBody>
      </p:sp>
      <p:sp>
        <p:nvSpPr>
          <p:cNvPr id="8" name="TextBox 7"/>
          <p:cNvSpPr txBox="1"/>
          <p:nvPr/>
        </p:nvSpPr>
        <p:spPr>
          <a:xfrm>
            <a:off x="630000" y="1782000"/>
            <a:ext cx="2383200" cy="576000"/>
          </a:xfrm>
          <a:prstGeom prst="rect">
            <a:avLst/>
          </a:prstGeom>
          <a:noFill/>
        </p:spPr>
        <p:txBody>
          <a:bodyPr wrap="square">
            <a:spAutoFit/>
          </a:bodyPr>
          <a:lstStyle/>
          <a:p>
            <a:r>
              <a:rPr sz="1700" b="1" i="0">
                <a:solidFill>
                  <a:srgbClr val="374151"/>
                </a:solidFill>
                <a:latin typeface="Calibri"/>
              </a:rPr>
              <a:t>Nachfrageseite</a:t>
            </a:r>
          </a:p>
        </p:txBody>
      </p:sp>
      <p:sp>
        <p:nvSpPr>
          <p:cNvPr id="9" name="TextBox 8"/>
          <p:cNvSpPr txBox="1"/>
          <p:nvPr/>
        </p:nvSpPr>
        <p:spPr>
          <a:xfrm>
            <a:off x="630000" y="2376000"/>
            <a:ext cx="2383200" cy="1278000"/>
          </a:xfrm>
          <a:prstGeom prst="rect">
            <a:avLst/>
          </a:prstGeom>
          <a:noFill/>
        </p:spPr>
        <p:txBody>
          <a:bodyPr wrap="square">
            <a:spAutoFit/>
          </a:bodyPr>
          <a:lstStyle/>
          <a:p>
            <a:r>
              <a:rPr sz="1200" b="0" i="0">
                <a:solidFill>
                  <a:srgbClr val="374151"/>
                </a:solidFill>
                <a:latin typeface="Calibri"/>
              </a:rPr>
              <a:t>Gemeldete Arbeitsstellen (Zugang, Bestand) — bisher komplett ausgeklammert.</a:t>
            </a:r>
          </a:p>
        </p:txBody>
      </p:sp>
      <p:sp>
        <p:nvSpPr>
          <p:cNvPr id="10" name="Rectangle 9"/>
          <p:cNvSpPr/>
          <p:nvPr/>
        </p:nvSpPr>
        <p:spPr>
          <a:xfrm>
            <a:off x="33552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5200" y="1224000"/>
            <a:ext cx="2635200" cy="90000"/>
          </a:xfrm>
          <a:prstGeom prst="rect">
            <a:avLst/>
          </a:prstGeom>
          <a:solidFill>
            <a:srgbClr val="6B5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81200" y="1350000"/>
            <a:ext cx="2383200" cy="324000"/>
          </a:xfrm>
          <a:prstGeom prst="rect">
            <a:avLst/>
          </a:prstGeom>
          <a:noFill/>
        </p:spPr>
        <p:txBody>
          <a:bodyPr wrap="square">
            <a:spAutoFit/>
          </a:bodyPr>
          <a:lstStyle/>
          <a:p>
            <a:r>
              <a:rPr sz="1400" b="1" i="0">
                <a:solidFill>
                  <a:srgbClr val="6B5B8F"/>
                </a:solidFill>
                <a:latin typeface="Calibri"/>
              </a:rPr>
              <a:t>Unterbeschäftigung</a:t>
            </a:r>
          </a:p>
        </p:txBody>
      </p:sp>
      <p:sp>
        <p:nvSpPr>
          <p:cNvPr id="13" name="TextBox 12"/>
          <p:cNvSpPr txBox="1"/>
          <p:nvPr/>
        </p:nvSpPr>
        <p:spPr>
          <a:xfrm>
            <a:off x="3481200" y="1782000"/>
            <a:ext cx="2383200" cy="576000"/>
          </a:xfrm>
          <a:prstGeom prst="rect">
            <a:avLst/>
          </a:prstGeom>
          <a:noFill/>
        </p:spPr>
        <p:txBody>
          <a:bodyPr wrap="square">
            <a:spAutoFit/>
          </a:bodyPr>
          <a:lstStyle/>
          <a:p>
            <a:r>
              <a:rPr sz="1700" b="1" i="0">
                <a:solidFill>
                  <a:srgbClr val="374151"/>
                </a:solidFill>
                <a:latin typeface="Calibri"/>
              </a:rPr>
              <a:t>Im engeren Sinne</a:t>
            </a:r>
          </a:p>
        </p:txBody>
      </p:sp>
      <p:sp>
        <p:nvSpPr>
          <p:cNvPr id="14" name="TextBox 13"/>
          <p:cNvSpPr txBox="1"/>
          <p:nvPr/>
        </p:nvSpPr>
        <p:spPr>
          <a:xfrm>
            <a:off x="3481200" y="2376000"/>
            <a:ext cx="2383200" cy="1278000"/>
          </a:xfrm>
          <a:prstGeom prst="rect">
            <a:avLst/>
          </a:prstGeom>
          <a:noFill/>
        </p:spPr>
        <p:txBody>
          <a:bodyPr wrap="square">
            <a:spAutoFit/>
          </a:bodyPr>
          <a:lstStyle/>
          <a:p>
            <a:r>
              <a:rPr sz="1200" b="0" i="0">
                <a:solidFill>
                  <a:srgbClr val="374151"/>
                </a:solidFill>
                <a:latin typeface="Calibri"/>
              </a:rPr>
              <a:t>Detailkomponenten ohne Kurzarbeit, bisher nur „im weiteren Sinne“ für die Quote genutzt.</a:t>
            </a:r>
          </a:p>
        </p:txBody>
      </p:sp>
      <p:sp>
        <p:nvSpPr>
          <p:cNvPr id="15" name="Rectangle 14"/>
          <p:cNvSpPr/>
          <p:nvPr/>
        </p:nvSpPr>
        <p:spPr>
          <a:xfrm>
            <a:off x="62028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02800" y="1224000"/>
            <a:ext cx="2635200" cy="90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800" y="1350000"/>
            <a:ext cx="2383200" cy="324000"/>
          </a:xfrm>
          <a:prstGeom prst="rect">
            <a:avLst/>
          </a:prstGeom>
          <a:noFill/>
        </p:spPr>
        <p:txBody>
          <a:bodyPr wrap="square">
            <a:spAutoFit/>
          </a:bodyPr>
          <a:lstStyle/>
          <a:p>
            <a:r>
              <a:rPr sz="1400" b="1" i="0">
                <a:solidFill>
                  <a:srgbClr val="C79A56"/>
                </a:solidFill>
                <a:latin typeface="Calibri"/>
              </a:rPr>
              <a:t>RLB / ELB / NEF</a:t>
            </a:r>
          </a:p>
        </p:txBody>
      </p:sp>
      <p:sp>
        <p:nvSpPr>
          <p:cNvPr id="18" name="TextBox 17"/>
          <p:cNvSpPr txBox="1"/>
          <p:nvPr/>
        </p:nvSpPr>
        <p:spPr>
          <a:xfrm>
            <a:off x="6328800" y="1782000"/>
            <a:ext cx="2383200" cy="576000"/>
          </a:xfrm>
          <a:prstGeom prst="rect">
            <a:avLst/>
          </a:prstGeom>
          <a:noFill/>
        </p:spPr>
        <p:txBody>
          <a:bodyPr wrap="square">
            <a:spAutoFit/>
          </a:bodyPr>
          <a:lstStyle/>
          <a:p>
            <a:r>
              <a:rPr sz="1700" b="1" i="0">
                <a:solidFill>
                  <a:srgbClr val="374151"/>
                </a:solidFill>
                <a:latin typeface="Calibri"/>
              </a:rPr>
              <a:t>Als Zeitreihe</a:t>
            </a:r>
          </a:p>
        </p:txBody>
      </p:sp>
      <p:sp>
        <p:nvSpPr>
          <p:cNvPr id="19" name="TextBox 18"/>
          <p:cNvSpPr txBox="1"/>
          <p:nvPr/>
        </p:nvSpPr>
        <p:spPr>
          <a:xfrm>
            <a:off x="6328800" y="2376000"/>
            <a:ext cx="2383200" cy="1278000"/>
          </a:xfrm>
          <a:prstGeom prst="rect">
            <a:avLst/>
          </a:prstGeom>
          <a:noFill/>
        </p:spPr>
        <p:txBody>
          <a:bodyPr wrap="square">
            <a:spAutoFit/>
          </a:bodyPr>
          <a:lstStyle/>
          <a:p>
            <a:r>
              <a:rPr sz="1200" b="0" i="0">
                <a:solidFill>
                  <a:srgbClr val="374151"/>
                </a:solidFill>
                <a:latin typeface="Calibri"/>
              </a:rPr>
              <a:t>Bisher nur als Momentaufnahme in der Trichter-Grafik sichtbar.</a:t>
            </a:r>
          </a:p>
        </p:txBody>
      </p:sp>
      <p:sp>
        <p:nvSpPr>
          <p:cNvPr id="20" name="Rectangle 19"/>
          <p:cNvSpPr/>
          <p:nvPr/>
        </p:nvSpPr>
        <p:spPr>
          <a:xfrm>
            <a:off x="9054000" y="1224000"/>
            <a:ext cx="2635200" cy="2556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54000" y="1224000"/>
            <a:ext cx="2635200" cy="90000"/>
          </a:xfrm>
          <a:prstGeom prst="rect">
            <a:avLst/>
          </a:prstGeom>
          <a:solidFill>
            <a:srgbClr val="3F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000" y="1350000"/>
            <a:ext cx="2383200" cy="324000"/>
          </a:xfrm>
          <a:prstGeom prst="rect">
            <a:avLst/>
          </a:prstGeom>
          <a:noFill/>
        </p:spPr>
        <p:txBody>
          <a:bodyPr wrap="square">
            <a:spAutoFit/>
          </a:bodyPr>
          <a:lstStyle/>
          <a:p>
            <a:r>
              <a:rPr sz="1400" b="1" i="0">
                <a:solidFill>
                  <a:srgbClr val="3F7A72"/>
                </a:solidFill>
                <a:latin typeface="Calibri"/>
              </a:rPr>
              <a:t>Beschäftigung</a:t>
            </a:r>
          </a:p>
        </p:txBody>
      </p:sp>
      <p:sp>
        <p:nvSpPr>
          <p:cNvPr id="23" name="TextBox 22"/>
          <p:cNvSpPr txBox="1"/>
          <p:nvPr/>
        </p:nvSpPr>
        <p:spPr>
          <a:xfrm>
            <a:off x="9180000" y="1782000"/>
            <a:ext cx="2383200" cy="576000"/>
          </a:xfrm>
          <a:prstGeom prst="rect">
            <a:avLst/>
          </a:prstGeom>
          <a:noFill/>
        </p:spPr>
        <p:txBody>
          <a:bodyPr wrap="square">
            <a:spAutoFit/>
          </a:bodyPr>
          <a:lstStyle/>
          <a:p>
            <a:r>
              <a:rPr sz="1700" b="1" i="0">
                <a:solidFill>
                  <a:srgbClr val="374151"/>
                </a:solidFill>
                <a:latin typeface="Calibri"/>
              </a:rPr>
              <a:t>Gegenstück</a:t>
            </a:r>
          </a:p>
        </p:txBody>
      </p:sp>
      <p:sp>
        <p:nvSpPr>
          <p:cNvPr id="24" name="TextBox 23"/>
          <p:cNvSpPr txBox="1"/>
          <p:nvPr/>
        </p:nvSpPr>
        <p:spPr>
          <a:xfrm>
            <a:off x="9180000" y="2376000"/>
            <a:ext cx="2383200" cy="1278000"/>
          </a:xfrm>
          <a:prstGeom prst="rect">
            <a:avLst/>
          </a:prstGeom>
          <a:noFill/>
        </p:spPr>
        <p:txBody>
          <a:bodyPr wrap="square">
            <a:spAutoFit/>
          </a:bodyPr>
          <a:lstStyle/>
          <a:p>
            <a:r>
              <a:rPr sz="1200" b="0" i="0">
                <a:solidFill>
                  <a:srgbClr val="374151"/>
                </a:solidFill>
                <a:latin typeface="Calibri"/>
              </a:rPr>
              <a:t>Sozialversicherungspflichtige und geringfügig entlohnte Beschäftigung.</a:t>
            </a:r>
          </a:p>
        </p:txBody>
      </p:sp>
      <p:sp>
        <p:nvSpPr>
          <p:cNvPr id="25" name="Rectangle 24"/>
          <p:cNvSpPr/>
          <p:nvPr/>
        </p:nvSpPr>
        <p:spPr>
          <a:xfrm>
            <a:off x="503999" y="3978000"/>
            <a:ext cx="11185200" cy="144000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3999" y="3978000"/>
            <a:ext cx="90000" cy="1440000"/>
          </a:xfrm>
          <a:prstGeom prst="rect">
            <a:avLst/>
          </a:prstGeom>
          <a:solidFill>
            <a:srgbClr val="A04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999" y="4122000"/>
            <a:ext cx="10620000" cy="324000"/>
          </a:xfrm>
          <a:prstGeom prst="rect">
            <a:avLst/>
          </a:prstGeom>
          <a:noFill/>
        </p:spPr>
        <p:txBody>
          <a:bodyPr wrap="square">
            <a:spAutoFit/>
          </a:bodyPr>
          <a:lstStyle/>
          <a:p>
            <a:r>
              <a:rPr sz="1800" b="1" i="0">
                <a:solidFill>
                  <a:srgbClr val="A0453F"/>
                </a:solidFill>
                <a:latin typeface="Calibri"/>
              </a:rPr>
              <a:t>Methodisch offen</a:t>
            </a:r>
          </a:p>
        </p:txBody>
      </p:sp>
      <p:sp>
        <p:nvSpPr>
          <p:cNvPr id="28" name="TextBox 27"/>
          <p:cNvSpPr txBox="1"/>
          <p:nvPr/>
        </p:nvSpPr>
        <p:spPr>
          <a:xfrm>
            <a:off x="827999" y="4464000"/>
            <a:ext cx="10620000" cy="846000"/>
          </a:xfrm>
          <a:prstGeom prst="rect">
            <a:avLst/>
          </a:prstGeom>
          <a:noFill/>
        </p:spPr>
        <p:txBody>
          <a:bodyPr wrap="square">
            <a:spAutoFit/>
          </a:bodyPr>
          <a:lstStyle/>
          <a:p>
            <a:r>
              <a:rPr sz="1600" b="0" i="0">
                <a:solidFill>
                  <a:srgbClr val="374151"/>
                </a:solidFill>
                <a:latin typeface="Calibri"/>
              </a:rPr>
              <a:t>Multiple Regression, ANOVA, Violin-/Pie-Plots — methodisch ergänzende Verfahren für eine spätere Vertiefung.</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2E4057"/>
        </a:solidFill>
        <a:effectLst/>
      </p:bgPr>
    </p:bg>
    <p:spTree>
      <p:nvGrpSpPr>
        <p:cNvPr id="1" name=""/>
        <p:cNvGrpSpPr/>
        <p:nvPr/>
      </p:nvGrpSpPr>
      <p:grpSpPr>
        <a:xfrm>
          <a:off x="0" y="0"/>
          <a:ext cx="0" cy="0"/>
          <a:chOff x="0" y="0"/>
          <a:chExt cx="0" cy="0"/>
        </a:xfrm>
      </p:grpSpPr>
      <p:sp>
        <p:nvSpPr>
          <p:cNvPr id="2" name="Rectangle 1"/>
          <p:cNvSpPr/>
          <p:nvPr/>
        </p:nvSpPr>
        <p:spPr>
          <a:xfrm>
            <a:off x="0" y="3240000"/>
            <a:ext cx="12193200" cy="54000"/>
          </a:xfrm>
          <a:prstGeom prst="rect">
            <a:avLst/>
          </a:prstGeom>
          <a:solidFill>
            <a:srgbClr val="C7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20000" y="2484000"/>
            <a:ext cx="10753200" cy="540000"/>
          </a:xfrm>
          <a:prstGeom prst="rect">
            <a:avLst/>
          </a:prstGeom>
          <a:noFill/>
        </p:spPr>
        <p:txBody>
          <a:bodyPr wrap="square" anchor="t">
            <a:spAutoFit/>
          </a:bodyPr>
          <a:lstStyle/>
          <a:p>
            <a:pPr algn="ctr"/>
            <a:r>
              <a:rPr sz="3600" b="1" i="0">
                <a:solidFill>
                  <a:srgbClr val="FFFFFF"/>
                </a:solidFill>
                <a:latin typeface="Calibri"/>
              </a:rPr>
              <a:t>Vielen Dank für die Aufmerksamkeit</a:t>
            </a:r>
          </a:p>
        </p:txBody>
      </p:sp>
      <p:sp>
        <p:nvSpPr>
          <p:cNvPr id="4" name="TextBox 3"/>
          <p:cNvSpPr txBox="1"/>
          <p:nvPr/>
        </p:nvSpPr>
        <p:spPr>
          <a:xfrm>
            <a:off x="720000" y="3456000"/>
            <a:ext cx="10753200" cy="360000"/>
          </a:xfrm>
          <a:prstGeom prst="rect">
            <a:avLst/>
          </a:prstGeom>
          <a:noFill/>
        </p:spPr>
        <p:txBody>
          <a:bodyPr wrap="square" anchor="t">
            <a:spAutoFit/>
          </a:bodyPr>
          <a:lstStyle/>
          <a:p>
            <a:pPr algn="ctr"/>
            <a:r>
              <a:rPr sz="1600" b="0" i="0">
                <a:solidFill>
                  <a:srgbClr val="BFDBFE"/>
                </a:solidFill>
                <a:latin typeface="Calibri"/>
              </a:rPr>
              <a:t>Live-Dashboard: daelwve9mj8pxz32vshq7u.streamlit.app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2225</Words>
  <Application>Microsoft Office PowerPoint</Application>
  <PresentationFormat>Benutzerdefiniert</PresentationFormat>
  <Paragraphs>302</Paragraphs>
  <Slides>65</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65</vt:i4>
      </vt:variant>
    </vt:vector>
  </HeadingPairs>
  <TitlesOfParts>
    <vt:vector size="68" baseType="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Eugenia Funk</cp:lastModifiedBy>
  <cp:revision>1</cp:revision>
  <dcterms:created xsi:type="dcterms:W3CDTF">2013-01-27T09:14:16Z</dcterms:created>
  <dcterms:modified xsi:type="dcterms:W3CDTF">2026-08-29T20:15:48Z</dcterms:modified>
  <cp:category/>
</cp:coreProperties>
</file>