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73" r:id="rId19"/>
    <p:sldId id="274" r:id="rId20"/>
    <p:sldId id="275" r:id="rId21"/>
    <p:sldId id="276" r:id="rId22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6" d="100"/>
          <a:sy n="56" d="100"/>
        </p:scale>
        <p:origin x="84" y="3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27.xml"/><Relationship Id="rId20" Type="http://schemas.openxmlformats.org/officeDocument/2006/relationships/slide" Target="slides/slide28.xml"/><Relationship Id="rId21" Type="http://schemas.openxmlformats.org/officeDocument/2006/relationships/slide" Target="slides/slide29.xml"/><Relationship Id="rId22" Type="http://schemas.openxmlformats.org/officeDocument/2006/relationships/slide" Target="slides/slide30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a Funk" userId="8e8c6ebfa4ec6395" providerId="LiveId" clId="{4ABD1F32-8A54-41D3-9E52-C7E96354139A}"/>
    <pc:docChg chg="custSel modSld">
      <pc:chgData name="Eugenia Funk" userId="8e8c6ebfa4ec6395" providerId="LiveId" clId="{4ABD1F32-8A54-41D3-9E52-C7E96354139A}" dt="2026-08-17T13:39:01.191" v="2" actId="27636"/>
      <pc:docMkLst>
        <pc:docMk/>
      </pc:docMkLst>
      <pc:sldChg chg="modSp mod">
        <pc:chgData name="Eugenia Funk" userId="8e8c6ebfa4ec6395" providerId="LiveId" clId="{4ABD1F32-8A54-41D3-9E52-C7E96354139A}" dt="2026-08-17T13:39:01.148" v="0" actId="26606"/>
        <pc:sldMkLst>
          <pc:docMk/>
          <pc:sldMk cId="0" sldId="260"/>
        </pc:sldMkLst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5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6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8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9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11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12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20" creationId="{00000000-0000-0000-0000-000000000000}"/>
          </ac:spMkLst>
        </pc:spChg>
      </pc:sldChg>
      <pc:sldChg chg="modSp mod">
        <pc:chgData name="Eugenia Funk" userId="8e8c6ebfa4ec6395" providerId="LiveId" clId="{4ABD1F32-8A54-41D3-9E52-C7E96354139A}" dt="2026-08-17T13:39:01.185" v="1" actId="27636"/>
        <pc:sldMkLst>
          <pc:docMk/>
          <pc:sldMk cId="0" sldId="261"/>
        </pc:sldMkLst>
        <pc:spChg chg="mod">
          <ac:chgData name="Eugenia Funk" userId="8e8c6ebfa4ec6395" providerId="LiveId" clId="{4ABD1F32-8A54-41D3-9E52-C7E96354139A}" dt="2026-08-17T13:39:01.185" v="1" actId="27636"/>
          <ac:spMkLst>
            <pc:docMk/>
            <pc:sldMk cId="0" sldId="261"/>
            <ac:spMk id="3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1"/>
            <ac:spMk id="4" creationId="{00000000-0000-0000-0000-000000000000}"/>
          </ac:spMkLst>
        </pc:spChg>
      </pc:sldChg>
      <pc:sldChg chg="modSp mod">
        <pc:chgData name="Eugenia Funk" userId="8e8c6ebfa4ec6395" providerId="LiveId" clId="{4ABD1F32-8A54-41D3-9E52-C7E96354139A}" dt="2026-08-17T13:39:01.148" v="0" actId="26606"/>
        <pc:sldMkLst>
          <pc:docMk/>
          <pc:sldMk cId="0" sldId="264"/>
        </pc:sldMkLst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5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6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8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9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2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3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5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7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8" creationId="{00000000-0000-0000-0000-000000000000}"/>
          </ac:spMkLst>
        </pc:spChg>
      </pc:sldChg>
      <pc:sldChg chg="modSp mod">
        <pc:chgData name="Eugenia Funk" userId="8e8c6ebfa4ec6395" providerId="LiveId" clId="{4ABD1F32-8A54-41D3-9E52-C7E96354139A}" dt="2026-08-17T13:39:01.191" v="2" actId="27636"/>
        <pc:sldMkLst>
          <pc:docMk/>
          <pc:sldMk cId="0" sldId="265"/>
        </pc:sldMkLst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5"/>
            <ac:spMk id="2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91" v="2" actId="27636"/>
          <ac:spMkLst>
            <pc:docMk/>
            <pc:sldMk cId="0" sldId="265"/>
            <ac:spMk id="3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Eugenia Funk" userId="8e8c6ebfa4ec6395" providerId="LiveId" clId="{4ABD1F32-8A54-41D3-9E52-C7E96354139A}" dt="2026-08-17T13:39:01.148" v="0" actId="26606"/>
        <pc:sldMkLst>
          <pc:docMk/>
          <pc:sldMk cId="0" sldId="276"/>
        </pc:sldMkLst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76"/>
            <ac:spMk id="3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608000"/>
            <a:ext cx="12193200" cy="9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752000"/>
            <a:ext cx="12193200" cy="288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2340000"/>
            <a:ext cx="107532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Arbeitsmarktanalyse Regensburg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060000"/>
            <a:ext cx="10753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BFDBFE"/>
                </a:solidFill>
                <a:latin typeface="Calibri"/>
              </a:rPr>
              <a:t>Rechtskreis SGB II — Datenexploration, -analyse und Visualisierung mit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112000"/>
            <a:ext cx="107532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E0E7FF"/>
                </a:solidFill>
                <a:latin typeface="Calibri"/>
              </a:rPr>
              <a:t>Eugenia Funk  ·  17.08.2026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1440000"/>
            <a:ext cx="503999" cy="50399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440000"/>
            <a:ext cx="503999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440000"/>
            <a:ext cx="720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374151"/>
                </a:solidFill>
                <a:latin typeface="Calibri"/>
              </a:rPr>
              <a:t>Einleitung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3999" y="2304000"/>
            <a:ext cx="503999" cy="503999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3999" y="2304000"/>
            <a:ext cx="503999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2304000"/>
            <a:ext cx="720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374151"/>
                </a:solidFill>
                <a:latin typeface="Calibri"/>
              </a:rPr>
              <a:t>Datenexploration und -aufbereitung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3999" y="3168000"/>
            <a:ext cx="503999" cy="50399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3999" y="3168000"/>
            <a:ext cx="503999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3168000"/>
            <a:ext cx="720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374151"/>
                </a:solidFill>
                <a:latin typeface="Calibri"/>
              </a:rPr>
              <a:t>Datenanalyse und Visualisierung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999" y="4896000"/>
            <a:ext cx="503999" cy="503999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3999" y="4896000"/>
            <a:ext cx="503999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4896000"/>
            <a:ext cx="720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374151"/>
                </a:solidFill>
                <a:latin typeface="Calibri"/>
              </a:rPr>
              <a:t>Fazit und Ausblick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3999" y="4031999"/>
            <a:ext cx="503999" cy="50399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999" y="4031999"/>
            <a:ext cx="50399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000" y="4031999"/>
            <a:ext cx="72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374151"/>
                </a:solidFill>
                <a:latin typeface="Calibri"/>
              </a:rPr>
              <a:t>Vertiefte statistische Analyse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51999"/>
            <a:ext cx="12193200" cy="54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1944000"/>
            <a:ext cx="10753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BFDBFE"/>
                </a:solidFill>
                <a:latin typeface="Calibri"/>
              </a:rPr>
              <a:t>KAPITEL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196000"/>
            <a:ext cx="10753200" cy="79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Einleitung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311999"/>
            <a:ext cx="107532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Ausgangssituation und Motivation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Zielsetzung des Projekts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Datengrundlage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1.1 –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Ausgangssituation und Zielsetzung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Die Bundesagentur für Arbeit veröffentlicht monatlich den Bericht „Eckwerte für Jobcenter“ — mit über 20 Tabellenblättern pro Datei ist die Rohform kaum auswertbar.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Ziel: eine strukturierte, reproduzierbare Zeitreihe aus 18 Monatsberichten aufbauen und die Entwicklung der Arbeitslosigkeit im Rechtskreis SGB II auswerten und visualisieren.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Vier Schwerpunkte: sauberer Datenverarbeitungsprozess, aussagekräftige Visualisierung, inhaltliche Erkenntnisse, interaktives Dashboard für die fortlaufende Nutzung.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Datengrundlage auf einen Blick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3999" y="2940000"/>
            <a:ext cx="2634300" cy="9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19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2563EB"/>
                </a:solidFill>
                <a:latin typeface="Calibri"/>
              </a:rPr>
              <a:t>18</a:t>
            </a:r>
            <a:endParaRPr sz="3000" b="1" i="0">
              <a:solidFill>
                <a:srgbClr val="2563E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11999" y="3984000"/>
            <a:ext cx="24183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monatliche Excel-
Berichte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42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54299" y="2940000"/>
            <a:ext cx="2634300" cy="90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622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7C3AED"/>
                </a:solidFill>
                <a:latin typeface="Calibri"/>
              </a:rPr>
              <a:t>21</a:t>
            </a:r>
            <a:endParaRPr sz="3000" b="1" i="0">
              <a:solidFill>
                <a:srgbClr val="7C3AED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62299" y="3984000"/>
            <a:ext cx="24183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Tabellenblätter
pro Datei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045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04599" y="2940000"/>
            <a:ext cx="2634300" cy="9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2599" y="3318000"/>
            <a:ext cx="2418300" cy="63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2000" b="1" i="0">
                <a:solidFill>
                  <a:srgbClr val="F59E0B"/>
                </a:solidFill>
                <a:latin typeface="Calibri"/>
              </a:rPr>
              <a:t>Jan 25 – Jun 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2599" y="3984000"/>
            <a:ext cx="24183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Berichtszeitraum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0548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054899" y="2940000"/>
            <a:ext cx="2634300" cy="90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628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DC2626"/>
                </a:solidFill>
                <a:latin typeface="Calibri"/>
              </a:rPr>
              <a:t>SGB II</a:t>
            </a:r>
            <a:endParaRPr sz="3000" b="1" i="0">
              <a:solidFill>
                <a:srgbClr val="DC2626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62899" y="3984000"/>
            <a:ext cx="24183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Rechtskreis
Jobcenter Regensburg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C1D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51999"/>
            <a:ext cx="12193200" cy="54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1314000"/>
            <a:ext cx="10753200" cy="260568"/>
          </a:xfrm>
          <a:prstGeom prst="rect">
            <a:avLst/>
          </a:prstGeom>
          <a:noFill/>
        </p:spPr>
        <p:txBody>
          <a:bodyPr wrap="square" anchor="t">
            <a:normAutofit fontScale="55000" lnSpcReduction="20000"/>
          </a:bodyPr>
          <a:lstStyle/>
          <a:p>
            <a:pPr algn="l"/>
            <a:r>
              <a:rPr sz="2200" b="1" i="0">
                <a:solidFill>
                  <a:srgbClr val="BFDBFE"/>
                </a:solidFill>
                <a:latin typeface="Calibri"/>
              </a:rPr>
              <a:t>KAPITEL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602000"/>
            <a:ext cx="10753200" cy="79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Datenexploration
und -aufbereitung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311999"/>
            <a:ext cx="107532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Tabellenblätter der Rohdaten untersuchen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Daten einlesen, bereinigen, aufbereiten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Export für die Weiterverarbeitung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Tabellenblätter der Rohdaten untersuchen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Alle 21 Tabellenblätter je Datei systematisch gesichtet: Was steht drin, ist es relevant, welche Diagramme wären möglich?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6 Blätter sind reine Metadaten/Navigation ohne Analysewert.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Blatt „1.1 Eckwerte“ als Hauptquelle identifiziert.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⚠️ Wichtiger Befund: Blätter 3.1–3.6 und 4.1–4.2 melden Werte mit 3–6 Monaten Wartezeit statt dem aktuellen Berichtsmonat.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2.2 –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Datenpipeline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normalize_label(): entfernt Fußnotenmarker per Regex aus Zeilenbeschriftungen.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parse_eckwerte(): liest Zeilen 9–47 des Blatts „1.1 Eckwerte“, Berichtsmonat aus Dateiname abgeleitet.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Bereinigung: 0 Duplikate, 108 von 558 fehlenden Werten identifiziert und erklärt.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pivot_table() erzeugt Wide-Format-Zeitreihe mit 9 zentralen SGB-II-Kennzahlen.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Export als eckwerte_long.csv und kennzahlen_sgb2.csv — Grundlage für Analyse und Dashboard.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Datenüberblick nach der Bereinigung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3999" y="2940000"/>
            <a:ext cx="2634300" cy="90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19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7C3AED"/>
                </a:solidFill>
                <a:latin typeface="Calibri"/>
              </a:rPr>
              <a:t>558 </a:t>
            </a:r>
            <a:r>
              <a:rPr sz="3000" b="1" i="0">
                <a:solidFill>
                  <a:srgbClr val="7C3AED"/>
                </a:solidFill>
                <a:latin typeface="Calibri"/>
              </a:rPr>
              <a:t>× </a:t>
            </a:r>
            <a:r>
              <a:rPr lang="de-DE" sz="3000" b="1" i="0">
                <a:solidFill>
                  <a:srgbClr val="7C3AED"/>
                </a:solidFill>
                <a:latin typeface="Calibri"/>
              </a:rPr>
              <a:t>8</a:t>
            </a:r>
            <a:endParaRPr sz="3000" b="1" i="0">
              <a:solidFill>
                <a:srgbClr val="7C3AED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11999" y="3984000"/>
            <a:ext cx="24183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Zeilen </a:t>
            </a:r>
            <a:r>
              <a:rPr sz="1400" b="0" i="0">
                <a:solidFill>
                  <a:srgbClr val="374151"/>
                </a:solidFill>
                <a:latin typeface="Calibri"/>
              </a:rPr>
              <a:t>× </a:t>
            </a:r>
            <a:r>
              <a:rPr lang="de-DE" sz="1400" b="0" i="0">
                <a:solidFill>
                  <a:srgbClr val="374151"/>
                </a:solidFill>
                <a:latin typeface="Calibri"/>
              </a:rPr>
              <a:t>Spalten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42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54299" y="2940000"/>
            <a:ext cx="2634300" cy="9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622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2563EB"/>
                </a:solidFill>
                <a:latin typeface="Calibri"/>
              </a:rPr>
              <a:t>0</a:t>
            </a:r>
            <a:endParaRPr sz="3000" b="1" i="0">
              <a:solidFill>
                <a:srgbClr val="2563EB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62299" y="3984000"/>
            <a:ext cx="24183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Duplikate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045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04599" y="2940000"/>
            <a:ext cx="2634300" cy="9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25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F59E0B"/>
                </a:solidFill>
                <a:latin typeface="Calibri"/>
              </a:rPr>
              <a:t>108 / 558</a:t>
            </a:r>
            <a:endParaRPr sz="3000" b="1" i="0">
              <a:solidFill>
                <a:srgbClr val="F59E0B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12599" y="3984000"/>
            <a:ext cx="24183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fehlende Werte
(erklärt)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0548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054899" y="2940000"/>
            <a:ext cx="2634300" cy="90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628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DC2626"/>
                </a:solidFill>
                <a:latin typeface="Calibri"/>
              </a:rPr>
              <a:t>9</a:t>
            </a:r>
            <a:endParaRPr sz="3000" b="1" i="0">
              <a:solidFill>
                <a:srgbClr val="DC2626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62899" y="3984000"/>
            <a:ext cx="24183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aufbereitete
Kennzahlen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9E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51999"/>
            <a:ext cx="12193200" cy="5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1314000"/>
            <a:ext cx="10753200" cy="260568"/>
          </a:xfrm>
          <a:prstGeom prst="rect">
            <a:avLst/>
          </a:prstGeom>
          <a:noFill/>
        </p:spPr>
        <p:txBody>
          <a:bodyPr wrap="square" anchor="t">
            <a:normAutofit fontScale="55000" lnSpcReduction="20000"/>
          </a:bodyPr>
          <a:lstStyle/>
          <a:p>
            <a:pPr algn="l"/>
            <a:r>
              <a:rPr sz="2200" b="1" i="0">
                <a:solidFill>
                  <a:srgbClr val="BFDBFE"/>
                </a:solidFill>
                <a:latin typeface="Calibri"/>
              </a:rPr>
              <a:t>KAPITEL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602000"/>
            <a:ext cx="10753200" cy="79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Datenanalyse
und Visualisierung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311999"/>
            <a:ext cx="107532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Kennzahlen im Vergleich (Übersicht &amp; indexiert)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Arbeitslosen- und Unterbeschäftigungsquote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Langzeitarbeitslosigkeit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Altersstruktur, Geschlecht, Veränderungen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Übersicht: Kennzahlen im Vergleich</a:t>
            </a:r>
          </a:p>
        </p:txBody>
      </p:sp>
      <p:pic>
        <p:nvPicPr>
          <p:cNvPr id="5" name="Picture 4" descr="abb1_uebersic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600" y="1152000"/>
            <a:ext cx="9720000" cy="48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6084000"/>
            <a:ext cx="11185201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Personen in BG (Fläche) sowie Bedarfsgemeinschaften, Arbeitslose und Langzeitarbeitslose (überlappende Balken), Januar 2025 – Juni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Arbeitslosen- vs. Unterbeschäftigungsquote</a:t>
            </a:r>
          </a:p>
        </p:txBody>
      </p:sp>
      <p:pic>
        <p:nvPicPr>
          <p:cNvPr id="5" name="Picture 4" descr="abb2_qu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152000"/>
            <a:ext cx="10753200" cy="48389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6062940"/>
            <a:ext cx="11185201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Beide Quoten bewegen sich in einer engen, stabilen Bandbreite (1,2–1,9 %).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Langzeitarbeitslosigkeit</a:t>
            </a:r>
          </a:p>
        </p:txBody>
      </p:sp>
      <p:pic>
        <p:nvPicPr>
          <p:cNvPr id="5" name="Picture 4" descr="abb3_lza_ant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152000"/>
            <a:ext cx="10753200" cy="4516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5740344"/>
            <a:ext cx="11185201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Deutlichster Trend im Datensatz: Anteil an allen Arbeitslosen von 34,1 % auf 47,3 % gestiegen.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Kennzahlen im Vergleich (indexiert)</a:t>
            </a:r>
          </a:p>
        </p:txBody>
      </p:sp>
      <p:pic>
        <p:nvPicPr>
          <p:cNvPr id="5" name="Picture 4" descr="abb4_index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152000"/>
            <a:ext cx="10753200" cy="48389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6062940"/>
            <a:ext cx="11185201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Startmonat = 100 %: der Index der Langzeitarbeitslosen steigt sichtbar über die anderen Kennzahlen hinaus.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Altersstruktur und Geschlecht</a:t>
            </a:r>
          </a:p>
        </p:txBody>
      </p:sp>
      <p:pic>
        <p:nvPicPr>
          <p:cNvPr id="5" name="Picture 4" descr="abb5_alter_geschlec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152000"/>
            <a:ext cx="10753200" cy="43990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5623036"/>
            <a:ext cx="11185201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Momentaufnahme für den letzten Berichtsmonat (Juni 2026).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Veränderung zum Vormonat und Vorjahresmonat (Juni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Arbeitslose (Bestand): −52 (−3,4 %) zum Vormonat  ·  −9 (−0,6 %) zum Vorjahresmonat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Langzeitarbeitslose: −5 (−0,7 %) zum Vormonat  ·  +158 (+28,7 %) zum Vorjahresmonat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Bedarfsgemeinschaften: −41 (−1,5 %) zum Vormonat  ·  −23 (−0,9 %) zum Vorjahresmonat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Personen in BG: −65 (−1,2 %) zum Vormonat  ·  −126 (−2,4 %) zum Vorjahresmonat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Zusammenfassung der Analyseergebnisse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Arbeitslose (Bestand): 1.470 → 1.500 — leicht gestiegen, Spanne 1.382–1.587.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Arbeitslosenquote: stabil zwischen 1,2 % und 1,4 %.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Langzeitarbeitslosigkeit: deutlichster Trend — 502 → 709 Personen (+ rund 41 %).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Bedarfsgemeinschaften / Personen in BG: beide rückläufig (ca. −4 % bzw. −6 %).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Interpretation: reine Arbeitslosenzahl stabil, aber Verfestigung der Langzeit-arbeitslosigkeit — trotz insgesamt sinkender Bedarfsgemeinschaften.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94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51999"/>
            <a:ext cx="12193588" cy="54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314000"/>
            <a:ext cx="10753200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BFDBFE"/>
                </a:solidFill>
                <a:latin typeface="Calibri"/>
              </a:rPr>
              <a:t>KAPITEL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602000"/>
            <a:ext cx="107532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Vertiefte statistische Analyse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311999"/>
            <a:ext cx="107532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 i="0">
                <a:solidFill>
                  <a:srgbClr val="E0E7FF"/>
                </a:solidFill>
                <a:latin typeface="Calibri"/>
              </a:rPr>
              <a:t>●  Deskriptive Statistik im Detail (Median, Varianz, IQR, Variationskoeffizient)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E0E7FF"/>
                </a:solidFill>
                <a:latin typeface="Calibri"/>
              </a:rPr>
              <a:t>●  Korrelationsanalyse und Verteilungen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E0E7FF"/>
                </a:solidFill>
                <a:latin typeface="Calibri"/>
              </a:rPr>
              <a:t>●  Inferenzstatistik (Hypothesentest) und lineare Regression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588" cy="93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Deskriptive Statistik im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0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Arbeitslose (Bestand): Ø 1.504,0, Median 1.513,0, Variationskoeffizient ≈ 3,9 %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Langzeitarbeitslose: Ø 602,2, Median 599,0, Variationskoeffizient ≈ 11,8 %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Bedarfsgemeinschaften: Ø 2.691,7, Median 2.692,1, Variationskoeffizient ≈ 2,1 %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Personen in BG: Ø 5.247,4, Median 5.216,6, Variationskoeffizient ≈ 2,4 %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Langzeitarbeitslose zeigen die mit Abstand stärkste relative Veränderung — Bedarfsgemeinschaften und Personen in BG sind am stabilsten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588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Korrelationsanalyse: Korrelationsmatrix</a:t>
            </a:r>
          </a:p>
        </p:txBody>
      </p:sp>
      <p:pic>
        <p:nvPicPr>
          <p:cNvPr id="5" name="Picture 4" descr="abb6_k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794" y="1152000"/>
            <a:ext cx="6318000" cy="48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6120000"/>
            <a:ext cx="11185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Bedarfsgemeinschaften und Personen in BG korrelieren mit r ≈ 0,95 sehr stark positiv.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588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Langzeitarbeitslose vs. Bedarfsgemeinschaften</a:t>
            </a:r>
          </a:p>
        </p:txBody>
      </p:sp>
      <p:pic>
        <p:nvPicPr>
          <p:cNvPr id="5" name="Picture 4" descr="abb7_streudiagra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794" y="1152000"/>
            <a:ext cx="9720000" cy="48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6120000"/>
            <a:ext cx="11185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r = −0,49, p = 0,04 — jetzt signifikant (mit 15 Monaten: r = −0,08, p = 0,78, noch nicht nachweisbar).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588" cy="93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Verteilungen: Arbeitslose (Bestand)</a:t>
            </a:r>
          </a:p>
        </p:txBody>
      </p:sp>
      <p:pic>
        <p:nvPicPr>
          <p:cNvPr id="5" name="Picture 4" descr="abb8_verteil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193" y="1152000"/>
            <a:ext cx="10753200" cy="4754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6014046"/>
            <a:ext cx="11185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Keine auffälligen Ausreißer; leicht linksschiefe Verteilung, Median knapp über dem Mittelwert.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588" cy="93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Inferenzstatistik: Hypothesentest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0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Fragestellung: Unterscheidet sich die Langzeitarbeitslosigkeit zwischen erster und zweiter Hälfte des Beobachtungszeitraums signifikant?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1. Hälfte (n = 9): Ø 543,3 (± 34,1) — 2. Hälfte (n = 9): Ø 661,1 (± 41,2)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Mittelwertdifferenz: 117,8 Personen (95 %-Konfidenzintervall: [82,8; 152,7])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Welch-t-Test: t = 6,61, p ≈ 0,00001 — statistisch hoch signifikant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588" cy="936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Regressionsanalyse: Trend der Langzeitarbeitslosigkeit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0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Regressionsgleichung: Langzeitarbeitslose = 490,4 + 13,16 × Monatsindex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Steigung: +13,2 Personen pro Monat — Bestimmtheitsmaß R² = 0,983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Prognose: Juli 2026 ≈ 727, August 2026 ≈ 740, September 2026 ≈ 754 Personen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Einschränkung: lineare Extrapolation aus nur 18 Datenpunkten, ohne Saisonalität oder Strukturbrüche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588" cy="936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Linearer Trend und Prognose</a:t>
            </a:r>
          </a:p>
        </p:txBody>
      </p:sp>
      <p:pic>
        <p:nvPicPr>
          <p:cNvPr id="5" name="Picture 4" descr="abb9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419" y="1152000"/>
            <a:ext cx="9618750" cy="48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6120000"/>
            <a:ext cx="11185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R² = 0,983 — ein außergewöhnlich guter linearer Fit für die Langzeitarbeitslosen-Zahl.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588" cy="936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4.6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Zusammenfassung der statistischen Befunde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0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Langzeitarbeitslose: stärkste relative Veränderung (CV ≈ 11,8 %) aller Kernkennzahlen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Zwei zuvor nicht signifikante Korrelationen wurden durch die 3 zusätzlichen Monate erst nachweisbar (LZA–Bedarfsgemeinschaften, LZA–Bestand)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Anstieg der Langzeitarbeitslosigkeit zwischen erster und zweiter Hälfte: statistisch hoch signifikant (p ≈ 0,00001)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●  Linearer Zeittrend erklärt 98,3 % der Schwankung — Prognose: weiterer Anstieg auf rund 727–754 Personen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51999"/>
            <a:ext cx="12193200" cy="54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1944000"/>
            <a:ext cx="10753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BFDBFE"/>
                </a:solidFill>
                <a:latin typeface="Calibri"/>
              </a:rPr>
              <a:t>KAPITEL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196000"/>
            <a:ext cx="10753200" cy="79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Fazit und Ausblick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311999"/>
            <a:ext cx="107532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Zusammenfassung der Projektergebnisse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Priorisierte Themen für die Fortsetzung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Fazit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Aus 18 Excel-Berichten mit über 20 Tabellenblättern wurde eine strukturierte Zeitreihe mit 9 zentralen SGB-II-Kennzahlen erstellt.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5 interaktive Diagramme sowie eine Kennzahlen-Vergleichstabelle machen die Entwicklung nachvollziehbar.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Ergebnisse zusätzlich in einem öffentlichen Streamlit-Dashboard bereitgestellt.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Kernbefund: Arbeitslosenbestand/-quote stabil, aber deutliche Verschärfung der Langzeitarbeitslosigkeit — eine Entwicklung, die in den Rohdaten allein kaum erkennbar gewesen wäre.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Ausblick — priorisierte nächste Schritte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1. Fluktuation (Zugang/Abgang) — direkt verfügbar, kein Zusatzaufwand.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2. Demografie im Zeitverlauf — Alter/Geschlecht als Zeitreihe statt Momentaufnahme.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3. Erwerbstätigkeit / „Aufstocker“ — erweitert die Trichter-Logik aus Kapitel 3.1.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4. Finanzen (Zahlungsansprüche) — einzige Quelle für Euro-Beträge.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5. Förderung (aktive Arbeitsmarktpolitik) — inkl. Aktivierungsquote.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Nachrangig: Bezugsdauer (Langzeitleistungsbezug, Drehtür-Effekt, Haushaltsgröße).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Methodisch offen: Korrelation, Streudiagramme, Histogramm/Boxplot, Regression.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40000"/>
            <a:ext cx="12193200" cy="54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2484000"/>
            <a:ext cx="10753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Vielen Dank für die Aufmerksamkeit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456000"/>
            <a:ext cx="107532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FDBFE"/>
                </a:solidFill>
                <a:latin typeface="Calibri"/>
              </a:rPr>
              <a:t>Live-Dashboard: daelwve9mj8pxz32vshq7u.streamlit.app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849</Words>
  <Application>Microsoft Office PowerPoint</Application>
  <PresentationFormat>Benutzerdefiniert</PresentationFormat>
  <Paragraphs>115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Eugenia Funk</cp:lastModifiedBy>
  <cp:revision>1</cp:revision>
  <dcterms:created xsi:type="dcterms:W3CDTF">2013-01-27T09:14:16Z</dcterms:created>
  <dcterms:modified xsi:type="dcterms:W3CDTF">2026-08-17T13:39:10Z</dcterms:modified>
  <cp:category/>
</cp:coreProperties>
</file>