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48"/>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273" r:id="rId82"/>
    <p:sldId id="274" r:id="rId83"/>
    <p:sldId id="275" r:id="rId84"/>
    <p:sldId id="276" r:id="rId85"/>
  </p:sldIdLst>
  <p:sldSz cx="1219358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61.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 Id="rId9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genia Funk" userId="8e8c6ebfa4ec6395" providerId="LiveId" clId="{4ABD1F32-8A54-41D3-9E52-C7E96354139A}"/>
    <pc:docChg chg="custSel modSld sldOrd">
      <pc:chgData name="Eugenia Funk" userId="8e8c6ebfa4ec6395" providerId="LiveId" clId="{4ABD1F32-8A54-41D3-9E52-C7E96354139A}" dt="2026-09-06T22:50:00.696" v="8"/>
      <pc:docMkLst>
        <pc:docMk/>
      </pc:docMkLst>
      <pc:sldChg chg="modSp mod">
        <pc:chgData name="Eugenia Funk" userId="8e8c6ebfa4ec6395" providerId="LiveId" clId="{4ABD1F32-8A54-41D3-9E52-C7E96354139A}" dt="2026-09-06T21:56:25.404" v="4" actId="313"/>
        <pc:sldMkLst>
          <pc:docMk/>
          <pc:sldMk cId="0" sldId="257"/>
        </pc:sldMkLst>
        <pc:spChg chg="mod">
          <ac:chgData name="Eugenia Funk" userId="8e8c6ebfa4ec6395" providerId="LiveId" clId="{4ABD1F32-8A54-41D3-9E52-C7E96354139A}" dt="2026-09-06T21:56:25.404" v="4" actId="313"/>
          <ac:spMkLst>
            <pc:docMk/>
            <pc:sldMk cId="0" sldId="257"/>
            <ac:spMk id="19" creationId="{00000000-0000-0000-0000-000000000000}"/>
          </ac:spMkLst>
        </pc:spChg>
        <pc:spChg chg="mod">
          <ac:chgData name="Eugenia Funk" userId="8e8c6ebfa4ec6395" providerId="LiveId" clId="{4ABD1F32-8A54-41D3-9E52-C7E96354139A}" dt="2026-08-29T20:15:38.193" v="3" actId="14100"/>
          <ac:spMkLst>
            <pc:docMk/>
            <pc:sldMk cId="0" sldId="257"/>
            <ac:spMk id="33" creationId="{00000000-0000-0000-0000-000000000000}"/>
          </ac:spMkLst>
        </pc:spChg>
      </pc:sldChg>
      <pc:sldChg chg="modSp mod">
        <pc:chgData name="Eugenia Funk" userId="8e8c6ebfa4ec6395" providerId="LiveId" clId="{4ABD1F32-8A54-41D3-9E52-C7E96354139A}" dt="2026-08-17T13:39:01.148" v="0" actId="26606"/>
        <pc:sldMkLst>
          <pc:docMk/>
          <pc:sldMk cId="0" sldId="260"/>
        </pc:sldMkLst>
        <pc:spChg chg="mod">
          <ac:chgData name="Eugenia Funk" userId="8e8c6ebfa4ec6395" providerId="LiveId" clId="{4ABD1F32-8A54-41D3-9E52-C7E96354139A}" dt="2026-08-17T13:39:01.148" v="0" actId="26606"/>
          <ac:spMkLst>
            <pc:docMk/>
            <pc:sldMk cId="0" sldId="260"/>
            <ac:spMk id="5" creationId="{00000000-0000-0000-0000-000000000000}"/>
          </ac:spMkLst>
        </pc:spChg>
        <pc:spChg chg="mod">
          <ac:chgData name="Eugenia Funk" userId="8e8c6ebfa4ec6395" providerId="LiveId" clId="{4ABD1F32-8A54-41D3-9E52-C7E96354139A}" dt="2026-08-17T13:39:01.148" v="0" actId="26606"/>
          <ac:spMkLst>
            <pc:docMk/>
            <pc:sldMk cId="0" sldId="260"/>
            <ac:spMk id="6" creationId="{00000000-0000-0000-0000-000000000000}"/>
          </ac:spMkLst>
        </pc:spChg>
        <pc:spChg chg="mod">
          <ac:chgData name="Eugenia Funk" userId="8e8c6ebfa4ec6395" providerId="LiveId" clId="{4ABD1F32-8A54-41D3-9E52-C7E96354139A}" dt="2026-08-17T13:39:01.148" v="0" actId="26606"/>
          <ac:spMkLst>
            <pc:docMk/>
            <pc:sldMk cId="0" sldId="260"/>
            <ac:spMk id="8" creationId="{00000000-0000-0000-0000-000000000000}"/>
          </ac:spMkLst>
        </pc:spChg>
        <pc:spChg chg="mod">
          <ac:chgData name="Eugenia Funk" userId="8e8c6ebfa4ec6395" providerId="LiveId" clId="{4ABD1F32-8A54-41D3-9E52-C7E96354139A}" dt="2026-08-17T13:39:01.148" v="0" actId="26606"/>
          <ac:spMkLst>
            <pc:docMk/>
            <pc:sldMk cId="0" sldId="260"/>
            <ac:spMk id="9" creationId="{00000000-0000-0000-0000-000000000000}"/>
          </ac:spMkLst>
        </pc:spChg>
        <pc:spChg chg="mod">
          <ac:chgData name="Eugenia Funk" userId="8e8c6ebfa4ec6395" providerId="LiveId" clId="{4ABD1F32-8A54-41D3-9E52-C7E96354139A}" dt="2026-08-17T13:39:01.148" v="0" actId="26606"/>
          <ac:spMkLst>
            <pc:docMk/>
            <pc:sldMk cId="0" sldId="260"/>
            <ac:spMk id="10" creationId="{00000000-0000-0000-0000-000000000000}"/>
          </ac:spMkLst>
        </pc:spChg>
        <pc:spChg chg="mod">
          <ac:chgData name="Eugenia Funk" userId="8e8c6ebfa4ec6395" providerId="LiveId" clId="{4ABD1F32-8A54-41D3-9E52-C7E96354139A}" dt="2026-08-17T13:39:01.148" v="0" actId="26606"/>
          <ac:spMkLst>
            <pc:docMk/>
            <pc:sldMk cId="0" sldId="260"/>
            <ac:spMk id="11" creationId="{00000000-0000-0000-0000-000000000000}"/>
          </ac:spMkLst>
        </pc:spChg>
        <pc:spChg chg="mod">
          <ac:chgData name="Eugenia Funk" userId="8e8c6ebfa4ec6395" providerId="LiveId" clId="{4ABD1F32-8A54-41D3-9E52-C7E96354139A}" dt="2026-08-17T13:39:01.148" v="0" actId="26606"/>
          <ac:spMkLst>
            <pc:docMk/>
            <pc:sldMk cId="0" sldId="260"/>
            <ac:spMk id="12" creationId="{00000000-0000-0000-0000-000000000000}"/>
          </ac:spMkLst>
        </pc:spChg>
        <pc:spChg chg="mod">
          <ac:chgData name="Eugenia Funk" userId="8e8c6ebfa4ec6395" providerId="LiveId" clId="{4ABD1F32-8A54-41D3-9E52-C7E96354139A}" dt="2026-08-17T13:39:01.148" v="0" actId="26606"/>
          <ac:spMkLst>
            <pc:docMk/>
            <pc:sldMk cId="0" sldId="260"/>
            <ac:spMk id="14" creationId="{00000000-0000-0000-0000-000000000000}"/>
          </ac:spMkLst>
        </pc:spChg>
        <pc:spChg chg="mod">
          <ac:chgData name="Eugenia Funk" userId="8e8c6ebfa4ec6395" providerId="LiveId" clId="{4ABD1F32-8A54-41D3-9E52-C7E96354139A}" dt="2026-08-17T13:39:01.148" v="0" actId="26606"/>
          <ac:spMkLst>
            <pc:docMk/>
            <pc:sldMk cId="0" sldId="260"/>
            <ac:spMk id="16" creationId="{00000000-0000-0000-0000-000000000000}"/>
          </ac:spMkLst>
        </pc:spChg>
        <pc:spChg chg="mod">
          <ac:chgData name="Eugenia Funk" userId="8e8c6ebfa4ec6395" providerId="LiveId" clId="{4ABD1F32-8A54-41D3-9E52-C7E96354139A}" dt="2026-08-17T13:39:01.148" v="0" actId="26606"/>
          <ac:spMkLst>
            <pc:docMk/>
            <pc:sldMk cId="0" sldId="260"/>
            <ac:spMk id="20" creationId="{00000000-0000-0000-0000-000000000000}"/>
          </ac:spMkLst>
        </pc:spChg>
      </pc:sldChg>
      <pc:sldChg chg="modSp mod">
        <pc:chgData name="Eugenia Funk" userId="8e8c6ebfa4ec6395" providerId="LiveId" clId="{4ABD1F32-8A54-41D3-9E52-C7E96354139A}" dt="2026-08-17T13:39:01.185" v="1" actId="27636"/>
        <pc:sldMkLst>
          <pc:docMk/>
          <pc:sldMk cId="0" sldId="261"/>
        </pc:sldMkLst>
        <pc:spChg chg="mod">
          <ac:chgData name="Eugenia Funk" userId="8e8c6ebfa4ec6395" providerId="LiveId" clId="{4ABD1F32-8A54-41D3-9E52-C7E96354139A}" dt="2026-08-17T13:39:01.185" v="1" actId="27636"/>
          <ac:spMkLst>
            <pc:docMk/>
            <pc:sldMk cId="0" sldId="261"/>
            <ac:spMk id="3" creationId="{00000000-0000-0000-0000-000000000000}"/>
          </ac:spMkLst>
        </pc:spChg>
        <pc:spChg chg="mod">
          <ac:chgData name="Eugenia Funk" userId="8e8c6ebfa4ec6395" providerId="LiveId" clId="{4ABD1F32-8A54-41D3-9E52-C7E96354139A}" dt="2026-08-17T13:39:01.148" v="0" actId="26606"/>
          <ac:spMkLst>
            <pc:docMk/>
            <pc:sldMk cId="0" sldId="261"/>
            <ac:spMk id="4" creationId="{00000000-0000-0000-0000-000000000000}"/>
          </ac:spMkLst>
        </pc:spChg>
      </pc:sldChg>
      <pc:sldChg chg="modSp mod">
        <pc:chgData name="Eugenia Funk" userId="8e8c6ebfa4ec6395" providerId="LiveId" clId="{4ABD1F32-8A54-41D3-9E52-C7E96354139A}" dt="2026-08-17T13:39:01.148" v="0" actId="26606"/>
        <pc:sldMkLst>
          <pc:docMk/>
          <pc:sldMk cId="0" sldId="264"/>
        </pc:sldMkLst>
        <pc:spChg chg="mod">
          <ac:chgData name="Eugenia Funk" userId="8e8c6ebfa4ec6395" providerId="LiveId" clId="{4ABD1F32-8A54-41D3-9E52-C7E96354139A}" dt="2026-08-17T13:39:01.148" v="0" actId="26606"/>
          <ac:spMkLst>
            <pc:docMk/>
            <pc:sldMk cId="0" sldId="264"/>
            <ac:spMk id="5" creationId="{00000000-0000-0000-0000-000000000000}"/>
          </ac:spMkLst>
        </pc:spChg>
        <pc:spChg chg="mod">
          <ac:chgData name="Eugenia Funk" userId="8e8c6ebfa4ec6395" providerId="LiveId" clId="{4ABD1F32-8A54-41D3-9E52-C7E96354139A}" dt="2026-08-17T13:39:01.148" v="0" actId="26606"/>
          <ac:spMkLst>
            <pc:docMk/>
            <pc:sldMk cId="0" sldId="264"/>
            <ac:spMk id="6" creationId="{00000000-0000-0000-0000-000000000000}"/>
          </ac:spMkLst>
        </pc:spChg>
        <pc:spChg chg="mod">
          <ac:chgData name="Eugenia Funk" userId="8e8c6ebfa4ec6395" providerId="LiveId" clId="{4ABD1F32-8A54-41D3-9E52-C7E96354139A}" dt="2026-08-17T13:39:01.148" v="0" actId="26606"/>
          <ac:spMkLst>
            <pc:docMk/>
            <pc:sldMk cId="0" sldId="264"/>
            <ac:spMk id="8" creationId="{00000000-0000-0000-0000-000000000000}"/>
          </ac:spMkLst>
        </pc:spChg>
        <pc:spChg chg="mod">
          <ac:chgData name="Eugenia Funk" userId="8e8c6ebfa4ec6395" providerId="LiveId" clId="{4ABD1F32-8A54-41D3-9E52-C7E96354139A}" dt="2026-08-17T13:39:01.148" v="0" actId="26606"/>
          <ac:spMkLst>
            <pc:docMk/>
            <pc:sldMk cId="0" sldId="264"/>
            <ac:spMk id="9" creationId="{00000000-0000-0000-0000-000000000000}"/>
          </ac:spMkLst>
        </pc:spChg>
        <pc:spChg chg="mod">
          <ac:chgData name="Eugenia Funk" userId="8e8c6ebfa4ec6395" providerId="LiveId" clId="{4ABD1F32-8A54-41D3-9E52-C7E96354139A}" dt="2026-08-17T13:39:01.148" v="0" actId="26606"/>
          <ac:spMkLst>
            <pc:docMk/>
            <pc:sldMk cId="0" sldId="264"/>
            <ac:spMk id="10" creationId="{00000000-0000-0000-0000-000000000000}"/>
          </ac:spMkLst>
        </pc:spChg>
        <pc:spChg chg="mod">
          <ac:chgData name="Eugenia Funk" userId="8e8c6ebfa4ec6395" providerId="LiveId" clId="{4ABD1F32-8A54-41D3-9E52-C7E96354139A}" dt="2026-08-17T13:39:01.148" v="0" actId="26606"/>
          <ac:spMkLst>
            <pc:docMk/>
            <pc:sldMk cId="0" sldId="264"/>
            <ac:spMk id="12" creationId="{00000000-0000-0000-0000-000000000000}"/>
          </ac:spMkLst>
        </pc:spChg>
        <pc:spChg chg="mod">
          <ac:chgData name="Eugenia Funk" userId="8e8c6ebfa4ec6395" providerId="LiveId" clId="{4ABD1F32-8A54-41D3-9E52-C7E96354139A}" dt="2026-08-17T13:39:01.148" v="0" actId="26606"/>
          <ac:spMkLst>
            <pc:docMk/>
            <pc:sldMk cId="0" sldId="264"/>
            <ac:spMk id="13" creationId="{00000000-0000-0000-0000-000000000000}"/>
          </ac:spMkLst>
        </pc:spChg>
        <pc:spChg chg="mod">
          <ac:chgData name="Eugenia Funk" userId="8e8c6ebfa4ec6395" providerId="LiveId" clId="{4ABD1F32-8A54-41D3-9E52-C7E96354139A}" dt="2026-08-17T13:39:01.148" v="0" actId="26606"/>
          <ac:spMkLst>
            <pc:docMk/>
            <pc:sldMk cId="0" sldId="264"/>
            <ac:spMk id="15" creationId="{00000000-0000-0000-0000-000000000000}"/>
          </ac:spMkLst>
        </pc:spChg>
        <pc:spChg chg="mod">
          <ac:chgData name="Eugenia Funk" userId="8e8c6ebfa4ec6395" providerId="LiveId" clId="{4ABD1F32-8A54-41D3-9E52-C7E96354139A}" dt="2026-08-17T13:39:01.148" v="0" actId="26606"/>
          <ac:spMkLst>
            <pc:docMk/>
            <pc:sldMk cId="0" sldId="264"/>
            <ac:spMk id="17" creationId="{00000000-0000-0000-0000-000000000000}"/>
          </ac:spMkLst>
        </pc:spChg>
        <pc:spChg chg="mod">
          <ac:chgData name="Eugenia Funk" userId="8e8c6ebfa4ec6395" providerId="LiveId" clId="{4ABD1F32-8A54-41D3-9E52-C7E96354139A}" dt="2026-08-17T13:39:01.148" v="0" actId="26606"/>
          <ac:spMkLst>
            <pc:docMk/>
            <pc:sldMk cId="0" sldId="264"/>
            <ac:spMk id="18" creationId="{00000000-0000-0000-0000-000000000000}"/>
          </ac:spMkLst>
        </pc:spChg>
      </pc:sldChg>
      <pc:sldChg chg="modSp mod">
        <pc:chgData name="Eugenia Funk" userId="8e8c6ebfa4ec6395" providerId="LiveId" clId="{4ABD1F32-8A54-41D3-9E52-C7E96354139A}" dt="2026-08-17T13:39:01.191" v="2" actId="27636"/>
        <pc:sldMkLst>
          <pc:docMk/>
          <pc:sldMk cId="0" sldId="265"/>
        </pc:sldMkLst>
        <pc:spChg chg="mod">
          <ac:chgData name="Eugenia Funk" userId="8e8c6ebfa4ec6395" providerId="LiveId" clId="{4ABD1F32-8A54-41D3-9E52-C7E96354139A}" dt="2026-08-17T13:39:01.148" v="0" actId="26606"/>
          <ac:spMkLst>
            <pc:docMk/>
            <pc:sldMk cId="0" sldId="265"/>
            <ac:spMk id="2" creationId="{00000000-0000-0000-0000-000000000000}"/>
          </ac:spMkLst>
        </pc:spChg>
        <pc:spChg chg="mod">
          <ac:chgData name="Eugenia Funk" userId="8e8c6ebfa4ec6395" providerId="LiveId" clId="{4ABD1F32-8A54-41D3-9E52-C7E96354139A}" dt="2026-08-17T13:39:01.191" v="2" actId="27636"/>
          <ac:spMkLst>
            <pc:docMk/>
            <pc:sldMk cId="0" sldId="265"/>
            <ac:spMk id="3" creationId="{00000000-0000-0000-0000-000000000000}"/>
          </ac:spMkLst>
        </pc:spChg>
        <pc:spChg chg="mod">
          <ac:chgData name="Eugenia Funk" userId="8e8c6ebfa4ec6395" providerId="LiveId" clId="{4ABD1F32-8A54-41D3-9E52-C7E96354139A}" dt="2026-08-17T13:39:01.148" v="0" actId="26606"/>
          <ac:spMkLst>
            <pc:docMk/>
            <pc:sldMk cId="0" sldId="265"/>
            <ac:spMk id="4" creationId="{00000000-0000-0000-0000-000000000000}"/>
          </ac:spMkLst>
        </pc:spChg>
      </pc:sldChg>
      <pc:sldChg chg="modSp mod">
        <pc:chgData name="Eugenia Funk" userId="8e8c6ebfa4ec6395" providerId="LiveId" clId="{4ABD1F32-8A54-41D3-9E52-C7E96354139A}" dt="2026-08-17T13:39:01.148" v="0" actId="26606"/>
        <pc:sldMkLst>
          <pc:docMk/>
          <pc:sldMk cId="0" sldId="276"/>
        </pc:sldMkLst>
        <pc:spChg chg="mod">
          <ac:chgData name="Eugenia Funk" userId="8e8c6ebfa4ec6395" providerId="LiveId" clId="{4ABD1F32-8A54-41D3-9E52-C7E96354139A}" dt="2026-08-17T13:39:01.148" v="0" actId="26606"/>
          <ac:spMkLst>
            <pc:docMk/>
            <pc:sldMk cId="0" sldId="276"/>
            <ac:spMk id="3" creationId="{00000000-0000-0000-0000-000000000000}"/>
          </ac:spMkLst>
        </pc:spChg>
      </pc:sldChg>
      <pc:sldChg chg="ord">
        <pc:chgData name="Eugenia Funk" userId="8e8c6ebfa4ec6395" providerId="LiveId" clId="{4ABD1F32-8A54-41D3-9E52-C7E96354139A}" dt="2026-09-06T22:50:00.696" v="8"/>
        <pc:sldMkLst>
          <pc:docMk/>
          <pc:sldMk cId="0" sldId="305"/>
        </pc:sldMkLst>
      </pc:sldChg>
      <pc:sldChg chg="ord">
        <pc:chgData name="Eugenia Funk" userId="8e8c6ebfa4ec6395" providerId="LiveId" clId="{4ABD1F32-8A54-41D3-9E52-C7E96354139A}" dt="2026-09-06T22:49:58.980" v="6"/>
        <pc:sldMkLst>
          <pc:docMk/>
          <pc:sldMk cId="0" sldId="3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4934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Willkommen zu meiner Arbeitsmarktanalyse für den Jobcenter Regensburg. Diese Präsentation zeigt, wie ich aus 18 monatlichen Excel-Berichten der Bundesagentur für Arbeit eine strukturierte, auswertbare Datengrundlage für den Rechtskreis SGB II aufgebaut und mit Python analysiert und visualisiert habe.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Präsentation folgt zwölf Kapiteln: Nach Einleitung, Datenexploration und der eigentlichen Datenanalyse vertiefe ich die Ergebnisse statistisch in Kapitel 4. Die Kapitel 5 bis 11 erschließen sieben weitere Themenfelder — von Fluktuation über Demografie bis zum Rechtskreisvergleich —, bevor Kapitel 12 mit Fazit und Ausblick abschließt.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Zunächst zur Ausgangssituation, der Zielsetzung dieses Projekts und der verwendeten Datengrundlage.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Bundesagentur für Arbeit veröffentlicht monatlich einen sehr umfangreichen, aber kaum direkt auswertbaren Bericht mit über 20 Tabellenblättern pro Datei. Mein Ziel war es, daraus eine strukturierte, reproduzierbare Zeitreihe aufzubauen — von der sauberen Datenverarbeitung über aussagekräftige Visualisierung bis hin zu inhaltlichen und statistischen Erkenntnissen, bereitgestellt in einem interaktiven Dashboard.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Datengrundlage besteht aus 18 monatlichen Excel-Berichten mit je 21 Tabellenblättern, die den Zeitraum Januar 2025 bis Juni 2026 abdecken — Quelle ist die Statistik der Bundesagentur für Arbeit, Bericht „Eckwerte für Jobcenter“ für den Jobcenter Regensburg. Wichtig: Jede Datei unterscheidet zwischen dem Rechtskreis SGB II und dem Gesamtwert „Insgesamt“ — diese Präsentation wertet ausschließlich den SGB-II-Anteil aus, den direkten Zuständigkeitsbereich des Jobcenters; Kapitel 11 vergleicht am Ende beide Rechtskreise direkt.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2 behandelt die Datenexploration und -aufbereitung: wie ich die Rohdaten untersucht, bereinigt und für die Weiterverarbeitung exportiert habe.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Ich habe systematisch alle 21 Tabellenblätter jeder Datei gesichtet. Sechs Blätter enthalten reine Metadaten ohne Analysewert, das Blatt „1.1 Eckwerte“ wurde als Hauptquelle identifiziert. Eine wichtige Besonderheit: Die Blätter 3.1 bis 3.6 und 4.1 bis 4.2 melden ihre Werte nicht für den aktuellen Berichtsmonat, sondern mit 3 bis 6 Monaten Wartezeit — das musste bei der späteren Zeitreihenerstellung berücksichtigt werden.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Datenpipeline besteht aus fünf Schritten: normalize_label entfernt Fußnotenmarker aus den Zeilenbeschriftungen, parse_eckwerte liest die relevanten Zeilen aus und leitet den Berichtsmonat aus dem Dateinamen ab. Nach der Bereinigung — keine Duplikate, aber 108 von 558 erklärbaren fehlenden Werten — entsteht über pivot_table eine Wide-Format-Zeitreihe mit neun zentralen Kennzahlen, die als CSV-Dateien exportiert wird und die Basis für alle weiteren Analysen und das Dashboard bildet.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Nach dem Einlesen aller 18 Dateien ergibt sich ein Datensatz mit 558 Zeilen und 8 Spalten, ganz ohne Duplikate. Die 108 fehlenden Werte betreffen fast ausschließlich die Kategorie „gemeldete Arbeitsstellen“, die von der Bundesagentur nicht nach Rechtskreis differenziert ausgewiesen wird — sie besitzt daher gar keinen eigenen SGB-II-Wert. Am Ende stehen neun aufbereitete Kennzahlen für die weitere Analyse bereit.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Kapitel 3 geht es um die eigentliche Datenanalyse und Visualisierung: Kennzahlen im Vergleich, die Arbeitslosen- und Unterbeschäftigungsquote, die Langzeitarbeitslosigkeit sowie Altersstruktur, Geschlecht und Veränderungen im Zeitverlauf.</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Diese Übersichtsgrafik zeigt alle Kernkennzahlen gemeinsam: Personen in Bedarfsgemeinschaften als Fläche im Hintergrund, sowie Bedarfsgemeinschaften, Arbeitslose und Langzeitarbeitslose als überlappende Balken über den gesamten Zeitraum Januar 2025 bis Juni 2026.</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Arbeitslosen- und die Unterbeschäftigungsquote bewegen sich beide in einer engen, stabilen Bandbreite zwischen 1,2 und 1,9 Prozent — auf den ersten Blick ein Bild großer Stabilität.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Ganz anders sieht es bei der Langzeitarbeitslosigkeit aus — das ist der deutlichste Trend im gesamten Datensatz: Ihr Anteil an allen Arbeitslosen ist von 34,1 auf 47,3 Prozent gestiegen. Das ist der zentrale rote Faden, der sich durch die gesamte Präsentation zieht.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Setzt man alle Kennzahlen auf einen gemeinsamen Startwert von 100 Prozent im ersten Monat, wird der Unterschied noch deutlicher: Der Index der Langzeitarbeitslosen steigt sichtbar über den aller anderen Kennzahlen hinaus.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Diese Momentaufnahme zeigt die Altersstruktur und Geschlechterverteilung für den letzten verfügbaren Berichtsmonat, Juni 2026.</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Vergleicht man die vier Kernkennzahlen mit dem Vormonat Mai 2026 und dem Vorjahresmonat Juni 2025, fällt ein Befund besonders auf: Die Langzeitarbeitslosigkeit ist die einzige Kennzahl mit einem deutlichen Anstieg zum Vorjahresmonat — plus 28,7 Prozent —, während alle anderen Kennzahlen sowohl zum Vormonat als auch zum Vorjahr rückläufig sind.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Fasst man Kapitel 3 zusammen: Die reine Arbeitslosenzahl ist über den gesamten Zeitraum weitgehend stabil geblieben, aber die Langzeitarbeitslosigkeit hat sich mit einem Anstieg von rund 41 Prozent deutlich verfestigt — trotz insgesamt sinkender Bedarfsgemeinschaften. Ein Befund, der ohne die strukturierte Aufbereitung der Rohdaten kaum erkennbar gewesen wäre.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4 vertieft die Analyse statistisch: deskriptive Statistik im Detail, Korrelationsanalyse und Verteilungen sowie Inferenzstatistik mit Hypothesentest und linearer Regression.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 der detaillierten deskriptiven Statistik fällt vor allem der Variationskoeffizient der Langzeitarbeitslosen auf: Mit rund 11,8 Prozent zeigt er die mit Abstand stärkste relative Veränderung aller vier Kernkennzahlen, während Bedarfsgemeinschaften und Personen in Bedarfsgemeinschaften mit 2,1 beziehungsweise 2,4 Prozent am stabilsten sind.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Korrelationsmatrix zeigt die paarweise Pearson-Korrelation der vier Kernkennzahlen — Werte von minus eins bis plus eins, je intensiver die Farbe, desto stärker der lineare Zusammenhang. Sie hilft dabei, auf einen Blick zu erkennen, welche Kennzahlen sich gemeinsam bewegen; der auffällige Wert von r gleich 0,95 zwischen Bedarfsgemeinschaften und Personen in BG liefert die Ausgangsbasis für das vertiefende Streudiagramm auf der nächsten Folie.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Zusammenhang zwischen Langzeitarbeitslosen und Bedarfsgemeinschaften ist mit r gleich minus 0,49 und p gleich 0,04 jetzt statistisch signifikant negativ — mit den ursprünglichen 15 Monaten war das noch nicht nachweisbar. Das zeigt anschaulich, wie empfindlich Korrelationstests bei kleinen Stichproben auf zusätzliche Datenpunkte reagieren. Ein Scatterplot mit Trendlinie eignet sich hier besonders gut, weil er Richtung und Stärke des Zusammenhangs direkt sichtbar macht.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Für die Verteilung des Arbeitslosenbestands über die 18 Monate habe ich bewusst einen Boxplot mit allen Einzelpunkten gewählt statt eines klassischen Histogramms — bei so wenigen Datenpunkten kann die Balkenhöhe eines Histogramms leicht missverstanden werden. So sieht man jeden Monatswert direkt: keine Ausreißer, eine leicht linksschiefe Verteilung mit dem Median knapp über dem Mittelwert.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Um zu prüfen, ob sich die Langzeitarbeitslosigkeit zwischen der ersten und zweiten Hälfte des Beobachtungszeitraums signifikant unterscheidet, habe ich einen Welch-t-Test durchgeführt: Der Mittelwert steigt von 543 auf 661 Personen, eine Differenz von 117,8 Personen mit einem 95-Prozent-Konfidenzintervall von 82,8 bis 152,7. Mit p ungefähr 0,00001 ist das statistisch hoch signifikant — die Nullhypothese wird klar verworfen.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lineare Regression der Langzeitarbeitslosen-Zahl über die Zeit ergibt ein Bestimmtheitsmaß von R-Quadrat gleich 0,983 — ein außergewöhnlich guter linearer Fit. Die Steigung von gut 13 Personen pro Monat lässt sich zu einer Prognose von etwa 727 bis 754 Personen für die kommenden drei Monate fortschreiben. Wichtig ist aber die Einschränkung: Das ist eine lineare Extrapolation aus nur 18 Datenpunkten, ohne Berücksichtigung von Saisonalität oder möglichen Strukturbrüchen — nur eine grobe Orientierung.</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Diese Grafik zeigt den linearen Trend und die Prognose visuell: die beobachteten Werte, die Regressionsgerade und die drei Prognosepunkte in einem Diagramm.</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Alle vier statistischen Verfahren dieses Kapitels — deskriptive Statistik, Korrelationsanalyse, Hypothesentest und Regression — bestätigen unabhängig voneinander denselben Befund: Die Verschärfung der Langzeitarbeitslosigkeit ist der am stärksten statistisch abgesicherte Trend im gesamten Datensatz.</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5 widmet sich der Fluktuation: Zugang und Abgang im Monatsverlauf, die Netto-Fluktuation im Vergleich zur tatsächlichen Bestandsänderung, und die 12-Monatssummen als mittelfristiger Trend.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 Schnitt gab es 267 Zugänge und 281 Abgänge pro Monat — im Mittel also etwas mehr Abgang als Zugang. Das zeigt: Hinter dem vergleichsweise stabilen Bestand steckt deutlich mehr monatliche Bewegung, als man vermuten würde.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Netto-Fluktuation liegt in allen 18 Monaten unter der tatsächlichen Bestandsänderung, im Schnitt um 20,9 Personen. Diese Differenz lässt sich plausibel durch Rechtskreiswechsel zwischen SGB II und SGB III erklären — Personen, die zwischen den beiden Zuständigkeitsbereichen wechseln, ohne dass das in Zugang oder Abgang erfasst wird.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Betrachtet man die rollierende 12-Monatssumme als mittelfristigen Trend, zeigt sich eine Verschlechterung der Netto-Fluktuation von minus 58 auf minus 264 Personen pro Jahr — ein klares Warnsignal für eine sich verschärfende Entwicklung.</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Zusammengefasst: Zugang und Abgang mit im Schnitt 267 beziehungsweise 281 Personen pro Monat zeigen deutlich mehr Dynamik, als der stabile Bestand vermuten lässt. Die Netto-Fluktuation liegt im Mittel bei minus 14,4 Personen pro Monat mit leicht rückläufiger Tendenz seit Anfang 2025, und die Differenz zur tatsächlichen Bestandsänderung lässt sich plausibel durch Rechtskreiswechsel zwischen SGB II und SGB III erklären.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6 betrachtet die Demografie: Altersstruktur und Geschlecht als Zeitreihe, sowie Ausländeranteil und Schwerbehinderte, die hier erstmals ausgewertet werden.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25- bis 50-Jährigen bilden mit rund 57 Prozent die größte Altersgruppe. Innerhalb der Gruppe 50 plus steigt der Anteil der über 55-Jährigen von 64,8 auf 68,8 Prozent — eine leichte Alterung innerhalb dieser Gruppe.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Männeranteil steigt leicht von 53,1 auf 54,5 Prozent — die Geschlechterverteilung bleibt insgesamt bemerkenswert stabil.</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Eine der überraschendsten neuen Erkenntnisse dieses Projekts: Der Anteil ausländischer Arbeitsloser ist mit 51,7 bis 45,4 Prozent des Bestands überraschend hoch, gleichzeitig aber deutlich rückläufig.</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Anteil schwerbehinderter Menschen ist kleiner, aber leicht steigend: von 7,9 auf 8,7 Prozent.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der Zusammenfassung zeigt sich: Altersstruktur und Geschlechterverteilung sind bemerkenswert stabil, der Anteil Schwerbehinderter steigt nur leicht. Die auffälligste neue Erkenntnis dieses Kapitels ist der deutlich rückläufige Ausländeranteil von 51,7 auf 45,4 Prozent.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7 behandelt die Erwerbstätigkeit, umgangssprachlich die „Aufstocker“: die Aufstockerquote im Zeitverlauf, Erwerbsform und Einkommensstruktur — basierend auf einem neu erschlossenen Tabellenblatt, 3.3 Erwerbstätigkeit.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Aufstockerquote bleibt stabil bei durchschnittlich 21,4 Prozent — rund jede fünfte erwerbsfähige leistungsberechtigte Person ist erwerbstätig, verdient aber nicht genug, um aus dem Bürgergeldbezug auszusteigen.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Unter den erwerbstätigen Leistungsberechtigten dominiert klar die abhängige Beschäftigung mit 93 bis 94 Prozent gegenüber der selbständigen Tätigkeit.</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Innerhalb der Einkommensstruktur der abhängig Erwerbstätigen zeigt sich eine leichte Verschiebung zu höheren Einkommen: Der Anteil bis zur Geringfügigkeitsgrenze sinkt, während die Anteile im und über dem Übergangsbereich steigen.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Zusammengefasst bleibt die Aufstockerquote über den gesamten Zeitraum bemerkenswert konstant bei 21,4 Prozent, die Erwerbsform ist klar von abhängiger Beschäftigung dominiert, und es zeigt sich eine leichte Verschiebung zu höheren Einkommen. Eine methodische Besonderheit: Dieses Kapitel nutzt ein eigenes Zeitfenster von Oktober 2024 bis März 2026 mit 3 Monaten Wartezeit, unabhängig vom Sidebar-Filter im Dashboard.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8 widmet sich den Finanzen, konkret den Zahlungsansprüchen — der einzigen Quelle für Euro-Beträge im gesamten Datensatz: Gesamtvolumen und Struktur der Zahlungsansprüche.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Gesamtvolumen der Zahlungsansprüche ist mit 3.451,5 auf 3.473,0 Tausend Euro praktisch stabil, aber der Durchschnitt je Bedarfsgemeinschaft ist spürbar gestiegen, von 1.251 auf 1.288 Euro.</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der Kostenstruktur dominieren Regelbedarf für erwerbsfähige Leistungsberechtigte mit rund 40 Prozent und die Kosten der Unterkunft mit rund 36 Prozent; der Anteil der Sozialversicherungsbeiträge steigt dabei deutlich.</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Zusammengefasst: Das Gesamtvolumen ist praktisch stabil, während der Durchschnitt je Bedarfsgemeinschaft deutlich gestiegen ist. Regelbedarf ELB und Kosten der Unterkunft dominieren weiterhin die Struktur, und der Anteil der Sozialversicherungsbeiträge steigt spürbar von 15,6 auf 18,3 Prozent — während der Anteil des Regelbedarfs für nicht erwerbsfähige Leistungsberechtigte entsprechend sinkt.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Kernaussage dieses Kapitels: Das Jobcenter trägt nur rund 40 Prozent der gesamten Arbeitslosigkeit in Regensburg, aber bei der Langzeitarbeitslosigkeit liegt sein Anteil bei rund 72 Prozent. Der Jobcenter-Fokus dieser Präsentation bildet also nur einen Teil der Gesamtarbeitslosigkeit ab — aber genau den Teil mit der stärksten Konzentration von Langzeitarbeitslosigkeit.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9 behandelt die Förderung, also die aktive Arbeitsmarktpolitik: Eintritte und Bestand an Fördermaßnahmen sowie die Aktivierungsquoten AQ1 und AQ2a.</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Eintritte in Fördermaßnahmen sind volatil und leicht rückläufig; der Bestand erreichte im April 2025 mit 313 seinen Höchststand und ist seither wieder gesunken.</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Beide Aktivierungsquoten sind rückläufig: AQ1 sinkt von 13,3 auf 9,9 Prozent, AQ2a von 6,0 auf 5,5 Prozent.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Frauenanteil unter den Teilnehmenden bleibt mit rund 44 Prozent stabil, während der Anteil zuvor Langzeitarbeitsloser deutlich steigt — von 16,2 auf 23,6 Prozent.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Zusammengefasst: Die Eintritte sind volatil und leicht rückläufig, mit einem Bestandshöchststand im April 2025. Beide Aktivierungsquoten sind rückläufig, aber besonders bemerkenswert ist der deutlich steigende Anteil zuvor langzeitarbeitsloser Teilnehmender — ein direkter Anknüpfungspunkt an das zentrale Thema dieser Präsentation, die Langzeitarbeitslosigkeit.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10 untersucht die Bezugsdauer: Haushaltsstruktur, Langzeitleistungsbezug und den sogenannten „Drehtür-Effekt“.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Struktur der Bedarfsgemeinschaften zeigt sich hier nach Haushaltsgröße und nach BG-Typ.</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Anteil des Langzeitleistungsbezugs an allen erwerbsfähigen Leistungsberechtigten steigt deutlich, von 48,9 auf 55,1 Prozent — über die Hälfte der ELB bezieht inzwischen langfristig Leistungen.</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sogenannte Drehtür-Effekt wird sichtbar: Der Anteil der Zugänge mit Vorbezug steigt deutlich von 56,1 auf 73,4 Prozent — echte Erstzugänge in den Leistungsbezug werden also seltener.</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Zusammengefasst: Der Anteil von Single-Bedarfsgemeinschaften nimmt relativ zu, über die Hälfte aller ELB ist inzwischen langzeitleistungsbeziehend, und echte Erstzugänge werden seltener, weil der Anteil mit Vorbezug deutlich steigt. Dieses Kapitel bestätigt unabhängig von den Kapiteln 3 und 9 dieselbe Verfestigungstendenz wie die Langzeitarbeitslosigkeit.</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11 vergleicht die beiden Rechtskreise SGB II und SGB III direkt miteinander — und zwar ohne dass dafür neue Rohdaten nötig waren, da beide Werte bereits in jeder Datei enthalten sind.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Jobcenter-Anteil am gesamten Arbeitslosenbestand ist stabil bei durchschnittlich 39,8 Prozent — die Mehrheit von etwa 60 Prozent fällt also in die Zuständigkeit der Agentur für Arbeit, nicht des Jobcenters.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 der Langzeitarbeitslosigkeit sieht das Bild ganz anders aus: Hier liegt der Jobcenter-Anteil bei durchschnittlich 72,3 Prozent — plausibel erklärbar durch die Befristung des Arbeitslosengeldes I, nach dessen Auslaufen viele Menschen in den SGB-II-Bezug wechseln.</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Auch bei den Quoten zeigt sich diese Konzentration: Der SGB-II-Anteil an der Arbeitslosenquote liegt bei etwa 40 Prozent, an der Unterbeschäftigungsquote bei etwa 46 Prozent.</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12 erschließt ein weiteres bisher nicht analysiertes Datenthema: gemeldete Arbeitsstellen — die Nachfrageseite des Arbeitsmarkts, die in den vorherigen Kapiteln komplett ausgeklammert war. Eine Besonderheit: Diese Zahlen werden von der Bundesagentur nicht nach Rechtskreis differenziert ausgewiesen, es gibt nur einen Gesamtwert.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Bestand gemeldeter Arbeitsstellen sinkt über den Beobachtungszeitraum deutlich von 1.571 auf 1.192 — ein Rückgang um rund 24 Prozent, mit einem auffälligen, aber offenbar temporären Höchststand im August 2025.</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Setzt man den Stellenbestand ins Verhältnis zur Arbeitslosenzahl, zeigt sich ein klarer Trend: Zu Jahresbeginn 2025 kamen auf 100 Arbeitslose noch rund 107 offene Stellen, bis Juni 2026 fällt diese Relation auf rund 80 — ein von den übrigen Kennzahlen unabhängiger Beleg für eine sich eintrübende Arbeitsmarktlage.</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Fast der gesamte Stellenbestand — 98,7 Prozent im letzten Berichtsmonat — ist sozialversicherungspflichtig; andere Beschäftigungsformen spielen praktisch keine Rolle.</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Zusammengefasst: Der Bestand gemeldeter Arbeitsstellen sinkt deutlich, die Angebot-Nachfrage-Relation verschlechtert sich von über 100 auf unter 80, und der Bestand ist ganz überwiegend sozialversicherungspflichtig. Ein unabhängiger Beleg dafür, dass sich die Arbeitsmarktlage in Regensburg auch auf der Nachfrageseite eintrübt.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13 vertieft die bereits genutzte Unterbeschäftigungsquote: Dahinter stehen drei absolute Kennzahlen, die bislang nie als eigene Zeitreihe betrachtet wurden. Anders als bei den Arbeitsstellen liegt hier für alle drei Kennzahlen auch ein eigener SGB-II-Wert vor.</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Kurzarbeiter-Komponente ist im SGB-II-Kontext verschwindend gering — im Mittel nur 2,6 Personen. Die Maßnahmen-Komponente dagegen, also Teilnehmende an arbeitsmarktpolitischen Maßnahmen, die nicht als arbeitslos gemeldet sind, ist mit im Mittel 399 Personen deutlich substanzieller.</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SGB-II-Anteil an der Unterbeschäftigung im engeren Sinne liegt bei rund 44,5 Prozent und ordnet sich damit genau zwischen dem bereits bekannten Anteil am Arbeitslosenbestand von rund 40 Prozent und dem deutlich höheren Anteil an der Langzeitarbeitslosigkeit von rund 72 Prozent ein.</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Zusammengefasst: Die Kurzarbeiter-Komponente ist praktisch bedeutungslos, die Maßnahmen-Komponente dagegen spürbar. Und der SGB-II-Anteil an der Unterbeschäftigung positioniert sich folgerichtig zwischen dem Anteil am Bestand und dem an der Langzeitarbeitslosigkeit — ein weiterer Baustein im Gesamtbild unterschiedlich starker Konzentration auf den Rechtskreis SGB II.</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14 vertieft die Struktur der Bedarfsgemeinschaften: Regelleistungsberechtigte, davon erwerbsfähige und nicht erwerbsfähige Leistungsberechtigte — bislang nur als Momentaufnahme im Funnel-Chart des Dashboards sichtbar, nie als eigene Zeitreihe betrachtet.</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Alle drei Kennzahlen sind rückläufig — Regelleistungsberechtigte um 6,9 Prozent, erwerbsfähige Leistungsberechtigte um 5,5 Prozent, und die nicht erwerbsfähigen — im Wesentlichen Kinder — mit 10,5 Prozent am stärksten.</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Ein gegenläufiger Trend: Während Bedarfsgemeinschaften, Personen in BG und Regelleistungsberechtigte insgesamt sinken, steigt die Zahl der nicht leistungsberechtigten Haushaltsmitglieder von 286 auf 309 Personen — ein Befund, der in den bisher genutzten Summenkennzahlen allein nicht sichtbar war.</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 letzten Berichtsmonat entfallen rund 68 Prozent der Personen in Bedarfsgemeinschaften auf erwerbsfähige Leistungsberechtigte, 26 Prozent auf nicht erwerbsfähige und die restlichen 6 Prozent auf nicht leistungsberechtigte Haushaltsmitglieder.</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Zusammengefasst zeigt dieses Kapitel eine gegenläufige Struktur innerhalb der Bedarfsgemeinschaften, die bislang nur als Momentaufnahme sichtbar war — jetzt erstmals als eigene Zeitreihe mit einem klaren Trend.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Kapitel 15 behandelt das Gegenstück zur Arbeitslosigkeit: sozialversicherungspflichtige und geringfügige Beschäftigung, jeweils nach Arbeitsort und Wohnort. Eine Besonderheit: Diese Daten sind quartalsweise mit 6 Monaten Wartezeit gemeldet, das Zeitfenster reicht daher nur bis Dezember 2025.</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Beide Perspektiven sind über die 7 verfügbaren Quartale bemerkenswert stabil — der Wohnort-Wert liegt durchgehend rund 34.000 Personen über dem Arbeitsort-Wert.</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Pendlersaldo ist außergewöhnlich stabil: Es pendeln durchgehend rund 34.000 mehr sozialversicherungspflichtig Beschäftigte aus Regensburg aus, als von auswärts einpendeln — eine strukturelle Konstante der lokalen Arbeitsmarktgeografie.</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Anteil geringfügiger Beschäftigung sinkt leicht in beiden Perspektiven — das passt zur bereits in Kapitel 7 beobachteten leichten Verschiebung zu höheren Einkommen bei den Aufstockern.</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Zusammengefasst: ein struktureller, kaum schwankender Auspendlerüberschuss von rund 34.000 Personen — unberührt von den Schwankungen der Arbeitslosenzahlen. Damit ist die gesamte priorisierte Themenliste aus der Datensichtung abgearbeitet.</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Zum Abschluss fasse ich im letzten Kapitel die Projektergebnisse zusammen und zeige priorisierte Themen für eine mögliche Fortsetzung auf.</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Aus 18 Excel-Berichten habe ich eine strukturierte Zeitreihe mit neun Kernkennzahlen aufgebaut, visuell ausgewertet in Kapitel 3 und statistisch vertieft in Kapitel 4. Darüber hinaus habe ich elf zusätzliche Themenfelder erschlossen — Fluktuation, Demografie, Erwerbstätigkeit, Finanzen, Förderung, Bezugsdauer, Rechtskreisvergleich, gemeldete Arbeitsstellen, Unterbeschäftigung, die RLB/ELB/NEF-Struktur sowie Beschäftigung —, wofür sechs weitere Tabellenblätter neu eingelesen wurden; die übrigen vier Themen ließen sich bereits aus dem schon genutzten Blatt gewinnen. Alle Ergebnisse stehen zusätzlich in einem interaktiven Streamlit-Dashboard mit zwölf Tabs und einem Glossar zur Verfügung. Der Kernbefund, der sich durch praktisch alle Kapitel zieht: Die Langzeitarbeitslosigkeit verschärft sich konsistent — sichtbar im Bestand, im Langzeitleistungsbezug, bei den Fördermaßnahmen-Teilnehmenden und im Rechtskreisvergleich.</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Alle priorisierten Themen aus der ursprünglichen Datensichtung sind jetzt vollständig umgesetzt. Methodisch bleibt noch Potenzial: eine multiple Regression mit mehreren Prädiktoren sowie eine ANOVA für Mehrgruppenvergleiche. Violin- und Pie-Plots habe ich dagegen bereits in Kapitel 12 ergänzt.</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Vielen Dank für Ihre Aufmerksamkeit. Das Live-Dashboard mit allen interaktiven Auswertungen ist unter der angegebenen Adresse jederzeit einsehbar.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8.xml"/><Relationship Id="rId7" Type="http://schemas.openxmlformats.org/officeDocument/2006/relationships/slide" Target="slide27.xml"/><Relationship Id="rId8" Type="http://schemas.openxmlformats.org/officeDocument/2006/relationships/slide" Target="slide32.xml"/><Relationship Id="rId9" Type="http://schemas.openxmlformats.org/officeDocument/2006/relationships/slide" Target="slide38.xml"/><Relationship Id="rId10" Type="http://schemas.openxmlformats.org/officeDocument/2006/relationships/slide" Target="slide43.xml"/><Relationship Id="rId11" Type="http://schemas.openxmlformats.org/officeDocument/2006/relationships/slide" Target="slide47.xml"/><Relationship Id="rId12" Type="http://schemas.openxmlformats.org/officeDocument/2006/relationships/slide" Target="slide52.xml"/><Relationship Id="rId13" Type="http://schemas.openxmlformats.org/officeDocument/2006/relationships/slide" Target="slide57.xml"/><Relationship Id="rId14" Type="http://schemas.openxmlformats.org/officeDocument/2006/relationships/slide" Target="slide62.xml"/><Relationship Id="rId15" Type="http://schemas.openxmlformats.org/officeDocument/2006/relationships/slide" Target="slide67.xml"/><Relationship Id="rId16" Type="http://schemas.openxmlformats.org/officeDocument/2006/relationships/slide" Target="slide71.xml"/><Relationship Id="rId17" Type="http://schemas.openxmlformats.org/officeDocument/2006/relationships/slide" Target="slide76.xml"/><Relationship Id="rId18" Type="http://schemas.openxmlformats.org/officeDocument/2006/relationships/slide" Target="slide8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25.png"/><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2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2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3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3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3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3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3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3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3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3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4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4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4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E4057"/>
        </a:solidFill>
        <a:effectLst/>
      </p:bgPr>
    </p:bg>
    <p:spTree>
      <p:nvGrpSpPr>
        <p:cNvPr id="1" name=""/>
        <p:cNvGrpSpPr/>
        <p:nvPr/>
      </p:nvGrpSpPr>
      <p:grpSpPr>
        <a:xfrm>
          <a:off x="0" y="0"/>
          <a:ext cx="0" cy="0"/>
          <a:chOff x="0" y="0"/>
          <a:chExt cx="0" cy="0"/>
        </a:xfrm>
      </p:grpSpPr>
      <p:sp>
        <p:nvSpPr>
          <p:cNvPr id="2" name="Rectangle 1"/>
          <p:cNvSpPr/>
          <p:nvPr/>
        </p:nvSpPr>
        <p:spPr>
          <a:xfrm>
            <a:off x="0" y="4608000"/>
            <a:ext cx="12193200" cy="9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2000"/>
            <a:ext cx="12193200" cy="288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20000" y="2340000"/>
            <a:ext cx="10753200" cy="900000"/>
          </a:xfrm>
          <a:prstGeom prst="rect">
            <a:avLst/>
          </a:prstGeom>
          <a:noFill/>
        </p:spPr>
        <p:txBody>
          <a:bodyPr wrap="square" anchor="t">
            <a:spAutoFit/>
          </a:bodyPr>
          <a:lstStyle/>
          <a:p>
            <a:pPr algn="l"/>
            <a:r>
              <a:rPr sz="4400" b="1" i="0">
                <a:solidFill>
                  <a:srgbClr val="FFFFFF"/>
                </a:solidFill>
                <a:latin typeface="Calibri"/>
              </a:rPr>
              <a:t>Arbeitsmarktanalyse Regensburg</a:t>
            </a:r>
          </a:p>
        </p:txBody>
      </p:sp>
      <p:sp>
        <p:nvSpPr>
          <p:cNvPr id="5" name="TextBox 4"/>
          <p:cNvSpPr txBox="1"/>
          <p:nvPr/>
        </p:nvSpPr>
        <p:spPr>
          <a:xfrm>
            <a:off x="720000" y="3060000"/>
            <a:ext cx="10753200" cy="540000"/>
          </a:xfrm>
          <a:prstGeom prst="rect">
            <a:avLst/>
          </a:prstGeom>
          <a:noFill/>
        </p:spPr>
        <p:txBody>
          <a:bodyPr wrap="square" anchor="t">
            <a:spAutoFit/>
          </a:bodyPr>
          <a:lstStyle/>
          <a:p>
            <a:pPr algn="l"/>
            <a:r>
              <a:rPr sz="2000" b="0" i="0">
                <a:solidFill>
                  <a:srgbClr val="BFDBFE"/>
                </a:solidFill>
                <a:latin typeface="Calibri"/>
              </a:rPr>
              <a:t>Rechtskreis SGB II — Datenexploration, -analyse und Visualisierung mit Python</a:t>
            </a:r>
          </a:p>
        </p:txBody>
      </p:sp>
      <p:sp>
        <p:nvSpPr>
          <p:cNvPr id="6" name="TextBox 5"/>
          <p:cNvSpPr txBox="1"/>
          <p:nvPr/>
        </p:nvSpPr>
        <p:spPr>
          <a:xfrm>
            <a:off x="720000" y="5112000"/>
            <a:ext cx="10753200" cy="360000"/>
          </a:xfrm>
          <a:prstGeom prst="rect">
            <a:avLst/>
          </a:prstGeom>
          <a:noFill/>
        </p:spPr>
        <p:txBody>
          <a:bodyPr wrap="square" anchor="t">
            <a:spAutoFit/>
          </a:bodyPr>
          <a:lstStyle/>
          <a:p>
            <a:pPr algn="l"/>
            <a:r>
              <a:rPr sz="1600" b="0" i="0">
                <a:solidFill>
                  <a:srgbClr val="E0E7FF"/>
                </a:solidFill>
                <a:latin typeface="Calibri"/>
              </a:rPr>
              <a:t>Eugenia Funk  ·  17.08.2026</a:t>
            </a:r>
          </a:p>
        </p:txBody>
      </p:sp>
      <p:sp>
        <p:nvSpPr>
          <p:cNvPr id="7" name="TextBox 6"/>
          <p:cNvSpPr txBox="1"/>
          <p:nvPr/>
        </p:nvSpPr>
        <p:spPr>
          <a:xfrm>
            <a:off x="11124000" y="6533999"/>
            <a:ext cx="936000" cy="270000"/>
          </a:xfrm>
          <a:prstGeom prst="rect">
            <a:avLst/>
          </a:prstGeom>
          <a:noFill/>
        </p:spPr>
        <p:txBody>
          <a:bodyPr wrap="none">
            <a:spAutoFit/>
          </a:bodyPr>
          <a:lstStyle/>
          <a:p>
            <a:pPr algn="r"/>
            <a:fld id="{FB785FE2-68D1-4444-B9A8-8F3CF4CD7228}" type="slidenum">
              <a:rPr lang="de-DE" sz="1200">
                <a:solidFill>
                  <a:srgbClr val="FFFFFF"/>
                </a:solidFill>
              </a:rPr>
              <a:t>1</a:t>
            </a:fl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Agenda</a:t>
            </a:r>
          </a:p>
        </p:txBody>
      </p:sp>
      <p:sp>
        <p:nvSpPr>
          <p:cNvPr id="5" name="Rectangle 4">
            <a:hlinkClick r:id="rId3" action="ppaction://hlinksldjump"/>
          </p:cNvPr>
          <p:cNvSpPr/>
          <p:nvPr/>
        </p:nvSpPr>
        <p:spPr>
          <a:xfrm>
            <a:off x="576000" y="1512000"/>
            <a:ext cx="396000" cy="36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hlinkClick r:id="rId3" action="ppaction://hlinksldjump"/>
          </p:cNvPr>
          <p:cNvSpPr txBox="1"/>
          <p:nvPr/>
        </p:nvSpPr>
        <p:spPr>
          <a:xfrm>
            <a:off x="576000" y="1512000"/>
            <a:ext cx="396000" cy="360000"/>
          </a:xfrm>
          <a:prstGeom prst="rect">
            <a:avLst/>
          </a:prstGeom>
          <a:noFill/>
        </p:spPr>
        <p:txBody>
          <a:bodyPr wrap="none" lIns="0" tIns="0" rIns="0" bIns="0" anchor="ctr">
            <a:spAutoFit/>
          </a:bodyPr>
          <a:lstStyle/>
          <a:p>
            <a:pPr algn="ctr"/>
            <a:r>
              <a:rPr sz="1500" b="1">
                <a:solidFill>
                  <a:srgbClr val="FFFFFF"/>
                </a:solidFill>
                <a:latin typeface="Calibri"/>
              </a:rPr>
              <a:t>1</a:t>
            </a:r>
          </a:p>
        </p:txBody>
      </p:sp>
      <p:sp>
        <p:nvSpPr>
          <p:cNvPr id="7" name="TextBox 6">
            <a:hlinkClick r:id="rId3" action="ppaction://hlinksldjump"/>
          </p:cNvPr>
          <p:cNvSpPr txBox="1"/>
          <p:nvPr/>
        </p:nvSpPr>
        <p:spPr>
          <a:xfrm>
            <a:off x="1007999" y="1512000"/>
            <a:ext cx="4860000" cy="342000"/>
          </a:xfrm>
          <a:prstGeom prst="rect">
            <a:avLst/>
          </a:prstGeom>
          <a:noFill/>
        </p:spPr>
        <p:txBody>
          <a:bodyPr wrap="square" anchor="ctr">
            <a:spAutoFit/>
          </a:bodyPr>
          <a:lstStyle/>
          <a:p>
            <a:r>
              <a:rPr sz="1600">
                <a:solidFill>
                  <a:srgbClr val="374151"/>
                </a:solidFill>
                <a:latin typeface="Calibri"/>
              </a:rPr>
              <a:t>Einleitung</a:t>
            </a:r>
          </a:p>
        </p:txBody>
      </p:sp>
      <p:sp>
        <p:nvSpPr>
          <p:cNvPr id="8" name="Rectangle 7">
            <a:hlinkClick r:id="rId4" action="ppaction://hlinksldjump"/>
          </p:cNvPr>
          <p:cNvSpPr/>
          <p:nvPr/>
        </p:nvSpPr>
        <p:spPr>
          <a:xfrm>
            <a:off x="576000" y="1944000"/>
            <a:ext cx="396000" cy="36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hlinkClick r:id="rId4" action="ppaction://hlinksldjump"/>
          </p:cNvPr>
          <p:cNvSpPr txBox="1"/>
          <p:nvPr/>
        </p:nvSpPr>
        <p:spPr>
          <a:xfrm>
            <a:off x="576000" y="1944000"/>
            <a:ext cx="396000" cy="360000"/>
          </a:xfrm>
          <a:prstGeom prst="rect">
            <a:avLst/>
          </a:prstGeom>
          <a:noFill/>
        </p:spPr>
        <p:txBody>
          <a:bodyPr wrap="none" lIns="0" tIns="0" rIns="0" bIns="0" anchor="ctr">
            <a:spAutoFit/>
          </a:bodyPr>
          <a:lstStyle/>
          <a:p>
            <a:pPr algn="ctr"/>
            <a:r>
              <a:rPr sz="1500" b="1">
                <a:solidFill>
                  <a:srgbClr val="FFFFFF"/>
                </a:solidFill>
                <a:latin typeface="Calibri"/>
              </a:rPr>
              <a:t>2</a:t>
            </a:r>
          </a:p>
        </p:txBody>
      </p:sp>
      <p:sp>
        <p:nvSpPr>
          <p:cNvPr id="10" name="TextBox 9">
            <a:hlinkClick r:id="rId4" action="ppaction://hlinksldjump"/>
          </p:cNvPr>
          <p:cNvSpPr txBox="1"/>
          <p:nvPr/>
        </p:nvSpPr>
        <p:spPr>
          <a:xfrm>
            <a:off x="1007999" y="1944000"/>
            <a:ext cx="4860000" cy="342000"/>
          </a:xfrm>
          <a:prstGeom prst="rect">
            <a:avLst/>
          </a:prstGeom>
          <a:noFill/>
        </p:spPr>
        <p:txBody>
          <a:bodyPr wrap="square" anchor="ctr">
            <a:spAutoFit/>
          </a:bodyPr>
          <a:lstStyle/>
          <a:p>
            <a:r>
              <a:rPr sz="1600">
                <a:solidFill>
                  <a:srgbClr val="374151"/>
                </a:solidFill>
                <a:latin typeface="Calibri"/>
              </a:rPr>
              <a:t>Datenexploration</a:t>
            </a:r>
          </a:p>
        </p:txBody>
      </p:sp>
      <p:sp>
        <p:nvSpPr>
          <p:cNvPr id="11" name="Rectangle 10">
            <a:hlinkClick r:id="rId5" action="ppaction://hlinksldjump"/>
          </p:cNvPr>
          <p:cNvSpPr/>
          <p:nvPr/>
        </p:nvSpPr>
        <p:spPr>
          <a:xfrm>
            <a:off x="576000" y="2376000"/>
            <a:ext cx="396000" cy="36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hlinkClick r:id="rId5" action="ppaction://hlinksldjump"/>
          </p:cNvPr>
          <p:cNvSpPr txBox="1"/>
          <p:nvPr/>
        </p:nvSpPr>
        <p:spPr>
          <a:xfrm>
            <a:off x="576000" y="2376000"/>
            <a:ext cx="396000" cy="360000"/>
          </a:xfrm>
          <a:prstGeom prst="rect">
            <a:avLst/>
          </a:prstGeom>
          <a:noFill/>
        </p:spPr>
        <p:txBody>
          <a:bodyPr wrap="none" lIns="0" tIns="0" rIns="0" bIns="0" anchor="ctr">
            <a:spAutoFit/>
          </a:bodyPr>
          <a:lstStyle/>
          <a:p>
            <a:pPr algn="ctr"/>
            <a:r>
              <a:rPr sz="1500" b="1">
                <a:solidFill>
                  <a:srgbClr val="FFFFFF"/>
                </a:solidFill>
                <a:latin typeface="Calibri"/>
              </a:rPr>
              <a:t>3</a:t>
            </a:r>
          </a:p>
        </p:txBody>
      </p:sp>
      <p:sp>
        <p:nvSpPr>
          <p:cNvPr id="13" name="TextBox 12">
            <a:hlinkClick r:id="rId5" action="ppaction://hlinksldjump"/>
          </p:cNvPr>
          <p:cNvSpPr txBox="1"/>
          <p:nvPr/>
        </p:nvSpPr>
        <p:spPr>
          <a:xfrm>
            <a:off x="1007999" y="2376000"/>
            <a:ext cx="4860000" cy="342000"/>
          </a:xfrm>
          <a:prstGeom prst="rect">
            <a:avLst/>
          </a:prstGeom>
          <a:noFill/>
        </p:spPr>
        <p:txBody>
          <a:bodyPr wrap="square" anchor="ctr">
            <a:spAutoFit/>
          </a:bodyPr>
          <a:lstStyle/>
          <a:p>
            <a:r>
              <a:rPr sz="1600">
                <a:solidFill>
                  <a:srgbClr val="374151"/>
                </a:solidFill>
                <a:latin typeface="Calibri"/>
              </a:rPr>
              <a:t>Datenanalyse</a:t>
            </a:r>
          </a:p>
        </p:txBody>
      </p:sp>
      <p:sp>
        <p:nvSpPr>
          <p:cNvPr id="14" name="Rectangle 13">
            <a:hlinkClick r:id="rId6" action="ppaction://hlinksldjump"/>
          </p:cNvPr>
          <p:cNvSpPr/>
          <p:nvPr/>
        </p:nvSpPr>
        <p:spPr>
          <a:xfrm>
            <a:off x="576000" y="2808000"/>
            <a:ext cx="396000" cy="36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hlinkClick r:id="rId6" action="ppaction://hlinksldjump"/>
          </p:cNvPr>
          <p:cNvSpPr txBox="1"/>
          <p:nvPr/>
        </p:nvSpPr>
        <p:spPr>
          <a:xfrm>
            <a:off x="576000" y="2808000"/>
            <a:ext cx="396000" cy="360000"/>
          </a:xfrm>
          <a:prstGeom prst="rect">
            <a:avLst/>
          </a:prstGeom>
          <a:noFill/>
        </p:spPr>
        <p:txBody>
          <a:bodyPr wrap="none" lIns="0" tIns="0" rIns="0" bIns="0" anchor="ctr">
            <a:spAutoFit/>
          </a:bodyPr>
          <a:lstStyle/>
          <a:p>
            <a:pPr algn="ctr"/>
            <a:r>
              <a:rPr sz="1500" b="1">
                <a:solidFill>
                  <a:srgbClr val="FFFFFF"/>
                </a:solidFill>
                <a:latin typeface="Calibri"/>
              </a:rPr>
              <a:t>4</a:t>
            </a:r>
          </a:p>
        </p:txBody>
      </p:sp>
      <p:sp>
        <p:nvSpPr>
          <p:cNvPr id="16" name="TextBox 15">
            <a:hlinkClick r:id="rId6" action="ppaction://hlinksldjump"/>
          </p:cNvPr>
          <p:cNvSpPr txBox="1"/>
          <p:nvPr/>
        </p:nvSpPr>
        <p:spPr>
          <a:xfrm>
            <a:off x="1007999" y="2808000"/>
            <a:ext cx="4860000" cy="342000"/>
          </a:xfrm>
          <a:prstGeom prst="rect">
            <a:avLst/>
          </a:prstGeom>
          <a:noFill/>
        </p:spPr>
        <p:txBody>
          <a:bodyPr wrap="square" anchor="ctr">
            <a:spAutoFit/>
          </a:bodyPr>
          <a:lstStyle/>
          <a:p>
            <a:r>
              <a:rPr sz="1600">
                <a:solidFill>
                  <a:srgbClr val="374151"/>
                </a:solidFill>
                <a:latin typeface="Calibri"/>
              </a:rPr>
              <a:t>Vertiefte statistische Analyse</a:t>
            </a:r>
          </a:p>
        </p:txBody>
      </p:sp>
      <p:sp>
        <p:nvSpPr>
          <p:cNvPr id="17" name="Rectangle 16">
            <a:hlinkClick r:id="rId7" action="ppaction://hlinksldjump"/>
          </p:cNvPr>
          <p:cNvSpPr/>
          <p:nvPr/>
        </p:nvSpPr>
        <p:spPr>
          <a:xfrm>
            <a:off x="576000" y="3240000"/>
            <a:ext cx="396000" cy="36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hlinkClick r:id="rId7" action="ppaction://hlinksldjump"/>
          </p:cNvPr>
          <p:cNvSpPr txBox="1"/>
          <p:nvPr/>
        </p:nvSpPr>
        <p:spPr>
          <a:xfrm>
            <a:off x="576000" y="3240000"/>
            <a:ext cx="396000" cy="360000"/>
          </a:xfrm>
          <a:prstGeom prst="rect">
            <a:avLst/>
          </a:prstGeom>
          <a:noFill/>
        </p:spPr>
        <p:txBody>
          <a:bodyPr wrap="none" lIns="0" tIns="0" rIns="0" bIns="0" anchor="ctr">
            <a:spAutoFit/>
          </a:bodyPr>
          <a:lstStyle/>
          <a:p>
            <a:pPr algn="ctr"/>
            <a:r>
              <a:rPr sz="1500" b="1">
                <a:solidFill>
                  <a:srgbClr val="FFFFFF"/>
                </a:solidFill>
                <a:latin typeface="Calibri"/>
              </a:rPr>
              <a:t>5</a:t>
            </a:r>
          </a:p>
        </p:txBody>
      </p:sp>
      <p:sp>
        <p:nvSpPr>
          <p:cNvPr id="19" name="TextBox 18">
            <a:hlinkClick r:id="rId7" action="ppaction://hlinksldjump"/>
          </p:cNvPr>
          <p:cNvSpPr txBox="1"/>
          <p:nvPr/>
        </p:nvSpPr>
        <p:spPr>
          <a:xfrm>
            <a:off x="1007999" y="3240000"/>
            <a:ext cx="4860000" cy="342000"/>
          </a:xfrm>
          <a:prstGeom prst="rect">
            <a:avLst/>
          </a:prstGeom>
          <a:noFill/>
        </p:spPr>
        <p:txBody>
          <a:bodyPr wrap="square" anchor="ctr">
            <a:spAutoFit/>
          </a:bodyPr>
          <a:lstStyle/>
          <a:p>
            <a:r>
              <a:rPr sz="1600">
                <a:solidFill>
                  <a:srgbClr val="374151"/>
                </a:solidFill>
                <a:latin typeface="Calibri"/>
              </a:rPr>
              <a:t>Fluktuation</a:t>
            </a:r>
          </a:p>
        </p:txBody>
      </p:sp>
      <p:sp>
        <p:nvSpPr>
          <p:cNvPr id="20" name="Rectangle 19">
            <a:hlinkClick r:id="rId8" action="ppaction://hlinksldjump"/>
          </p:cNvPr>
          <p:cNvSpPr/>
          <p:nvPr/>
        </p:nvSpPr>
        <p:spPr>
          <a:xfrm>
            <a:off x="576000" y="3671999"/>
            <a:ext cx="396000" cy="360000"/>
          </a:xfrm>
          <a:prstGeom prst="rect">
            <a:avLst/>
          </a:prstGeom>
          <a:solidFill>
            <a:srgbClr val="4C8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hlinkClick r:id="rId8" action="ppaction://hlinksldjump"/>
          </p:cNvPr>
          <p:cNvSpPr txBox="1"/>
          <p:nvPr/>
        </p:nvSpPr>
        <p:spPr>
          <a:xfrm>
            <a:off x="576000" y="3671999"/>
            <a:ext cx="396000" cy="360000"/>
          </a:xfrm>
          <a:prstGeom prst="rect">
            <a:avLst/>
          </a:prstGeom>
          <a:noFill/>
        </p:spPr>
        <p:txBody>
          <a:bodyPr wrap="none" lIns="0" tIns="0" rIns="0" bIns="0" anchor="ctr">
            <a:spAutoFit/>
          </a:bodyPr>
          <a:lstStyle/>
          <a:p>
            <a:pPr algn="ctr"/>
            <a:r>
              <a:rPr sz="1500" b="1">
                <a:solidFill>
                  <a:srgbClr val="FFFFFF"/>
                </a:solidFill>
                <a:latin typeface="Calibri"/>
              </a:rPr>
              <a:t>6</a:t>
            </a:r>
          </a:p>
        </p:txBody>
      </p:sp>
      <p:sp>
        <p:nvSpPr>
          <p:cNvPr id="22" name="TextBox 21">
            <a:hlinkClick r:id="rId8" action="ppaction://hlinksldjump"/>
          </p:cNvPr>
          <p:cNvSpPr txBox="1"/>
          <p:nvPr/>
        </p:nvSpPr>
        <p:spPr>
          <a:xfrm>
            <a:off x="1007999" y="3671999"/>
            <a:ext cx="4860000" cy="342000"/>
          </a:xfrm>
          <a:prstGeom prst="rect">
            <a:avLst/>
          </a:prstGeom>
          <a:noFill/>
        </p:spPr>
        <p:txBody>
          <a:bodyPr wrap="square" anchor="ctr">
            <a:spAutoFit/>
          </a:bodyPr>
          <a:lstStyle/>
          <a:p>
            <a:r>
              <a:rPr sz="1600">
                <a:solidFill>
                  <a:srgbClr val="374151"/>
                </a:solidFill>
                <a:latin typeface="Calibri"/>
              </a:rPr>
              <a:t>Demografie</a:t>
            </a:r>
          </a:p>
        </p:txBody>
      </p:sp>
      <p:sp>
        <p:nvSpPr>
          <p:cNvPr id="23" name="Rectangle 22">
            <a:hlinkClick r:id="rId9" action="ppaction://hlinksldjump"/>
          </p:cNvPr>
          <p:cNvSpPr/>
          <p:nvPr/>
        </p:nvSpPr>
        <p:spPr>
          <a:xfrm>
            <a:off x="576000" y="4104000"/>
            <a:ext cx="396000" cy="360000"/>
          </a:xfrm>
          <a:prstGeom prst="rect">
            <a:avLst/>
          </a:prstGeom>
          <a:solidFill>
            <a:srgbClr val="B1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hlinkClick r:id="rId9" action="ppaction://hlinksldjump"/>
          </p:cNvPr>
          <p:cNvSpPr txBox="1"/>
          <p:nvPr/>
        </p:nvSpPr>
        <p:spPr>
          <a:xfrm>
            <a:off x="576000" y="4104000"/>
            <a:ext cx="396000" cy="360000"/>
          </a:xfrm>
          <a:prstGeom prst="rect">
            <a:avLst/>
          </a:prstGeom>
          <a:noFill/>
        </p:spPr>
        <p:txBody>
          <a:bodyPr wrap="none" lIns="0" tIns="0" rIns="0" bIns="0" anchor="ctr">
            <a:spAutoFit/>
          </a:bodyPr>
          <a:lstStyle/>
          <a:p>
            <a:pPr algn="ctr"/>
            <a:r>
              <a:rPr sz="1500" b="1">
                <a:solidFill>
                  <a:srgbClr val="FFFFFF"/>
                </a:solidFill>
                <a:latin typeface="Calibri"/>
              </a:rPr>
              <a:t>7</a:t>
            </a:r>
          </a:p>
        </p:txBody>
      </p:sp>
      <p:sp>
        <p:nvSpPr>
          <p:cNvPr id="25" name="TextBox 24">
            <a:hlinkClick r:id="rId9" action="ppaction://hlinksldjump"/>
          </p:cNvPr>
          <p:cNvSpPr txBox="1"/>
          <p:nvPr/>
        </p:nvSpPr>
        <p:spPr>
          <a:xfrm>
            <a:off x="1007999" y="4104000"/>
            <a:ext cx="4860000" cy="342000"/>
          </a:xfrm>
          <a:prstGeom prst="rect">
            <a:avLst/>
          </a:prstGeom>
          <a:noFill/>
        </p:spPr>
        <p:txBody>
          <a:bodyPr wrap="square" anchor="ctr">
            <a:spAutoFit/>
          </a:bodyPr>
          <a:lstStyle/>
          <a:p>
            <a:r>
              <a:rPr sz="1600">
                <a:solidFill>
                  <a:srgbClr val="374151"/>
                </a:solidFill>
                <a:latin typeface="Calibri"/>
              </a:rPr>
              <a:t>Erwerbstätigkeit</a:t>
            </a:r>
          </a:p>
        </p:txBody>
      </p:sp>
      <p:sp>
        <p:nvSpPr>
          <p:cNvPr id="26" name="Rectangle 25">
            <a:hlinkClick r:id="rId10" action="ppaction://hlinksldjump"/>
          </p:cNvPr>
          <p:cNvSpPr/>
          <p:nvPr/>
        </p:nvSpPr>
        <p:spPr>
          <a:xfrm>
            <a:off x="576000" y="4536000"/>
            <a:ext cx="396000" cy="360000"/>
          </a:xfrm>
          <a:prstGeom prst="rect">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hlinkClick r:id="rId10" action="ppaction://hlinksldjump"/>
          </p:cNvPr>
          <p:cNvSpPr txBox="1"/>
          <p:nvPr/>
        </p:nvSpPr>
        <p:spPr>
          <a:xfrm>
            <a:off x="576000" y="4536000"/>
            <a:ext cx="396000" cy="360000"/>
          </a:xfrm>
          <a:prstGeom prst="rect">
            <a:avLst/>
          </a:prstGeom>
          <a:noFill/>
        </p:spPr>
        <p:txBody>
          <a:bodyPr wrap="none" lIns="0" tIns="0" rIns="0" bIns="0" anchor="ctr">
            <a:spAutoFit/>
          </a:bodyPr>
          <a:lstStyle/>
          <a:p>
            <a:pPr algn="ctr"/>
            <a:r>
              <a:rPr sz="1500" b="1">
                <a:solidFill>
                  <a:srgbClr val="FFFFFF"/>
                </a:solidFill>
                <a:latin typeface="Calibri"/>
              </a:rPr>
              <a:t>8</a:t>
            </a:r>
          </a:p>
        </p:txBody>
      </p:sp>
      <p:sp>
        <p:nvSpPr>
          <p:cNvPr id="28" name="TextBox 27">
            <a:hlinkClick r:id="rId10" action="ppaction://hlinksldjump"/>
          </p:cNvPr>
          <p:cNvSpPr txBox="1"/>
          <p:nvPr/>
        </p:nvSpPr>
        <p:spPr>
          <a:xfrm>
            <a:off x="1007999" y="4536000"/>
            <a:ext cx="4860000" cy="342000"/>
          </a:xfrm>
          <a:prstGeom prst="rect">
            <a:avLst/>
          </a:prstGeom>
          <a:noFill/>
        </p:spPr>
        <p:txBody>
          <a:bodyPr wrap="square" anchor="ctr">
            <a:spAutoFit/>
          </a:bodyPr>
          <a:lstStyle/>
          <a:p>
            <a:r>
              <a:rPr sz="1600">
                <a:solidFill>
                  <a:srgbClr val="374151"/>
                </a:solidFill>
                <a:latin typeface="Calibri"/>
              </a:rPr>
              <a:t>Finanzen</a:t>
            </a:r>
          </a:p>
        </p:txBody>
      </p:sp>
      <p:sp>
        <p:nvSpPr>
          <p:cNvPr id="29" name="Rectangle 28">
            <a:hlinkClick r:id="rId11" action="ppaction://hlinksldjump"/>
          </p:cNvPr>
          <p:cNvSpPr/>
          <p:nvPr/>
        </p:nvSpPr>
        <p:spPr>
          <a:xfrm>
            <a:off x="6336000" y="1512000"/>
            <a:ext cx="396000" cy="360000"/>
          </a:xfrm>
          <a:prstGeom prst="rect">
            <a:avLst/>
          </a:prstGeom>
          <a:solidFill>
            <a:srgbClr val="4A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hlinkClick r:id="rId11" action="ppaction://hlinksldjump"/>
          </p:cNvPr>
          <p:cNvSpPr txBox="1"/>
          <p:nvPr/>
        </p:nvSpPr>
        <p:spPr>
          <a:xfrm>
            <a:off x="6336000" y="1512000"/>
            <a:ext cx="396000" cy="360000"/>
          </a:xfrm>
          <a:prstGeom prst="rect">
            <a:avLst/>
          </a:prstGeom>
          <a:noFill/>
        </p:spPr>
        <p:txBody>
          <a:bodyPr wrap="none" lIns="0" tIns="0" rIns="0" bIns="0" anchor="ctr">
            <a:spAutoFit/>
          </a:bodyPr>
          <a:lstStyle/>
          <a:p>
            <a:pPr algn="ctr"/>
            <a:r>
              <a:rPr sz="1500" b="1">
                <a:solidFill>
                  <a:srgbClr val="FFFFFF"/>
                </a:solidFill>
                <a:latin typeface="Calibri"/>
              </a:rPr>
              <a:t>9</a:t>
            </a:r>
          </a:p>
        </p:txBody>
      </p:sp>
      <p:sp>
        <p:nvSpPr>
          <p:cNvPr id="31" name="TextBox 30">
            <a:hlinkClick r:id="rId11" action="ppaction://hlinksldjump"/>
          </p:cNvPr>
          <p:cNvSpPr txBox="1"/>
          <p:nvPr/>
        </p:nvSpPr>
        <p:spPr>
          <a:xfrm>
            <a:off x="6768000" y="1512000"/>
            <a:ext cx="4860000" cy="342000"/>
          </a:xfrm>
          <a:prstGeom prst="rect">
            <a:avLst/>
          </a:prstGeom>
          <a:noFill/>
        </p:spPr>
        <p:txBody>
          <a:bodyPr wrap="square" anchor="ctr">
            <a:spAutoFit/>
          </a:bodyPr>
          <a:lstStyle/>
          <a:p>
            <a:r>
              <a:rPr sz="1600">
                <a:solidFill>
                  <a:srgbClr val="374151"/>
                </a:solidFill>
                <a:latin typeface="Calibri"/>
              </a:rPr>
              <a:t>Förderung</a:t>
            </a:r>
          </a:p>
        </p:txBody>
      </p:sp>
      <p:sp>
        <p:nvSpPr>
          <p:cNvPr id="32" name="Rectangle 31">
            <a:hlinkClick r:id="rId12" action="ppaction://hlinksldjump"/>
          </p:cNvPr>
          <p:cNvSpPr/>
          <p:nvPr/>
        </p:nvSpPr>
        <p:spPr>
          <a:xfrm>
            <a:off x="6336000" y="1944000"/>
            <a:ext cx="396000" cy="36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hlinkClick r:id="rId12" action="ppaction://hlinksldjump"/>
          </p:cNvPr>
          <p:cNvSpPr txBox="1"/>
          <p:nvPr/>
        </p:nvSpPr>
        <p:spPr>
          <a:xfrm>
            <a:off x="6336000" y="1944000"/>
            <a:ext cx="396000" cy="360000"/>
          </a:xfrm>
          <a:prstGeom prst="rect">
            <a:avLst/>
          </a:prstGeom>
          <a:noFill/>
        </p:spPr>
        <p:txBody>
          <a:bodyPr wrap="none" lIns="0" tIns="0" rIns="0" bIns="0" anchor="ctr">
            <a:spAutoFit/>
          </a:bodyPr>
          <a:lstStyle/>
          <a:p>
            <a:pPr algn="ctr"/>
            <a:r>
              <a:rPr sz="1500" b="1">
                <a:solidFill>
                  <a:srgbClr val="FFFFFF"/>
                </a:solidFill>
                <a:latin typeface="Calibri"/>
              </a:rPr>
              <a:t>10</a:t>
            </a:r>
          </a:p>
        </p:txBody>
      </p:sp>
      <p:sp>
        <p:nvSpPr>
          <p:cNvPr id="34" name="TextBox 33">
            <a:hlinkClick r:id="rId12" action="ppaction://hlinksldjump"/>
          </p:cNvPr>
          <p:cNvSpPr txBox="1"/>
          <p:nvPr/>
        </p:nvSpPr>
        <p:spPr>
          <a:xfrm>
            <a:off x="6768000" y="1944000"/>
            <a:ext cx="4860000" cy="342000"/>
          </a:xfrm>
          <a:prstGeom prst="rect">
            <a:avLst/>
          </a:prstGeom>
          <a:noFill/>
        </p:spPr>
        <p:txBody>
          <a:bodyPr wrap="square" anchor="ctr">
            <a:spAutoFit/>
          </a:bodyPr>
          <a:lstStyle/>
          <a:p>
            <a:r>
              <a:rPr sz="1600">
                <a:solidFill>
                  <a:srgbClr val="374151"/>
                </a:solidFill>
                <a:latin typeface="Calibri"/>
              </a:rPr>
              <a:t>Bezugsdauer</a:t>
            </a:r>
          </a:p>
        </p:txBody>
      </p:sp>
      <p:sp>
        <p:nvSpPr>
          <p:cNvPr id="35" name="Rectangle 34">
            <a:hlinkClick r:id="rId13" action="ppaction://hlinksldjump"/>
          </p:cNvPr>
          <p:cNvSpPr/>
          <p:nvPr/>
        </p:nvSpPr>
        <p:spPr>
          <a:xfrm>
            <a:off x="6336000" y="2376000"/>
            <a:ext cx="396000" cy="36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hlinkClick r:id="rId13" action="ppaction://hlinksldjump"/>
          </p:cNvPr>
          <p:cNvSpPr txBox="1"/>
          <p:nvPr/>
        </p:nvSpPr>
        <p:spPr>
          <a:xfrm>
            <a:off x="6336000" y="2376000"/>
            <a:ext cx="396000" cy="360000"/>
          </a:xfrm>
          <a:prstGeom prst="rect">
            <a:avLst/>
          </a:prstGeom>
          <a:noFill/>
        </p:spPr>
        <p:txBody>
          <a:bodyPr wrap="none" lIns="0" tIns="0" rIns="0" bIns="0" anchor="ctr">
            <a:spAutoFit/>
          </a:bodyPr>
          <a:lstStyle/>
          <a:p>
            <a:pPr algn="ctr"/>
            <a:r>
              <a:rPr sz="1500" b="1">
                <a:solidFill>
                  <a:srgbClr val="FFFFFF"/>
                </a:solidFill>
                <a:latin typeface="Calibri"/>
              </a:rPr>
              <a:t>11</a:t>
            </a:r>
          </a:p>
        </p:txBody>
      </p:sp>
      <p:sp>
        <p:nvSpPr>
          <p:cNvPr id="37" name="TextBox 36">
            <a:hlinkClick r:id="rId13" action="ppaction://hlinksldjump"/>
          </p:cNvPr>
          <p:cNvSpPr txBox="1"/>
          <p:nvPr/>
        </p:nvSpPr>
        <p:spPr>
          <a:xfrm>
            <a:off x="6768000" y="2376000"/>
            <a:ext cx="4860000" cy="342000"/>
          </a:xfrm>
          <a:prstGeom prst="rect">
            <a:avLst/>
          </a:prstGeom>
          <a:noFill/>
        </p:spPr>
        <p:txBody>
          <a:bodyPr wrap="square" anchor="ctr">
            <a:spAutoFit/>
          </a:bodyPr>
          <a:lstStyle/>
          <a:p>
            <a:r>
              <a:rPr sz="1600">
                <a:solidFill>
                  <a:srgbClr val="374151"/>
                </a:solidFill>
                <a:latin typeface="Calibri"/>
              </a:rPr>
              <a:t>Rechtskreisvergleich SGB II/III</a:t>
            </a:r>
          </a:p>
        </p:txBody>
      </p:sp>
      <p:sp>
        <p:nvSpPr>
          <p:cNvPr id="38" name="Rectangle 37">
            <a:hlinkClick r:id="rId14" action="ppaction://hlinksldjump"/>
          </p:cNvPr>
          <p:cNvSpPr/>
          <p:nvPr/>
        </p:nvSpPr>
        <p:spPr>
          <a:xfrm>
            <a:off x="6336000" y="2808000"/>
            <a:ext cx="396000" cy="36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hlinkClick r:id="rId14" action="ppaction://hlinksldjump"/>
          </p:cNvPr>
          <p:cNvSpPr txBox="1"/>
          <p:nvPr/>
        </p:nvSpPr>
        <p:spPr>
          <a:xfrm>
            <a:off x="6336000" y="2808000"/>
            <a:ext cx="396000" cy="360000"/>
          </a:xfrm>
          <a:prstGeom prst="rect">
            <a:avLst/>
          </a:prstGeom>
          <a:noFill/>
        </p:spPr>
        <p:txBody>
          <a:bodyPr wrap="none" lIns="0" tIns="0" rIns="0" bIns="0" anchor="ctr">
            <a:spAutoFit/>
          </a:bodyPr>
          <a:lstStyle/>
          <a:p>
            <a:pPr algn="ctr"/>
            <a:r>
              <a:rPr sz="1500" b="1">
                <a:solidFill>
                  <a:srgbClr val="FFFFFF"/>
                </a:solidFill>
                <a:latin typeface="Calibri"/>
              </a:rPr>
              <a:t>12</a:t>
            </a:r>
          </a:p>
        </p:txBody>
      </p:sp>
      <p:sp>
        <p:nvSpPr>
          <p:cNvPr id="40" name="TextBox 39">
            <a:hlinkClick r:id="rId14" action="ppaction://hlinksldjump"/>
          </p:cNvPr>
          <p:cNvSpPr txBox="1"/>
          <p:nvPr/>
        </p:nvSpPr>
        <p:spPr>
          <a:xfrm>
            <a:off x="6768000" y="2808000"/>
            <a:ext cx="4860000" cy="342000"/>
          </a:xfrm>
          <a:prstGeom prst="rect">
            <a:avLst/>
          </a:prstGeom>
          <a:noFill/>
        </p:spPr>
        <p:txBody>
          <a:bodyPr wrap="square" anchor="ctr">
            <a:spAutoFit/>
          </a:bodyPr>
          <a:lstStyle/>
          <a:p>
            <a:r>
              <a:rPr sz="1600">
                <a:solidFill>
                  <a:srgbClr val="374151"/>
                </a:solidFill>
                <a:latin typeface="Calibri"/>
              </a:rPr>
              <a:t>Gemeldete Arbeitsstellen</a:t>
            </a:r>
          </a:p>
        </p:txBody>
      </p:sp>
      <p:sp>
        <p:nvSpPr>
          <p:cNvPr id="41" name="Rectangle 40">
            <a:hlinkClick r:id="rId15" action="ppaction://hlinksldjump"/>
          </p:cNvPr>
          <p:cNvSpPr/>
          <p:nvPr/>
        </p:nvSpPr>
        <p:spPr>
          <a:xfrm>
            <a:off x="6336000" y="3240000"/>
            <a:ext cx="396000" cy="36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hlinkClick r:id="rId15" action="ppaction://hlinksldjump"/>
          </p:cNvPr>
          <p:cNvSpPr txBox="1"/>
          <p:nvPr/>
        </p:nvSpPr>
        <p:spPr>
          <a:xfrm>
            <a:off x="6336000" y="3240000"/>
            <a:ext cx="396000" cy="360000"/>
          </a:xfrm>
          <a:prstGeom prst="rect">
            <a:avLst/>
          </a:prstGeom>
          <a:noFill/>
        </p:spPr>
        <p:txBody>
          <a:bodyPr wrap="none" lIns="0" tIns="0" rIns="0" bIns="0" anchor="ctr">
            <a:spAutoFit/>
          </a:bodyPr>
          <a:lstStyle/>
          <a:p>
            <a:pPr algn="ctr"/>
            <a:r>
              <a:rPr sz="1500" b="1">
                <a:solidFill>
                  <a:srgbClr val="FFFFFF"/>
                </a:solidFill>
                <a:latin typeface="Calibri"/>
              </a:rPr>
              <a:t>13</a:t>
            </a:r>
          </a:p>
        </p:txBody>
      </p:sp>
      <p:sp>
        <p:nvSpPr>
          <p:cNvPr id="43" name="TextBox 42">
            <a:hlinkClick r:id="rId15" action="ppaction://hlinksldjump"/>
          </p:cNvPr>
          <p:cNvSpPr txBox="1"/>
          <p:nvPr/>
        </p:nvSpPr>
        <p:spPr>
          <a:xfrm>
            <a:off x="6768000" y="3240000"/>
            <a:ext cx="4860000" cy="342000"/>
          </a:xfrm>
          <a:prstGeom prst="rect">
            <a:avLst/>
          </a:prstGeom>
          <a:noFill/>
        </p:spPr>
        <p:txBody>
          <a:bodyPr wrap="square" anchor="ctr">
            <a:spAutoFit/>
          </a:bodyPr>
          <a:lstStyle/>
          <a:p>
            <a:r>
              <a:rPr sz="1600">
                <a:solidFill>
                  <a:srgbClr val="374151"/>
                </a:solidFill>
                <a:latin typeface="Calibri"/>
              </a:rPr>
              <a:t>Unterbeschäftigung</a:t>
            </a:r>
          </a:p>
        </p:txBody>
      </p:sp>
      <p:sp>
        <p:nvSpPr>
          <p:cNvPr id="44" name="Rectangle 43">
            <a:hlinkClick r:id="rId16" action="ppaction://hlinksldjump"/>
          </p:cNvPr>
          <p:cNvSpPr/>
          <p:nvPr/>
        </p:nvSpPr>
        <p:spPr>
          <a:xfrm>
            <a:off x="6336000" y="3671999"/>
            <a:ext cx="396000" cy="36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hlinkClick r:id="rId16" action="ppaction://hlinksldjump"/>
          </p:cNvPr>
          <p:cNvSpPr txBox="1"/>
          <p:nvPr/>
        </p:nvSpPr>
        <p:spPr>
          <a:xfrm>
            <a:off x="6336000" y="3671999"/>
            <a:ext cx="396000" cy="360000"/>
          </a:xfrm>
          <a:prstGeom prst="rect">
            <a:avLst/>
          </a:prstGeom>
          <a:noFill/>
        </p:spPr>
        <p:txBody>
          <a:bodyPr wrap="none" lIns="0" tIns="0" rIns="0" bIns="0" anchor="ctr">
            <a:spAutoFit/>
          </a:bodyPr>
          <a:lstStyle/>
          <a:p>
            <a:pPr algn="ctr"/>
            <a:r>
              <a:rPr sz="1500" b="1">
                <a:solidFill>
                  <a:srgbClr val="FFFFFF"/>
                </a:solidFill>
                <a:latin typeface="Calibri"/>
              </a:rPr>
              <a:t>14</a:t>
            </a:r>
          </a:p>
        </p:txBody>
      </p:sp>
      <p:sp>
        <p:nvSpPr>
          <p:cNvPr id="46" name="TextBox 45">
            <a:hlinkClick r:id="rId16" action="ppaction://hlinksldjump"/>
          </p:cNvPr>
          <p:cNvSpPr txBox="1"/>
          <p:nvPr/>
        </p:nvSpPr>
        <p:spPr>
          <a:xfrm>
            <a:off x="6768000" y="3671999"/>
            <a:ext cx="4860000" cy="342000"/>
          </a:xfrm>
          <a:prstGeom prst="rect">
            <a:avLst/>
          </a:prstGeom>
          <a:noFill/>
        </p:spPr>
        <p:txBody>
          <a:bodyPr wrap="square" anchor="ctr">
            <a:spAutoFit/>
          </a:bodyPr>
          <a:lstStyle/>
          <a:p>
            <a:r>
              <a:rPr sz="1600">
                <a:solidFill>
                  <a:srgbClr val="374151"/>
                </a:solidFill>
                <a:latin typeface="Calibri"/>
              </a:rPr>
              <a:t>RLB/ELB/NEF-Struktur</a:t>
            </a:r>
          </a:p>
        </p:txBody>
      </p:sp>
      <p:sp>
        <p:nvSpPr>
          <p:cNvPr id="47" name="Rectangle 46">
            <a:hlinkClick r:id="rId17" action="ppaction://hlinksldjump"/>
          </p:cNvPr>
          <p:cNvSpPr/>
          <p:nvPr/>
        </p:nvSpPr>
        <p:spPr>
          <a:xfrm>
            <a:off x="6336000" y="4104000"/>
            <a:ext cx="396000" cy="360000"/>
          </a:xfrm>
          <a:prstGeom prst="rect">
            <a:avLst/>
          </a:prstGeom>
          <a:solidFill>
            <a:srgbClr val="4C8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hlinkClick r:id="rId17" action="ppaction://hlinksldjump"/>
          </p:cNvPr>
          <p:cNvSpPr txBox="1"/>
          <p:nvPr/>
        </p:nvSpPr>
        <p:spPr>
          <a:xfrm>
            <a:off x="6336000" y="4104000"/>
            <a:ext cx="396000" cy="360000"/>
          </a:xfrm>
          <a:prstGeom prst="rect">
            <a:avLst/>
          </a:prstGeom>
          <a:noFill/>
        </p:spPr>
        <p:txBody>
          <a:bodyPr wrap="none" lIns="0" tIns="0" rIns="0" bIns="0" anchor="ctr">
            <a:spAutoFit/>
          </a:bodyPr>
          <a:lstStyle/>
          <a:p>
            <a:pPr algn="ctr"/>
            <a:r>
              <a:rPr sz="1500" b="1">
                <a:solidFill>
                  <a:srgbClr val="FFFFFF"/>
                </a:solidFill>
                <a:latin typeface="Calibri"/>
              </a:rPr>
              <a:t>15</a:t>
            </a:r>
          </a:p>
        </p:txBody>
      </p:sp>
      <p:sp>
        <p:nvSpPr>
          <p:cNvPr id="49" name="TextBox 48">
            <a:hlinkClick r:id="rId17" action="ppaction://hlinksldjump"/>
          </p:cNvPr>
          <p:cNvSpPr txBox="1"/>
          <p:nvPr/>
        </p:nvSpPr>
        <p:spPr>
          <a:xfrm>
            <a:off x="6768000" y="4104000"/>
            <a:ext cx="4860000" cy="342000"/>
          </a:xfrm>
          <a:prstGeom prst="rect">
            <a:avLst/>
          </a:prstGeom>
          <a:noFill/>
        </p:spPr>
        <p:txBody>
          <a:bodyPr wrap="square" anchor="ctr">
            <a:spAutoFit/>
          </a:bodyPr>
          <a:lstStyle/>
          <a:p>
            <a:r>
              <a:rPr sz="1600">
                <a:solidFill>
                  <a:srgbClr val="374151"/>
                </a:solidFill>
                <a:latin typeface="Calibri"/>
              </a:rPr>
              <a:t>Beschäftigung</a:t>
            </a:r>
          </a:p>
        </p:txBody>
      </p:sp>
      <p:sp>
        <p:nvSpPr>
          <p:cNvPr id="50" name="Rectangle 49">
            <a:hlinkClick r:id="rId18" action="ppaction://hlinksldjump"/>
          </p:cNvPr>
          <p:cNvSpPr/>
          <p:nvPr/>
        </p:nvSpPr>
        <p:spPr>
          <a:xfrm>
            <a:off x="6336000" y="4536000"/>
            <a:ext cx="396000" cy="360000"/>
          </a:xfrm>
          <a:prstGeom prst="rect">
            <a:avLst/>
          </a:prstGeom>
          <a:solidFill>
            <a:srgbClr val="B1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hlinkClick r:id="rId18" action="ppaction://hlinksldjump"/>
          </p:cNvPr>
          <p:cNvSpPr txBox="1"/>
          <p:nvPr/>
        </p:nvSpPr>
        <p:spPr>
          <a:xfrm>
            <a:off x="6336000" y="4536000"/>
            <a:ext cx="396000" cy="360000"/>
          </a:xfrm>
          <a:prstGeom prst="rect">
            <a:avLst/>
          </a:prstGeom>
          <a:noFill/>
        </p:spPr>
        <p:txBody>
          <a:bodyPr wrap="none" lIns="0" tIns="0" rIns="0" bIns="0" anchor="ctr">
            <a:spAutoFit/>
          </a:bodyPr>
          <a:lstStyle/>
          <a:p>
            <a:pPr algn="ctr"/>
            <a:r>
              <a:rPr sz="1500" b="1">
                <a:solidFill>
                  <a:srgbClr val="FFFFFF"/>
                </a:solidFill>
                <a:latin typeface="Calibri"/>
              </a:rPr>
              <a:t>16</a:t>
            </a:r>
          </a:p>
        </p:txBody>
      </p:sp>
      <p:sp>
        <p:nvSpPr>
          <p:cNvPr id="52" name="TextBox 51">
            <a:hlinkClick r:id="rId18" action="ppaction://hlinksldjump"/>
          </p:cNvPr>
          <p:cNvSpPr txBox="1"/>
          <p:nvPr/>
        </p:nvSpPr>
        <p:spPr>
          <a:xfrm>
            <a:off x="6768000" y="4536000"/>
            <a:ext cx="4860000" cy="342000"/>
          </a:xfrm>
          <a:prstGeom prst="rect">
            <a:avLst/>
          </a:prstGeom>
          <a:noFill/>
        </p:spPr>
        <p:txBody>
          <a:bodyPr wrap="square" anchor="ctr">
            <a:spAutoFit/>
          </a:bodyPr>
          <a:lstStyle/>
          <a:p>
            <a:r>
              <a:rPr sz="1600">
                <a:solidFill>
                  <a:srgbClr val="374151"/>
                </a:solidFill>
                <a:latin typeface="Calibri"/>
              </a:rPr>
              <a:t>Fazit und Ausblick</a:t>
            </a:r>
          </a:p>
        </p:txBody>
      </p:sp>
      <p:sp>
        <p:nvSpPr>
          <p:cNvPr id="53" name="TextBox 52"/>
          <p:cNvSpPr txBox="1"/>
          <p:nvPr/>
        </p:nvSpPr>
        <p:spPr>
          <a:xfrm>
            <a:off x="11124000" y="6533999"/>
            <a:ext cx="936000" cy="270000"/>
          </a:xfrm>
          <a:prstGeom prst="rect">
            <a:avLst/>
          </a:prstGeom>
          <a:noFill/>
        </p:spPr>
        <p:txBody>
          <a:bodyPr wrap="none">
            <a:spAutoFit/>
          </a:bodyPr>
          <a:lstStyle/>
          <a:p>
            <a:pPr algn="r"/>
            <a:fld id="{19D229B9-B30D-4E98-9811-37415B7BE84C}" type="slidenum">
              <a:rPr lang="de-DE" sz="1200">
                <a:solidFill>
                  <a:srgbClr val="6B7280"/>
                </a:solidFill>
              </a:rPr>
              <a:t>2</a:t>
            </a:fl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E4057"/>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200"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944000"/>
            <a:ext cx="10753200" cy="540000"/>
          </a:xfrm>
          <a:prstGeom prst="rect">
            <a:avLst/>
          </a:prstGeom>
          <a:noFill/>
        </p:spPr>
        <p:txBody>
          <a:bodyPr wrap="square" anchor="t">
            <a:spAutoFit/>
          </a:bodyPr>
          <a:lstStyle/>
          <a:p>
            <a:pPr algn="l"/>
            <a:r>
              <a:rPr sz="2200" b="1" i="0">
                <a:solidFill>
                  <a:srgbClr val="BFDBFE"/>
                </a:solidFill>
                <a:latin typeface="Calibri"/>
              </a:rPr>
              <a:t>KAPITEL 1</a:t>
            </a:r>
          </a:p>
        </p:txBody>
      </p:sp>
      <p:sp>
        <p:nvSpPr>
          <p:cNvPr id="4" name="TextBox 3"/>
          <p:cNvSpPr txBox="1"/>
          <p:nvPr/>
        </p:nvSpPr>
        <p:spPr>
          <a:xfrm>
            <a:off x="720000" y="2196000"/>
            <a:ext cx="10753200" cy="792000"/>
          </a:xfrm>
          <a:prstGeom prst="rect">
            <a:avLst/>
          </a:prstGeom>
          <a:noFill/>
        </p:spPr>
        <p:txBody>
          <a:bodyPr wrap="square" anchor="t">
            <a:spAutoFit/>
          </a:bodyPr>
          <a:lstStyle/>
          <a:p>
            <a:pPr algn="l"/>
            <a:r>
              <a:rPr sz="4000" b="1" i="0">
                <a:solidFill>
                  <a:srgbClr val="FFFFFF"/>
                </a:solidFill>
                <a:latin typeface="Calibri"/>
              </a:rPr>
              <a:t>Einleitung</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200"/>
              </a:spcAft>
            </a:pPr>
            <a:r>
              <a:rPr sz="1800">
                <a:solidFill>
                  <a:srgbClr val="E0E7FF"/>
                </a:solidFill>
                <a:latin typeface="Calibri"/>
              </a:rPr>
              <a:t>●  Ausgangssituation und Motivation</a:t>
            </a:r>
          </a:p>
          <a:p>
            <a:pPr>
              <a:spcAft>
                <a:spcPts val="1200"/>
              </a:spcAft>
            </a:pPr>
            <a:r>
              <a:rPr sz="1800">
                <a:solidFill>
                  <a:srgbClr val="E0E7FF"/>
                </a:solidFill>
                <a:latin typeface="Calibri"/>
              </a:rPr>
              <a:t>●  Zielsetzung des Projekts</a:t>
            </a:r>
          </a:p>
          <a:p>
            <a:pPr>
              <a:spcAft>
                <a:spcPts val="1200"/>
              </a:spcAft>
            </a:pPr>
            <a:r>
              <a:rPr sz="1800">
                <a:solidFill>
                  <a:srgbClr val="E0E7FF"/>
                </a:solidFill>
                <a:latin typeface="Calibri"/>
              </a:rPr>
              <a:t>●  Datengrundlage</a:t>
            </a:r>
          </a:p>
        </p:txBody>
      </p:sp>
      <p:sp>
        <p:nvSpPr>
          <p:cNvPr id="6" name="TextBox 5"/>
          <p:cNvSpPr txBox="1"/>
          <p:nvPr/>
        </p:nvSpPr>
        <p:spPr>
          <a:xfrm>
            <a:off x="11124000" y="6533999"/>
            <a:ext cx="936000" cy="270000"/>
          </a:xfrm>
          <a:prstGeom prst="rect">
            <a:avLst/>
          </a:prstGeom>
          <a:noFill/>
        </p:spPr>
        <p:txBody>
          <a:bodyPr wrap="none">
            <a:spAutoFit/>
          </a:bodyPr>
          <a:lstStyle/>
          <a:p>
            <a:pPr algn="r"/>
            <a:fld id="{95E54188-5369-4E7C-B4A2-2A564134A489}" type="slidenum">
              <a:rPr lang="de-DE" sz="1200">
                <a:solidFill>
                  <a:srgbClr val="FFFFFF"/>
                </a:solidFill>
              </a:rPr>
              <a:t>3</a:t>
            </a:fl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1.1 – 1.2</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Ausgangssituation und Zielsetzung</a:t>
            </a:r>
          </a:p>
        </p:txBody>
      </p:sp>
      <p:sp>
        <p:nvSpPr>
          <p:cNvPr id="5" name="Rectangle 4"/>
          <p:cNvSpPr/>
          <p:nvPr/>
        </p:nvSpPr>
        <p:spPr>
          <a:xfrm>
            <a:off x="503999" y="1224000"/>
            <a:ext cx="5436000" cy="259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5436000" cy="108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2000" y="1422000"/>
            <a:ext cx="5040000" cy="360000"/>
          </a:xfrm>
          <a:prstGeom prst="rect">
            <a:avLst/>
          </a:prstGeom>
          <a:noFill/>
        </p:spPr>
        <p:txBody>
          <a:bodyPr wrap="square">
            <a:spAutoFit/>
          </a:bodyPr>
          <a:lstStyle/>
          <a:p>
            <a:r>
              <a:rPr sz="2000" b="1" i="0">
                <a:solidFill>
                  <a:srgbClr val="3B6EA8"/>
                </a:solidFill>
                <a:latin typeface="Calibri"/>
              </a:rPr>
              <a:t>Ausgangssituation</a:t>
            </a:r>
          </a:p>
        </p:txBody>
      </p:sp>
      <p:sp>
        <p:nvSpPr>
          <p:cNvPr id="8" name="TextBox 7"/>
          <p:cNvSpPr txBox="1"/>
          <p:nvPr/>
        </p:nvSpPr>
        <p:spPr>
          <a:xfrm>
            <a:off x="702000" y="1835999"/>
            <a:ext cx="5040000" cy="1800000"/>
          </a:xfrm>
          <a:prstGeom prst="rect">
            <a:avLst/>
          </a:prstGeom>
          <a:noFill/>
        </p:spPr>
        <p:txBody>
          <a:bodyPr wrap="square">
            <a:spAutoFit/>
          </a:bodyPr>
          <a:lstStyle/>
          <a:p>
            <a:r>
              <a:rPr sz="1600" b="0" i="0">
                <a:solidFill>
                  <a:srgbClr val="374151"/>
                </a:solidFill>
                <a:latin typeface="Calibri"/>
              </a:rPr>
              <a:t>Die Bundesagentur für Arbeit veröffentlicht monatlich den Bericht „Eckwerte für Jobcenter“ — mit über 20 Tabellenblättern pro Datei ist die Rohform kaum auswertbar.</a:t>
            </a:r>
          </a:p>
        </p:txBody>
      </p:sp>
      <p:sp>
        <p:nvSpPr>
          <p:cNvPr id="9" name="Rectangle 8"/>
          <p:cNvSpPr/>
          <p:nvPr/>
        </p:nvSpPr>
        <p:spPr>
          <a:xfrm>
            <a:off x="6156000" y="1224000"/>
            <a:ext cx="5436000" cy="259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56000" y="1224000"/>
            <a:ext cx="5436000" cy="108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4000" y="1422000"/>
            <a:ext cx="5040000" cy="360000"/>
          </a:xfrm>
          <a:prstGeom prst="rect">
            <a:avLst/>
          </a:prstGeom>
          <a:noFill/>
        </p:spPr>
        <p:txBody>
          <a:bodyPr wrap="square">
            <a:spAutoFit/>
          </a:bodyPr>
          <a:lstStyle/>
          <a:p>
            <a:r>
              <a:rPr sz="2000" b="1" i="0">
                <a:solidFill>
                  <a:srgbClr val="6B5B8F"/>
                </a:solidFill>
                <a:latin typeface="Calibri"/>
              </a:rPr>
              <a:t>Zielsetzung</a:t>
            </a:r>
          </a:p>
        </p:txBody>
      </p:sp>
      <p:sp>
        <p:nvSpPr>
          <p:cNvPr id="12" name="TextBox 11"/>
          <p:cNvSpPr txBox="1"/>
          <p:nvPr/>
        </p:nvSpPr>
        <p:spPr>
          <a:xfrm>
            <a:off x="6354000" y="1835999"/>
            <a:ext cx="5040000" cy="1800000"/>
          </a:xfrm>
          <a:prstGeom prst="rect">
            <a:avLst/>
          </a:prstGeom>
          <a:noFill/>
        </p:spPr>
        <p:txBody>
          <a:bodyPr wrap="square">
            <a:spAutoFit/>
          </a:bodyPr>
          <a:lstStyle/>
          <a:p>
            <a:r>
              <a:rPr sz="1600" b="0" i="0">
                <a:solidFill>
                  <a:srgbClr val="374151"/>
                </a:solidFill>
                <a:latin typeface="Calibri"/>
              </a:rPr>
              <a:t>Eine strukturierte, reproduzierbare Zeitreihe aus 18 Monatsberichten aufbauen und die Entwicklung der Arbeitslosigkeit im Rechtskreis SGB II auswerten und visualisieren.</a:t>
            </a:r>
          </a:p>
        </p:txBody>
      </p:sp>
      <p:sp>
        <p:nvSpPr>
          <p:cNvPr id="13" name="Rectangle 12"/>
          <p:cNvSpPr/>
          <p:nvPr/>
        </p:nvSpPr>
        <p:spPr>
          <a:xfrm>
            <a:off x="503999" y="4014000"/>
            <a:ext cx="2635200" cy="12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3999" y="4014000"/>
            <a:ext cx="2635200" cy="792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000" y="4140000"/>
            <a:ext cx="2383200" cy="324000"/>
          </a:xfrm>
          <a:prstGeom prst="rect">
            <a:avLst/>
          </a:prstGeom>
          <a:noFill/>
        </p:spPr>
        <p:txBody>
          <a:bodyPr wrap="square">
            <a:spAutoFit/>
          </a:bodyPr>
          <a:lstStyle/>
          <a:p>
            <a:r>
              <a:rPr sz="1800" b="1" i="0">
                <a:solidFill>
                  <a:srgbClr val="3B6EA8"/>
                </a:solidFill>
                <a:latin typeface="Calibri"/>
              </a:rPr>
              <a:t>01</a:t>
            </a:r>
          </a:p>
        </p:txBody>
      </p:sp>
      <p:sp>
        <p:nvSpPr>
          <p:cNvPr id="16" name="TextBox 15"/>
          <p:cNvSpPr txBox="1"/>
          <p:nvPr/>
        </p:nvSpPr>
        <p:spPr>
          <a:xfrm>
            <a:off x="630000" y="4428000"/>
            <a:ext cx="2383200" cy="288000"/>
          </a:xfrm>
          <a:prstGeom prst="rect">
            <a:avLst/>
          </a:prstGeom>
          <a:noFill/>
        </p:spPr>
        <p:txBody>
          <a:bodyPr wrap="square">
            <a:spAutoFit/>
          </a:bodyPr>
          <a:lstStyle/>
          <a:p>
            <a:r>
              <a:rPr sz="1500" b="1" i="0">
                <a:solidFill>
                  <a:srgbClr val="374151"/>
                </a:solidFill>
                <a:latin typeface="Calibri"/>
              </a:rPr>
              <a:t>Datenverarbeitung</a:t>
            </a:r>
          </a:p>
        </p:txBody>
      </p:sp>
      <p:sp>
        <p:nvSpPr>
          <p:cNvPr id="17" name="TextBox 16"/>
          <p:cNvSpPr txBox="1"/>
          <p:nvPr/>
        </p:nvSpPr>
        <p:spPr>
          <a:xfrm>
            <a:off x="630000" y="4716000"/>
            <a:ext cx="2383200" cy="503999"/>
          </a:xfrm>
          <a:prstGeom prst="rect">
            <a:avLst/>
          </a:prstGeom>
          <a:noFill/>
        </p:spPr>
        <p:txBody>
          <a:bodyPr wrap="square">
            <a:spAutoFit/>
          </a:bodyPr>
          <a:lstStyle/>
          <a:p>
            <a:pPr algn="l"/>
            <a:r>
              <a:rPr sz="1200" b="0" i="1">
                <a:solidFill>
                  <a:srgbClr val="6B7280"/>
                </a:solidFill>
                <a:latin typeface="Calibri"/>
              </a:rPr>
              <a:t>sauberer, reproduzierbarer Prozess</a:t>
            </a:r>
          </a:p>
        </p:txBody>
      </p:sp>
      <p:sp>
        <p:nvSpPr>
          <p:cNvPr id="18" name="Rectangle 17"/>
          <p:cNvSpPr/>
          <p:nvPr/>
        </p:nvSpPr>
        <p:spPr>
          <a:xfrm>
            <a:off x="3355200" y="4014000"/>
            <a:ext cx="2635200" cy="12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355200" y="4014000"/>
            <a:ext cx="2635200" cy="792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81200" y="4140000"/>
            <a:ext cx="2383200" cy="324000"/>
          </a:xfrm>
          <a:prstGeom prst="rect">
            <a:avLst/>
          </a:prstGeom>
          <a:noFill/>
        </p:spPr>
        <p:txBody>
          <a:bodyPr wrap="square">
            <a:spAutoFit/>
          </a:bodyPr>
          <a:lstStyle/>
          <a:p>
            <a:r>
              <a:rPr sz="1800" b="1" i="0">
                <a:solidFill>
                  <a:srgbClr val="6B5B8F"/>
                </a:solidFill>
                <a:latin typeface="Calibri"/>
              </a:rPr>
              <a:t>02</a:t>
            </a:r>
          </a:p>
        </p:txBody>
      </p:sp>
      <p:sp>
        <p:nvSpPr>
          <p:cNvPr id="21" name="TextBox 20"/>
          <p:cNvSpPr txBox="1"/>
          <p:nvPr/>
        </p:nvSpPr>
        <p:spPr>
          <a:xfrm>
            <a:off x="3481200" y="4428000"/>
            <a:ext cx="2383200" cy="288000"/>
          </a:xfrm>
          <a:prstGeom prst="rect">
            <a:avLst/>
          </a:prstGeom>
          <a:noFill/>
        </p:spPr>
        <p:txBody>
          <a:bodyPr wrap="square">
            <a:spAutoFit/>
          </a:bodyPr>
          <a:lstStyle/>
          <a:p>
            <a:r>
              <a:rPr sz="1500" b="1" i="0">
                <a:solidFill>
                  <a:srgbClr val="374151"/>
                </a:solidFill>
                <a:latin typeface="Calibri"/>
              </a:rPr>
              <a:t>Visualisierung</a:t>
            </a:r>
          </a:p>
        </p:txBody>
      </p:sp>
      <p:sp>
        <p:nvSpPr>
          <p:cNvPr id="22" name="TextBox 21"/>
          <p:cNvSpPr txBox="1"/>
          <p:nvPr/>
        </p:nvSpPr>
        <p:spPr>
          <a:xfrm>
            <a:off x="3481200" y="4716000"/>
            <a:ext cx="2383200" cy="503999"/>
          </a:xfrm>
          <a:prstGeom prst="rect">
            <a:avLst/>
          </a:prstGeom>
          <a:noFill/>
        </p:spPr>
        <p:txBody>
          <a:bodyPr wrap="square">
            <a:spAutoFit/>
          </a:bodyPr>
          <a:lstStyle/>
          <a:p>
            <a:pPr algn="l"/>
            <a:r>
              <a:rPr sz="1200" b="0" i="1">
                <a:solidFill>
                  <a:srgbClr val="6B7280"/>
                </a:solidFill>
                <a:latin typeface="Calibri"/>
              </a:rPr>
              <a:t>aussagekräftig &amp; verständlich</a:t>
            </a:r>
          </a:p>
        </p:txBody>
      </p:sp>
      <p:sp>
        <p:nvSpPr>
          <p:cNvPr id="23" name="Rectangle 22"/>
          <p:cNvSpPr/>
          <p:nvPr/>
        </p:nvSpPr>
        <p:spPr>
          <a:xfrm>
            <a:off x="6202800" y="4014000"/>
            <a:ext cx="2635200" cy="12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02800" y="4014000"/>
            <a:ext cx="2635200" cy="792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28800" y="4140000"/>
            <a:ext cx="2383200" cy="324000"/>
          </a:xfrm>
          <a:prstGeom prst="rect">
            <a:avLst/>
          </a:prstGeom>
          <a:noFill/>
        </p:spPr>
        <p:txBody>
          <a:bodyPr wrap="square">
            <a:spAutoFit/>
          </a:bodyPr>
          <a:lstStyle/>
          <a:p>
            <a:r>
              <a:rPr sz="1800" b="1" i="0">
                <a:solidFill>
                  <a:srgbClr val="C79A56"/>
                </a:solidFill>
                <a:latin typeface="Calibri"/>
              </a:rPr>
              <a:t>03</a:t>
            </a:r>
          </a:p>
        </p:txBody>
      </p:sp>
      <p:sp>
        <p:nvSpPr>
          <p:cNvPr id="26" name="TextBox 25"/>
          <p:cNvSpPr txBox="1"/>
          <p:nvPr/>
        </p:nvSpPr>
        <p:spPr>
          <a:xfrm>
            <a:off x="6328800" y="4428000"/>
            <a:ext cx="2383200" cy="288000"/>
          </a:xfrm>
          <a:prstGeom prst="rect">
            <a:avLst/>
          </a:prstGeom>
          <a:noFill/>
        </p:spPr>
        <p:txBody>
          <a:bodyPr wrap="square">
            <a:spAutoFit/>
          </a:bodyPr>
          <a:lstStyle/>
          <a:p>
            <a:r>
              <a:rPr sz="1500" b="1" i="0">
                <a:solidFill>
                  <a:srgbClr val="374151"/>
                </a:solidFill>
                <a:latin typeface="Calibri"/>
              </a:rPr>
              <a:t>Erkenntnisse</a:t>
            </a:r>
          </a:p>
        </p:txBody>
      </p:sp>
      <p:sp>
        <p:nvSpPr>
          <p:cNvPr id="27" name="TextBox 26"/>
          <p:cNvSpPr txBox="1"/>
          <p:nvPr/>
        </p:nvSpPr>
        <p:spPr>
          <a:xfrm>
            <a:off x="6328800" y="4716000"/>
            <a:ext cx="2383200" cy="503999"/>
          </a:xfrm>
          <a:prstGeom prst="rect">
            <a:avLst/>
          </a:prstGeom>
          <a:noFill/>
        </p:spPr>
        <p:txBody>
          <a:bodyPr wrap="square">
            <a:spAutoFit/>
          </a:bodyPr>
          <a:lstStyle/>
          <a:p>
            <a:pPr algn="l"/>
            <a:r>
              <a:rPr sz="1200" b="0" i="1">
                <a:solidFill>
                  <a:srgbClr val="6B7280"/>
                </a:solidFill>
                <a:latin typeface="Calibri"/>
              </a:rPr>
              <a:t>inhaltlich &amp; statistisch</a:t>
            </a:r>
          </a:p>
        </p:txBody>
      </p:sp>
      <p:sp>
        <p:nvSpPr>
          <p:cNvPr id="28" name="Rectangle 27"/>
          <p:cNvSpPr/>
          <p:nvPr/>
        </p:nvSpPr>
        <p:spPr>
          <a:xfrm>
            <a:off x="9054000" y="4014000"/>
            <a:ext cx="2635200" cy="12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054000" y="4014000"/>
            <a:ext cx="2635200" cy="792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80000" y="4140000"/>
            <a:ext cx="2383200" cy="324000"/>
          </a:xfrm>
          <a:prstGeom prst="rect">
            <a:avLst/>
          </a:prstGeom>
          <a:noFill/>
        </p:spPr>
        <p:txBody>
          <a:bodyPr wrap="square">
            <a:spAutoFit/>
          </a:bodyPr>
          <a:lstStyle/>
          <a:p>
            <a:r>
              <a:rPr sz="1800" b="1" i="0">
                <a:solidFill>
                  <a:srgbClr val="3F7A72"/>
                </a:solidFill>
                <a:latin typeface="Calibri"/>
              </a:rPr>
              <a:t>04</a:t>
            </a:r>
          </a:p>
        </p:txBody>
      </p:sp>
      <p:sp>
        <p:nvSpPr>
          <p:cNvPr id="31" name="TextBox 30"/>
          <p:cNvSpPr txBox="1"/>
          <p:nvPr/>
        </p:nvSpPr>
        <p:spPr>
          <a:xfrm>
            <a:off x="9180000" y="4428000"/>
            <a:ext cx="2383200" cy="288000"/>
          </a:xfrm>
          <a:prstGeom prst="rect">
            <a:avLst/>
          </a:prstGeom>
          <a:noFill/>
        </p:spPr>
        <p:txBody>
          <a:bodyPr wrap="square">
            <a:spAutoFit/>
          </a:bodyPr>
          <a:lstStyle/>
          <a:p>
            <a:r>
              <a:rPr sz="1500" b="1" i="0">
                <a:solidFill>
                  <a:srgbClr val="374151"/>
                </a:solidFill>
                <a:latin typeface="Calibri"/>
              </a:rPr>
              <a:t>Dashboard</a:t>
            </a:r>
          </a:p>
        </p:txBody>
      </p:sp>
      <p:sp>
        <p:nvSpPr>
          <p:cNvPr id="32" name="TextBox 31"/>
          <p:cNvSpPr txBox="1"/>
          <p:nvPr/>
        </p:nvSpPr>
        <p:spPr>
          <a:xfrm>
            <a:off x="9180000" y="4716000"/>
            <a:ext cx="2383200" cy="503999"/>
          </a:xfrm>
          <a:prstGeom prst="rect">
            <a:avLst/>
          </a:prstGeom>
          <a:noFill/>
        </p:spPr>
        <p:txBody>
          <a:bodyPr wrap="square">
            <a:spAutoFit/>
          </a:bodyPr>
          <a:lstStyle/>
          <a:p>
            <a:pPr algn="l"/>
            <a:r>
              <a:rPr sz="1200" b="0" i="1">
                <a:solidFill>
                  <a:srgbClr val="6B7280"/>
                </a:solidFill>
                <a:latin typeface="Calibri"/>
              </a:rPr>
              <a:t>interaktiv, fortlaufend nutzbar</a:t>
            </a:r>
          </a:p>
        </p:txBody>
      </p:sp>
      <p:sp>
        <p:nvSpPr>
          <p:cNvPr id="33" name="TextBox 32"/>
          <p:cNvSpPr txBox="1"/>
          <p:nvPr/>
        </p:nvSpPr>
        <p:spPr>
          <a:xfrm>
            <a:off x="11124000" y="6533999"/>
            <a:ext cx="936000" cy="270000"/>
          </a:xfrm>
          <a:prstGeom prst="rect">
            <a:avLst/>
          </a:prstGeom>
          <a:noFill/>
        </p:spPr>
        <p:txBody>
          <a:bodyPr wrap="none">
            <a:spAutoFit/>
          </a:bodyPr>
          <a:lstStyle/>
          <a:p>
            <a:pPr algn="r"/>
            <a:fld id="{9123F982-8627-42B2-9C17-1BE06AB06667}" type="slidenum">
              <a:rPr lang="de-DE" sz="1200">
                <a:solidFill>
                  <a:srgbClr val="6B7280"/>
                </a:solidFill>
              </a:rPr>
              <a:t>4</a:t>
            </a:fl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1.3</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Datengrundlage auf einen Blick</a:t>
            </a:r>
          </a:p>
        </p:txBody>
      </p:sp>
      <p:sp>
        <p:nvSpPr>
          <p:cNvPr id="5" name="Rectangle 4"/>
          <p:cNvSpPr/>
          <p:nvPr/>
        </p:nvSpPr>
        <p:spPr>
          <a:xfrm>
            <a:off x="503999" y="1692000"/>
            <a:ext cx="2634300" cy="172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692000"/>
            <a:ext cx="26343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1999" y="1980000"/>
            <a:ext cx="2418300" cy="728568"/>
          </a:xfrm>
          <a:prstGeom prst="rect">
            <a:avLst/>
          </a:prstGeom>
          <a:noFill/>
        </p:spPr>
        <p:txBody>
          <a:bodyPr wrap="square" anchor="t">
            <a:normAutofit/>
          </a:bodyPr>
          <a:lstStyle/>
          <a:p>
            <a:pPr algn="ctr"/>
            <a:r>
              <a:rPr lang="de-DE" sz="3000" b="1" i="0">
                <a:solidFill>
                  <a:srgbClr val="2563EB"/>
                </a:solidFill>
                <a:latin typeface="Calibri"/>
              </a:rPr>
              <a:t>18</a:t>
            </a:r>
            <a:endParaRPr sz="3000" b="1" i="0">
              <a:solidFill>
                <a:srgbClr val="2563EB"/>
              </a:solidFill>
              <a:latin typeface="Calibri"/>
            </a:endParaRPr>
          </a:p>
        </p:txBody>
      </p:sp>
      <p:sp>
        <p:nvSpPr>
          <p:cNvPr id="8" name="TextBox 7"/>
          <p:cNvSpPr txBox="1"/>
          <p:nvPr/>
        </p:nvSpPr>
        <p:spPr>
          <a:xfrm>
            <a:off x="611999" y="2736000"/>
            <a:ext cx="2418300" cy="523220"/>
          </a:xfrm>
          <a:prstGeom prst="rect">
            <a:avLst/>
          </a:prstGeom>
          <a:noFill/>
        </p:spPr>
        <p:txBody>
          <a:bodyPr wrap="square" anchor="t">
            <a:spAutoFit/>
          </a:bodyPr>
          <a:lstStyle/>
          <a:p>
            <a:pPr algn="ctr"/>
            <a:r>
              <a:rPr lang="de-DE" sz="1400" b="0" i="0">
                <a:solidFill>
                  <a:srgbClr val="374151"/>
                </a:solidFill>
                <a:latin typeface="Calibri"/>
              </a:rPr>
              <a:t>monatliche Excel-
Berichte</a:t>
            </a:r>
            <a:endParaRPr sz="1400" b="0" i="0">
              <a:solidFill>
                <a:srgbClr val="374151"/>
              </a:solidFill>
              <a:latin typeface="Calibri"/>
            </a:endParaRPr>
          </a:p>
        </p:txBody>
      </p:sp>
      <p:sp>
        <p:nvSpPr>
          <p:cNvPr id="9" name="Rectangle 8"/>
          <p:cNvSpPr/>
          <p:nvPr/>
        </p:nvSpPr>
        <p:spPr>
          <a:xfrm>
            <a:off x="3354299" y="1692000"/>
            <a:ext cx="2634300" cy="172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54299" y="1692000"/>
            <a:ext cx="26343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62299" y="1980000"/>
            <a:ext cx="2418300" cy="728568"/>
          </a:xfrm>
          <a:prstGeom prst="rect">
            <a:avLst/>
          </a:prstGeom>
          <a:noFill/>
        </p:spPr>
        <p:txBody>
          <a:bodyPr wrap="square" anchor="t">
            <a:normAutofit/>
          </a:bodyPr>
          <a:lstStyle/>
          <a:p>
            <a:pPr algn="ctr"/>
            <a:r>
              <a:rPr lang="de-DE" sz="3000" b="1" i="0">
                <a:solidFill>
                  <a:srgbClr val="7C3AED"/>
                </a:solidFill>
                <a:latin typeface="Calibri"/>
              </a:rPr>
              <a:t>21</a:t>
            </a:r>
            <a:endParaRPr sz="3000" b="1" i="0">
              <a:solidFill>
                <a:srgbClr val="7C3AED"/>
              </a:solidFill>
              <a:latin typeface="Calibri"/>
            </a:endParaRPr>
          </a:p>
        </p:txBody>
      </p:sp>
      <p:sp>
        <p:nvSpPr>
          <p:cNvPr id="12" name="TextBox 11"/>
          <p:cNvSpPr txBox="1"/>
          <p:nvPr/>
        </p:nvSpPr>
        <p:spPr>
          <a:xfrm>
            <a:off x="3462299" y="2736000"/>
            <a:ext cx="2418300" cy="523220"/>
          </a:xfrm>
          <a:prstGeom prst="rect">
            <a:avLst/>
          </a:prstGeom>
          <a:noFill/>
        </p:spPr>
        <p:txBody>
          <a:bodyPr wrap="square" anchor="t">
            <a:spAutoFit/>
          </a:bodyPr>
          <a:lstStyle/>
          <a:p>
            <a:pPr algn="ctr"/>
            <a:r>
              <a:rPr lang="de-DE" sz="1400" b="0" i="0">
                <a:solidFill>
                  <a:srgbClr val="374151"/>
                </a:solidFill>
                <a:latin typeface="Calibri"/>
              </a:rPr>
              <a:t>Tabellenblätter
pro Datei</a:t>
            </a:r>
            <a:endParaRPr sz="1400" b="0" i="0">
              <a:solidFill>
                <a:srgbClr val="374151"/>
              </a:solidFill>
              <a:latin typeface="Calibri"/>
            </a:endParaRPr>
          </a:p>
        </p:txBody>
      </p:sp>
      <p:sp>
        <p:nvSpPr>
          <p:cNvPr id="13" name="Rectangle 12"/>
          <p:cNvSpPr/>
          <p:nvPr/>
        </p:nvSpPr>
        <p:spPr>
          <a:xfrm>
            <a:off x="6204599" y="1692000"/>
            <a:ext cx="2634300" cy="172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04599" y="1692000"/>
            <a:ext cx="2634300" cy="9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12599" y="2070000"/>
            <a:ext cx="2418300" cy="638568"/>
          </a:xfrm>
          <a:prstGeom prst="rect">
            <a:avLst/>
          </a:prstGeom>
          <a:noFill/>
        </p:spPr>
        <p:txBody>
          <a:bodyPr wrap="square" anchor="t">
            <a:normAutofit/>
          </a:bodyPr>
          <a:lstStyle/>
          <a:p>
            <a:pPr algn="ctr"/>
            <a:r>
              <a:rPr lang="de-DE" sz="2000" b="1" i="0">
                <a:solidFill>
                  <a:srgbClr val="F59E0B"/>
                </a:solidFill>
                <a:latin typeface="Calibri"/>
              </a:rPr>
              <a:t>Jan 25 – Jun 26</a:t>
            </a:r>
          </a:p>
        </p:txBody>
      </p:sp>
      <p:sp>
        <p:nvSpPr>
          <p:cNvPr id="16" name="TextBox 15"/>
          <p:cNvSpPr txBox="1"/>
          <p:nvPr/>
        </p:nvSpPr>
        <p:spPr>
          <a:xfrm>
            <a:off x="6312599" y="2736000"/>
            <a:ext cx="2418300" cy="307777"/>
          </a:xfrm>
          <a:prstGeom prst="rect">
            <a:avLst/>
          </a:prstGeom>
          <a:noFill/>
        </p:spPr>
        <p:txBody>
          <a:bodyPr wrap="square" anchor="t">
            <a:spAutoFit/>
          </a:bodyPr>
          <a:lstStyle/>
          <a:p>
            <a:pPr algn="ctr"/>
            <a:r>
              <a:rPr lang="de-DE" sz="1400" b="0" i="0">
                <a:solidFill>
                  <a:srgbClr val="374151"/>
                </a:solidFill>
                <a:latin typeface="Calibri"/>
              </a:rPr>
              <a:t>Berichtszeitraum</a:t>
            </a:r>
            <a:endParaRPr sz="1400" b="0" i="0">
              <a:solidFill>
                <a:srgbClr val="374151"/>
              </a:solidFill>
              <a:latin typeface="Calibri"/>
            </a:endParaRPr>
          </a:p>
        </p:txBody>
      </p:sp>
      <p:sp>
        <p:nvSpPr>
          <p:cNvPr id="17" name="Rectangle 16"/>
          <p:cNvSpPr/>
          <p:nvPr/>
        </p:nvSpPr>
        <p:spPr>
          <a:xfrm>
            <a:off x="9054899" y="1692000"/>
            <a:ext cx="2634300" cy="172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54899" y="1692000"/>
            <a:ext cx="26343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62899" y="1980000"/>
            <a:ext cx="2418300" cy="728568"/>
          </a:xfrm>
          <a:prstGeom prst="rect">
            <a:avLst/>
          </a:prstGeom>
          <a:noFill/>
        </p:spPr>
        <p:txBody>
          <a:bodyPr wrap="square" anchor="t">
            <a:normAutofit/>
          </a:bodyPr>
          <a:lstStyle/>
          <a:p>
            <a:pPr algn="ctr"/>
            <a:r>
              <a:rPr lang="de-DE" sz="3000" b="1" i="0">
                <a:solidFill>
                  <a:srgbClr val="DC2626"/>
                </a:solidFill>
                <a:latin typeface="Calibri"/>
              </a:rPr>
              <a:t>SGB II</a:t>
            </a:r>
            <a:endParaRPr sz="3000" b="1" i="0">
              <a:solidFill>
                <a:srgbClr val="DC2626"/>
              </a:solidFill>
              <a:latin typeface="Calibri"/>
            </a:endParaRPr>
          </a:p>
        </p:txBody>
      </p:sp>
      <p:sp>
        <p:nvSpPr>
          <p:cNvPr id="20" name="TextBox 19"/>
          <p:cNvSpPr txBox="1"/>
          <p:nvPr/>
        </p:nvSpPr>
        <p:spPr>
          <a:xfrm>
            <a:off x="9162899" y="2736000"/>
            <a:ext cx="2418300" cy="523220"/>
          </a:xfrm>
          <a:prstGeom prst="rect">
            <a:avLst/>
          </a:prstGeom>
          <a:noFill/>
        </p:spPr>
        <p:txBody>
          <a:bodyPr wrap="square" anchor="t">
            <a:spAutoFit/>
          </a:bodyPr>
          <a:lstStyle/>
          <a:p>
            <a:pPr algn="ctr"/>
            <a:r>
              <a:rPr lang="de-DE" sz="1400" b="0" i="0">
                <a:solidFill>
                  <a:srgbClr val="374151"/>
                </a:solidFill>
                <a:latin typeface="Calibri"/>
              </a:rPr>
              <a:t>Rechtskreis
Jobcenter Regensburg</a:t>
            </a:r>
            <a:endParaRPr sz="1400" b="0" i="0">
              <a:solidFill>
                <a:srgbClr val="374151"/>
              </a:solidFill>
              <a:latin typeface="Calibri"/>
            </a:endParaRPr>
          </a:p>
        </p:txBody>
      </p:sp>
      <p:sp>
        <p:nvSpPr>
          <p:cNvPr id="21" name="TextBox 20"/>
          <p:cNvSpPr txBox="1"/>
          <p:nvPr/>
        </p:nvSpPr>
        <p:spPr>
          <a:xfrm>
            <a:off x="503999" y="1206000"/>
            <a:ext cx="11185200" cy="360000"/>
          </a:xfrm>
          <a:prstGeom prst="rect">
            <a:avLst/>
          </a:prstGeom>
          <a:noFill/>
        </p:spPr>
        <p:txBody>
          <a:bodyPr wrap="square">
            <a:spAutoFit/>
          </a:bodyPr>
          <a:lstStyle/>
          <a:p>
            <a:pPr algn="l"/>
            <a:r>
              <a:rPr sz="1500" b="0" i="1">
                <a:solidFill>
                  <a:srgbClr val="6B7280"/>
                </a:solidFill>
                <a:latin typeface="Calibri"/>
              </a:rPr>
              <a:t>Herausgeberin: Statistik der Bundesagentur für Arbeit — Bericht „Eckwerte für Jobcenter“, Jobcenter Regensburg (Statistik-Nr. t73906-0)</a:t>
            </a:r>
          </a:p>
        </p:txBody>
      </p:sp>
      <p:sp>
        <p:nvSpPr>
          <p:cNvPr id="22" name="Rectangle 21"/>
          <p:cNvSpPr/>
          <p:nvPr/>
        </p:nvSpPr>
        <p:spPr>
          <a:xfrm>
            <a:off x="503999" y="3671999"/>
            <a:ext cx="11185200" cy="12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3999" y="3671999"/>
            <a:ext cx="90000" cy="129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7999" y="3797999"/>
            <a:ext cx="10620000" cy="324000"/>
          </a:xfrm>
          <a:prstGeom prst="rect">
            <a:avLst/>
          </a:prstGeom>
          <a:noFill/>
        </p:spPr>
        <p:txBody>
          <a:bodyPr wrap="square">
            <a:spAutoFit/>
          </a:bodyPr>
          <a:lstStyle/>
          <a:p>
            <a:r>
              <a:rPr sz="1700" b="1" i="0">
                <a:solidFill>
                  <a:srgbClr val="3B6EA8"/>
                </a:solidFill>
                <a:latin typeface="Calibri"/>
              </a:rPr>
              <a:t>Wichtig zu wissen</a:t>
            </a:r>
          </a:p>
        </p:txBody>
      </p:sp>
      <p:sp>
        <p:nvSpPr>
          <p:cNvPr id="25" name="TextBox 24"/>
          <p:cNvSpPr txBox="1"/>
          <p:nvPr/>
        </p:nvSpPr>
        <p:spPr>
          <a:xfrm>
            <a:off x="827999" y="4121999"/>
            <a:ext cx="10620000" cy="737999"/>
          </a:xfrm>
          <a:prstGeom prst="rect">
            <a:avLst/>
          </a:prstGeom>
          <a:noFill/>
        </p:spPr>
        <p:txBody>
          <a:bodyPr wrap="square">
            <a:spAutoFit/>
          </a:bodyPr>
          <a:lstStyle/>
          <a:p>
            <a:r>
              <a:rPr sz="1600" b="0" i="0">
                <a:solidFill>
                  <a:srgbClr val="374151"/>
                </a:solidFill>
                <a:latin typeface="Calibri"/>
              </a:rPr>
              <a:t>Jede Excel-Datei weist zwei Rechtskreise getrennt aus: „Insgesamt (SGB II und SGB III)“ und „Rechtskreis SGB II“ (= Jobcenter-Zuständigkeit). Diese Präsentation wertet ausschließlich den SGB-II-Anteil aus — Kapitel 11 vergleicht beide Rechtskreise direkt miteinander.</a:t>
            </a:r>
          </a:p>
        </p:txBody>
      </p:sp>
      <p:sp>
        <p:nvSpPr>
          <p:cNvPr id="26" name="TextBox 25"/>
          <p:cNvSpPr txBox="1"/>
          <p:nvPr/>
        </p:nvSpPr>
        <p:spPr>
          <a:xfrm>
            <a:off x="11124000" y="6533999"/>
            <a:ext cx="936000" cy="270000"/>
          </a:xfrm>
          <a:prstGeom prst="rect">
            <a:avLst/>
          </a:prstGeom>
          <a:noFill/>
        </p:spPr>
        <p:txBody>
          <a:bodyPr wrap="none">
            <a:spAutoFit/>
          </a:bodyPr>
          <a:lstStyle/>
          <a:p>
            <a:pPr algn="r"/>
            <a:fld id="{A571C4D8-5782-4CDA-9EF2-0A1AAB387703}" type="slidenum">
              <a:rPr lang="de-DE" sz="1200">
                <a:solidFill>
                  <a:srgbClr val="6B7280"/>
                </a:solidFill>
              </a:rPr>
              <a:t>5</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A3F5E"/>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200"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60568"/>
          </a:xfrm>
          <a:prstGeom prst="rect">
            <a:avLst/>
          </a:prstGeom>
          <a:noFill/>
        </p:spPr>
        <p:txBody>
          <a:bodyPr wrap="square" anchor="t">
            <a:normAutofit fontScale="55000" lnSpcReduction="20000"/>
          </a:bodyPr>
          <a:lstStyle/>
          <a:p>
            <a:pPr algn="l"/>
            <a:r>
              <a:rPr sz="2200" b="1" i="0">
                <a:solidFill>
                  <a:srgbClr val="BFDBFE"/>
                </a:solidFill>
                <a:latin typeface="Calibri"/>
              </a:rPr>
              <a:t>KAPITEL 2</a:t>
            </a:r>
          </a:p>
        </p:txBody>
      </p:sp>
      <p:sp>
        <p:nvSpPr>
          <p:cNvPr id="4" name="TextBox 3"/>
          <p:cNvSpPr txBox="1"/>
          <p:nvPr/>
        </p:nvSpPr>
        <p:spPr>
          <a:xfrm>
            <a:off x="720000" y="1602000"/>
            <a:ext cx="10753200" cy="792000"/>
          </a:xfrm>
          <a:prstGeom prst="rect">
            <a:avLst/>
          </a:prstGeom>
          <a:noFill/>
        </p:spPr>
        <p:txBody>
          <a:bodyPr wrap="square" anchor="t">
            <a:spAutoFit/>
          </a:bodyPr>
          <a:lstStyle/>
          <a:p>
            <a:pPr algn="l"/>
            <a:r>
              <a:rPr sz="4000" b="1" i="0">
                <a:solidFill>
                  <a:srgbClr val="FFFFFF"/>
                </a:solidFill>
                <a:latin typeface="Calibri"/>
              </a:rPr>
              <a:t>Datenexploration
und -aufbereitung</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200"/>
              </a:spcAft>
            </a:pPr>
            <a:r>
              <a:rPr sz="1800">
                <a:solidFill>
                  <a:srgbClr val="E0E7FF"/>
                </a:solidFill>
                <a:latin typeface="Calibri"/>
              </a:rPr>
              <a:t>●  Tabellenblätter der Rohdaten untersuchen</a:t>
            </a:r>
          </a:p>
          <a:p>
            <a:pPr>
              <a:spcAft>
                <a:spcPts val="1200"/>
              </a:spcAft>
            </a:pPr>
            <a:r>
              <a:rPr sz="1800">
                <a:solidFill>
                  <a:srgbClr val="E0E7FF"/>
                </a:solidFill>
                <a:latin typeface="Calibri"/>
              </a:rPr>
              <a:t>●  Daten einlesen, bereinigen, aufbereiten</a:t>
            </a:r>
          </a:p>
          <a:p>
            <a:pPr>
              <a:spcAft>
                <a:spcPts val="1200"/>
              </a:spcAft>
            </a:pPr>
            <a:r>
              <a:rPr sz="1800">
                <a:solidFill>
                  <a:srgbClr val="E0E7FF"/>
                </a:solidFill>
                <a:latin typeface="Calibri"/>
              </a:rPr>
              <a:t>●  Export für die Weiterverarbeitung</a:t>
            </a:r>
          </a:p>
        </p:txBody>
      </p:sp>
      <p:sp>
        <p:nvSpPr>
          <p:cNvPr id="6" name="TextBox 5"/>
          <p:cNvSpPr txBox="1"/>
          <p:nvPr/>
        </p:nvSpPr>
        <p:spPr>
          <a:xfrm>
            <a:off x="11124000" y="6533999"/>
            <a:ext cx="936000" cy="270000"/>
          </a:xfrm>
          <a:prstGeom prst="rect">
            <a:avLst/>
          </a:prstGeom>
          <a:noFill/>
        </p:spPr>
        <p:txBody>
          <a:bodyPr wrap="none">
            <a:spAutoFit/>
          </a:bodyPr>
          <a:lstStyle/>
          <a:p>
            <a:pPr algn="r"/>
            <a:fld id="{3A9B2E30-3772-4731-994B-29589E2AC5C0}" type="slidenum">
              <a:rPr lang="de-DE" sz="1200">
                <a:solidFill>
                  <a:srgbClr val="FFFFFF"/>
                </a:solidFill>
              </a:rPr>
              <a:t>6</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2.1</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Tabellenblätter der Rohdaten untersuchen</a:t>
            </a:r>
          </a:p>
        </p:txBody>
      </p:sp>
      <p:sp>
        <p:nvSpPr>
          <p:cNvPr id="5" name="Rectangle 4"/>
          <p:cNvSpPr/>
          <p:nvPr/>
        </p:nvSpPr>
        <p:spPr>
          <a:xfrm>
            <a:off x="503999" y="1224000"/>
            <a:ext cx="11185200" cy="111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111852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4000" y="1386000"/>
            <a:ext cx="10836000" cy="288000"/>
          </a:xfrm>
          <a:prstGeom prst="rect">
            <a:avLst/>
          </a:prstGeom>
          <a:noFill/>
        </p:spPr>
        <p:txBody>
          <a:bodyPr wrap="square">
            <a:spAutoFit/>
          </a:bodyPr>
          <a:lstStyle/>
          <a:p>
            <a:r>
              <a:rPr sz="1800" b="1" i="0">
                <a:solidFill>
                  <a:srgbClr val="6B5B8F"/>
                </a:solidFill>
                <a:latin typeface="Calibri"/>
              </a:rPr>
              <a:t>Vorgehen</a:t>
            </a:r>
          </a:p>
        </p:txBody>
      </p:sp>
      <p:sp>
        <p:nvSpPr>
          <p:cNvPr id="8" name="TextBox 7"/>
          <p:cNvSpPr txBox="1"/>
          <p:nvPr/>
        </p:nvSpPr>
        <p:spPr>
          <a:xfrm>
            <a:off x="684000" y="1674000"/>
            <a:ext cx="10836000" cy="630000"/>
          </a:xfrm>
          <a:prstGeom prst="rect">
            <a:avLst/>
          </a:prstGeom>
          <a:noFill/>
        </p:spPr>
        <p:txBody>
          <a:bodyPr wrap="square">
            <a:spAutoFit/>
          </a:bodyPr>
          <a:lstStyle/>
          <a:p>
            <a:r>
              <a:rPr sz="1600" b="0" i="0">
                <a:solidFill>
                  <a:srgbClr val="374151"/>
                </a:solidFill>
                <a:latin typeface="Calibri"/>
              </a:rPr>
              <a:t>Alle 21 Tabellenblätter je Datei systematisch gesichtet: Was steht drin, ist es relevant, welche Diagramme wären möglich?</a:t>
            </a:r>
          </a:p>
        </p:txBody>
      </p:sp>
      <p:sp>
        <p:nvSpPr>
          <p:cNvPr id="9" name="Rectangle 8"/>
          <p:cNvSpPr/>
          <p:nvPr/>
        </p:nvSpPr>
        <p:spPr>
          <a:xfrm>
            <a:off x="503999" y="2556000"/>
            <a:ext cx="3607200" cy="252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3999" y="2556000"/>
            <a:ext cx="3607200" cy="9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6000" y="2736000"/>
            <a:ext cx="3283199" cy="324000"/>
          </a:xfrm>
          <a:prstGeom prst="rect">
            <a:avLst/>
          </a:prstGeom>
          <a:noFill/>
        </p:spPr>
        <p:txBody>
          <a:bodyPr wrap="square">
            <a:spAutoFit/>
          </a:bodyPr>
          <a:lstStyle/>
          <a:p>
            <a:r>
              <a:rPr sz="1700" b="1" i="0">
                <a:solidFill>
                  <a:srgbClr val="C79A56"/>
                </a:solidFill>
                <a:latin typeface="Calibri"/>
              </a:rPr>
              <a:t>Metadaten</a:t>
            </a:r>
          </a:p>
        </p:txBody>
      </p:sp>
      <p:sp>
        <p:nvSpPr>
          <p:cNvPr id="12" name="TextBox 11"/>
          <p:cNvSpPr txBox="1"/>
          <p:nvPr/>
        </p:nvSpPr>
        <p:spPr>
          <a:xfrm>
            <a:off x="666000" y="3114000"/>
            <a:ext cx="3283199" cy="1800000"/>
          </a:xfrm>
          <a:prstGeom prst="rect">
            <a:avLst/>
          </a:prstGeom>
          <a:noFill/>
        </p:spPr>
        <p:txBody>
          <a:bodyPr wrap="square">
            <a:spAutoFit/>
          </a:bodyPr>
          <a:lstStyle/>
          <a:p>
            <a:r>
              <a:rPr sz="1400" b="0" i="0">
                <a:solidFill>
                  <a:srgbClr val="374151"/>
                </a:solidFill>
                <a:latin typeface="Calibri"/>
              </a:rPr>
              <a:t>6 Blätter enthalten reine Metadaten/Navigation ohne Analysewert.</a:t>
            </a:r>
          </a:p>
        </p:txBody>
      </p:sp>
      <p:sp>
        <p:nvSpPr>
          <p:cNvPr id="13" name="Rectangle 12"/>
          <p:cNvSpPr/>
          <p:nvPr/>
        </p:nvSpPr>
        <p:spPr>
          <a:xfrm>
            <a:off x="4291200" y="2556000"/>
            <a:ext cx="3607200" cy="252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91200" y="2556000"/>
            <a:ext cx="36072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53200" y="2736000"/>
            <a:ext cx="3283199" cy="324000"/>
          </a:xfrm>
          <a:prstGeom prst="rect">
            <a:avLst/>
          </a:prstGeom>
          <a:noFill/>
        </p:spPr>
        <p:txBody>
          <a:bodyPr wrap="square">
            <a:spAutoFit/>
          </a:bodyPr>
          <a:lstStyle/>
          <a:p>
            <a:r>
              <a:rPr sz="1700" b="1" i="0">
                <a:solidFill>
                  <a:srgbClr val="3B6EA8"/>
                </a:solidFill>
                <a:latin typeface="Calibri"/>
              </a:rPr>
              <a:t>Hauptquelle</a:t>
            </a:r>
          </a:p>
        </p:txBody>
      </p:sp>
      <p:sp>
        <p:nvSpPr>
          <p:cNvPr id="16" name="TextBox 15"/>
          <p:cNvSpPr txBox="1"/>
          <p:nvPr/>
        </p:nvSpPr>
        <p:spPr>
          <a:xfrm>
            <a:off x="4453200" y="3114000"/>
            <a:ext cx="3283199" cy="1800000"/>
          </a:xfrm>
          <a:prstGeom prst="rect">
            <a:avLst/>
          </a:prstGeom>
          <a:noFill/>
        </p:spPr>
        <p:txBody>
          <a:bodyPr wrap="square">
            <a:spAutoFit/>
          </a:bodyPr>
          <a:lstStyle/>
          <a:p>
            <a:r>
              <a:rPr sz="1400" b="0" i="0">
                <a:solidFill>
                  <a:srgbClr val="374151"/>
                </a:solidFill>
                <a:latin typeface="Calibri"/>
              </a:rPr>
              <a:t>Blatt „1.1 Eckwerte“ als Hauptquelle für die gesamte Analyse identifiziert.</a:t>
            </a:r>
          </a:p>
        </p:txBody>
      </p:sp>
      <p:sp>
        <p:nvSpPr>
          <p:cNvPr id="17" name="Rectangle 16"/>
          <p:cNvSpPr/>
          <p:nvPr/>
        </p:nvSpPr>
        <p:spPr>
          <a:xfrm>
            <a:off x="8078400" y="2556000"/>
            <a:ext cx="3607200" cy="252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78400" y="2556000"/>
            <a:ext cx="36072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40400" y="2736000"/>
            <a:ext cx="3283199" cy="324000"/>
          </a:xfrm>
          <a:prstGeom prst="rect">
            <a:avLst/>
          </a:prstGeom>
          <a:noFill/>
        </p:spPr>
        <p:txBody>
          <a:bodyPr wrap="square">
            <a:spAutoFit/>
          </a:bodyPr>
          <a:lstStyle/>
          <a:p>
            <a:r>
              <a:rPr sz="1700" b="1" i="0">
                <a:solidFill>
                  <a:srgbClr val="A0453F"/>
                </a:solidFill>
                <a:latin typeface="Calibri"/>
              </a:rPr>
              <a:t>⚠️ Wartezeit</a:t>
            </a:r>
          </a:p>
        </p:txBody>
      </p:sp>
      <p:sp>
        <p:nvSpPr>
          <p:cNvPr id="20" name="TextBox 19"/>
          <p:cNvSpPr txBox="1"/>
          <p:nvPr/>
        </p:nvSpPr>
        <p:spPr>
          <a:xfrm>
            <a:off x="8240400" y="3114000"/>
            <a:ext cx="3283199" cy="1800000"/>
          </a:xfrm>
          <a:prstGeom prst="rect">
            <a:avLst/>
          </a:prstGeom>
          <a:noFill/>
        </p:spPr>
        <p:txBody>
          <a:bodyPr wrap="square">
            <a:spAutoFit/>
          </a:bodyPr>
          <a:lstStyle/>
          <a:p>
            <a:r>
              <a:rPr sz="1400" b="0" i="0">
                <a:solidFill>
                  <a:srgbClr val="374151"/>
                </a:solidFill>
                <a:latin typeface="Calibri"/>
              </a:rPr>
              <a:t>Blätter 3.1–3.6 und 4.1–4.2 melden Werte mit 3–6 Monaten Wartezeit statt dem aktuellen Berichtsmonat.</a:t>
            </a:r>
          </a:p>
        </p:txBody>
      </p:sp>
      <p:sp>
        <p:nvSpPr>
          <p:cNvPr id="21" name="TextBox 20"/>
          <p:cNvSpPr txBox="1"/>
          <p:nvPr/>
        </p:nvSpPr>
        <p:spPr>
          <a:xfrm>
            <a:off x="11124000" y="6533999"/>
            <a:ext cx="936000" cy="270000"/>
          </a:xfrm>
          <a:prstGeom prst="rect">
            <a:avLst/>
          </a:prstGeom>
          <a:noFill/>
        </p:spPr>
        <p:txBody>
          <a:bodyPr wrap="none">
            <a:spAutoFit/>
          </a:bodyPr>
          <a:lstStyle/>
          <a:p>
            <a:pPr algn="r"/>
            <a:fld id="{A76C5E11-A2F6-42F6-BAC6-78F2A0A90FC2}" type="slidenum">
              <a:rPr lang="de-DE" sz="1200">
                <a:solidFill>
                  <a:srgbClr val="6B7280"/>
                </a:solidFill>
              </a:rPr>
              <a:t>7</a:t>
            </a:fl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2.2</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Datenpipeline</a:t>
            </a:r>
          </a:p>
        </p:txBody>
      </p:sp>
      <p:sp>
        <p:nvSpPr>
          <p:cNvPr id="5" name="TextBox 4"/>
          <p:cNvSpPr txBox="1"/>
          <p:nvPr/>
        </p:nvSpPr>
        <p:spPr>
          <a:xfrm>
            <a:off x="503999" y="1206000"/>
            <a:ext cx="11185200" cy="288000"/>
          </a:xfrm>
          <a:prstGeom prst="rect">
            <a:avLst/>
          </a:prstGeom>
          <a:noFill/>
        </p:spPr>
        <p:txBody>
          <a:bodyPr wrap="square">
            <a:spAutoFit/>
          </a:bodyPr>
          <a:lstStyle/>
          <a:p>
            <a:r>
              <a:rPr sz="1600" b="0" i="1">
                <a:solidFill>
                  <a:srgbClr val="6B7280"/>
                </a:solidFill>
                <a:latin typeface="Calibri"/>
              </a:rPr>
              <a:t>Von den Rohdaten zur Kennzahlen-Zeitreihe — fünf Schritte:</a:t>
            </a:r>
          </a:p>
        </p:txBody>
      </p:sp>
      <p:sp>
        <p:nvSpPr>
          <p:cNvPr id="6" name="Rectangle 5"/>
          <p:cNvSpPr/>
          <p:nvPr/>
        </p:nvSpPr>
        <p:spPr>
          <a:xfrm>
            <a:off x="503999" y="1655999"/>
            <a:ext cx="1877040" cy="30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3999" y="1655999"/>
            <a:ext cx="187704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000" y="1818000"/>
            <a:ext cx="1661040" cy="288000"/>
          </a:xfrm>
          <a:prstGeom prst="rect">
            <a:avLst/>
          </a:prstGeom>
          <a:noFill/>
        </p:spPr>
        <p:txBody>
          <a:bodyPr wrap="square">
            <a:spAutoFit/>
          </a:bodyPr>
          <a:lstStyle/>
          <a:p>
            <a:r>
              <a:rPr sz="1600" b="1" i="0">
                <a:solidFill>
                  <a:srgbClr val="3B6EA8"/>
                </a:solidFill>
                <a:latin typeface="Calibri"/>
              </a:rPr>
              <a:t>01</a:t>
            </a:r>
          </a:p>
        </p:txBody>
      </p:sp>
      <p:sp>
        <p:nvSpPr>
          <p:cNvPr id="9" name="TextBox 8"/>
          <p:cNvSpPr txBox="1"/>
          <p:nvPr/>
        </p:nvSpPr>
        <p:spPr>
          <a:xfrm>
            <a:off x="612000" y="2106000"/>
            <a:ext cx="1661040" cy="576000"/>
          </a:xfrm>
          <a:prstGeom prst="rect">
            <a:avLst/>
          </a:prstGeom>
          <a:noFill/>
        </p:spPr>
        <p:txBody>
          <a:bodyPr wrap="square">
            <a:spAutoFit/>
          </a:bodyPr>
          <a:lstStyle/>
          <a:p>
            <a:r>
              <a:rPr sz="1400" b="1" i="0">
                <a:solidFill>
                  <a:srgbClr val="374151"/>
                </a:solidFill>
                <a:latin typeface="Calibri"/>
              </a:rPr>
              <a:t>normalize_label()</a:t>
            </a:r>
          </a:p>
        </p:txBody>
      </p:sp>
      <p:sp>
        <p:nvSpPr>
          <p:cNvPr id="10" name="TextBox 9"/>
          <p:cNvSpPr txBox="1"/>
          <p:nvPr/>
        </p:nvSpPr>
        <p:spPr>
          <a:xfrm>
            <a:off x="612000" y="2681999"/>
            <a:ext cx="1661040" cy="1961999"/>
          </a:xfrm>
          <a:prstGeom prst="rect">
            <a:avLst/>
          </a:prstGeom>
          <a:noFill/>
        </p:spPr>
        <p:txBody>
          <a:bodyPr wrap="square">
            <a:spAutoFit/>
          </a:bodyPr>
          <a:lstStyle/>
          <a:p>
            <a:r>
              <a:rPr sz="1150" b="0" i="0">
                <a:solidFill>
                  <a:srgbClr val="6B7280"/>
                </a:solidFill>
                <a:latin typeface="Calibri"/>
              </a:rPr>
              <a:t>entfernt Fußnotenmarker per Regex aus Zeilenbeschriftungen</a:t>
            </a:r>
          </a:p>
        </p:txBody>
      </p:sp>
      <p:sp>
        <p:nvSpPr>
          <p:cNvPr id="11" name="TextBox 10"/>
          <p:cNvSpPr txBox="1"/>
          <p:nvPr/>
        </p:nvSpPr>
        <p:spPr>
          <a:xfrm>
            <a:off x="2507040" y="3005999"/>
            <a:ext cx="198000" cy="396000"/>
          </a:xfrm>
          <a:prstGeom prst="rect">
            <a:avLst/>
          </a:prstGeom>
          <a:noFill/>
        </p:spPr>
        <p:txBody>
          <a:bodyPr wrap="square" anchor="ctr">
            <a:spAutoFit/>
          </a:bodyPr>
          <a:lstStyle/>
          <a:p>
            <a:pPr algn="ctr"/>
            <a:r>
              <a:rPr sz="2200" b="1" i="0">
                <a:solidFill>
                  <a:srgbClr val="6B7280"/>
                </a:solidFill>
                <a:latin typeface="Calibri"/>
              </a:rPr>
              <a:t>→</a:t>
            </a:r>
          </a:p>
        </p:txBody>
      </p:sp>
      <p:sp>
        <p:nvSpPr>
          <p:cNvPr id="12" name="Rectangle 11"/>
          <p:cNvSpPr/>
          <p:nvPr/>
        </p:nvSpPr>
        <p:spPr>
          <a:xfrm>
            <a:off x="2831040" y="1655999"/>
            <a:ext cx="1877040" cy="30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831040" y="1655999"/>
            <a:ext cx="187704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39040" y="1818000"/>
            <a:ext cx="1661040" cy="288000"/>
          </a:xfrm>
          <a:prstGeom prst="rect">
            <a:avLst/>
          </a:prstGeom>
          <a:noFill/>
        </p:spPr>
        <p:txBody>
          <a:bodyPr wrap="square">
            <a:spAutoFit/>
          </a:bodyPr>
          <a:lstStyle/>
          <a:p>
            <a:r>
              <a:rPr sz="1600" b="1" i="0">
                <a:solidFill>
                  <a:srgbClr val="6B5B8F"/>
                </a:solidFill>
                <a:latin typeface="Calibri"/>
              </a:rPr>
              <a:t>02</a:t>
            </a:r>
          </a:p>
        </p:txBody>
      </p:sp>
      <p:sp>
        <p:nvSpPr>
          <p:cNvPr id="15" name="TextBox 14"/>
          <p:cNvSpPr txBox="1"/>
          <p:nvPr/>
        </p:nvSpPr>
        <p:spPr>
          <a:xfrm>
            <a:off x="2939040" y="2106000"/>
            <a:ext cx="1661040" cy="576000"/>
          </a:xfrm>
          <a:prstGeom prst="rect">
            <a:avLst/>
          </a:prstGeom>
          <a:noFill/>
        </p:spPr>
        <p:txBody>
          <a:bodyPr wrap="square">
            <a:spAutoFit/>
          </a:bodyPr>
          <a:lstStyle/>
          <a:p>
            <a:r>
              <a:rPr sz="1400" b="1" i="0">
                <a:solidFill>
                  <a:srgbClr val="374151"/>
                </a:solidFill>
                <a:latin typeface="Calibri"/>
              </a:rPr>
              <a:t>parse_eckwerte()</a:t>
            </a:r>
          </a:p>
        </p:txBody>
      </p:sp>
      <p:sp>
        <p:nvSpPr>
          <p:cNvPr id="16" name="TextBox 15"/>
          <p:cNvSpPr txBox="1"/>
          <p:nvPr/>
        </p:nvSpPr>
        <p:spPr>
          <a:xfrm>
            <a:off x="2939040" y="2681999"/>
            <a:ext cx="1661040" cy="1961999"/>
          </a:xfrm>
          <a:prstGeom prst="rect">
            <a:avLst/>
          </a:prstGeom>
          <a:noFill/>
        </p:spPr>
        <p:txBody>
          <a:bodyPr wrap="square">
            <a:spAutoFit/>
          </a:bodyPr>
          <a:lstStyle/>
          <a:p>
            <a:r>
              <a:rPr sz="1150" b="0" i="0">
                <a:solidFill>
                  <a:srgbClr val="6B7280"/>
                </a:solidFill>
                <a:latin typeface="Calibri"/>
              </a:rPr>
              <a:t>liest Zeilen 9–47, Berichtsmonat aus Dateiname abgeleitet</a:t>
            </a:r>
          </a:p>
        </p:txBody>
      </p:sp>
      <p:sp>
        <p:nvSpPr>
          <p:cNvPr id="17" name="TextBox 16"/>
          <p:cNvSpPr txBox="1"/>
          <p:nvPr/>
        </p:nvSpPr>
        <p:spPr>
          <a:xfrm>
            <a:off x="4834080" y="3005999"/>
            <a:ext cx="198000" cy="396000"/>
          </a:xfrm>
          <a:prstGeom prst="rect">
            <a:avLst/>
          </a:prstGeom>
          <a:noFill/>
        </p:spPr>
        <p:txBody>
          <a:bodyPr wrap="square" anchor="ctr">
            <a:spAutoFit/>
          </a:bodyPr>
          <a:lstStyle/>
          <a:p>
            <a:pPr algn="ctr"/>
            <a:r>
              <a:rPr sz="2200" b="1" i="0">
                <a:solidFill>
                  <a:srgbClr val="6B7280"/>
                </a:solidFill>
                <a:latin typeface="Calibri"/>
              </a:rPr>
              <a:t>→</a:t>
            </a:r>
          </a:p>
        </p:txBody>
      </p:sp>
      <p:sp>
        <p:nvSpPr>
          <p:cNvPr id="18" name="Rectangle 17"/>
          <p:cNvSpPr/>
          <p:nvPr/>
        </p:nvSpPr>
        <p:spPr>
          <a:xfrm>
            <a:off x="5158080" y="1655999"/>
            <a:ext cx="1877040" cy="30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8080" y="1655999"/>
            <a:ext cx="1877040" cy="9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66080" y="1818000"/>
            <a:ext cx="1661040" cy="288000"/>
          </a:xfrm>
          <a:prstGeom prst="rect">
            <a:avLst/>
          </a:prstGeom>
          <a:noFill/>
        </p:spPr>
        <p:txBody>
          <a:bodyPr wrap="square">
            <a:spAutoFit/>
          </a:bodyPr>
          <a:lstStyle/>
          <a:p>
            <a:r>
              <a:rPr sz="1600" b="1" i="0">
                <a:solidFill>
                  <a:srgbClr val="C79A56"/>
                </a:solidFill>
                <a:latin typeface="Calibri"/>
              </a:rPr>
              <a:t>03</a:t>
            </a:r>
          </a:p>
        </p:txBody>
      </p:sp>
      <p:sp>
        <p:nvSpPr>
          <p:cNvPr id="21" name="TextBox 20"/>
          <p:cNvSpPr txBox="1"/>
          <p:nvPr/>
        </p:nvSpPr>
        <p:spPr>
          <a:xfrm>
            <a:off x="5266080" y="2106000"/>
            <a:ext cx="1661040" cy="576000"/>
          </a:xfrm>
          <a:prstGeom prst="rect">
            <a:avLst/>
          </a:prstGeom>
          <a:noFill/>
        </p:spPr>
        <p:txBody>
          <a:bodyPr wrap="square">
            <a:spAutoFit/>
          </a:bodyPr>
          <a:lstStyle/>
          <a:p>
            <a:r>
              <a:rPr sz="1400" b="1" i="0">
                <a:solidFill>
                  <a:srgbClr val="374151"/>
                </a:solidFill>
                <a:latin typeface="Calibri"/>
              </a:rPr>
              <a:t>Bereinigung</a:t>
            </a:r>
          </a:p>
        </p:txBody>
      </p:sp>
      <p:sp>
        <p:nvSpPr>
          <p:cNvPr id="22" name="TextBox 21"/>
          <p:cNvSpPr txBox="1"/>
          <p:nvPr/>
        </p:nvSpPr>
        <p:spPr>
          <a:xfrm>
            <a:off x="5266080" y="2681999"/>
            <a:ext cx="1661040" cy="1961999"/>
          </a:xfrm>
          <a:prstGeom prst="rect">
            <a:avLst/>
          </a:prstGeom>
          <a:noFill/>
        </p:spPr>
        <p:txBody>
          <a:bodyPr wrap="square">
            <a:spAutoFit/>
          </a:bodyPr>
          <a:lstStyle/>
          <a:p>
            <a:r>
              <a:rPr sz="1150" b="0" i="0">
                <a:solidFill>
                  <a:srgbClr val="6B7280"/>
                </a:solidFill>
                <a:latin typeface="Calibri"/>
              </a:rPr>
              <a:t>0 Duplikate, 108/558 fehlende Werte identifiziert und erklärt</a:t>
            </a:r>
          </a:p>
        </p:txBody>
      </p:sp>
      <p:sp>
        <p:nvSpPr>
          <p:cNvPr id="23" name="TextBox 22"/>
          <p:cNvSpPr txBox="1"/>
          <p:nvPr/>
        </p:nvSpPr>
        <p:spPr>
          <a:xfrm>
            <a:off x="7161120" y="3005999"/>
            <a:ext cx="198000" cy="396000"/>
          </a:xfrm>
          <a:prstGeom prst="rect">
            <a:avLst/>
          </a:prstGeom>
          <a:noFill/>
        </p:spPr>
        <p:txBody>
          <a:bodyPr wrap="square" anchor="ctr">
            <a:spAutoFit/>
          </a:bodyPr>
          <a:lstStyle/>
          <a:p>
            <a:pPr algn="ctr"/>
            <a:r>
              <a:rPr sz="2200" b="1" i="0">
                <a:solidFill>
                  <a:srgbClr val="6B7280"/>
                </a:solidFill>
                <a:latin typeface="Calibri"/>
              </a:rPr>
              <a:t>→</a:t>
            </a:r>
          </a:p>
        </p:txBody>
      </p:sp>
      <p:sp>
        <p:nvSpPr>
          <p:cNvPr id="24" name="Rectangle 23"/>
          <p:cNvSpPr/>
          <p:nvPr/>
        </p:nvSpPr>
        <p:spPr>
          <a:xfrm>
            <a:off x="7485120" y="1655999"/>
            <a:ext cx="1877040" cy="30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85120" y="1655999"/>
            <a:ext cx="187704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93120" y="1818000"/>
            <a:ext cx="1661040" cy="288000"/>
          </a:xfrm>
          <a:prstGeom prst="rect">
            <a:avLst/>
          </a:prstGeom>
          <a:noFill/>
        </p:spPr>
        <p:txBody>
          <a:bodyPr wrap="square">
            <a:spAutoFit/>
          </a:bodyPr>
          <a:lstStyle/>
          <a:p>
            <a:r>
              <a:rPr sz="1600" b="1" i="0">
                <a:solidFill>
                  <a:srgbClr val="3F7A72"/>
                </a:solidFill>
                <a:latin typeface="Calibri"/>
              </a:rPr>
              <a:t>04</a:t>
            </a:r>
          </a:p>
        </p:txBody>
      </p:sp>
      <p:sp>
        <p:nvSpPr>
          <p:cNvPr id="27" name="TextBox 26"/>
          <p:cNvSpPr txBox="1"/>
          <p:nvPr/>
        </p:nvSpPr>
        <p:spPr>
          <a:xfrm>
            <a:off x="7593120" y="2106000"/>
            <a:ext cx="1661040" cy="576000"/>
          </a:xfrm>
          <a:prstGeom prst="rect">
            <a:avLst/>
          </a:prstGeom>
          <a:noFill/>
        </p:spPr>
        <p:txBody>
          <a:bodyPr wrap="square">
            <a:spAutoFit/>
          </a:bodyPr>
          <a:lstStyle/>
          <a:p>
            <a:r>
              <a:rPr sz="1400" b="1" i="0">
                <a:solidFill>
                  <a:srgbClr val="374151"/>
                </a:solidFill>
                <a:latin typeface="Calibri"/>
              </a:rPr>
              <a:t>pivot_table()</a:t>
            </a:r>
          </a:p>
        </p:txBody>
      </p:sp>
      <p:sp>
        <p:nvSpPr>
          <p:cNvPr id="28" name="TextBox 27"/>
          <p:cNvSpPr txBox="1"/>
          <p:nvPr/>
        </p:nvSpPr>
        <p:spPr>
          <a:xfrm>
            <a:off x="7593120" y="2681999"/>
            <a:ext cx="1661040" cy="1961999"/>
          </a:xfrm>
          <a:prstGeom prst="rect">
            <a:avLst/>
          </a:prstGeom>
          <a:noFill/>
        </p:spPr>
        <p:txBody>
          <a:bodyPr wrap="square">
            <a:spAutoFit/>
          </a:bodyPr>
          <a:lstStyle/>
          <a:p>
            <a:r>
              <a:rPr sz="1150" b="0" i="0">
                <a:solidFill>
                  <a:srgbClr val="6B7280"/>
                </a:solidFill>
                <a:latin typeface="Calibri"/>
              </a:rPr>
              <a:t>erzeugt Wide-Format-Zeitreihe mit 9 zentralen Kennzahlen</a:t>
            </a:r>
          </a:p>
        </p:txBody>
      </p:sp>
      <p:sp>
        <p:nvSpPr>
          <p:cNvPr id="29" name="TextBox 28"/>
          <p:cNvSpPr txBox="1"/>
          <p:nvPr/>
        </p:nvSpPr>
        <p:spPr>
          <a:xfrm>
            <a:off x="9488160" y="3005999"/>
            <a:ext cx="198000" cy="396000"/>
          </a:xfrm>
          <a:prstGeom prst="rect">
            <a:avLst/>
          </a:prstGeom>
          <a:noFill/>
        </p:spPr>
        <p:txBody>
          <a:bodyPr wrap="square" anchor="ctr">
            <a:spAutoFit/>
          </a:bodyPr>
          <a:lstStyle/>
          <a:p>
            <a:pPr algn="ctr"/>
            <a:r>
              <a:rPr sz="2200" b="1" i="0">
                <a:solidFill>
                  <a:srgbClr val="6B7280"/>
                </a:solidFill>
                <a:latin typeface="Calibri"/>
              </a:rPr>
              <a:t>→</a:t>
            </a:r>
          </a:p>
        </p:txBody>
      </p:sp>
      <p:sp>
        <p:nvSpPr>
          <p:cNvPr id="30" name="Rectangle 29"/>
          <p:cNvSpPr/>
          <p:nvPr/>
        </p:nvSpPr>
        <p:spPr>
          <a:xfrm>
            <a:off x="9812160" y="1655999"/>
            <a:ext cx="1877040" cy="30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12160" y="1655999"/>
            <a:ext cx="187704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920160" y="1818000"/>
            <a:ext cx="1661040" cy="288000"/>
          </a:xfrm>
          <a:prstGeom prst="rect">
            <a:avLst/>
          </a:prstGeom>
          <a:noFill/>
        </p:spPr>
        <p:txBody>
          <a:bodyPr wrap="square">
            <a:spAutoFit/>
          </a:bodyPr>
          <a:lstStyle/>
          <a:p>
            <a:r>
              <a:rPr sz="1600" b="1" i="0">
                <a:solidFill>
                  <a:srgbClr val="A0453F"/>
                </a:solidFill>
                <a:latin typeface="Calibri"/>
              </a:rPr>
              <a:t>05</a:t>
            </a:r>
          </a:p>
        </p:txBody>
      </p:sp>
      <p:sp>
        <p:nvSpPr>
          <p:cNvPr id="33" name="TextBox 32"/>
          <p:cNvSpPr txBox="1"/>
          <p:nvPr/>
        </p:nvSpPr>
        <p:spPr>
          <a:xfrm>
            <a:off x="9920160" y="2106000"/>
            <a:ext cx="1661040" cy="576000"/>
          </a:xfrm>
          <a:prstGeom prst="rect">
            <a:avLst/>
          </a:prstGeom>
          <a:noFill/>
        </p:spPr>
        <p:txBody>
          <a:bodyPr wrap="square">
            <a:spAutoFit/>
          </a:bodyPr>
          <a:lstStyle/>
          <a:p>
            <a:r>
              <a:rPr sz="1400" b="1" i="0">
                <a:solidFill>
                  <a:srgbClr val="374151"/>
                </a:solidFill>
                <a:latin typeface="Calibri"/>
              </a:rPr>
              <a:t>Export</a:t>
            </a:r>
          </a:p>
        </p:txBody>
      </p:sp>
      <p:sp>
        <p:nvSpPr>
          <p:cNvPr id="34" name="TextBox 33"/>
          <p:cNvSpPr txBox="1"/>
          <p:nvPr/>
        </p:nvSpPr>
        <p:spPr>
          <a:xfrm>
            <a:off x="9920160" y="2681999"/>
            <a:ext cx="1661040" cy="1961999"/>
          </a:xfrm>
          <a:prstGeom prst="rect">
            <a:avLst/>
          </a:prstGeom>
          <a:noFill/>
        </p:spPr>
        <p:txBody>
          <a:bodyPr wrap="square">
            <a:spAutoFit/>
          </a:bodyPr>
          <a:lstStyle/>
          <a:p>
            <a:r>
              <a:rPr sz="1150" b="0" i="0">
                <a:solidFill>
                  <a:srgbClr val="6B7280"/>
                </a:solidFill>
                <a:latin typeface="Calibri"/>
              </a:rPr>
              <a:t>eckwerte_long.csv &amp; kennzahlen_sgb2.csv — Basis für Analyse &amp; Dashboard</a:t>
            </a:r>
          </a:p>
        </p:txBody>
      </p:sp>
      <p:sp>
        <p:nvSpPr>
          <p:cNvPr id="35" name="TextBox 34"/>
          <p:cNvSpPr txBox="1"/>
          <p:nvPr/>
        </p:nvSpPr>
        <p:spPr>
          <a:xfrm>
            <a:off x="11124000" y="6533999"/>
            <a:ext cx="936000" cy="270000"/>
          </a:xfrm>
          <a:prstGeom prst="rect">
            <a:avLst/>
          </a:prstGeom>
          <a:noFill/>
        </p:spPr>
        <p:txBody>
          <a:bodyPr wrap="none">
            <a:spAutoFit/>
          </a:bodyPr>
          <a:lstStyle/>
          <a:p>
            <a:pPr algn="r"/>
            <a:fld id="{135BC876-3253-4162-B5D5-9DA9A9BA9223}" type="slidenum">
              <a:rPr lang="de-DE" sz="1200">
                <a:solidFill>
                  <a:srgbClr val="6B7280"/>
                </a:solidFill>
              </a:rPr>
              <a:t>8</a:t>
            </a:fl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2.3</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Datenüberblick nach der Bereinigung</a:t>
            </a:r>
          </a:p>
        </p:txBody>
      </p:sp>
      <p:sp>
        <p:nvSpPr>
          <p:cNvPr id="5" name="Rectangle 4"/>
          <p:cNvSpPr/>
          <p:nvPr/>
        </p:nvSpPr>
        <p:spPr>
          <a:xfrm>
            <a:off x="503999" y="1692000"/>
            <a:ext cx="2634300" cy="172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692000"/>
            <a:ext cx="26343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1999" y="1980000"/>
            <a:ext cx="2418300" cy="728568"/>
          </a:xfrm>
          <a:prstGeom prst="rect">
            <a:avLst/>
          </a:prstGeom>
          <a:noFill/>
        </p:spPr>
        <p:txBody>
          <a:bodyPr wrap="square" anchor="t">
            <a:normAutofit/>
          </a:bodyPr>
          <a:lstStyle/>
          <a:p>
            <a:pPr algn="ctr"/>
            <a:r>
              <a:rPr lang="de-DE" sz="3000" b="1" i="0">
                <a:solidFill>
                  <a:srgbClr val="7C3AED"/>
                </a:solidFill>
                <a:latin typeface="Calibri"/>
              </a:rPr>
              <a:t>558 </a:t>
            </a:r>
            <a:r>
              <a:rPr sz="3000" b="1" i="0">
                <a:solidFill>
                  <a:srgbClr val="7C3AED"/>
                </a:solidFill>
                <a:latin typeface="Calibri"/>
              </a:rPr>
              <a:t>× </a:t>
            </a:r>
            <a:r>
              <a:rPr lang="de-DE" sz="3000" b="1" i="0">
                <a:solidFill>
                  <a:srgbClr val="7C3AED"/>
                </a:solidFill>
                <a:latin typeface="Calibri"/>
              </a:rPr>
              <a:t>8</a:t>
            </a:r>
            <a:endParaRPr sz="3000" b="1" i="0">
              <a:solidFill>
                <a:srgbClr val="7C3AED"/>
              </a:solidFill>
              <a:latin typeface="Calibri"/>
            </a:endParaRPr>
          </a:p>
        </p:txBody>
      </p:sp>
      <p:sp>
        <p:nvSpPr>
          <p:cNvPr id="8" name="TextBox 7"/>
          <p:cNvSpPr txBox="1"/>
          <p:nvPr/>
        </p:nvSpPr>
        <p:spPr>
          <a:xfrm>
            <a:off x="611999" y="2736000"/>
            <a:ext cx="2418300" cy="307777"/>
          </a:xfrm>
          <a:prstGeom prst="rect">
            <a:avLst/>
          </a:prstGeom>
          <a:noFill/>
        </p:spPr>
        <p:txBody>
          <a:bodyPr wrap="square" anchor="t">
            <a:spAutoFit/>
          </a:bodyPr>
          <a:lstStyle/>
          <a:p>
            <a:pPr algn="ctr"/>
            <a:r>
              <a:rPr lang="de-DE" sz="1400" b="0" i="0">
                <a:solidFill>
                  <a:srgbClr val="374151"/>
                </a:solidFill>
                <a:latin typeface="Calibri"/>
              </a:rPr>
              <a:t>Zeilen </a:t>
            </a:r>
            <a:r>
              <a:rPr sz="1400" b="0" i="0">
                <a:solidFill>
                  <a:srgbClr val="374151"/>
                </a:solidFill>
                <a:latin typeface="Calibri"/>
              </a:rPr>
              <a:t>× </a:t>
            </a:r>
            <a:r>
              <a:rPr lang="de-DE" sz="1400" b="0" i="0">
                <a:solidFill>
                  <a:srgbClr val="374151"/>
                </a:solidFill>
                <a:latin typeface="Calibri"/>
              </a:rPr>
              <a:t>Spalten</a:t>
            </a:r>
            <a:endParaRPr sz="1400" b="0" i="0">
              <a:solidFill>
                <a:srgbClr val="374151"/>
              </a:solidFill>
              <a:latin typeface="Calibri"/>
            </a:endParaRPr>
          </a:p>
        </p:txBody>
      </p:sp>
      <p:sp>
        <p:nvSpPr>
          <p:cNvPr id="9" name="Rectangle 8"/>
          <p:cNvSpPr/>
          <p:nvPr/>
        </p:nvSpPr>
        <p:spPr>
          <a:xfrm>
            <a:off x="3354299" y="1692000"/>
            <a:ext cx="2634300" cy="172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54299" y="1692000"/>
            <a:ext cx="26343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62299" y="1980000"/>
            <a:ext cx="2418300" cy="728568"/>
          </a:xfrm>
          <a:prstGeom prst="rect">
            <a:avLst/>
          </a:prstGeom>
          <a:noFill/>
        </p:spPr>
        <p:txBody>
          <a:bodyPr wrap="square" anchor="t">
            <a:normAutofit/>
          </a:bodyPr>
          <a:lstStyle/>
          <a:p>
            <a:pPr algn="ctr"/>
            <a:r>
              <a:rPr lang="de-DE" sz="3000" b="1" i="0">
                <a:solidFill>
                  <a:srgbClr val="2563EB"/>
                </a:solidFill>
                <a:latin typeface="Calibri"/>
              </a:rPr>
              <a:t>0</a:t>
            </a:r>
            <a:endParaRPr sz="3000" b="1" i="0">
              <a:solidFill>
                <a:srgbClr val="2563EB"/>
              </a:solidFill>
              <a:latin typeface="Calibri"/>
            </a:endParaRPr>
          </a:p>
        </p:txBody>
      </p:sp>
      <p:sp>
        <p:nvSpPr>
          <p:cNvPr id="12" name="TextBox 11"/>
          <p:cNvSpPr txBox="1"/>
          <p:nvPr/>
        </p:nvSpPr>
        <p:spPr>
          <a:xfrm>
            <a:off x="3462299" y="2736000"/>
            <a:ext cx="2418300" cy="307777"/>
          </a:xfrm>
          <a:prstGeom prst="rect">
            <a:avLst/>
          </a:prstGeom>
          <a:noFill/>
        </p:spPr>
        <p:txBody>
          <a:bodyPr wrap="square" anchor="t">
            <a:spAutoFit/>
          </a:bodyPr>
          <a:lstStyle/>
          <a:p>
            <a:pPr algn="ctr"/>
            <a:r>
              <a:rPr lang="de-DE" sz="1400" b="0" i="0">
                <a:solidFill>
                  <a:srgbClr val="374151"/>
                </a:solidFill>
                <a:latin typeface="Calibri"/>
              </a:rPr>
              <a:t>Duplikate</a:t>
            </a:r>
            <a:endParaRPr sz="1400" b="0" i="0">
              <a:solidFill>
                <a:srgbClr val="374151"/>
              </a:solidFill>
              <a:latin typeface="Calibri"/>
            </a:endParaRPr>
          </a:p>
        </p:txBody>
      </p:sp>
      <p:sp>
        <p:nvSpPr>
          <p:cNvPr id="13" name="Rectangle 12"/>
          <p:cNvSpPr/>
          <p:nvPr/>
        </p:nvSpPr>
        <p:spPr>
          <a:xfrm>
            <a:off x="6204599" y="1692000"/>
            <a:ext cx="2634300" cy="172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04599" y="1692000"/>
            <a:ext cx="2634300" cy="9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12599" y="1980000"/>
            <a:ext cx="2418300" cy="728568"/>
          </a:xfrm>
          <a:prstGeom prst="rect">
            <a:avLst/>
          </a:prstGeom>
          <a:noFill/>
        </p:spPr>
        <p:txBody>
          <a:bodyPr wrap="square" anchor="t">
            <a:normAutofit/>
          </a:bodyPr>
          <a:lstStyle/>
          <a:p>
            <a:pPr algn="ctr"/>
            <a:r>
              <a:rPr lang="de-DE" sz="3000" b="1" i="0">
                <a:solidFill>
                  <a:srgbClr val="F59E0B"/>
                </a:solidFill>
                <a:latin typeface="Calibri"/>
              </a:rPr>
              <a:t>108 / 558</a:t>
            </a:r>
            <a:endParaRPr sz="3000" b="1" i="0">
              <a:solidFill>
                <a:srgbClr val="F59E0B"/>
              </a:solidFill>
              <a:latin typeface="Calibri"/>
            </a:endParaRPr>
          </a:p>
        </p:txBody>
      </p:sp>
      <p:sp>
        <p:nvSpPr>
          <p:cNvPr id="16" name="TextBox 15"/>
          <p:cNvSpPr txBox="1"/>
          <p:nvPr/>
        </p:nvSpPr>
        <p:spPr>
          <a:xfrm>
            <a:off x="6312599" y="2736000"/>
            <a:ext cx="2418300" cy="523220"/>
          </a:xfrm>
          <a:prstGeom prst="rect">
            <a:avLst/>
          </a:prstGeom>
          <a:noFill/>
        </p:spPr>
        <p:txBody>
          <a:bodyPr wrap="square" anchor="t">
            <a:spAutoFit/>
          </a:bodyPr>
          <a:lstStyle/>
          <a:p>
            <a:pPr algn="ctr"/>
            <a:r>
              <a:rPr lang="de-DE" sz="1400" b="0" i="0">
                <a:solidFill>
                  <a:srgbClr val="374151"/>
                </a:solidFill>
                <a:latin typeface="Calibri"/>
              </a:rPr>
              <a:t>fehlende Werte
(erklärt)</a:t>
            </a:r>
            <a:endParaRPr sz="1400" b="0" i="0">
              <a:solidFill>
                <a:srgbClr val="374151"/>
              </a:solidFill>
              <a:latin typeface="Calibri"/>
            </a:endParaRPr>
          </a:p>
        </p:txBody>
      </p:sp>
      <p:sp>
        <p:nvSpPr>
          <p:cNvPr id="17" name="Rectangle 16"/>
          <p:cNvSpPr/>
          <p:nvPr/>
        </p:nvSpPr>
        <p:spPr>
          <a:xfrm>
            <a:off x="9054899" y="1692000"/>
            <a:ext cx="2634300" cy="172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54899" y="1692000"/>
            <a:ext cx="26343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62899" y="1980000"/>
            <a:ext cx="2418300" cy="728568"/>
          </a:xfrm>
          <a:prstGeom prst="rect">
            <a:avLst/>
          </a:prstGeom>
          <a:noFill/>
        </p:spPr>
        <p:txBody>
          <a:bodyPr wrap="square" anchor="t">
            <a:normAutofit/>
          </a:bodyPr>
          <a:lstStyle/>
          <a:p>
            <a:pPr algn="ctr"/>
            <a:r>
              <a:rPr lang="de-DE" sz="3000" b="1" i="0">
                <a:solidFill>
                  <a:srgbClr val="DC2626"/>
                </a:solidFill>
                <a:latin typeface="Calibri"/>
              </a:rPr>
              <a:t>9</a:t>
            </a:r>
            <a:endParaRPr sz="3000" b="1" i="0">
              <a:solidFill>
                <a:srgbClr val="DC2626"/>
              </a:solidFill>
              <a:latin typeface="Calibri"/>
            </a:endParaRPr>
          </a:p>
        </p:txBody>
      </p:sp>
      <p:sp>
        <p:nvSpPr>
          <p:cNvPr id="20" name="TextBox 19"/>
          <p:cNvSpPr txBox="1"/>
          <p:nvPr/>
        </p:nvSpPr>
        <p:spPr>
          <a:xfrm>
            <a:off x="9162899" y="2736000"/>
            <a:ext cx="2418300" cy="523220"/>
          </a:xfrm>
          <a:prstGeom prst="rect">
            <a:avLst/>
          </a:prstGeom>
          <a:noFill/>
        </p:spPr>
        <p:txBody>
          <a:bodyPr wrap="square" anchor="t">
            <a:spAutoFit/>
          </a:bodyPr>
          <a:lstStyle/>
          <a:p>
            <a:pPr algn="ctr"/>
            <a:r>
              <a:rPr lang="de-DE" sz="1400" b="0" i="0">
                <a:solidFill>
                  <a:srgbClr val="374151"/>
                </a:solidFill>
                <a:latin typeface="Calibri"/>
              </a:rPr>
              <a:t>aufbereitete
Kennzahlen</a:t>
            </a:r>
            <a:endParaRPr sz="1400" b="0" i="0">
              <a:solidFill>
                <a:srgbClr val="374151"/>
              </a:solidFill>
              <a:latin typeface="Calibri"/>
            </a:endParaRPr>
          </a:p>
        </p:txBody>
      </p:sp>
      <p:sp>
        <p:nvSpPr>
          <p:cNvPr id="21" name="TextBox 20"/>
          <p:cNvSpPr txBox="1"/>
          <p:nvPr/>
        </p:nvSpPr>
        <p:spPr>
          <a:xfrm>
            <a:off x="503999" y="1206000"/>
            <a:ext cx="11185200" cy="360000"/>
          </a:xfrm>
          <a:prstGeom prst="rect">
            <a:avLst/>
          </a:prstGeom>
          <a:noFill/>
        </p:spPr>
        <p:txBody>
          <a:bodyPr wrap="square">
            <a:spAutoFit/>
          </a:bodyPr>
          <a:lstStyle/>
          <a:p>
            <a:r>
              <a:rPr sz="1500" b="0" i="1">
                <a:solidFill>
                  <a:srgbClr val="6B7280"/>
                </a:solidFill>
                <a:latin typeface="Calibri"/>
              </a:rPr>
              <a:t>Nach dem Einlesen aller 18 Excel-Dateien ergibt sich folgender Datenüberblick:</a:t>
            </a:r>
          </a:p>
        </p:txBody>
      </p:sp>
      <p:sp>
        <p:nvSpPr>
          <p:cNvPr id="22" name="Rectangle 21"/>
          <p:cNvSpPr/>
          <p:nvPr/>
        </p:nvSpPr>
        <p:spPr>
          <a:xfrm>
            <a:off x="503999" y="3671999"/>
            <a:ext cx="11185200" cy="129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3999" y="3671999"/>
            <a:ext cx="90000" cy="129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7999" y="3797999"/>
            <a:ext cx="10620000" cy="324000"/>
          </a:xfrm>
          <a:prstGeom prst="rect">
            <a:avLst/>
          </a:prstGeom>
          <a:noFill/>
        </p:spPr>
        <p:txBody>
          <a:bodyPr wrap="square">
            <a:spAutoFit/>
          </a:bodyPr>
          <a:lstStyle/>
          <a:p>
            <a:r>
              <a:rPr sz="1700" b="1" i="0">
                <a:solidFill>
                  <a:srgbClr val="6B5B8F"/>
                </a:solidFill>
                <a:latin typeface="Calibri"/>
              </a:rPr>
              <a:t>Warum fehlen Werte?</a:t>
            </a:r>
          </a:p>
        </p:txBody>
      </p:sp>
      <p:sp>
        <p:nvSpPr>
          <p:cNvPr id="25" name="TextBox 24"/>
          <p:cNvSpPr txBox="1"/>
          <p:nvPr/>
        </p:nvSpPr>
        <p:spPr>
          <a:xfrm>
            <a:off x="827999" y="4121999"/>
            <a:ext cx="10620000" cy="737999"/>
          </a:xfrm>
          <a:prstGeom prst="rect">
            <a:avLst/>
          </a:prstGeom>
          <a:noFill/>
        </p:spPr>
        <p:txBody>
          <a:bodyPr wrap="square">
            <a:spAutoFit/>
          </a:bodyPr>
          <a:lstStyle/>
          <a:p>
            <a:r>
              <a:rPr sz="1600" b="0" i="0">
                <a:solidFill>
                  <a:srgbClr val="374151"/>
                </a:solidFill>
                <a:latin typeface="Calibri"/>
              </a:rPr>
              <a:t>Die 108 fehlenden Werte betreffen fast ausschließlich die Kategorie „gemeldete Arbeitsstellen“ — diese wird von der Bundesagentur nicht nach Rechtskreis differenziert ausgewiesen und besitzt daher keinen eigenen SGB-II-Wert.</a:t>
            </a:r>
          </a:p>
        </p:txBody>
      </p:sp>
      <p:sp>
        <p:nvSpPr>
          <p:cNvPr id="26" name="TextBox 25"/>
          <p:cNvSpPr txBox="1"/>
          <p:nvPr/>
        </p:nvSpPr>
        <p:spPr>
          <a:xfrm>
            <a:off x="11124000" y="6533999"/>
            <a:ext cx="936000" cy="270000"/>
          </a:xfrm>
          <a:prstGeom prst="rect">
            <a:avLst/>
          </a:prstGeom>
          <a:noFill/>
        </p:spPr>
        <p:txBody>
          <a:bodyPr wrap="none">
            <a:spAutoFit/>
          </a:bodyPr>
          <a:lstStyle/>
          <a:p>
            <a:pPr algn="r"/>
            <a:fld id="{A5254CFA-62CA-494B-B18C-3C8A79A1C512}" type="slidenum">
              <a:rPr lang="de-DE" sz="1200">
                <a:solidFill>
                  <a:srgbClr val="6B7280"/>
                </a:solidFill>
              </a:rPr>
              <a:t>9</a:t>
            </a:fl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79A56"/>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200" cy="5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60568"/>
          </a:xfrm>
          <a:prstGeom prst="rect">
            <a:avLst/>
          </a:prstGeom>
          <a:noFill/>
        </p:spPr>
        <p:txBody>
          <a:bodyPr wrap="square" anchor="t">
            <a:normAutofit fontScale="55000" lnSpcReduction="20000"/>
          </a:bodyPr>
          <a:lstStyle/>
          <a:p>
            <a:pPr algn="l"/>
            <a:r>
              <a:rPr sz="2200" b="1" i="0">
                <a:solidFill>
                  <a:srgbClr val="BFDBFE"/>
                </a:solidFill>
                <a:latin typeface="Calibri"/>
              </a:rPr>
              <a:t>KAPITEL 3</a:t>
            </a:r>
          </a:p>
        </p:txBody>
      </p:sp>
      <p:sp>
        <p:nvSpPr>
          <p:cNvPr id="4" name="TextBox 3"/>
          <p:cNvSpPr txBox="1"/>
          <p:nvPr/>
        </p:nvSpPr>
        <p:spPr>
          <a:xfrm>
            <a:off x="720000" y="1602000"/>
            <a:ext cx="10753200" cy="792000"/>
          </a:xfrm>
          <a:prstGeom prst="rect">
            <a:avLst/>
          </a:prstGeom>
          <a:noFill/>
        </p:spPr>
        <p:txBody>
          <a:bodyPr wrap="square" anchor="t">
            <a:spAutoFit/>
          </a:bodyPr>
          <a:lstStyle/>
          <a:p>
            <a:pPr algn="l"/>
            <a:r>
              <a:rPr sz="4000" b="1" i="0">
                <a:solidFill>
                  <a:srgbClr val="FFFFFF"/>
                </a:solidFill>
                <a:latin typeface="Calibri"/>
              </a:rPr>
              <a:t>Datenanalyse
und Visualisierung</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200"/>
              </a:spcAft>
            </a:pPr>
            <a:r>
              <a:rPr sz="1800">
                <a:solidFill>
                  <a:srgbClr val="E0E7FF"/>
                </a:solidFill>
                <a:latin typeface="Calibri"/>
              </a:rPr>
              <a:t>●  Kennzahlen im Vergleich (Übersicht &amp; indexiert)</a:t>
            </a:r>
          </a:p>
          <a:p>
            <a:pPr>
              <a:spcAft>
                <a:spcPts val="1200"/>
              </a:spcAft>
            </a:pPr>
            <a:r>
              <a:rPr sz="1800">
                <a:solidFill>
                  <a:srgbClr val="E0E7FF"/>
                </a:solidFill>
                <a:latin typeface="Calibri"/>
              </a:rPr>
              <a:t>●  Arbeitslosen- und Unterbeschäftigungsquote</a:t>
            </a:r>
          </a:p>
          <a:p>
            <a:pPr>
              <a:spcAft>
                <a:spcPts val="1200"/>
              </a:spcAft>
            </a:pPr>
            <a:r>
              <a:rPr sz="1800">
                <a:solidFill>
                  <a:srgbClr val="E0E7FF"/>
                </a:solidFill>
                <a:latin typeface="Calibri"/>
              </a:rPr>
              <a:t>●  Langzeitarbeitslosigkeit</a:t>
            </a:r>
          </a:p>
          <a:p>
            <a:pPr>
              <a:spcAft>
                <a:spcPts val="1200"/>
              </a:spcAft>
            </a:pPr>
            <a:r>
              <a:rPr sz="1800">
                <a:solidFill>
                  <a:srgbClr val="E0E7FF"/>
                </a:solidFill>
                <a:latin typeface="Calibri"/>
              </a:rPr>
              <a:t>●  Altersstruktur, Geschlecht, Veränderungen</a:t>
            </a:r>
          </a:p>
        </p:txBody>
      </p:sp>
      <p:sp>
        <p:nvSpPr>
          <p:cNvPr id="6" name="TextBox 5"/>
          <p:cNvSpPr txBox="1"/>
          <p:nvPr/>
        </p:nvSpPr>
        <p:spPr>
          <a:xfrm>
            <a:off x="11124000" y="6533999"/>
            <a:ext cx="936000" cy="270000"/>
          </a:xfrm>
          <a:prstGeom prst="rect">
            <a:avLst/>
          </a:prstGeom>
          <a:noFill/>
        </p:spPr>
        <p:txBody>
          <a:bodyPr wrap="none">
            <a:spAutoFit/>
          </a:bodyPr>
          <a:lstStyle/>
          <a:p>
            <a:pPr algn="r"/>
            <a:fld id="{B068D1E1-55F6-4C88-A74A-3FA717812748}" type="slidenum">
              <a:rPr lang="de-DE" sz="1200">
                <a:solidFill>
                  <a:srgbClr val="FFFFFF"/>
                </a:solidFill>
              </a:rPr>
              <a:t>10</a:t>
            </a:fl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3.1</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Übersicht: Kennzahlen im Vergleich</a:t>
            </a:r>
          </a:p>
        </p:txBody>
      </p:sp>
      <p:pic>
        <p:nvPicPr>
          <p:cNvPr id="5" name="Picture 4" descr="abb1_uebersicht.png"/>
          <p:cNvPicPr>
            <a:picLocks noChangeAspect="1"/>
          </p:cNvPicPr>
          <p:nvPr/>
        </p:nvPicPr>
        <p:blipFill>
          <a:blip r:embed="rId3"/>
          <a:stretch>
            <a:fillRect/>
          </a:stretch>
        </p:blipFill>
        <p:spPr>
          <a:xfrm>
            <a:off x="1236600" y="1152000"/>
            <a:ext cx="9720000" cy="4860000"/>
          </a:xfrm>
          <a:prstGeom prst="rect">
            <a:avLst/>
          </a:prstGeom>
        </p:spPr>
      </p:pic>
      <p:sp>
        <p:nvSpPr>
          <p:cNvPr id="6" name="TextBox 5"/>
          <p:cNvSpPr txBox="1"/>
          <p:nvPr/>
        </p:nvSpPr>
        <p:spPr>
          <a:xfrm>
            <a:off x="503999" y="6084000"/>
            <a:ext cx="11185201" cy="432000"/>
          </a:xfrm>
          <a:prstGeom prst="rect">
            <a:avLst/>
          </a:prstGeom>
          <a:noFill/>
        </p:spPr>
        <p:txBody>
          <a:bodyPr wrap="square" anchor="t">
            <a:spAutoFit/>
          </a:bodyPr>
          <a:lstStyle/>
          <a:p>
            <a:pPr algn="ctr"/>
            <a:r>
              <a:rPr sz="1300" b="0" i="1">
                <a:solidFill>
                  <a:srgbClr val="6B7280"/>
                </a:solidFill>
                <a:latin typeface="Calibri"/>
              </a:rPr>
              <a:t>Personen in BG (Fläche) sowie Bedarfsgemeinschaften, Arbeitslose und Langzeitarbeitslose (überlappende Balken), Januar 2025 – Juni 2026.</a:t>
            </a:r>
          </a:p>
        </p:txBody>
      </p:sp>
      <p:sp>
        <p:nvSpPr>
          <p:cNvPr id="7" name="TextBox 6"/>
          <p:cNvSpPr txBox="1"/>
          <p:nvPr/>
        </p:nvSpPr>
        <p:spPr>
          <a:xfrm>
            <a:off x="11124000" y="6533999"/>
            <a:ext cx="936000" cy="270000"/>
          </a:xfrm>
          <a:prstGeom prst="rect">
            <a:avLst/>
          </a:prstGeom>
          <a:noFill/>
        </p:spPr>
        <p:txBody>
          <a:bodyPr wrap="none">
            <a:spAutoFit/>
          </a:bodyPr>
          <a:lstStyle/>
          <a:p>
            <a:pPr algn="r"/>
            <a:fld id="{9C9815E9-A294-46A7-978C-FE6C922DEBBE}" type="slidenum">
              <a:rPr lang="de-DE" sz="1200">
                <a:solidFill>
                  <a:srgbClr val="6B7280"/>
                </a:solidFill>
              </a:rPr>
              <a:t>11</a:t>
            </a:fld>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3.2</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Arbeitslosen- vs. Unterbeschäftigungsquote</a:t>
            </a:r>
          </a:p>
        </p:txBody>
      </p:sp>
      <p:pic>
        <p:nvPicPr>
          <p:cNvPr id="5" name="Picture 4" descr="abb2_quote.png"/>
          <p:cNvPicPr>
            <a:picLocks noChangeAspect="1"/>
          </p:cNvPicPr>
          <p:nvPr/>
        </p:nvPicPr>
        <p:blipFill>
          <a:blip r:embed="rId3"/>
          <a:stretch>
            <a:fillRect/>
          </a:stretch>
        </p:blipFill>
        <p:spPr>
          <a:xfrm>
            <a:off x="720000" y="1152000"/>
            <a:ext cx="10753200" cy="4838940"/>
          </a:xfrm>
          <a:prstGeom prst="rect">
            <a:avLst/>
          </a:prstGeom>
        </p:spPr>
      </p:pic>
      <p:sp>
        <p:nvSpPr>
          <p:cNvPr id="6" name="TextBox 5"/>
          <p:cNvSpPr txBox="1"/>
          <p:nvPr/>
        </p:nvSpPr>
        <p:spPr>
          <a:xfrm>
            <a:off x="503999" y="6062940"/>
            <a:ext cx="11185201" cy="432000"/>
          </a:xfrm>
          <a:prstGeom prst="rect">
            <a:avLst/>
          </a:prstGeom>
          <a:noFill/>
        </p:spPr>
        <p:txBody>
          <a:bodyPr wrap="square" anchor="t">
            <a:spAutoFit/>
          </a:bodyPr>
          <a:lstStyle/>
          <a:p>
            <a:pPr algn="ctr"/>
            <a:r>
              <a:rPr sz="1300" b="0" i="1">
                <a:solidFill>
                  <a:srgbClr val="6B7280"/>
                </a:solidFill>
                <a:latin typeface="Calibri"/>
              </a:rPr>
              <a:t>Beide Quoten bewegen sich in einer engen, stabilen Bandbreite (1,2–1,9 %).</a:t>
            </a:r>
          </a:p>
        </p:txBody>
      </p:sp>
      <p:sp>
        <p:nvSpPr>
          <p:cNvPr id="7" name="TextBox 6"/>
          <p:cNvSpPr txBox="1"/>
          <p:nvPr/>
        </p:nvSpPr>
        <p:spPr>
          <a:xfrm>
            <a:off x="11124000" y="6533999"/>
            <a:ext cx="936000" cy="270000"/>
          </a:xfrm>
          <a:prstGeom prst="rect">
            <a:avLst/>
          </a:prstGeom>
          <a:noFill/>
        </p:spPr>
        <p:txBody>
          <a:bodyPr wrap="none">
            <a:spAutoFit/>
          </a:bodyPr>
          <a:lstStyle/>
          <a:p>
            <a:pPr algn="r"/>
            <a:fld id="{3BFAA8B3-4ACB-4317-95F8-DCE40E44E216}" type="slidenum">
              <a:rPr lang="de-DE" sz="1200">
                <a:solidFill>
                  <a:srgbClr val="6B7280"/>
                </a:solidFill>
              </a:rPr>
              <a:t>12</a:t>
            </a:fld>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3.3</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Langzeitarbeitslosigkeit</a:t>
            </a:r>
          </a:p>
        </p:txBody>
      </p:sp>
      <p:pic>
        <p:nvPicPr>
          <p:cNvPr id="5" name="Picture 4" descr="abb3_lza_anteil.png"/>
          <p:cNvPicPr>
            <a:picLocks noChangeAspect="1"/>
          </p:cNvPicPr>
          <p:nvPr/>
        </p:nvPicPr>
        <p:blipFill>
          <a:blip r:embed="rId3"/>
          <a:stretch>
            <a:fillRect/>
          </a:stretch>
        </p:blipFill>
        <p:spPr>
          <a:xfrm>
            <a:off x="720000" y="1152000"/>
            <a:ext cx="10753200" cy="4516344"/>
          </a:xfrm>
          <a:prstGeom prst="rect">
            <a:avLst/>
          </a:prstGeom>
        </p:spPr>
      </p:pic>
      <p:sp>
        <p:nvSpPr>
          <p:cNvPr id="6" name="TextBox 5"/>
          <p:cNvSpPr txBox="1"/>
          <p:nvPr/>
        </p:nvSpPr>
        <p:spPr>
          <a:xfrm>
            <a:off x="503999" y="5740344"/>
            <a:ext cx="11185201" cy="432000"/>
          </a:xfrm>
          <a:prstGeom prst="rect">
            <a:avLst/>
          </a:prstGeom>
          <a:noFill/>
        </p:spPr>
        <p:txBody>
          <a:bodyPr wrap="square" anchor="t">
            <a:spAutoFit/>
          </a:bodyPr>
          <a:lstStyle/>
          <a:p>
            <a:pPr algn="ctr"/>
            <a:r>
              <a:rPr sz="1300" b="0" i="1">
                <a:solidFill>
                  <a:srgbClr val="6B7280"/>
                </a:solidFill>
                <a:latin typeface="Calibri"/>
              </a:rPr>
              <a:t>Deutlichster Trend im Datensatz: Anteil an allen Arbeitslosen von 34,1 % auf 47,3 % gestiegen.</a:t>
            </a:r>
          </a:p>
        </p:txBody>
      </p:sp>
      <p:sp>
        <p:nvSpPr>
          <p:cNvPr id="7" name="TextBox 6"/>
          <p:cNvSpPr txBox="1"/>
          <p:nvPr/>
        </p:nvSpPr>
        <p:spPr>
          <a:xfrm>
            <a:off x="11124000" y="6533999"/>
            <a:ext cx="936000" cy="270000"/>
          </a:xfrm>
          <a:prstGeom prst="rect">
            <a:avLst/>
          </a:prstGeom>
          <a:noFill/>
        </p:spPr>
        <p:txBody>
          <a:bodyPr wrap="none">
            <a:spAutoFit/>
          </a:bodyPr>
          <a:lstStyle/>
          <a:p>
            <a:pPr algn="r"/>
            <a:fld id="{1B25FC7D-4B76-4A28-BCCC-523FD207A07C}" type="slidenum">
              <a:rPr lang="de-DE" sz="1200">
                <a:solidFill>
                  <a:srgbClr val="6B7280"/>
                </a:solidFill>
              </a:rPr>
              <a:t>13</a:t>
            </a:fld>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3.4</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Kennzahlen im Vergleich (indexiert)</a:t>
            </a:r>
          </a:p>
        </p:txBody>
      </p:sp>
      <p:pic>
        <p:nvPicPr>
          <p:cNvPr id="5" name="Picture 4" descr="abb4_indexiert.png"/>
          <p:cNvPicPr>
            <a:picLocks noChangeAspect="1"/>
          </p:cNvPicPr>
          <p:nvPr/>
        </p:nvPicPr>
        <p:blipFill>
          <a:blip r:embed="rId3"/>
          <a:stretch>
            <a:fillRect/>
          </a:stretch>
        </p:blipFill>
        <p:spPr>
          <a:xfrm>
            <a:off x="720000" y="1152000"/>
            <a:ext cx="10753200" cy="4838940"/>
          </a:xfrm>
          <a:prstGeom prst="rect">
            <a:avLst/>
          </a:prstGeom>
        </p:spPr>
      </p:pic>
      <p:sp>
        <p:nvSpPr>
          <p:cNvPr id="6" name="TextBox 5"/>
          <p:cNvSpPr txBox="1"/>
          <p:nvPr/>
        </p:nvSpPr>
        <p:spPr>
          <a:xfrm>
            <a:off x="503999" y="6062940"/>
            <a:ext cx="11185201" cy="432000"/>
          </a:xfrm>
          <a:prstGeom prst="rect">
            <a:avLst/>
          </a:prstGeom>
          <a:noFill/>
        </p:spPr>
        <p:txBody>
          <a:bodyPr wrap="square" anchor="t">
            <a:spAutoFit/>
          </a:bodyPr>
          <a:lstStyle/>
          <a:p>
            <a:pPr algn="ctr"/>
            <a:r>
              <a:rPr sz="1300" b="0" i="1">
                <a:solidFill>
                  <a:srgbClr val="6B7280"/>
                </a:solidFill>
                <a:latin typeface="Calibri"/>
              </a:rPr>
              <a:t>Startmonat = 100 %: der Index der Langzeitarbeitslosen steigt sichtbar über die anderen Kennzahlen hinaus.</a:t>
            </a:r>
          </a:p>
        </p:txBody>
      </p:sp>
      <p:sp>
        <p:nvSpPr>
          <p:cNvPr id="7" name="TextBox 6"/>
          <p:cNvSpPr txBox="1"/>
          <p:nvPr/>
        </p:nvSpPr>
        <p:spPr>
          <a:xfrm>
            <a:off x="11124000" y="6533999"/>
            <a:ext cx="936000" cy="270000"/>
          </a:xfrm>
          <a:prstGeom prst="rect">
            <a:avLst/>
          </a:prstGeom>
          <a:noFill/>
        </p:spPr>
        <p:txBody>
          <a:bodyPr wrap="none">
            <a:spAutoFit/>
          </a:bodyPr>
          <a:lstStyle/>
          <a:p>
            <a:pPr algn="r"/>
            <a:fld id="{47C2AE65-9759-4902-87B0-D1A5589B35F1}" type="slidenum">
              <a:rPr lang="de-DE" sz="1200">
                <a:solidFill>
                  <a:srgbClr val="6B7280"/>
                </a:solidFill>
              </a:rPr>
              <a:t>14</a:t>
            </a:fld>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3.5</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Altersstruktur und Geschlecht</a:t>
            </a:r>
          </a:p>
        </p:txBody>
      </p:sp>
      <p:pic>
        <p:nvPicPr>
          <p:cNvPr id="5" name="Picture 4" descr="abb5_alter_geschlecht.png"/>
          <p:cNvPicPr>
            <a:picLocks noChangeAspect="1"/>
          </p:cNvPicPr>
          <p:nvPr/>
        </p:nvPicPr>
        <p:blipFill>
          <a:blip r:embed="rId3"/>
          <a:stretch>
            <a:fillRect/>
          </a:stretch>
        </p:blipFill>
        <p:spPr>
          <a:xfrm>
            <a:off x="720000" y="1152000"/>
            <a:ext cx="10753200" cy="4399036"/>
          </a:xfrm>
          <a:prstGeom prst="rect">
            <a:avLst/>
          </a:prstGeom>
        </p:spPr>
      </p:pic>
      <p:sp>
        <p:nvSpPr>
          <p:cNvPr id="6" name="TextBox 5"/>
          <p:cNvSpPr txBox="1"/>
          <p:nvPr/>
        </p:nvSpPr>
        <p:spPr>
          <a:xfrm>
            <a:off x="503999" y="5623036"/>
            <a:ext cx="11185201" cy="432000"/>
          </a:xfrm>
          <a:prstGeom prst="rect">
            <a:avLst/>
          </a:prstGeom>
          <a:noFill/>
        </p:spPr>
        <p:txBody>
          <a:bodyPr wrap="square" anchor="t">
            <a:spAutoFit/>
          </a:bodyPr>
          <a:lstStyle/>
          <a:p>
            <a:pPr algn="ctr"/>
            <a:r>
              <a:rPr sz="1300" b="0" i="1">
                <a:solidFill>
                  <a:srgbClr val="6B7280"/>
                </a:solidFill>
                <a:latin typeface="Calibri"/>
              </a:rPr>
              <a:t>Momentaufnahme für den letzten Berichtsmonat (Juni 2026).</a:t>
            </a:r>
          </a:p>
        </p:txBody>
      </p:sp>
      <p:sp>
        <p:nvSpPr>
          <p:cNvPr id="7" name="TextBox 6"/>
          <p:cNvSpPr txBox="1"/>
          <p:nvPr/>
        </p:nvSpPr>
        <p:spPr>
          <a:xfrm>
            <a:off x="11124000" y="6533999"/>
            <a:ext cx="936000" cy="270000"/>
          </a:xfrm>
          <a:prstGeom prst="rect">
            <a:avLst/>
          </a:prstGeom>
          <a:noFill/>
        </p:spPr>
        <p:txBody>
          <a:bodyPr wrap="none">
            <a:spAutoFit/>
          </a:bodyPr>
          <a:lstStyle/>
          <a:p>
            <a:pPr algn="r"/>
            <a:fld id="{2ECCDA66-1040-4083-9B7B-CBD871D72832}" type="slidenum">
              <a:rPr lang="de-DE" sz="1200">
                <a:solidFill>
                  <a:srgbClr val="6B7280"/>
                </a:solidFill>
              </a:rPr>
              <a:t>15</a:t>
            </a:fld>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0" name="Rectangle Header BG"/>
          <p:cNvSpPr/>
          <p:nvPr/>
        </p:nvSpPr>
        <p:spPr>
          <a:xfrm>
            <a:off x="0" y="0"/>
            <a:ext cx="12193200" cy="936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3.6</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Veränderung zum Vormonat und Vorjahresmonat (Juni 2026)</a:t>
            </a:r>
          </a:p>
        </p:txBody>
      </p:sp>
      <p:sp>
        <p:nvSpPr>
          <p:cNvPr id="5" name="Rectangle 4"/>
          <p:cNvSpPr/>
          <p:nvPr/>
        </p:nvSpPr>
        <p:spPr>
          <a:xfrm>
            <a:off x="503999" y="1296000"/>
            <a:ext cx="2635200" cy="3564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96000"/>
            <a:ext cx="26352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000" y="1458000"/>
            <a:ext cx="2383200" cy="576000"/>
          </a:xfrm>
          <a:prstGeom prst="rect">
            <a:avLst/>
          </a:prstGeom>
          <a:noFill/>
        </p:spPr>
        <p:txBody>
          <a:bodyPr wrap="square">
            <a:spAutoFit/>
          </a:bodyPr>
          <a:lstStyle/>
          <a:p>
            <a:r>
              <a:rPr sz="1500" b="1" i="0">
                <a:solidFill>
                  <a:srgbClr val="3B6EA8"/>
                </a:solidFill>
                <a:latin typeface="Calibri"/>
              </a:rPr>
              <a:t>Arbeitslose
(Bestand)</a:t>
            </a:r>
          </a:p>
        </p:txBody>
      </p:sp>
      <p:sp>
        <p:nvSpPr>
          <p:cNvPr id="8" name="TextBox 7"/>
          <p:cNvSpPr txBox="1"/>
          <p:nvPr/>
        </p:nvSpPr>
        <p:spPr>
          <a:xfrm>
            <a:off x="630000" y="2214000"/>
            <a:ext cx="2383200" cy="342000"/>
          </a:xfrm>
          <a:prstGeom prst="rect">
            <a:avLst/>
          </a:prstGeom>
          <a:noFill/>
        </p:spPr>
        <p:txBody>
          <a:bodyPr wrap="square">
            <a:spAutoFit/>
          </a:bodyPr>
          <a:lstStyle/>
          <a:p>
            <a:r>
              <a:rPr sz="950" b="1" i="0">
                <a:solidFill>
                  <a:srgbClr val="6B7280"/>
                </a:solidFill>
                <a:latin typeface="Calibri"/>
              </a:rPr>
              <a:t>ZUM VORMONAT (MAI 2026)</a:t>
            </a:r>
          </a:p>
        </p:txBody>
      </p:sp>
      <p:sp>
        <p:nvSpPr>
          <p:cNvPr id="9" name="TextBox 8"/>
          <p:cNvSpPr txBox="1"/>
          <p:nvPr/>
        </p:nvSpPr>
        <p:spPr>
          <a:xfrm>
            <a:off x="630000" y="2592000"/>
            <a:ext cx="2383200" cy="468000"/>
          </a:xfrm>
          <a:prstGeom prst="rect">
            <a:avLst/>
          </a:prstGeom>
          <a:noFill/>
        </p:spPr>
        <p:txBody>
          <a:bodyPr wrap="square">
            <a:spAutoFit/>
          </a:bodyPr>
          <a:lstStyle/>
          <a:p>
            <a:r>
              <a:rPr sz="1600" b="1" i="0">
                <a:solidFill>
                  <a:srgbClr val="3F7A72"/>
                </a:solidFill>
                <a:latin typeface="Calibri"/>
              </a:rPr>
              <a:t>↓ −52 (−3,4 %)</a:t>
            </a:r>
          </a:p>
        </p:txBody>
      </p:sp>
      <p:sp>
        <p:nvSpPr>
          <p:cNvPr id="10" name="Rectangle 9"/>
          <p:cNvSpPr/>
          <p:nvPr/>
        </p:nvSpPr>
        <p:spPr>
          <a:xfrm>
            <a:off x="630000" y="3114000"/>
            <a:ext cx="2383200" cy="1080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000" y="3221999"/>
            <a:ext cx="2383200" cy="342000"/>
          </a:xfrm>
          <a:prstGeom prst="rect">
            <a:avLst/>
          </a:prstGeom>
          <a:noFill/>
        </p:spPr>
        <p:txBody>
          <a:bodyPr wrap="square">
            <a:spAutoFit/>
          </a:bodyPr>
          <a:lstStyle/>
          <a:p>
            <a:r>
              <a:rPr sz="950" b="1" i="0">
                <a:solidFill>
                  <a:srgbClr val="6B7280"/>
                </a:solidFill>
                <a:latin typeface="Calibri"/>
              </a:rPr>
              <a:t>ZUM VORJAHRESMONAT (JUNI 2025)</a:t>
            </a:r>
          </a:p>
        </p:txBody>
      </p:sp>
      <p:sp>
        <p:nvSpPr>
          <p:cNvPr id="12" name="TextBox 11"/>
          <p:cNvSpPr txBox="1"/>
          <p:nvPr/>
        </p:nvSpPr>
        <p:spPr>
          <a:xfrm>
            <a:off x="630000" y="3600000"/>
            <a:ext cx="2383200" cy="468000"/>
          </a:xfrm>
          <a:prstGeom prst="rect">
            <a:avLst/>
          </a:prstGeom>
          <a:noFill/>
        </p:spPr>
        <p:txBody>
          <a:bodyPr wrap="square">
            <a:spAutoFit/>
          </a:bodyPr>
          <a:lstStyle/>
          <a:p>
            <a:r>
              <a:rPr sz="1600" b="1" i="0">
                <a:solidFill>
                  <a:srgbClr val="3F7A72"/>
                </a:solidFill>
                <a:latin typeface="Calibri"/>
              </a:rPr>
              <a:t>↓ −9 (−0,6 %)</a:t>
            </a:r>
          </a:p>
        </p:txBody>
      </p:sp>
      <p:sp>
        <p:nvSpPr>
          <p:cNvPr id="13" name="Rectangle 12"/>
          <p:cNvSpPr/>
          <p:nvPr/>
        </p:nvSpPr>
        <p:spPr>
          <a:xfrm>
            <a:off x="3355200" y="1296000"/>
            <a:ext cx="2635200" cy="3564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55200" y="1296000"/>
            <a:ext cx="26352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81200" y="1458000"/>
            <a:ext cx="2383200" cy="576000"/>
          </a:xfrm>
          <a:prstGeom prst="rect">
            <a:avLst/>
          </a:prstGeom>
          <a:noFill/>
        </p:spPr>
        <p:txBody>
          <a:bodyPr wrap="square">
            <a:spAutoFit/>
          </a:bodyPr>
          <a:lstStyle/>
          <a:p>
            <a:r>
              <a:rPr sz="1500" b="1" i="0">
                <a:solidFill>
                  <a:srgbClr val="6B5B8F"/>
                </a:solidFill>
                <a:latin typeface="Calibri"/>
              </a:rPr>
              <a:t>Langzeit-
arbeitslose</a:t>
            </a:r>
          </a:p>
        </p:txBody>
      </p:sp>
      <p:sp>
        <p:nvSpPr>
          <p:cNvPr id="16" name="TextBox 15"/>
          <p:cNvSpPr txBox="1"/>
          <p:nvPr/>
        </p:nvSpPr>
        <p:spPr>
          <a:xfrm>
            <a:off x="3481200" y="2214000"/>
            <a:ext cx="2383200" cy="342000"/>
          </a:xfrm>
          <a:prstGeom prst="rect">
            <a:avLst/>
          </a:prstGeom>
          <a:noFill/>
        </p:spPr>
        <p:txBody>
          <a:bodyPr wrap="square">
            <a:spAutoFit/>
          </a:bodyPr>
          <a:lstStyle/>
          <a:p>
            <a:r>
              <a:rPr sz="950" b="1" i="0">
                <a:solidFill>
                  <a:srgbClr val="6B7280"/>
                </a:solidFill>
                <a:latin typeface="Calibri"/>
              </a:rPr>
              <a:t>ZUM VORMONAT (MAI 2026)</a:t>
            </a:r>
          </a:p>
        </p:txBody>
      </p:sp>
      <p:sp>
        <p:nvSpPr>
          <p:cNvPr id="17" name="TextBox 16"/>
          <p:cNvSpPr txBox="1"/>
          <p:nvPr/>
        </p:nvSpPr>
        <p:spPr>
          <a:xfrm>
            <a:off x="3481200" y="2592000"/>
            <a:ext cx="2383200" cy="468000"/>
          </a:xfrm>
          <a:prstGeom prst="rect">
            <a:avLst/>
          </a:prstGeom>
          <a:noFill/>
        </p:spPr>
        <p:txBody>
          <a:bodyPr wrap="square">
            <a:spAutoFit/>
          </a:bodyPr>
          <a:lstStyle/>
          <a:p>
            <a:r>
              <a:rPr sz="1600" b="1" i="0">
                <a:solidFill>
                  <a:srgbClr val="3F7A72"/>
                </a:solidFill>
                <a:latin typeface="Calibri"/>
              </a:rPr>
              <a:t>↓ −5 (−0,7 %)</a:t>
            </a:r>
          </a:p>
        </p:txBody>
      </p:sp>
      <p:sp>
        <p:nvSpPr>
          <p:cNvPr id="18" name="Rectangle 17"/>
          <p:cNvSpPr/>
          <p:nvPr/>
        </p:nvSpPr>
        <p:spPr>
          <a:xfrm>
            <a:off x="3481200" y="3114000"/>
            <a:ext cx="2383200" cy="1080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81200" y="3221999"/>
            <a:ext cx="2383200" cy="342000"/>
          </a:xfrm>
          <a:prstGeom prst="rect">
            <a:avLst/>
          </a:prstGeom>
          <a:noFill/>
        </p:spPr>
        <p:txBody>
          <a:bodyPr wrap="square">
            <a:spAutoFit/>
          </a:bodyPr>
          <a:lstStyle/>
          <a:p>
            <a:r>
              <a:rPr sz="950" b="1" i="0">
                <a:solidFill>
                  <a:srgbClr val="6B7280"/>
                </a:solidFill>
                <a:latin typeface="Calibri"/>
              </a:rPr>
              <a:t>ZUM VORJAHRESMONAT (JUNI 2025)</a:t>
            </a:r>
          </a:p>
        </p:txBody>
      </p:sp>
      <p:sp>
        <p:nvSpPr>
          <p:cNvPr id="20" name="TextBox 19"/>
          <p:cNvSpPr txBox="1"/>
          <p:nvPr/>
        </p:nvSpPr>
        <p:spPr>
          <a:xfrm>
            <a:off x="3481200" y="3600000"/>
            <a:ext cx="2383200" cy="468000"/>
          </a:xfrm>
          <a:prstGeom prst="rect">
            <a:avLst/>
          </a:prstGeom>
          <a:noFill/>
        </p:spPr>
        <p:txBody>
          <a:bodyPr wrap="square">
            <a:spAutoFit/>
          </a:bodyPr>
          <a:lstStyle/>
          <a:p>
            <a:r>
              <a:rPr sz="1600" b="1" i="0">
                <a:solidFill>
                  <a:srgbClr val="A0453F"/>
                </a:solidFill>
                <a:latin typeface="Calibri"/>
              </a:rPr>
              <a:t>↑ +158 (+28,7 %)</a:t>
            </a:r>
          </a:p>
        </p:txBody>
      </p:sp>
      <p:sp>
        <p:nvSpPr>
          <p:cNvPr id="21" name="Rectangle 20"/>
          <p:cNvSpPr/>
          <p:nvPr/>
        </p:nvSpPr>
        <p:spPr>
          <a:xfrm>
            <a:off x="6202800" y="1296000"/>
            <a:ext cx="2635200" cy="3564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02800" y="1296000"/>
            <a:ext cx="2635200" cy="9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28800" y="1458000"/>
            <a:ext cx="2383200" cy="576000"/>
          </a:xfrm>
          <a:prstGeom prst="rect">
            <a:avLst/>
          </a:prstGeom>
          <a:noFill/>
        </p:spPr>
        <p:txBody>
          <a:bodyPr wrap="square">
            <a:spAutoFit/>
          </a:bodyPr>
          <a:lstStyle/>
          <a:p>
            <a:r>
              <a:rPr sz="1500" b="1" i="0">
                <a:solidFill>
                  <a:srgbClr val="C79A56"/>
                </a:solidFill>
                <a:latin typeface="Calibri"/>
              </a:rPr>
              <a:t>Bedarfs-
gemeinschaften</a:t>
            </a:r>
          </a:p>
        </p:txBody>
      </p:sp>
      <p:sp>
        <p:nvSpPr>
          <p:cNvPr id="24" name="TextBox 23"/>
          <p:cNvSpPr txBox="1"/>
          <p:nvPr/>
        </p:nvSpPr>
        <p:spPr>
          <a:xfrm>
            <a:off x="6328800" y="2214000"/>
            <a:ext cx="2383200" cy="342000"/>
          </a:xfrm>
          <a:prstGeom prst="rect">
            <a:avLst/>
          </a:prstGeom>
          <a:noFill/>
        </p:spPr>
        <p:txBody>
          <a:bodyPr wrap="square">
            <a:spAutoFit/>
          </a:bodyPr>
          <a:lstStyle/>
          <a:p>
            <a:r>
              <a:rPr sz="950" b="1" i="0">
                <a:solidFill>
                  <a:srgbClr val="6B7280"/>
                </a:solidFill>
                <a:latin typeface="Calibri"/>
              </a:rPr>
              <a:t>ZUM VORMONAT (MAI 2026)</a:t>
            </a:r>
          </a:p>
        </p:txBody>
      </p:sp>
      <p:sp>
        <p:nvSpPr>
          <p:cNvPr id="25" name="TextBox 24"/>
          <p:cNvSpPr txBox="1"/>
          <p:nvPr/>
        </p:nvSpPr>
        <p:spPr>
          <a:xfrm>
            <a:off x="6328800" y="2592000"/>
            <a:ext cx="2383200" cy="468000"/>
          </a:xfrm>
          <a:prstGeom prst="rect">
            <a:avLst/>
          </a:prstGeom>
          <a:noFill/>
        </p:spPr>
        <p:txBody>
          <a:bodyPr wrap="square">
            <a:spAutoFit/>
          </a:bodyPr>
          <a:lstStyle/>
          <a:p>
            <a:r>
              <a:rPr sz="1600" b="1" i="0">
                <a:solidFill>
                  <a:srgbClr val="3F7A72"/>
                </a:solidFill>
                <a:latin typeface="Calibri"/>
              </a:rPr>
              <a:t>↓ −41 (−1,5 %)</a:t>
            </a:r>
          </a:p>
        </p:txBody>
      </p:sp>
      <p:sp>
        <p:nvSpPr>
          <p:cNvPr id="26" name="Rectangle 25"/>
          <p:cNvSpPr/>
          <p:nvPr/>
        </p:nvSpPr>
        <p:spPr>
          <a:xfrm>
            <a:off x="6328800" y="3114000"/>
            <a:ext cx="2383200" cy="1080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28800" y="3221999"/>
            <a:ext cx="2383200" cy="342000"/>
          </a:xfrm>
          <a:prstGeom prst="rect">
            <a:avLst/>
          </a:prstGeom>
          <a:noFill/>
        </p:spPr>
        <p:txBody>
          <a:bodyPr wrap="square">
            <a:spAutoFit/>
          </a:bodyPr>
          <a:lstStyle/>
          <a:p>
            <a:r>
              <a:rPr sz="950" b="1" i="0">
                <a:solidFill>
                  <a:srgbClr val="6B7280"/>
                </a:solidFill>
                <a:latin typeface="Calibri"/>
              </a:rPr>
              <a:t>ZUM VORJAHRESMONAT (JUNI 2025)</a:t>
            </a:r>
          </a:p>
        </p:txBody>
      </p:sp>
      <p:sp>
        <p:nvSpPr>
          <p:cNvPr id="28" name="TextBox 27"/>
          <p:cNvSpPr txBox="1"/>
          <p:nvPr/>
        </p:nvSpPr>
        <p:spPr>
          <a:xfrm>
            <a:off x="6328800" y="3600000"/>
            <a:ext cx="2383200" cy="468000"/>
          </a:xfrm>
          <a:prstGeom prst="rect">
            <a:avLst/>
          </a:prstGeom>
          <a:noFill/>
        </p:spPr>
        <p:txBody>
          <a:bodyPr wrap="square">
            <a:spAutoFit/>
          </a:bodyPr>
          <a:lstStyle/>
          <a:p>
            <a:r>
              <a:rPr sz="1600" b="1" i="0">
                <a:solidFill>
                  <a:srgbClr val="3F7A72"/>
                </a:solidFill>
                <a:latin typeface="Calibri"/>
              </a:rPr>
              <a:t>↓ −23 (−0,9 %)</a:t>
            </a:r>
          </a:p>
        </p:txBody>
      </p:sp>
      <p:sp>
        <p:nvSpPr>
          <p:cNvPr id="29" name="Rectangle 28"/>
          <p:cNvSpPr/>
          <p:nvPr/>
        </p:nvSpPr>
        <p:spPr>
          <a:xfrm>
            <a:off x="9054000" y="1296000"/>
            <a:ext cx="2635200" cy="3564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054000" y="1296000"/>
            <a:ext cx="26352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80000" y="1458000"/>
            <a:ext cx="2383200" cy="576000"/>
          </a:xfrm>
          <a:prstGeom prst="rect">
            <a:avLst/>
          </a:prstGeom>
          <a:noFill/>
        </p:spPr>
        <p:txBody>
          <a:bodyPr wrap="square">
            <a:spAutoFit/>
          </a:bodyPr>
          <a:lstStyle/>
          <a:p>
            <a:r>
              <a:rPr sz="1500" b="1" i="0">
                <a:solidFill>
                  <a:srgbClr val="3F7A72"/>
                </a:solidFill>
                <a:latin typeface="Calibri"/>
              </a:rPr>
              <a:t>Personen
in BG</a:t>
            </a:r>
          </a:p>
        </p:txBody>
      </p:sp>
      <p:sp>
        <p:nvSpPr>
          <p:cNvPr id="32" name="TextBox 31"/>
          <p:cNvSpPr txBox="1"/>
          <p:nvPr/>
        </p:nvSpPr>
        <p:spPr>
          <a:xfrm>
            <a:off x="9180000" y="2214000"/>
            <a:ext cx="2383200" cy="342000"/>
          </a:xfrm>
          <a:prstGeom prst="rect">
            <a:avLst/>
          </a:prstGeom>
          <a:noFill/>
        </p:spPr>
        <p:txBody>
          <a:bodyPr wrap="square">
            <a:spAutoFit/>
          </a:bodyPr>
          <a:lstStyle/>
          <a:p>
            <a:r>
              <a:rPr sz="950" b="1" i="0">
                <a:solidFill>
                  <a:srgbClr val="6B7280"/>
                </a:solidFill>
                <a:latin typeface="Calibri"/>
              </a:rPr>
              <a:t>ZUM VORMONAT (MAI 2026)</a:t>
            </a:r>
          </a:p>
        </p:txBody>
      </p:sp>
      <p:sp>
        <p:nvSpPr>
          <p:cNvPr id="33" name="TextBox 32"/>
          <p:cNvSpPr txBox="1"/>
          <p:nvPr/>
        </p:nvSpPr>
        <p:spPr>
          <a:xfrm>
            <a:off x="9180000" y="2592000"/>
            <a:ext cx="2383200" cy="468000"/>
          </a:xfrm>
          <a:prstGeom prst="rect">
            <a:avLst/>
          </a:prstGeom>
          <a:noFill/>
        </p:spPr>
        <p:txBody>
          <a:bodyPr wrap="square">
            <a:spAutoFit/>
          </a:bodyPr>
          <a:lstStyle/>
          <a:p>
            <a:r>
              <a:rPr sz="1600" b="1" i="0">
                <a:solidFill>
                  <a:srgbClr val="3F7A72"/>
                </a:solidFill>
                <a:latin typeface="Calibri"/>
              </a:rPr>
              <a:t>↓ −65 (−1,2 %)</a:t>
            </a:r>
          </a:p>
        </p:txBody>
      </p:sp>
      <p:sp>
        <p:nvSpPr>
          <p:cNvPr id="34" name="Rectangle 33"/>
          <p:cNvSpPr/>
          <p:nvPr/>
        </p:nvSpPr>
        <p:spPr>
          <a:xfrm>
            <a:off x="9180000" y="3114000"/>
            <a:ext cx="2383200" cy="1080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80000" y="3221999"/>
            <a:ext cx="2383200" cy="342000"/>
          </a:xfrm>
          <a:prstGeom prst="rect">
            <a:avLst/>
          </a:prstGeom>
          <a:noFill/>
        </p:spPr>
        <p:txBody>
          <a:bodyPr wrap="square">
            <a:spAutoFit/>
          </a:bodyPr>
          <a:lstStyle/>
          <a:p>
            <a:r>
              <a:rPr sz="950" b="1" i="0">
                <a:solidFill>
                  <a:srgbClr val="6B7280"/>
                </a:solidFill>
                <a:latin typeface="Calibri"/>
              </a:rPr>
              <a:t>ZUM VORJAHRESMONAT (JUNI 2025)</a:t>
            </a:r>
          </a:p>
        </p:txBody>
      </p:sp>
      <p:sp>
        <p:nvSpPr>
          <p:cNvPr id="36" name="TextBox 35"/>
          <p:cNvSpPr txBox="1"/>
          <p:nvPr/>
        </p:nvSpPr>
        <p:spPr>
          <a:xfrm>
            <a:off x="9180000" y="3600000"/>
            <a:ext cx="2383200" cy="468000"/>
          </a:xfrm>
          <a:prstGeom prst="rect">
            <a:avLst/>
          </a:prstGeom>
          <a:noFill/>
        </p:spPr>
        <p:txBody>
          <a:bodyPr wrap="square">
            <a:spAutoFit/>
          </a:bodyPr>
          <a:lstStyle/>
          <a:p>
            <a:r>
              <a:rPr sz="1600" b="1" i="0">
                <a:solidFill>
                  <a:srgbClr val="3F7A72"/>
                </a:solidFill>
                <a:latin typeface="Calibri"/>
              </a:rPr>
              <a:t>↓ −126 (−2,4 %)</a:t>
            </a:r>
          </a:p>
        </p:txBody>
      </p:sp>
      <p:sp>
        <p:nvSpPr>
          <p:cNvPr id="37" name="TextBox 36"/>
          <p:cNvSpPr txBox="1"/>
          <p:nvPr/>
        </p:nvSpPr>
        <p:spPr>
          <a:xfrm>
            <a:off x="503999" y="5004000"/>
            <a:ext cx="11185200" cy="432000"/>
          </a:xfrm>
          <a:prstGeom prst="rect">
            <a:avLst/>
          </a:prstGeom>
          <a:noFill/>
        </p:spPr>
        <p:txBody>
          <a:bodyPr wrap="square">
            <a:spAutoFit/>
          </a:bodyPr>
          <a:lstStyle/>
          <a:p>
            <a:r>
              <a:rPr sz="1400" b="0" i="1">
                <a:solidFill>
                  <a:srgbClr val="6B7280"/>
                </a:solidFill>
                <a:latin typeface="Calibri"/>
              </a:rPr>
              <a:t>Auffällig: Die Langzeitarbeitslosigkeit ist die einzige Kennzahl mit einem deutlichen Anstieg zum Vorjahresmonat (+28,7 %) — alle anderen Kennzahlen sind gegenüber Vormonat und Vorjahr rückläufig.</a:t>
            </a:r>
          </a:p>
        </p:txBody>
      </p:sp>
      <p:sp>
        <p:nvSpPr>
          <p:cNvPr id="38" name="TextBox 37"/>
          <p:cNvSpPr txBox="1"/>
          <p:nvPr/>
        </p:nvSpPr>
        <p:spPr>
          <a:xfrm>
            <a:off x="11124000" y="6533999"/>
            <a:ext cx="936000" cy="270000"/>
          </a:xfrm>
          <a:prstGeom prst="rect">
            <a:avLst/>
          </a:prstGeom>
          <a:noFill/>
        </p:spPr>
        <p:txBody>
          <a:bodyPr wrap="none">
            <a:spAutoFit/>
          </a:bodyPr>
          <a:lstStyle/>
          <a:p>
            <a:pPr algn="r"/>
            <a:fld id="{460BEF1D-6C76-4C40-8867-1482594E6945}" type="slidenum">
              <a:rPr lang="de-DE" sz="1200">
                <a:solidFill>
                  <a:srgbClr val="6B7280"/>
                </a:solidFill>
              </a:rPr>
              <a:t>16</a:t>
            </a:fld>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i="0">
                <a:solidFill>
                  <a:srgbClr val="FFFFFF"/>
                </a:solidFill>
                <a:latin typeface="Calibri"/>
              </a:rPr>
              <a:t>3.7</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Zusammenfassung der Analyseergebnisse</a:t>
            </a:r>
          </a:p>
        </p:txBody>
      </p:sp>
      <p:sp>
        <p:nvSpPr>
          <p:cNvPr id="5" name="Rectangle 4"/>
          <p:cNvSpPr/>
          <p:nvPr/>
        </p:nvSpPr>
        <p:spPr>
          <a:xfrm>
            <a:off x="503999" y="1224000"/>
            <a:ext cx="2635200" cy="226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26352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000" y="1350000"/>
            <a:ext cx="2383200" cy="468000"/>
          </a:xfrm>
          <a:prstGeom prst="rect">
            <a:avLst/>
          </a:prstGeom>
          <a:noFill/>
        </p:spPr>
        <p:txBody>
          <a:bodyPr wrap="square">
            <a:spAutoFit/>
          </a:bodyPr>
          <a:lstStyle/>
          <a:p>
            <a:r>
              <a:rPr sz="1400" b="1" i="0">
                <a:solidFill>
                  <a:srgbClr val="3B6EA8"/>
                </a:solidFill>
                <a:latin typeface="Calibri"/>
              </a:rPr>
              <a:t>Arbeitslose (Bestand)</a:t>
            </a:r>
          </a:p>
        </p:txBody>
      </p:sp>
      <p:sp>
        <p:nvSpPr>
          <p:cNvPr id="8" name="TextBox 7"/>
          <p:cNvSpPr txBox="1"/>
          <p:nvPr/>
        </p:nvSpPr>
        <p:spPr>
          <a:xfrm>
            <a:off x="630000" y="1854000"/>
            <a:ext cx="2383200" cy="198000"/>
          </a:xfrm>
          <a:prstGeom prst="rect">
            <a:avLst/>
          </a:prstGeom>
          <a:noFill/>
        </p:spPr>
        <p:txBody>
          <a:bodyPr wrap="square">
            <a:spAutoFit/>
          </a:bodyPr>
          <a:lstStyle/>
          <a:p>
            <a:r>
              <a:rPr sz="850" b="1" i="0">
                <a:solidFill>
                  <a:srgbClr val="6B7280"/>
                </a:solidFill>
                <a:latin typeface="Calibri"/>
              </a:rPr>
              <a:t>ZEITRAUM: JAN 2025 – JUN 2026</a:t>
            </a:r>
          </a:p>
        </p:txBody>
      </p:sp>
      <p:sp>
        <p:nvSpPr>
          <p:cNvPr id="9" name="TextBox 8"/>
          <p:cNvSpPr txBox="1"/>
          <p:nvPr/>
        </p:nvSpPr>
        <p:spPr>
          <a:xfrm>
            <a:off x="630000" y="2088000"/>
            <a:ext cx="2383200" cy="558000"/>
          </a:xfrm>
          <a:prstGeom prst="rect">
            <a:avLst/>
          </a:prstGeom>
          <a:noFill/>
        </p:spPr>
        <p:txBody>
          <a:bodyPr wrap="square">
            <a:spAutoFit/>
          </a:bodyPr>
          <a:lstStyle/>
          <a:p>
            <a:r>
              <a:rPr sz="2200" b="1" i="0">
                <a:solidFill>
                  <a:srgbClr val="374151"/>
                </a:solidFill>
                <a:latin typeface="Calibri"/>
              </a:rPr>
              <a:t>1.470 → 1.500</a:t>
            </a:r>
          </a:p>
        </p:txBody>
      </p:sp>
      <p:sp>
        <p:nvSpPr>
          <p:cNvPr id="10" name="TextBox 9"/>
          <p:cNvSpPr txBox="1"/>
          <p:nvPr/>
        </p:nvSpPr>
        <p:spPr>
          <a:xfrm>
            <a:off x="630000" y="2681999"/>
            <a:ext cx="2383200" cy="756000"/>
          </a:xfrm>
          <a:prstGeom prst="rect">
            <a:avLst/>
          </a:prstGeom>
          <a:noFill/>
        </p:spPr>
        <p:txBody>
          <a:bodyPr wrap="square">
            <a:spAutoFit/>
          </a:bodyPr>
          <a:lstStyle/>
          <a:p>
            <a:r>
              <a:rPr sz="1250" b="0" i="0">
                <a:solidFill>
                  <a:srgbClr val="6B7280"/>
                </a:solidFill>
                <a:latin typeface="Calibri"/>
              </a:rPr>
              <a:t>leicht gestiegen · Spanne 1.382–1.587</a:t>
            </a:r>
          </a:p>
        </p:txBody>
      </p:sp>
      <p:sp>
        <p:nvSpPr>
          <p:cNvPr id="11" name="Rectangle 10"/>
          <p:cNvSpPr/>
          <p:nvPr/>
        </p:nvSpPr>
        <p:spPr>
          <a:xfrm>
            <a:off x="3355200" y="1224000"/>
            <a:ext cx="2635200" cy="226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55200" y="1224000"/>
            <a:ext cx="26352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81200" y="1350000"/>
            <a:ext cx="2383200" cy="468000"/>
          </a:xfrm>
          <a:prstGeom prst="rect">
            <a:avLst/>
          </a:prstGeom>
          <a:noFill/>
        </p:spPr>
        <p:txBody>
          <a:bodyPr wrap="square">
            <a:spAutoFit/>
          </a:bodyPr>
          <a:lstStyle/>
          <a:p>
            <a:r>
              <a:rPr sz="1400" b="1" i="0">
                <a:solidFill>
                  <a:srgbClr val="6B5B8F"/>
                </a:solidFill>
                <a:latin typeface="Calibri"/>
              </a:rPr>
              <a:t>Arbeitslosenquote</a:t>
            </a:r>
          </a:p>
        </p:txBody>
      </p:sp>
      <p:sp>
        <p:nvSpPr>
          <p:cNvPr id="14" name="TextBox 13"/>
          <p:cNvSpPr txBox="1"/>
          <p:nvPr/>
        </p:nvSpPr>
        <p:spPr>
          <a:xfrm>
            <a:off x="3481200" y="1854000"/>
            <a:ext cx="2383200" cy="198000"/>
          </a:xfrm>
          <a:prstGeom prst="rect">
            <a:avLst/>
          </a:prstGeom>
          <a:noFill/>
        </p:spPr>
        <p:txBody>
          <a:bodyPr wrap="square">
            <a:spAutoFit/>
          </a:bodyPr>
          <a:lstStyle/>
          <a:p>
            <a:r>
              <a:rPr sz="850" b="1" i="0">
                <a:solidFill>
                  <a:srgbClr val="6B7280"/>
                </a:solidFill>
                <a:latin typeface="Calibri"/>
              </a:rPr>
              <a:t>ZEITRAUM: JAN 2025 – JUN 2026</a:t>
            </a:r>
          </a:p>
        </p:txBody>
      </p:sp>
      <p:sp>
        <p:nvSpPr>
          <p:cNvPr id="15" name="TextBox 14"/>
          <p:cNvSpPr txBox="1"/>
          <p:nvPr/>
        </p:nvSpPr>
        <p:spPr>
          <a:xfrm>
            <a:off x="3481200" y="2088000"/>
            <a:ext cx="2383200" cy="558000"/>
          </a:xfrm>
          <a:prstGeom prst="rect">
            <a:avLst/>
          </a:prstGeom>
          <a:noFill/>
        </p:spPr>
        <p:txBody>
          <a:bodyPr wrap="square">
            <a:spAutoFit/>
          </a:bodyPr>
          <a:lstStyle/>
          <a:p>
            <a:r>
              <a:rPr sz="2200" b="1" i="0">
                <a:solidFill>
                  <a:srgbClr val="374151"/>
                </a:solidFill>
                <a:latin typeface="Calibri"/>
              </a:rPr>
              <a:t>1,2–1,4 %</a:t>
            </a:r>
          </a:p>
        </p:txBody>
      </p:sp>
      <p:sp>
        <p:nvSpPr>
          <p:cNvPr id="16" name="TextBox 15"/>
          <p:cNvSpPr txBox="1"/>
          <p:nvPr/>
        </p:nvSpPr>
        <p:spPr>
          <a:xfrm>
            <a:off x="3481200" y="2681999"/>
            <a:ext cx="2383200" cy="756000"/>
          </a:xfrm>
          <a:prstGeom prst="rect">
            <a:avLst/>
          </a:prstGeom>
          <a:noFill/>
        </p:spPr>
        <p:txBody>
          <a:bodyPr wrap="square">
            <a:spAutoFit/>
          </a:bodyPr>
          <a:lstStyle/>
          <a:p>
            <a:r>
              <a:rPr sz="1250" b="0" i="0">
                <a:solidFill>
                  <a:srgbClr val="6B7280"/>
                </a:solidFill>
                <a:latin typeface="Calibri"/>
              </a:rPr>
              <a:t>stabil über den gesamten Zeitraum</a:t>
            </a:r>
          </a:p>
        </p:txBody>
      </p:sp>
      <p:sp>
        <p:nvSpPr>
          <p:cNvPr id="17" name="Rectangle 16"/>
          <p:cNvSpPr/>
          <p:nvPr/>
        </p:nvSpPr>
        <p:spPr>
          <a:xfrm>
            <a:off x="6202800" y="1224000"/>
            <a:ext cx="2635200" cy="226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02800" y="1224000"/>
            <a:ext cx="26352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28800" y="1350000"/>
            <a:ext cx="2383200" cy="468000"/>
          </a:xfrm>
          <a:prstGeom prst="rect">
            <a:avLst/>
          </a:prstGeom>
          <a:noFill/>
        </p:spPr>
        <p:txBody>
          <a:bodyPr wrap="square">
            <a:spAutoFit/>
          </a:bodyPr>
          <a:lstStyle/>
          <a:p>
            <a:r>
              <a:rPr sz="1400" b="1" i="0">
                <a:solidFill>
                  <a:srgbClr val="A0453F"/>
                </a:solidFill>
                <a:latin typeface="Calibri"/>
              </a:rPr>
              <a:t>Langzeitarbeitslosigkeit</a:t>
            </a:r>
          </a:p>
        </p:txBody>
      </p:sp>
      <p:sp>
        <p:nvSpPr>
          <p:cNvPr id="20" name="TextBox 19"/>
          <p:cNvSpPr txBox="1"/>
          <p:nvPr/>
        </p:nvSpPr>
        <p:spPr>
          <a:xfrm>
            <a:off x="6328800" y="1854000"/>
            <a:ext cx="2383200" cy="198000"/>
          </a:xfrm>
          <a:prstGeom prst="rect">
            <a:avLst/>
          </a:prstGeom>
          <a:noFill/>
        </p:spPr>
        <p:txBody>
          <a:bodyPr wrap="square">
            <a:spAutoFit/>
          </a:bodyPr>
          <a:lstStyle/>
          <a:p>
            <a:r>
              <a:rPr sz="850" b="1" i="0">
                <a:solidFill>
                  <a:srgbClr val="6B7280"/>
                </a:solidFill>
                <a:latin typeface="Calibri"/>
              </a:rPr>
              <a:t>ZEITRAUM: JAN 2025 – JUN 2026</a:t>
            </a:r>
          </a:p>
        </p:txBody>
      </p:sp>
      <p:sp>
        <p:nvSpPr>
          <p:cNvPr id="21" name="TextBox 20"/>
          <p:cNvSpPr txBox="1"/>
          <p:nvPr/>
        </p:nvSpPr>
        <p:spPr>
          <a:xfrm>
            <a:off x="6328800" y="2088000"/>
            <a:ext cx="2383200" cy="558000"/>
          </a:xfrm>
          <a:prstGeom prst="rect">
            <a:avLst/>
          </a:prstGeom>
          <a:noFill/>
        </p:spPr>
        <p:txBody>
          <a:bodyPr wrap="square">
            <a:spAutoFit/>
          </a:bodyPr>
          <a:lstStyle/>
          <a:p>
            <a:r>
              <a:rPr sz="2200" b="1" i="0">
                <a:solidFill>
                  <a:srgbClr val="374151"/>
                </a:solidFill>
                <a:latin typeface="Calibri"/>
              </a:rPr>
              <a:t>502 → 709</a:t>
            </a:r>
          </a:p>
        </p:txBody>
      </p:sp>
      <p:sp>
        <p:nvSpPr>
          <p:cNvPr id="22" name="TextBox 21"/>
          <p:cNvSpPr txBox="1"/>
          <p:nvPr/>
        </p:nvSpPr>
        <p:spPr>
          <a:xfrm>
            <a:off x="6328800" y="2681999"/>
            <a:ext cx="2383200" cy="756000"/>
          </a:xfrm>
          <a:prstGeom prst="rect">
            <a:avLst/>
          </a:prstGeom>
          <a:noFill/>
        </p:spPr>
        <p:txBody>
          <a:bodyPr wrap="square">
            <a:spAutoFit/>
          </a:bodyPr>
          <a:lstStyle/>
          <a:p>
            <a:r>
              <a:rPr sz="1250" b="0" i="0">
                <a:solidFill>
                  <a:srgbClr val="6B7280"/>
                </a:solidFill>
                <a:latin typeface="Calibri"/>
              </a:rPr>
              <a:t>+ rund 41 % — deutlichster Trend</a:t>
            </a:r>
          </a:p>
        </p:txBody>
      </p:sp>
      <p:sp>
        <p:nvSpPr>
          <p:cNvPr id="23" name="Rectangle 22"/>
          <p:cNvSpPr/>
          <p:nvPr/>
        </p:nvSpPr>
        <p:spPr>
          <a:xfrm>
            <a:off x="9054000" y="1224000"/>
            <a:ext cx="2635200" cy="226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54000" y="1224000"/>
            <a:ext cx="26352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0000" y="1350000"/>
            <a:ext cx="2383200" cy="468000"/>
          </a:xfrm>
          <a:prstGeom prst="rect">
            <a:avLst/>
          </a:prstGeom>
          <a:noFill/>
        </p:spPr>
        <p:txBody>
          <a:bodyPr wrap="square">
            <a:spAutoFit/>
          </a:bodyPr>
          <a:lstStyle/>
          <a:p>
            <a:r>
              <a:rPr sz="1400" b="1" i="0">
                <a:solidFill>
                  <a:srgbClr val="3F7A72"/>
                </a:solidFill>
                <a:latin typeface="Calibri"/>
              </a:rPr>
              <a:t>Bedarfsgemeinschaften /
Personen in BG</a:t>
            </a:r>
          </a:p>
        </p:txBody>
      </p:sp>
      <p:sp>
        <p:nvSpPr>
          <p:cNvPr id="26" name="TextBox 25"/>
          <p:cNvSpPr txBox="1"/>
          <p:nvPr/>
        </p:nvSpPr>
        <p:spPr>
          <a:xfrm>
            <a:off x="9180000" y="1854000"/>
            <a:ext cx="2383200" cy="198000"/>
          </a:xfrm>
          <a:prstGeom prst="rect">
            <a:avLst/>
          </a:prstGeom>
          <a:noFill/>
        </p:spPr>
        <p:txBody>
          <a:bodyPr wrap="square">
            <a:spAutoFit/>
          </a:bodyPr>
          <a:lstStyle/>
          <a:p>
            <a:r>
              <a:rPr sz="850" b="1" i="0">
                <a:solidFill>
                  <a:srgbClr val="6B7280"/>
                </a:solidFill>
                <a:latin typeface="Calibri"/>
              </a:rPr>
              <a:t>ZEITRAUM: JAN 2025 – JUN 2026</a:t>
            </a:r>
          </a:p>
        </p:txBody>
      </p:sp>
      <p:sp>
        <p:nvSpPr>
          <p:cNvPr id="27" name="TextBox 26"/>
          <p:cNvSpPr txBox="1"/>
          <p:nvPr/>
        </p:nvSpPr>
        <p:spPr>
          <a:xfrm>
            <a:off x="9180000" y="2088000"/>
            <a:ext cx="2383200" cy="558000"/>
          </a:xfrm>
          <a:prstGeom prst="rect">
            <a:avLst/>
          </a:prstGeom>
          <a:noFill/>
        </p:spPr>
        <p:txBody>
          <a:bodyPr wrap="square">
            <a:spAutoFit/>
          </a:bodyPr>
          <a:lstStyle/>
          <a:p>
            <a:r>
              <a:rPr sz="2200" b="1" i="0">
                <a:solidFill>
                  <a:srgbClr val="374151"/>
                </a:solidFill>
                <a:latin typeface="Calibri"/>
              </a:rPr>
              <a:t>−4 % / −6 %</a:t>
            </a:r>
          </a:p>
        </p:txBody>
      </p:sp>
      <p:sp>
        <p:nvSpPr>
          <p:cNvPr id="28" name="TextBox 27"/>
          <p:cNvSpPr txBox="1"/>
          <p:nvPr/>
        </p:nvSpPr>
        <p:spPr>
          <a:xfrm>
            <a:off x="9180000" y="2681999"/>
            <a:ext cx="2383200" cy="756000"/>
          </a:xfrm>
          <a:prstGeom prst="rect">
            <a:avLst/>
          </a:prstGeom>
          <a:noFill/>
        </p:spPr>
        <p:txBody>
          <a:bodyPr wrap="square">
            <a:spAutoFit/>
          </a:bodyPr>
          <a:lstStyle/>
          <a:p>
            <a:r>
              <a:rPr sz="1250" b="0" i="0">
                <a:solidFill>
                  <a:srgbClr val="6B7280"/>
                </a:solidFill>
                <a:latin typeface="Calibri"/>
              </a:rPr>
              <a:t>beide Kennzahlen rückläufig</a:t>
            </a:r>
          </a:p>
        </p:txBody>
      </p:sp>
      <p:sp>
        <p:nvSpPr>
          <p:cNvPr id="29" name="Rectangle 28"/>
          <p:cNvSpPr/>
          <p:nvPr/>
        </p:nvSpPr>
        <p:spPr>
          <a:xfrm>
            <a:off x="503999" y="3690000"/>
            <a:ext cx="11185200" cy="1655999"/>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3999" y="3690000"/>
            <a:ext cx="90000" cy="1655999"/>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7999" y="3834000"/>
            <a:ext cx="10620000" cy="324000"/>
          </a:xfrm>
          <a:prstGeom prst="rect">
            <a:avLst/>
          </a:prstGeom>
          <a:noFill/>
        </p:spPr>
        <p:txBody>
          <a:bodyPr wrap="square">
            <a:spAutoFit/>
          </a:bodyPr>
          <a:lstStyle/>
          <a:p>
            <a:r>
              <a:rPr sz="1800" b="1" i="0">
                <a:solidFill>
                  <a:srgbClr val="A0453F"/>
                </a:solidFill>
                <a:latin typeface="Calibri"/>
              </a:rPr>
              <a:t>Interpretation</a:t>
            </a:r>
          </a:p>
        </p:txBody>
      </p:sp>
      <p:sp>
        <p:nvSpPr>
          <p:cNvPr id="32" name="TextBox 31"/>
          <p:cNvSpPr txBox="1"/>
          <p:nvPr/>
        </p:nvSpPr>
        <p:spPr>
          <a:xfrm>
            <a:off x="827999" y="4176000"/>
            <a:ext cx="10620000" cy="1062000"/>
          </a:xfrm>
          <a:prstGeom prst="rect">
            <a:avLst/>
          </a:prstGeom>
          <a:noFill/>
        </p:spPr>
        <p:txBody>
          <a:bodyPr wrap="square">
            <a:spAutoFit/>
          </a:bodyPr>
          <a:lstStyle/>
          <a:p>
            <a:r>
              <a:rPr sz="1600" b="0" i="0">
                <a:solidFill>
                  <a:srgbClr val="374151"/>
                </a:solidFill>
                <a:latin typeface="Calibri"/>
              </a:rPr>
              <a:t>Die reine Arbeitslosenzahl ist stabil geblieben — aber die Langzeitarbeitslosigkeit verfestigt sich deutlich, trotz insgesamt sinkender Bedarfsgemeinschaften. Ein Befund, der ohne strukturierte Aufbereitung der Rohdaten kaum erkennbar gewesen wäre.</a:t>
            </a:r>
          </a:p>
        </p:txBody>
      </p:sp>
      <p:sp>
        <p:nvSpPr>
          <p:cNvPr id="33" name="TextBox 32"/>
          <p:cNvSpPr txBox="1"/>
          <p:nvPr/>
        </p:nvSpPr>
        <p:spPr>
          <a:xfrm>
            <a:off x="11124000" y="6533999"/>
            <a:ext cx="936000" cy="270000"/>
          </a:xfrm>
          <a:prstGeom prst="rect">
            <a:avLst/>
          </a:prstGeom>
          <a:noFill/>
        </p:spPr>
        <p:txBody>
          <a:bodyPr wrap="none">
            <a:spAutoFit/>
          </a:bodyPr>
          <a:lstStyle/>
          <a:p>
            <a:pPr algn="r"/>
            <a:fld id="{A9F2984B-1D03-4696-B4E8-1B9E4EEB33F6}" type="slidenum">
              <a:rPr lang="de-DE" sz="1200">
                <a:solidFill>
                  <a:srgbClr val="6B7280"/>
                </a:solidFill>
              </a:rPr>
              <a:t>17</a:t>
            </a:fld>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F7A72"/>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588"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4</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Vertiefte statistische Analyse</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400"/>
              </a:spcAft>
            </a:pPr>
            <a:r>
              <a:rPr sz="1800" b="0" i="0">
                <a:solidFill>
                  <a:srgbClr val="E0E7FF"/>
                </a:solidFill>
                <a:latin typeface="Calibri"/>
              </a:rPr>
              <a:t>●  Deskriptive Statistik im Detail (Median, Varianz, IQR, Variationskoeffizient)</a:t>
            </a:r>
          </a:p>
          <a:p>
            <a:pPr>
              <a:spcAft>
                <a:spcPts val="1400"/>
              </a:spcAft>
            </a:pPr>
            <a:r>
              <a:rPr sz="1800" b="0" i="0">
                <a:solidFill>
                  <a:srgbClr val="E0E7FF"/>
                </a:solidFill>
                <a:latin typeface="Calibri"/>
              </a:rPr>
              <a:t>●  Korrelationsanalyse und Verteilungen</a:t>
            </a:r>
          </a:p>
          <a:p>
            <a:pPr>
              <a:spcAft>
                <a:spcPts val="1400"/>
              </a:spcAft>
            </a:pPr>
            <a:r>
              <a:rPr sz="1800" b="0" i="0">
                <a:solidFill>
                  <a:srgbClr val="E0E7FF"/>
                </a:solidFill>
                <a:latin typeface="Calibri"/>
              </a:rPr>
              <a:t>●  Inferenzstatistik (Hypothesentest) und lineare Regression</a:t>
            </a:r>
          </a:p>
        </p:txBody>
      </p:sp>
      <p:sp>
        <p:nvSpPr>
          <p:cNvPr id="6" name="TextBox 5"/>
          <p:cNvSpPr txBox="1"/>
          <p:nvPr/>
        </p:nvSpPr>
        <p:spPr>
          <a:xfrm>
            <a:off x="11124000" y="6533999"/>
            <a:ext cx="936000" cy="270000"/>
          </a:xfrm>
          <a:prstGeom prst="rect">
            <a:avLst/>
          </a:prstGeom>
          <a:noFill/>
        </p:spPr>
        <p:txBody>
          <a:bodyPr wrap="none">
            <a:spAutoFit/>
          </a:bodyPr>
          <a:lstStyle/>
          <a:p>
            <a:pPr algn="r"/>
            <a:fld id="{30ADB6AF-2F7C-44C2-BF7A-F4289CE07978}" type="slidenum">
              <a:rPr lang="de-DE" sz="1200">
                <a:solidFill>
                  <a:srgbClr val="FFFFFF"/>
                </a:solidFill>
              </a:rPr>
              <a:t>18</a:t>
            </a:fld>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4.1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Deskriptive Statistik im Detail</a:t>
            </a:r>
          </a:p>
        </p:txBody>
      </p:sp>
      <p:sp>
        <p:nvSpPr>
          <p:cNvPr id="5" name="TextBox 4"/>
          <p:cNvSpPr txBox="1"/>
          <p:nvPr/>
        </p:nvSpPr>
        <p:spPr>
          <a:xfrm>
            <a:off x="503999" y="1206000"/>
            <a:ext cx="11185200" cy="288000"/>
          </a:xfrm>
          <a:prstGeom prst="rect">
            <a:avLst/>
          </a:prstGeom>
          <a:noFill/>
        </p:spPr>
        <p:txBody>
          <a:bodyPr wrap="square">
            <a:spAutoFit/>
          </a:bodyPr>
          <a:lstStyle/>
          <a:p>
            <a:r>
              <a:rPr sz="1500" b="0" i="1">
                <a:solidFill>
                  <a:srgbClr val="6B7280"/>
                </a:solidFill>
                <a:latin typeface="Calibri"/>
              </a:rPr>
              <a:t>Streuung und zentrale Tendenz der vier Kernkennzahlen über den gesamten Zeitraum (Jan 2025 – Jun 2026):</a:t>
            </a:r>
          </a:p>
        </p:txBody>
      </p:sp>
      <p:sp>
        <p:nvSpPr>
          <p:cNvPr id="6" name="Rectangle 5"/>
          <p:cNvSpPr/>
          <p:nvPr/>
        </p:nvSpPr>
        <p:spPr>
          <a:xfrm>
            <a:off x="503999" y="1655999"/>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3999" y="1655999"/>
            <a:ext cx="26352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000" y="1781999"/>
            <a:ext cx="2383200" cy="432000"/>
          </a:xfrm>
          <a:prstGeom prst="rect">
            <a:avLst/>
          </a:prstGeom>
          <a:noFill/>
        </p:spPr>
        <p:txBody>
          <a:bodyPr wrap="square">
            <a:spAutoFit/>
          </a:bodyPr>
          <a:lstStyle/>
          <a:p>
            <a:r>
              <a:rPr sz="1400" b="1" i="0">
                <a:solidFill>
                  <a:srgbClr val="3B6EA8"/>
                </a:solidFill>
                <a:latin typeface="Calibri"/>
              </a:rPr>
              <a:t>Arbeitslose
(Bestand)</a:t>
            </a:r>
          </a:p>
        </p:txBody>
      </p:sp>
      <p:sp>
        <p:nvSpPr>
          <p:cNvPr id="9" name="TextBox 8"/>
          <p:cNvSpPr txBox="1"/>
          <p:nvPr/>
        </p:nvSpPr>
        <p:spPr>
          <a:xfrm>
            <a:off x="630000" y="2286000"/>
            <a:ext cx="2383200" cy="144000"/>
          </a:xfrm>
          <a:prstGeom prst="rect">
            <a:avLst/>
          </a:prstGeom>
          <a:noFill/>
        </p:spPr>
        <p:txBody>
          <a:bodyPr wrap="square">
            <a:spAutoFit/>
          </a:bodyPr>
          <a:lstStyle/>
          <a:p>
            <a:r>
              <a:rPr sz="900" b="1" i="0">
                <a:solidFill>
                  <a:srgbClr val="6B7280"/>
                </a:solidFill>
                <a:latin typeface="Calibri"/>
              </a:rPr>
              <a:t>Ø (MITTELWERT)</a:t>
            </a:r>
          </a:p>
        </p:txBody>
      </p:sp>
      <p:sp>
        <p:nvSpPr>
          <p:cNvPr id="10" name="TextBox 9"/>
          <p:cNvSpPr txBox="1"/>
          <p:nvPr/>
        </p:nvSpPr>
        <p:spPr>
          <a:xfrm>
            <a:off x="630000" y="2430000"/>
            <a:ext cx="2383200" cy="270000"/>
          </a:xfrm>
          <a:prstGeom prst="rect">
            <a:avLst/>
          </a:prstGeom>
          <a:noFill/>
        </p:spPr>
        <p:txBody>
          <a:bodyPr wrap="square">
            <a:spAutoFit/>
          </a:bodyPr>
          <a:lstStyle/>
          <a:p>
            <a:r>
              <a:rPr sz="1500" b="1" i="0">
                <a:solidFill>
                  <a:srgbClr val="374151"/>
                </a:solidFill>
                <a:latin typeface="Calibri"/>
              </a:rPr>
              <a:t>1.504,0</a:t>
            </a:r>
          </a:p>
        </p:txBody>
      </p:sp>
      <p:sp>
        <p:nvSpPr>
          <p:cNvPr id="11" name="TextBox 10"/>
          <p:cNvSpPr txBox="1"/>
          <p:nvPr/>
        </p:nvSpPr>
        <p:spPr>
          <a:xfrm>
            <a:off x="630000" y="2754000"/>
            <a:ext cx="2383200" cy="144000"/>
          </a:xfrm>
          <a:prstGeom prst="rect">
            <a:avLst/>
          </a:prstGeom>
          <a:noFill/>
        </p:spPr>
        <p:txBody>
          <a:bodyPr wrap="square">
            <a:spAutoFit/>
          </a:bodyPr>
          <a:lstStyle/>
          <a:p>
            <a:r>
              <a:rPr sz="900" b="1" i="0">
                <a:solidFill>
                  <a:srgbClr val="6B7280"/>
                </a:solidFill>
                <a:latin typeface="Calibri"/>
              </a:rPr>
              <a:t>MEDIAN</a:t>
            </a:r>
          </a:p>
        </p:txBody>
      </p:sp>
      <p:sp>
        <p:nvSpPr>
          <p:cNvPr id="12" name="TextBox 11"/>
          <p:cNvSpPr txBox="1"/>
          <p:nvPr/>
        </p:nvSpPr>
        <p:spPr>
          <a:xfrm>
            <a:off x="630000" y="2898000"/>
            <a:ext cx="2383200" cy="270000"/>
          </a:xfrm>
          <a:prstGeom prst="rect">
            <a:avLst/>
          </a:prstGeom>
          <a:noFill/>
        </p:spPr>
        <p:txBody>
          <a:bodyPr wrap="square">
            <a:spAutoFit/>
          </a:bodyPr>
          <a:lstStyle/>
          <a:p>
            <a:r>
              <a:rPr sz="1500" b="1" i="0">
                <a:solidFill>
                  <a:srgbClr val="374151"/>
                </a:solidFill>
                <a:latin typeface="Calibri"/>
              </a:rPr>
              <a:t>1.513,0</a:t>
            </a:r>
          </a:p>
        </p:txBody>
      </p:sp>
      <p:sp>
        <p:nvSpPr>
          <p:cNvPr id="13" name="Rectangle 12"/>
          <p:cNvSpPr/>
          <p:nvPr/>
        </p:nvSpPr>
        <p:spPr>
          <a:xfrm>
            <a:off x="630000" y="3240000"/>
            <a:ext cx="2383200" cy="1080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000" y="3348000"/>
            <a:ext cx="2383200" cy="144000"/>
          </a:xfrm>
          <a:prstGeom prst="rect">
            <a:avLst/>
          </a:prstGeom>
          <a:noFill/>
        </p:spPr>
        <p:txBody>
          <a:bodyPr wrap="square">
            <a:spAutoFit/>
          </a:bodyPr>
          <a:lstStyle/>
          <a:p>
            <a:r>
              <a:rPr sz="900" b="1" i="0">
                <a:solidFill>
                  <a:srgbClr val="6B7280"/>
                </a:solidFill>
                <a:latin typeface="Calibri"/>
              </a:rPr>
              <a:t>VARIATIONSKOEFFIZIENT</a:t>
            </a:r>
          </a:p>
        </p:txBody>
      </p:sp>
      <p:sp>
        <p:nvSpPr>
          <p:cNvPr id="15" name="TextBox 14"/>
          <p:cNvSpPr txBox="1"/>
          <p:nvPr/>
        </p:nvSpPr>
        <p:spPr>
          <a:xfrm>
            <a:off x="630000" y="3491999"/>
            <a:ext cx="2383200" cy="468000"/>
          </a:xfrm>
          <a:prstGeom prst="rect">
            <a:avLst/>
          </a:prstGeom>
          <a:noFill/>
        </p:spPr>
        <p:txBody>
          <a:bodyPr wrap="square">
            <a:spAutoFit/>
          </a:bodyPr>
          <a:lstStyle/>
          <a:p>
            <a:r>
              <a:rPr sz="2200" b="1" i="0">
                <a:solidFill>
                  <a:srgbClr val="374151"/>
                </a:solidFill>
                <a:latin typeface="Calibri"/>
              </a:rPr>
              <a:t>3,9 %</a:t>
            </a:r>
          </a:p>
        </p:txBody>
      </p:sp>
      <p:sp>
        <p:nvSpPr>
          <p:cNvPr id="16" name="Rectangle 15"/>
          <p:cNvSpPr/>
          <p:nvPr/>
        </p:nvSpPr>
        <p:spPr>
          <a:xfrm>
            <a:off x="3355200" y="1655999"/>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355200" y="1655999"/>
            <a:ext cx="26352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81200" y="1781999"/>
            <a:ext cx="2383200" cy="432000"/>
          </a:xfrm>
          <a:prstGeom prst="rect">
            <a:avLst/>
          </a:prstGeom>
          <a:noFill/>
        </p:spPr>
        <p:txBody>
          <a:bodyPr wrap="square">
            <a:spAutoFit/>
          </a:bodyPr>
          <a:lstStyle/>
          <a:p>
            <a:r>
              <a:rPr sz="1400" b="1" i="0">
                <a:solidFill>
                  <a:srgbClr val="6B5B8F"/>
                </a:solidFill>
                <a:latin typeface="Calibri"/>
              </a:rPr>
              <a:t>Langzeit-
arbeitslose</a:t>
            </a:r>
          </a:p>
        </p:txBody>
      </p:sp>
      <p:sp>
        <p:nvSpPr>
          <p:cNvPr id="19" name="TextBox 18"/>
          <p:cNvSpPr txBox="1"/>
          <p:nvPr/>
        </p:nvSpPr>
        <p:spPr>
          <a:xfrm>
            <a:off x="3481200" y="2286000"/>
            <a:ext cx="2383200" cy="144000"/>
          </a:xfrm>
          <a:prstGeom prst="rect">
            <a:avLst/>
          </a:prstGeom>
          <a:noFill/>
        </p:spPr>
        <p:txBody>
          <a:bodyPr wrap="square">
            <a:spAutoFit/>
          </a:bodyPr>
          <a:lstStyle/>
          <a:p>
            <a:r>
              <a:rPr sz="900" b="1" i="0">
                <a:solidFill>
                  <a:srgbClr val="6B7280"/>
                </a:solidFill>
                <a:latin typeface="Calibri"/>
              </a:rPr>
              <a:t>Ø (MITTELWERT)</a:t>
            </a:r>
          </a:p>
        </p:txBody>
      </p:sp>
      <p:sp>
        <p:nvSpPr>
          <p:cNvPr id="20" name="TextBox 19"/>
          <p:cNvSpPr txBox="1"/>
          <p:nvPr/>
        </p:nvSpPr>
        <p:spPr>
          <a:xfrm>
            <a:off x="3481200" y="2430000"/>
            <a:ext cx="2383200" cy="270000"/>
          </a:xfrm>
          <a:prstGeom prst="rect">
            <a:avLst/>
          </a:prstGeom>
          <a:noFill/>
        </p:spPr>
        <p:txBody>
          <a:bodyPr wrap="square">
            <a:spAutoFit/>
          </a:bodyPr>
          <a:lstStyle/>
          <a:p>
            <a:r>
              <a:rPr sz="1500" b="1" i="0">
                <a:solidFill>
                  <a:srgbClr val="374151"/>
                </a:solidFill>
                <a:latin typeface="Calibri"/>
              </a:rPr>
              <a:t>602,2</a:t>
            </a:r>
          </a:p>
        </p:txBody>
      </p:sp>
      <p:sp>
        <p:nvSpPr>
          <p:cNvPr id="21" name="TextBox 20"/>
          <p:cNvSpPr txBox="1"/>
          <p:nvPr/>
        </p:nvSpPr>
        <p:spPr>
          <a:xfrm>
            <a:off x="3481200" y="2754000"/>
            <a:ext cx="2383200" cy="144000"/>
          </a:xfrm>
          <a:prstGeom prst="rect">
            <a:avLst/>
          </a:prstGeom>
          <a:noFill/>
        </p:spPr>
        <p:txBody>
          <a:bodyPr wrap="square">
            <a:spAutoFit/>
          </a:bodyPr>
          <a:lstStyle/>
          <a:p>
            <a:r>
              <a:rPr sz="900" b="1" i="0">
                <a:solidFill>
                  <a:srgbClr val="6B7280"/>
                </a:solidFill>
                <a:latin typeface="Calibri"/>
              </a:rPr>
              <a:t>MEDIAN</a:t>
            </a:r>
          </a:p>
        </p:txBody>
      </p:sp>
      <p:sp>
        <p:nvSpPr>
          <p:cNvPr id="22" name="TextBox 21"/>
          <p:cNvSpPr txBox="1"/>
          <p:nvPr/>
        </p:nvSpPr>
        <p:spPr>
          <a:xfrm>
            <a:off x="3481200" y="2898000"/>
            <a:ext cx="2383200" cy="270000"/>
          </a:xfrm>
          <a:prstGeom prst="rect">
            <a:avLst/>
          </a:prstGeom>
          <a:noFill/>
        </p:spPr>
        <p:txBody>
          <a:bodyPr wrap="square">
            <a:spAutoFit/>
          </a:bodyPr>
          <a:lstStyle/>
          <a:p>
            <a:r>
              <a:rPr sz="1500" b="1" i="0">
                <a:solidFill>
                  <a:srgbClr val="374151"/>
                </a:solidFill>
                <a:latin typeface="Calibri"/>
              </a:rPr>
              <a:t>599,0</a:t>
            </a:r>
          </a:p>
        </p:txBody>
      </p:sp>
      <p:sp>
        <p:nvSpPr>
          <p:cNvPr id="23" name="Rectangle 22"/>
          <p:cNvSpPr/>
          <p:nvPr/>
        </p:nvSpPr>
        <p:spPr>
          <a:xfrm>
            <a:off x="3481200" y="3240000"/>
            <a:ext cx="2383200" cy="1080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81200" y="3348000"/>
            <a:ext cx="2383200" cy="144000"/>
          </a:xfrm>
          <a:prstGeom prst="rect">
            <a:avLst/>
          </a:prstGeom>
          <a:noFill/>
        </p:spPr>
        <p:txBody>
          <a:bodyPr wrap="square">
            <a:spAutoFit/>
          </a:bodyPr>
          <a:lstStyle/>
          <a:p>
            <a:r>
              <a:rPr sz="900" b="1" i="0">
                <a:solidFill>
                  <a:srgbClr val="6B7280"/>
                </a:solidFill>
                <a:latin typeface="Calibri"/>
              </a:rPr>
              <a:t>VARIATIONSKOEFFIZIENT</a:t>
            </a:r>
          </a:p>
        </p:txBody>
      </p:sp>
      <p:sp>
        <p:nvSpPr>
          <p:cNvPr id="25" name="TextBox 24"/>
          <p:cNvSpPr txBox="1"/>
          <p:nvPr/>
        </p:nvSpPr>
        <p:spPr>
          <a:xfrm>
            <a:off x="3481200" y="3491999"/>
            <a:ext cx="2383200" cy="468000"/>
          </a:xfrm>
          <a:prstGeom prst="rect">
            <a:avLst/>
          </a:prstGeom>
          <a:noFill/>
        </p:spPr>
        <p:txBody>
          <a:bodyPr wrap="square">
            <a:spAutoFit/>
          </a:bodyPr>
          <a:lstStyle/>
          <a:p>
            <a:r>
              <a:rPr sz="2200" b="1" i="0">
                <a:solidFill>
                  <a:srgbClr val="A0453F"/>
                </a:solidFill>
                <a:latin typeface="Calibri"/>
              </a:rPr>
              <a:t>11,8 %</a:t>
            </a:r>
          </a:p>
        </p:txBody>
      </p:sp>
      <p:sp>
        <p:nvSpPr>
          <p:cNvPr id="26" name="Rectangle 25"/>
          <p:cNvSpPr/>
          <p:nvPr/>
        </p:nvSpPr>
        <p:spPr>
          <a:xfrm>
            <a:off x="6202800" y="1655999"/>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02800" y="1655999"/>
            <a:ext cx="2635200" cy="9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28800" y="1781999"/>
            <a:ext cx="2383200" cy="432000"/>
          </a:xfrm>
          <a:prstGeom prst="rect">
            <a:avLst/>
          </a:prstGeom>
          <a:noFill/>
        </p:spPr>
        <p:txBody>
          <a:bodyPr wrap="square">
            <a:spAutoFit/>
          </a:bodyPr>
          <a:lstStyle/>
          <a:p>
            <a:r>
              <a:rPr sz="1400" b="1" i="0">
                <a:solidFill>
                  <a:srgbClr val="C79A56"/>
                </a:solidFill>
                <a:latin typeface="Calibri"/>
              </a:rPr>
              <a:t>Bedarfs-
gemeinschaften</a:t>
            </a:r>
          </a:p>
        </p:txBody>
      </p:sp>
      <p:sp>
        <p:nvSpPr>
          <p:cNvPr id="29" name="TextBox 28"/>
          <p:cNvSpPr txBox="1"/>
          <p:nvPr/>
        </p:nvSpPr>
        <p:spPr>
          <a:xfrm>
            <a:off x="6328800" y="2286000"/>
            <a:ext cx="2383200" cy="144000"/>
          </a:xfrm>
          <a:prstGeom prst="rect">
            <a:avLst/>
          </a:prstGeom>
          <a:noFill/>
        </p:spPr>
        <p:txBody>
          <a:bodyPr wrap="square">
            <a:spAutoFit/>
          </a:bodyPr>
          <a:lstStyle/>
          <a:p>
            <a:r>
              <a:rPr sz="900" b="1" i="0">
                <a:solidFill>
                  <a:srgbClr val="6B7280"/>
                </a:solidFill>
                <a:latin typeface="Calibri"/>
              </a:rPr>
              <a:t>Ø (MITTELWERT)</a:t>
            </a:r>
          </a:p>
        </p:txBody>
      </p:sp>
      <p:sp>
        <p:nvSpPr>
          <p:cNvPr id="30" name="TextBox 29"/>
          <p:cNvSpPr txBox="1"/>
          <p:nvPr/>
        </p:nvSpPr>
        <p:spPr>
          <a:xfrm>
            <a:off x="6328800" y="2430000"/>
            <a:ext cx="2383200" cy="270000"/>
          </a:xfrm>
          <a:prstGeom prst="rect">
            <a:avLst/>
          </a:prstGeom>
          <a:noFill/>
        </p:spPr>
        <p:txBody>
          <a:bodyPr wrap="square">
            <a:spAutoFit/>
          </a:bodyPr>
          <a:lstStyle/>
          <a:p>
            <a:r>
              <a:rPr sz="1500" b="1" i="0">
                <a:solidFill>
                  <a:srgbClr val="374151"/>
                </a:solidFill>
                <a:latin typeface="Calibri"/>
              </a:rPr>
              <a:t>2.691,7</a:t>
            </a:r>
          </a:p>
        </p:txBody>
      </p:sp>
      <p:sp>
        <p:nvSpPr>
          <p:cNvPr id="31" name="TextBox 30"/>
          <p:cNvSpPr txBox="1"/>
          <p:nvPr/>
        </p:nvSpPr>
        <p:spPr>
          <a:xfrm>
            <a:off x="6328800" y="2754000"/>
            <a:ext cx="2383200" cy="144000"/>
          </a:xfrm>
          <a:prstGeom prst="rect">
            <a:avLst/>
          </a:prstGeom>
          <a:noFill/>
        </p:spPr>
        <p:txBody>
          <a:bodyPr wrap="square">
            <a:spAutoFit/>
          </a:bodyPr>
          <a:lstStyle/>
          <a:p>
            <a:r>
              <a:rPr sz="900" b="1" i="0">
                <a:solidFill>
                  <a:srgbClr val="6B7280"/>
                </a:solidFill>
                <a:latin typeface="Calibri"/>
              </a:rPr>
              <a:t>MEDIAN</a:t>
            </a:r>
          </a:p>
        </p:txBody>
      </p:sp>
      <p:sp>
        <p:nvSpPr>
          <p:cNvPr id="32" name="TextBox 31"/>
          <p:cNvSpPr txBox="1"/>
          <p:nvPr/>
        </p:nvSpPr>
        <p:spPr>
          <a:xfrm>
            <a:off x="6328800" y="2898000"/>
            <a:ext cx="2383200" cy="270000"/>
          </a:xfrm>
          <a:prstGeom prst="rect">
            <a:avLst/>
          </a:prstGeom>
          <a:noFill/>
        </p:spPr>
        <p:txBody>
          <a:bodyPr wrap="square">
            <a:spAutoFit/>
          </a:bodyPr>
          <a:lstStyle/>
          <a:p>
            <a:r>
              <a:rPr sz="1500" b="1" i="0">
                <a:solidFill>
                  <a:srgbClr val="374151"/>
                </a:solidFill>
                <a:latin typeface="Calibri"/>
              </a:rPr>
              <a:t>2.692,1</a:t>
            </a:r>
          </a:p>
        </p:txBody>
      </p:sp>
      <p:sp>
        <p:nvSpPr>
          <p:cNvPr id="33" name="Rectangle 32"/>
          <p:cNvSpPr/>
          <p:nvPr/>
        </p:nvSpPr>
        <p:spPr>
          <a:xfrm>
            <a:off x="6328800" y="3240000"/>
            <a:ext cx="2383200" cy="1080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28800" y="3348000"/>
            <a:ext cx="2383200" cy="144000"/>
          </a:xfrm>
          <a:prstGeom prst="rect">
            <a:avLst/>
          </a:prstGeom>
          <a:noFill/>
        </p:spPr>
        <p:txBody>
          <a:bodyPr wrap="square">
            <a:spAutoFit/>
          </a:bodyPr>
          <a:lstStyle/>
          <a:p>
            <a:r>
              <a:rPr sz="900" b="1" i="0">
                <a:solidFill>
                  <a:srgbClr val="6B7280"/>
                </a:solidFill>
                <a:latin typeface="Calibri"/>
              </a:rPr>
              <a:t>VARIATIONSKOEFFIZIENT</a:t>
            </a:r>
          </a:p>
        </p:txBody>
      </p:sp>
      <p:sp>
        <p:nvSpPr>
          <p:cNvPr id="35" name="TextBox 34"/>
          <p:cNvSpPr txBox="1"/>
          <p:nvPr/>
        </p:nvSpPr>
        <p:spPr>
          <a:xfrm>
            <a:off x="6328800" y="3491999"/>
            <a:ext cx="2383200" cy="468000"/>
          </a:xfrm>
          <a:prstGeom prst="rect">
            <a:avLst/>
          </a:prstGeom>
          <a:noFill/>
        </p:spPr>
        <p:txBody>
          <a:bodyPr wrap="square">
            <a:spAutoFit/>
          </a:bodyPr>
          <a:lstStyle/>
          <a:p>
            <a:r>
              <a:rPr sz="2200" b="1" i="0">
                <a:solidFill>
                  <a:srgbClr val="3F7A72"/>
                </a:solidFill>
                <a:latin typeface="Calibri"/>
              </a:rPr>
              <a:t>2,1 %</a:t>
            </a:r>
          </a:p>
        </p:txBody>
      </p:sp>
      <p:sp>
        <p:nvSpPr>
          <p:cNvPr id="36" name="Rectangle 35"/>
          <p:cNvSpPr/>
          <p:nvPr/>
        </p:nvSpPr>
        <p:spPr>
          <a:xfrm>
            <a:off x="9054000" y="1655999"/>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054000" y="1655999"/>
            <a:ext cx="26352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80000" y="1781999"/>
            <a:ext cx="2383200" cy="432000"/>
          </a:xfrm>
          <a:prstGeom prst="rect">
            <a:avLst/>
          </a:prstGeom>
          <a:noFill/>
        </p:spPr>
        <p:txBody>
          <a:bodyPr wrap="square">
            <a:spAutoFit/>
          </a:bodyPr>
          <a:lstStyle/>
          <a:p>
            <a:r>
              <a:rPr sz="1400" b="1" i="0">
                <a:solidFill>
                  <a:srgbClr val="3F7A72"/>
                </a:solidFill>
                <a:latin typeface="Calibri"/>
              </a:rPr>
              <a:t>Personen
in BG</a:t>
            </a:r>
          </a:p>
        </p:txBody>
      </p:sp>
      <p:sp>
        <p:nvSpPr>
          <p:cNvPr id="39" name="TextBox 38"/>
          <p:cNvSpPr txBox="1"/>
          <p:nvPr/>
        </p:nvSpPr>
        <p:spPr>
          <a:xfrm>
            <a:off x="9180000" y="2286000"/>
            <a:ext cx="2383200" cy="144000"/>
          </a:xfrm>
          <a:prstGeom prst="rect">
            <a:avLst/>
          </a:prstGeom>
          <a:noFill/>
        </p:spPr>
        <p:txBody>
          <a:bodyPr wrap="square">
            <a:spAutoFit/>
          </a:bodyPr>
          <a:lstStyle/>
          <a:p>
            <a:r>
              <a:rPr sz="900" b="1" i="0">
                <a:solidFill>
                  <a:srgbClr val="6B7280"/>
                </a:solidFill>
                <a:latin typeface="Calibri"/>
              </a:rPr>
              <a:t>Ø (MITTELWERT)</a:t>
            </a:r>
          </a:p>
        </p:txBody>
      </p:sp>
      <p:sp>
        <p:nvSpPr>
          <p:cNvPr id="40" name="TextBox 39"/>
          <p:cNvSpPr txBox="1"/>
          <p:nvPr/>
        </p:nvSpPr>
        <p:spPr>
          <a:xfrm>
            <a:off x="9180000" y="2430000"/>
            <a:ext cx="2383200" cy="270000"/>
          </a:xfrm>
          <a:prstGeom prst="rect">
            <a:avLst/>
          </a:prstGeom>
          <a:noFill/>
        </p:spPr>
        <p:txBody>
          <a:bodyPr wrap="square">
            <a:spAutoFit/>
          </a:bodyPr>
          <a:lstStyle/>
          <a:p>
            <a:r>
              <a:rPr sz="1500" b="1" i="0">
                <a:solidFill>
                  <a:srgbClr val="374151"/>
                </a:solidFill>
                <a:latin typeface="Calibri"/>
              </a:rPr>
              <a:t>5.247,4</a:t>
            </a:r>
          </a:p>
        </p:txBody>
      </p:sp>
      <p:sp>
        <p:nvSpPr>
          <p:cNvPr id="41" name="TextBox 40"/>
          <p:cNvSpPr txBox="1"/>
          <p:nvPr/>
        </p:nvSpPr>
        <p:spPr>
          <a:xfrm>
            <a:off x="9180000" y="2754000"/>
            <a:ext cx="2383200" cy="144000"/>
          </a:xfrm>
          <a:prstGeom prst="rect">
            <a:avLst/>
          </a:prstGeom>
          <a:noFill/>
        </p:spPr>
        <p:txBody>
          <a:bodyPr wrap="square">
            <a:spAutoFit/>
          </a:bodyPr>
          <a:lstStyle/>
          <a:p>
            <a:r>
              <a:rPr sz="900" b="1" i="0">
                <a:solidFill>
                  <a:srgbClr val="6B7280"/>
                </a:solidFill>
                <a:latin typeface="Calibri"/>
              </a:rPr>
              <a:t>MEDIAN</a:t>
            </a:r>
          </a:p>
        </p:txBody>
      </p:sp>
      <p:sp>
        <p:nvSpPr>
          <p:cNvPr id="42" name="TextBox 41"/>
          <p:cNvSpPr txBox="1"/>
          <p:nvPr/>
        </p:nvSpPr>
        <p:spPr>
          <a:xfrm>
            <a:off x="9180000" y="2898000"/>
            <a:ext cx="2383200" cy="270000"/>
          </a:xfrm>
          <a:prstGeom prst="rect">
            <a:avLst/>
          </a:prstGeom>
          <a:noFill/>
        </p:spPr>
        <p:txBody>
          <a:bodyPr wrap="square">
            <a:spAutoFit/>
          </a:bodyPr>
          <a:lstStyle/>
          <a:p>
            <a:r>
              <a:rPr sz="1500" b="1" i="0">
                <a:solidFill>
                  <a:srgbClr val="374151"/>
                </a:solidFill>
                <a:latin typeface="Calibri"/>
              </a:rPr>
              <a:t>5.216,6</a:t>
            </a:r>
          </a:p>
        </p:txBody>
      </p:sp>
      <p:sp>
        <p:nvSpPr>
          <p:cNvPr id="43" name="Rectangle 42"/>
          <p:cNvSpPr/>
          <p:nvPr/>
        </p:nvSpPr>
        <p:spPr>
          <a:xfrm>
            <a:off x="9180000" y="3240000"/>
            <a:ext cx="2383200" cy="1080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180000" y="3348000"/>
            <a:ext cx="2383200" cy="144000"/>
          </a:xfrm>
          <a:prstGeom prst="rect">
            <a:avLst/>
          </a:prstGeom>
          <a:noFill/>
        </p:spPr>
        <p:txBody>
          <a:bodyPr wrap="square">
            <a:spAutoFit/>
          </a:bodyPr>
          <a:lstStyle/>
          <a:p>
            <a:r>
              <a:rPr sz="900" b="1" i="0">
                <a:solidFill>
                  <a:srgbClr val="6B7280"/>
                </a:solidFill>
                <a:latin typeface="Calibri"/>
              </a:rPr>
              <a:t>VARIATIONSKOEFFIZIENT</a:t>
            </a:r>
          </a:p>
        </p:txBody>
      </p:sp>
      <p:sp>
        <p:nvSpPr>
          <p:cNvPr id="45" name="TextBox 44"/>
          <p:cNvSpPr txBox="1"/>
          <p:nvPr/>
        </p:nvSpPr>
        <p:spPr>
          <a:xfrm>
            <a:off x="9180000" y="3491999"/>
            <a:ext cx="2383200" cy="468000"/>
          </a:xfrm>
          <a:prstGeom prst="rect">
            <a:avLst/>
          </a:prstGeom>
          <a:noFill/>
        </p:spPr>
        <p:txBody>
          <a:bodyPr wrap="square">
            <a:spAutoFit/>
          </a:bodyPr>
          <a:lstStyle/>
          <a:p>
            <a:r>
              <a:rPr sz="2200" b="1" i="0">
                <a:solidFill>
                  <a:srgbClr val="3F7A72"/>
                </a:solidFill>
                <a:latin typeface="Calibri"/>
              </a:rPr>
              <a:t>2,4 %</a:t>
            </a:r>
          </a:p>
        </p:txBody>
      </p:sp>
      <p:sp>
        <p:nvSpPr>
          <p:cNvPr id="46" name="Rectangle 45"/>
          <p:cNvSpPr/>
          <p:nvPr/>
        </p:nvSpPr>
        <p:spPr>
          <a:xfrm>
            <a:off x="503999" y="4410000"/>
            <a:ext cx="11185200" cy="136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03999" y="4410000"/>
            <a:ext cx="90000" cy="1368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7999" y="4554000"/>
            <a:ext cx="10620000" cy="324000"/>
          </a:xfrm>
          <a:prstGeom prst="rect">
            <a:avLst/>
          </a:prstGeom>
          <a:noFill/>
        </p:spPr>
        <p:txBody>
          <a:bodyPr wrap="square">
            <a:spAutoFit/>
          </a:bodyPr>
          <a:lstStyle/>
          <a:p>
            <a:r>
              <a:rPr sz="1800" b="1" i="0">
                <a:solidFill>
                  <a:srgbClr val="A0453F"/>
                </a:solidFill>
                <a:latin typeface="Calibri"/>
              </a:rPr>
              <a:t>Kernbefund</a:t>
            </a:r>
          </a:p>
        </p:txBody>
      </p:sp>
      <p:sp>
        <p:nvSpPr>
          <p:cNvPr id="49" name="TextBox 48"/>
          <p:cNvSpPr txBox="1"/>
          <p:nvPr/>
        </p:nvSpPr>
        <p:spPr>
          <a:xfrm>
            <a:off x="827999" y="4896000"/>
            <a:ext cx="10620000" cy="774000"/>
          </a:xfrm>
          <a:prstGeom prst="rect">
            <a:avLst/>
          </a:prstGeom>
          <a:noFill/>
        </p:spPr>
        <p:txBody>
          <a:bodyPr wrap="square">
            <a:spAutoFit/>
          </a:bodyPr>
          <a:lstStyle/>
          <a:p>
            <a:r>
              <a:rPr sz="1600" b="0" i="0">
                <a:solidFill>
                  <a:srgbClr val="374151"/>
                </a:solidFill>
                <a:latin typeface="Calibri"/>
              </a:rPr>
              <a:t>Langzeitarbeitslose zeigen mit CV ≈ 11,8 % die mit Abstand stärkste relative Veränderung — Bedarfsgemeinschaften (2,1 %) und Personen in BG (2,4 %) sind am stabilsten.</a:t>
            </a:r>
          </a:p>
        </p:txBody>
      </p:sp>
      <p:sp>
        <p:nvSpPr>
          <p:cNvPr id="50" name="TextBox 49"/>
          <p:cNvSpPr txBox="1"/>
          <p:nvPr/>
        </p:nvSpPr>
        <p:spPr>
          <a:xfrm>
            <a:off x="11124000" y="6533999"/>
            <a:ext cx="936000" cy="270000"/>
          </a:xfrm>
          <a:prstGeom prst="rect">
            <a:avLst/>
          </a:prstGeom>
          <a:noFill/>
        </p:spPr>
        <p:txBody>
          <a:bodyPr wrap="none">
            <a:spAutoFit/>
          </a:bodyPr>
          <a:lstStyle/>
          <a:p>
            <a:pPr algn="r"/>
            <a:fld id="{79A9941D-E0BB-479E-BEAD-51F6AC3EEE49}" type="slidenum">
              <a:rPr lang="de-DE" sz="1200">
                <a:solidFill>
                  <a:srgbClr val="6B7280"/>
                </a:solidFill>
              </a:rPr>
              <a:t>19</a:t>
            </a:fld>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4.2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Korrelationsanalyse: Korrelationsmatrix</a:t>
            </a:r>
          </a:p>
        </p:txBody>
      </p:sp>
      <p:pic>
        <p:nvPicPr>
          <p:cNvPr id="5" name="Picture 4" descr="abb6_korrelation.png"/>
          <p:cNvPicPr>
            <a:picLocks noChangeAspect="1"/>
          </p:cNvPicPr>
          <p:nvPr/>
        </p:nvPicPr>
        <p:blipFill>
          <a:blip r:embed="rId3"/>
          <a:stretch>
            <a:fillRect/>
          </a:stretch>
        </p:blipFill>
        <p:spPr>
          <a:xfrm>
            <a:off x="2937794" y="1152000"/>
            <a:ext cx="6318000" cy="4860000"/>
          </a:xfrm>
          <a:prstGeom prst="rect">
            <a:avLst/>
          </a:prstGeom>
        </p:spPr>
      </p:pic>
      <p:sp>
        <p:nvSpPr>
          <p:cNvPr id="6" name="TextBox 5"/>
          <p:cNvSpPr txBox="1"/>
          <p:nvPr/>
        </p:nvSpPr>
        <p:spPr>
          <a:xfrm>
            <a:off x="503999" y="6120000"/>
            <a:ext cx="11185200" cy="432000"/>
          </a:xfrm>
          <a:prstGeom prst="rect">
            <a:avLst/>
          </a:prstGeom>
          <a:noFill/>
        </p:spPr>
        <p:txBody>
          <a:bodyPr wrap="square">
            <a:spAutoFit/>
          </a:bodyPr>
          <a:lstStyle/>
          <a:p>
            <a:pPr algn="ctr"/>
            <a:r>
              <a:rPr sz="1300" b="0" i="1">
                <a:solidFill>
                  <a:srgbClr val="6B7280"/>
                </a:solidFill>
                <a:latin typeface="Calibri"/>
              </a:rPr>
              <a:t>Bedarfsgemeinschaften und Personen in BG korrelieren mit r ≈ 0,95 sehr stark positiv.</a:t>
            </a:r>
          </a:p>
        </p:txBody>
      </p:sp>
      <p:sp>
        <p:nvSpPr>
          <p:cNvPr id="7" name="Rectangle 6"/>
          <p:cNvSpPr/>
          <p:nvPr/>
        </p:nvSpPr>
        <p:spPr>
          <a:xfrm>
            <a:off x="503999" y="1152000"/>
            <a:ext cx="2289600" cy="486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3999" y="1152000"/>
            <a:ext cx="22896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000" y="1314000"/>
            <a:ext cx="2037600" cy="576000"/>
          </a:xfrm>
          <a:prstGeom prst="rect">
            <a:avLst/>
          </a:prstGeom>
          <a:noFill/>
        </p:spPr>
        <p:txBody>
          <a:bodyPr wrap="square">
            <a:spAutoFit/>
          </a:bodyPr>
          <a:lstStyle/>
          <a:p>
            <a:r>
              <a:rPr sz="1500" b="1" i="0">
                <a:solidFill>
                  <a:srgbClr val="3B6EA8"/>
                </a:solidFill>
                <a:latin typeface="Calibri"/>
              </a:rPr>
              <a:t>Was zeigt die Matrix?</a:t>
            </a:r>
          </a:p>
        </p:txBody>
      </p:sp>
      <p:sp>
        <p:nvSpPr>
          <p:cNvPr id="10" name="TextBox 9"/>
          <p:cNvSpPr txBox="1"/>
          <p:nvPr/>
        </p:nvSpPr>
        <p:spPr>
          <a:xfrm>
            <a:off x="630000" y="1925999"/>
            <a:ext cx="2037600" cy="3960000"/>
          </a:xfrm>
          <a:prstGeom prst="rect">
            <a:avLst/>
          </a:prstGeom>
          <a:noFill/>
        </p:spPr>
        <p:txBody>
          <a:bodyPr wrap="square">
            <a:spAutoFit/>
          </a:bodyPr>
          <a:lstStyle/>
          <a:p>
            <a:r>
              <a:rPr sz="1250" b="0" i="0">
                <a:solidFill>
                  <a:srgbClr val="374151"/>
                </a:solidFill>
                <a:latin typeface="Calibri"/>
              </a:rPr>
              <a:t>Paarweise Pearson-Korrelation der vier Kernkennzahlen (Arbeitslose, Langzeitarbeitslose, Bedarfsgemeinschaften, Personen in BG). Werte von −1 bis +1 — je intensiver die Farbe, desto stärker der lineare Zusammenhang zwischen zwei Kennzahlen.</a:t>
            </a:r>
          </a:p>
        </p:txBody>
      </p:sp>
      <p:sp>
        <p:nvSpPr>
          <p:cNvPr id="11" name="Rectangle 10"/>
          <p:cNvSpPr/>
          <p:nvPr/>
        </p:nvSpPr>
        <p:spPr>
          <a:xfrm>
            <a:off x="9399600" y="1152000"/>
            <a:ext cx="2289600" cy="486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399600" y="1152000"/>
            <a:ext cx="22896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525600" y="1314000"/>
            <a:ext cx="2037600" cy="576000"/>
          </a:xfrm>
          <a:prstGeom prst="rect">
            <a:avLst/>
          </a:prstGeom>
          <a:noFill/>
        </p:spPr>
        <p:txBody>
          <a:bodyPr wrap="square">
            <a:spAutoFit/>
          </a:bodyPr>
          <a:lstStyle/>
          <a:p>
            <a:r>
              <a:rPr sz="1500" b="1" i="0">
                <a:solidFill>
                  <a:srgbClr val="6B5B8F"/>
                </a:solidFill>
                <a:latin typeface="Calibri"/>
              </a:rPr>
              <a:t>Wofür wird sie gebraucht?</a:t>
            </a:r>
          </a:p>
        </p:txBody>
      </p:sp>
      <p:sp>
        <p:nvSpPr>
          <p:cNvPr id="14" name="TextBox 13"/>
          <p:cNvSpPr txBox="1"/>
          <p:nvPr/>
        </p:nvSpPr>
        <p:spPr>
          <a:xfrm>
            <a:off x="9525600" y="1925999"/>
            <a:ext cx="2037600" cy="3960000"/>
          </a:xfrm>
          <a:prstGeom prst="rect">
            <a:avLst/>
          </a:prstGeom>
          <a:noFill/>
        </p:spPr>
        <p:txBody>
          <a:bodyPr wrap="square">
            <a:spAutoFit/>
          </a:bodyPr>
          <a:lstStyle/>
          <a:p>
            <a:r>
              <a:rPr sz="1250" b="0" i="0">
                <a:solidFill>
                  <a:srgbClr val="374151"/>
                </a:solidFill>
                <a:latin typeface="Calibri"/>
              </a:rPr>
              <a:t>Zeigt auf einen Blick, welche Kennzahlen sich gemeinsam bewegen. Auffällige Werte — hier r ≈ 0,95 zwischen Bedarfsgemeinschaften und Personen in BG — liefern die Ausgangsbasis für vertiefende Streudiagramme wie auf der nächsten Folie.</a:t>
            </a:r>
          </a:p>
        </p:txBody>
      </p:sp>
      <p:sp>
        <p:nvSpPr>
          <p:cNvPr id="15" name="TextBox 14"/>
          <p:cNvSpPr txBox="1"/>
          <p:nvPr/>
        </p:nvSpPr>
        <p:spPr>
          <a:xfrm>
            <a:off x="11124000" y="6533999"/>
            <a:ext cx="936000" cy="270000"/>
          </a:xfrm>
          <a:prstGeom prst="rect">
            <a:avLst/>
          </a:prstGeom>
          <a:noFill/>
        </p:spPr>
        <p:txBody>
          <a:bodyPr wrap="none">
            <a:spAutoFit/>
          </a:bodyPr>
          <a:lstStyle/>
          <a:p>
            <a:pPr algn="r"/>
            <a:fld id="{A7370A85-CA84-4C13-86F5-9AB438F9A18E}" type="slidenum">
              <a:rPr lang="de-DE" sz="1200">
                <a:solidFill>
                  <a:srgbClr val="6B7280"/>
                </a:solidFill>
              </a:rPr>
              <a:t>20</a:t>
            </a:fld>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4.3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Langzeitarbeitslose vs. Bedarfsgemeinschaften</a:t>
            </a:r>
          </a:p>
        </p:txBody>
      </p:sp>
      <p:pic>
        <p:nvPicPr>
          <p:cNvPr id="5" name="Picture 4" descr="abb7_streudiagramm.png"/>
          <p:cNvPicPr>
            <a:picLocks noChangeAspect="1"/>
          </p:cNvPicPr>
          <p:nvPr/>
        </p:nvPicPr>
        <p:blipFill>
          <a:blip r:embed="rId3"/>
          <a:stretch>
            <a:fillRect/>
          </a:stretch>
        </p:blipFill>
        <p:spPr>
          <a:xfrm>
            <a:off x="2496600" y="1080000"/>
            <a:ext cx="7200000" cy="3600000"/>
          </a:xfrm>
          <a:prstGeom prst="rect">
            <a:avLst/>
          </a:prstGeom>
        </p:spPr>
      </p:pic>
      <p:sp>
        <p:nvSpPr>
          <p:cNvPr id="6" name="Rectangle 5"/>
          <p:cNvSpPr/>
          <p:nvPr/>
        </p:nvSpPr>
        <p:spPr>
          <a:xfrm>
            <a:off x="503999" y="4806000"/>
            <a:ext cx="5484600" cy="187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3999" y="4806000"/>
            <a:ext cx="54846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7999" y="4950000"/>
            <a:ext cx="5196600" cy="324000"/>
          </a:xfrm>
          <a:prstGeom prst="rect">
            <a:avLst/>
          </a:prstGeom>
          <a:noFill/>
        </p:spPr>
        <p:txBody>
          <a:bodyPr wrap="square">
            <a:spAutoFit/>
          </a:bodyPr>
          <a:lstStyle/>
          <a:p>
            <a:r>
              <a:rPr sz="1600" b="1" i="0">
                <a:solidFill>
                  <a:srgbClr val="3B6EA8"/>
                </a:solidFill>
                <a:latin typeface="Calibri"/>
              </a:rPr>
              <a:t>Was zeigen die Zahlen?</a:t>
            </a:r>
          </a:p>
        </p:txBody>
      </p:sp>
      <p:sp>
        <p:nvSpPr>
          <p:cNvPr id="9" name="TextBox 8"/>
          <p:cNvSpPr txBox="1"/>
          <p:nvPr/>
        </p:nvSpPr>
        <p:spPr>
          <a:xfrm>
            <a:off x="647999" y="5292000"/>
            <a:ext cx="5196600" cy="1278000"/>
          </a:xfrm>
          <a:prstGeom prst="rect">
            <a:avLst/>
          </a:prstGeom>
          <a:noFill/>
        </p:spPr>
        <p:txBody>
          <a:bodyPr wrap="square">
            <a:spAutoFit/>
          </a:bodyPr>
          <a:lstStyle/>
          <a:p>
            <a:r>
              <a:rPr sz="1350" b="0" i="0">
                <a:solidFill>
                  <a:srgbClr val="374151"/>
                </a:solidFill>
                <a:latin typeface="Calibri"/>
              </a:rPr>
              <a:t>r = −0,49, p = 0,04 — Langzeitarbeitslose und Bedarfsgemeinschaften hängen jetzt signifikant negativ zusammen. Mit den ursprünglichen 15 Monaten war das noch nicht nachweisbar (r = −0,08, p = 0,78) — ein Beispiel dafür, wie empfindlich Korrelationstests bei kleinen Stichproben auf neue Datenpunkte reagieren.</a:t>
            </a:r>
          </a:p>
        </p:txBody>
      </p:sp>
      <p:sp>
        <p:nvSpPr>
          <p:cNvPr id="10" name="Rectangle 9"/>
          <p:cNvSpPr/>
          <p:nvPr/>
        </p:nvSpPr>
        <p:spPr>
          <a:xfrm>
            <a:off x="6204600" y="4806000"/>
            <a:ext cx="5484600" cy="187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04600" y="4806000"/>
            <a:ext cx="54846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48599" y="4950000"/>
            <a:ext cx="5196600" cy="324000"/>
          </a:xfrm>
          <a:prstGeom prst="rect">
            <a:avLst/>
          </a:prstGeom>
          <a:noFill/>
        </p:spPr>
        <p:txBody>
          <a:bodyPr wrap="square">
            <a:spAutoFit/>
          </a:bodyPr>
          <a:lstStyle/>
          <a:p>
            <a:r>
              <a:rPr sz="1600" b="1" i="0">
                <a:solidFill>
                  <a:srgbClr val="6B5B8F"/>
                </a:solidFill>
                <a:latin typeface="Calibri"/>
              </a:rPr>
              <a:t>Warum ein Streudiagramm?</a:t>
            </a:r>
          </a:p>
        </p:txBody>
      </p:sp>
      <p:sp>
        <p:nvSpPr>
          <p:cNvPr id="13" name="TextBox 12"/>
          <p:cNvSpPr txBox="1"/>
          <p:nvPr/>
        </p:nvSpPr>
        <p:spPr>
          <a:xfrm>
            <a:off x="6348599" y="5292000"/>
            <a:ext cx="5196600" cy="1278000"/>
          </a:xfrm>
          <a:prstGeom prst="rect">
            <a:avLst/>
          </a:prstGeom>
          <a:noFill/>
        </p:spPr>
        <p:txBody>
          <a:bodyPr wrap="square">
            <a:spAutoFit/>
          </a:bodyPr>
          <a:lstStyle/>
          <a:p>
            <a:r>
              <a:rPr sz="1350" b="0" i="0">
                <a:solidFill>
                  <a:srgbClr val="374151"/>
                </a:solidFill>
                <a:latin typeface="Calibri"/>
              </a:rPr>
              <a:t>Ein Scatterplot macht den Zusammenhang zwischen zwei Kennzahlen direkt sichtbar; die eingezeichnete OLS-Trendlinie zeigt Richtung und Stärke des linearen Zusammenhangs auf einen Blick — ideal, um einen in der Korrelationsmatrix (Folie 20) entdeckten Wert inhaltlich zu prüfen.</a:t>
            </a:r>
          </a:p>
        </p:txBody>
      </p:sp>
      <p:sp>
        <p:nvSpPr>
          <p:cNvPr id="14" name="TextBox 13"/>
          <p:cNvSpPr txBox="1"/>
          <p:nvPr/>
        </p:nvSpPr>
        <p:spPr>
          <a:xfrm>
            <a:off x="11124000" y="6533999"/>
            <a:ext cx="936000" cy="270000"/>
          </a:xfrm>
          <a:prstGeom prst="rect">
            <a:avLst/>
          </a:prstGeom>
          <a:noFill/>
        </p:spPr>
        <p:txBody>
          <a:bodyPr wrap="none">
            <a:spAutoFit/>
          </a:bodyPr>
          <a:lstStyle/>
          <a:p>
            <a:pPr algn="r"/>
            <a:fld id="{2D32ED7C-5F6A-4498-A6C0-EAD9C95909A0}" type="slidenum">
              <a:rPr lang="de-DE" sz="1200">
                <a:solidFill>
                  <a:srgbClr val="6B7280"/>
                </a:solidFill>
              </a:rPr>
              <a:t>21</a:t>
            </a:fld>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4.4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Verteilungen: Arbeitslose (Bestand)</a:t>
            </a:r>
          </a:p>
        </p:txBody>
      </p:sp>
      <p:pic>
        <p:nvPicPr>
          <p:cNvPr id="5" name="Picture 4" descr="abb_verteilung_boxstrip.png"/>
          <p:cNvPicPr>
            <a:picLocks noChangeAspect="1"/>
          </p:cNvPicPr>
          <p:nvPr/>
        </p:nvPicPr>
        <p:blipFill>
          <a:blip r:embed="rId3"/>
          <a:stretch>
            <a:fillRect/>
          </a:stretch>
        </p:blipFill>
        <p:spPr>
          <a:xfrm>
            <a:off x="1894885" y="1080000"/>
            <a:ext cx="8403429" cy="3096000"/>
          </a:xfrm>
          <a:prstGeom prst="rect">
            <a:avLst/>
          </a:prstGeom>
        </p:spPr>
      </p:pic>
      <p:sp>
        <p:nvSpPr>
          <p:cNvPr id="6" name="Rectangle 5"/>
          <p:cNvSpPr/>
          <p:nvPr/>
        </p:nvSpPr>
        <p:spPr>
          <a:xfrm>
            <a:off x="503999" y="4374000"/>
            <a:ext cx="5484600" cy="23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3999" y="4374000"/>
            <a:ext cx="5484600" cy="9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7999" y="4518000"/>
            <a:ext cx="5196600" cy="324000"/>
          </a:xfrm>
          <a:prstGeom prst="rect">
            <a:avLst/>
          </a:prstGeom>
          <a:noFill/>
        </p:spPr>
        <p:txBody>
          <a:bodyPr wrap="square">
            <a:spAutoFit/>
          </a:bodyPr>
          <a:lstStyle/>
          <a:p>
            <a:r>
              <a:rPr sz="1600" b="1" i="0">
                <a:solidFill>
                  <a:srgbClr val="C79A56"/>
                </a:solidFill>
                <a:latin typeface="Calibri"/>
              </a:rPr>
              <a:t>Was zeigt die Grafik?</a:t>
            </a:r>
          </a:p>
        </p:txBody>
      </p:sp>
      <p:sp>
        <p:nvSpPr>
          <p:cNvPr id="9" name="TextBox 8"/>
          <p:cNvSpPr txBox="1"/>
          <p:nvPr/>
        </p:nvSpPr>
        <p:spPr>
          <a:xfrm>
            <a:off x="647999" y="4860000"/>
            <a:ext cx="5196600" cy="1745999"/>
          </a:xfrm>
          <a:prstGeom prst="rect">
            <a:avLst/>
          </a:prstGeom>
          <a:noFill/>
        </p:spPr>
        <p:txBody>
          <a:bodyPr wrap="square">
            <a:spAutoFit/>
          </a:bodyPr>
          <a:lstStyle/>
          <a:p>
            <a:r>
              <a:rPr sz="1300" b="0" i="0">
                <a:solidFill>
                  <a:srgbClr val="374151"/>
                </a:solidFill>
                <a:latin typeface="Calibri"/>
              </a:rPr>
              <a:t>Jeder der 18 Punkte entspricht genau einem Berichtsmonat. Die Box zeigt Median (durchgezogene Linie) und Mittelwert (gestrichelt) sowie den Bereich der mittleren 50 % der Werte — keine auffälligen Ausreißer, leicht linksschiefe Verteilung (Median knapp über dem Mittelwert).</a:t>
            </a:r>
          </a:p>
        </p:txBody>
      </p:sp>
      <p:sp>
        <p:nvSpPr>
          <p:cNvPr id="10" name="Rectangle 9"/>
          <p:cNvSpPr/>
          <p:nvPr/>
        </p:nvSpPr>
        <p:spPr>
          <a:xfrm>
            <a:off x="6204600" y="4374000"/>
            <a:ext cx="5484600" cy="23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04600" y="4374000"/>
            <a:ext cx="54846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48599" y="4518000"/>
            <a:ext cx="5196600" cy="324000"/>
          </a:xfrm>
          <a:prstGeom prst="rect">
            <a:avLst/>
          </a:prstGeom>
          <a:noFill/>
        </p:spPr>
        <p:txBody>
          <a:bodyPr wrap="square">
            <a:spAutoFit/>
          </a:bodyPr>
          <a:lstStyle/>
          <a:p>
            <a:r>
              <a:rPr sz="1600" b="1" i="0">
                <a:solidFill>
                  <a:srgbClr val="3F7A72"/>
                </a:solidFill>
                <a:latin typeface="Calibri"/>
              </a:rPr>
              <a:t>Warum diese Darstellung?</a:t>
            </a:r>
          </a:p>
        </p:txBody>
      </p:sp>
      <p:sp>
        <p:nvSpPr>
          <p:cNvPr id="13" name="TextBox 12"/>
          <p:cNvSpPr txBox="1"/>
          <p:nvPr/>
        </p:nvSpPr>
        <p:spPr>
          <a:xfrm>
            <a:off x="6348599" y="4860000"/>
            <a:ext cx="5196600" cy="1745999"/>
          </a:xfrm>
          <a:prstGeom prst="rect">
            <a:avLst/>
          </a:prstGeom>
          <a:noFill/>
        </p:spPr>
        <p:txBody>
          <a:bodyPr wrap="square">
            <a:spAutoFit/>
          </a:bodyPr>
          <a:lstStyle/>
          <a:p>
            <a:r>
              <a:rPr sz="1300" b="0" i="0">
                <a:solidFill>
                  <a:srgbClr val="374151"/>
                </a:solidFill>
                <a:latin typeface="Calibri"/>
              </a:rPr>
              <a:t>Bei nur 18 Datenpunkten kann ein Histogramm mit Balken-Bins leicht missverständlich wirken (Balkenhöhe zeigt nur den häufigsten Bereich, nicht die Gesamtzahl der Monate). Ein Boxplot mit allen Einzelpunkten zeigt jeden Wert direkt und vermeidet diese Verwirrung.</a:t>
            </a:r>
          </a:p>
        </p:txBody>
      </p:sp>
      <p:sp>
        <p:nvSpPr>
          <p:cNvPr id="14" name="TextBox 13"/>
          <p:cNvSpPr txBox="1"/>
          <p:nvPr/>
        </p:nvSpPr>
        <p:spPr>
          <a:xfrm>
            <a:off x="11124000" y="6533999"/>
            <a:ext cx="936000" cy="270000"/>
          </a:xfrm>
          <a:prstGeom prst="rect">
            <a:avLst/>
          </a:prstGeom>
          <a:noFill/>
        </p:spPr>
        <p:txBody>
          <a:bodyPr wrap="none">
            <a:spAutoFit/>
          </a:bodyPr>
          <a:lstStyle/>
          <a:p>
            <a:pPr algn="r"/>
            <a:fld id="{A7D5C4E2-1A85-4D5A-8973-A1A927F014DB}" type="slidenum">
              <a:rPr lang="de-DE" sz="1200">
                <a:solidFill>
                  <a:srgbClr val="6B7280"/>
                </a:solidFill>
              </a:rPr>
              <a:t>22</a:t>
            </a:fld>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4.5</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Inferenzstatistik: Hypothesentest</a:t>
            </a:r>
          </a:p>
        </p:txBody>
      </p:sp>
      <p:sp>
        <p:nvSpPr>
          <p:cNvPr id="5" name="Rectangle 4"/>
          <p:cNvSpPr/>
          <p:nvPr/>
        </p:nvSpPr>
        <p:spPr>
          <a:xfrm>
            <a:off x="503999" y="1224000"/>
            <a:ext cx="11185200" cy="7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111852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4000" y="1368000"/>
            <a:ext cx="10836000" cy="251999"/>
          </a:xfrm>
          <a:prstGeom prst="rect">
            <a:avLst/>
          </a:prstGeom>
          <a:noFill/>
        </p:spPr>
        <p:txBody>
          <a:bodyPr wrap="square">
            <a:spAutoFit/>
          </a:bodyPr>
          <a:lstStyle/>
          <a:p>
            <a:r>
              <a:rPr sz="1600" b="1" i="0">
                <a:solidFill>
                  <a:srgbClr val="6B5B8F"/>
                </a:solidFill>
                <a:latin typeface="Calibri"/>
              </a:rPr>
              <a:t>Fragestellung</a:t>
            </a:r>
          </a:p>
        </p:txBody>
      </p:sp>
      <p:sp>
        <p:nvSpPr>
          <p:cNvPr id="8" name="TextBox 7"/>
          <p:cNvSpPr txBox="1"/>
          <p:nvPr/>
        </p:nvSpPr>
        <p:spPr>
          <a:xfrm>
            <a:off x="684000" y="1602000"/>
            <a:ext cx="10836000" cy="360000"/>
          </a:xfrm>
          <a:prstGeom prst="rect">
            <a:avLst/>
          </a:prstGeom>
          <a:noFill/>
        </p:spPr>
        <p:txBody>
          <a:bodyPr wrap="square">
            <a:spAutoFit/>
          </a:bodyPr>
          <a:lstStyle/>
          <a:p>
            <a:r>
              <a:rPr sz="1500" b="0" i="0">
                <a:solidFill>
                  <a:srgbClr val="374151"/>
                </a:solidFill>
                <a:latin typeface="Calibri"/>
              </a:rPr>
              <a:t>Unterscheidet sich die Langzeitarbeitslosigkeit zwischen erster und zweiter Hälfte des Beobachtungszeitraums signifikant?</a:t>
            </a:r>
          </a:p>
        </p:txBody>
      </p:sp>
      <p:sp>
        <p:nvSpPr>
          <p:cNvPr id="9" name="Rectangle 8"/>
          <p:cNvSpPr/>
          <p:nvPr/>
        </p:nvSpPr>
        <p:spPr>
          <a:xfrm>
            <a:off x="503999" y="2160000"/>
            <a:ext cx="5484600" cy="216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3999" y="2160000"/>
            <a:ext cx="54846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999" y="2304000"/>
            <a:ext cx="5196600" cy="288000"/>
          </a:xfrm>
          <a:prstGeom prst="rect">
            <a:avLst/>
          </a:prstGeom>
          <a:noFill/>
        </p:spPr>
        <p:txBody>
          <a:bodyPr wrap="square">
            <a:spAutoFit/>
          </a:bodyPr>
          <a:lstStyle/>
          <a:p>
            <a:r>
              <a:rPr sz="1500" b="1" i="0">
                <a:solidFill>
                  <a:srgbClr val="3B6EA8"/>
                </a:solidFill>
                <a:latin typeface="Calibri"/>
              </a:rPr>
              <a:t>1. HÄLFTE</a:t>
            </a:r>
          </a:p>
        </p:txBody>
      </p:sp>
      <p:sp>
        <p:nvSpPr>
          <p:cNvPr id="12" name="TextBox 11"/>
          <p:cNvSpPr txBox="1"/>
          <p:nvPr/>
        </p:nvSpPr>
        <p:spPr>
          <a:xfrm>
            <a:off x="647999" y="2628000"/>
            <a:ext cx="5196600" cy="198000"/>
          </a:xfrm>
          <a:prstGeom prst="rect">
            <a:avLst/>
          </a:prstGeom>
          <a:noFill/>
        </p:spPr>
        <p:txBody>
          <a:bodyPr wrap="square">
            <a:spAutoFit/>
          </a:bodyPr>
          <a:lstStyle/>
          <a:p>
            <a:r>
              <a:rPr sz="1200" b="1" i="0">
                <a:solidFill>
                  <a:srgbClr val="6B7280"/>
                </a:solidFill>
                <a:latin typeface="Calibri"/>
              </a:rPr>
              <a:t>n = 9</a:t>
            </a:r>
          </a:p>
        </p:txBody>
      </p:sp>
      <p:sp>
        <p:nvSpPr>
          <p:cNvPr id="13" name="TextBox 12"/>
          <p:cNvSpPr txBox="1"/>
          <p:nvPr/>
        </p:nvSpPr>
        <p:spPr>
          <a:xfrm>
            <a:off x="647999" y="2880000"/>
            <a:ext cx="5196600" cy="684000"/>
          </a:xfrm>
          <a:prstGeom prst="rect">
            <a:avLst/>
          </a:prstGeom>
          <a:noFill/>
        </p:spPr>
        <p:txBody>
          <a:bodyPr wrap="square">
            <a:spAutoFit/>
          </a:bodyPr>
          <a:lstStyle/>
          <a:p>
            <a:r>
              <a:rPr sz="3400" b="1" i="0">
                <a:solidFill>
                  <a:srgbClr val="374151"/>
                </a:solidFill>
                <a:latin typeface="Calibri"/>
              </a:rPr>
              <a:t>Ø 543,3</a:t>
            </a:r>
          </a:p>
        </p:txBody>
      </p:sp>
      <p:sp>
        <p:nvSpPr>
          <p:cNvPr id="14" name="TextBox 13"/>
          <p:cNvSpPr txBox="1"/>
          <p:nvPr/>
        </p:nvSpPr>
        <p:spPr>
          <a:xfrm>
            <a:off x="647999" y="3600000"/>
            <a:ext cx="5196600" cy="288000"/>
          </a:xfrm>
          <a:prstGeom prst="rect">
            <a:avLst/>
          </a:prstGeom>
          <a:noFill/>
        </p:spPr>
        <p:txBody>
          <a:bodyPr wrap="square">
            <a:spAutoFit/>
          </a:bodyPr>
          <a:lstStyle/>
          <a:p>
            <a:r>
              <a:rPr sz="1400" b="0" i="0">
                <a:solidFill>
                  <a:srgbClr val="6B7280"/>
                </a:solidFill>
                <a:latin typeface="Calibri"/>
              </a:rPr>
              <a:t>± 34,1 (Std.-Abw.)</a:t>
            </a:r>
          </a:p>
        </p:txBody>
      </p:sp>
      <p:sp>
        <p:nvSpPr>
          <p:cNvPr id="15" name="Rectangle 14"/>
          <p:cNvSpPr/>
          <p:nvPr/>
        </p:nvSpPr>
        <p:spPr>
          <a:xfrm>
            <a:off x="6204600" y="2160000"/>
            <a:ext cx="5484600" cy="216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04600" y="2160000"/>
            <a:ext cx="54846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48599" y="2304000"/>
            <a:ext cx="5196600" cy="288000"/>
          </a:xfrm>
          <a:prstGeom prst="rect">
            <a:avLst/>
          </a:prstGeom>
          <a:noFill/>
        </p:spPr>
        <p:txBody>
          <a:bodyPr wrap="square">
            <a:spAutoFit/>
          </a:bodyPr>
          <a:lstStyle/>
          <a:p>
            <a:r>
              <a:rPr sz="1500" b="1" i="0">
                <a:solidFill>
                  <a:srgbClr val="A0453F"/>
                </a:solidFill>
                <a:latin typeface="Calibri"/>
              </a:rPr>
              <a:t>2. HÄLFTE</a:t>
            </a:r>
          </a:p>
        </p:txBody>
      </p:sp>
      <p:sp>
        <p:nvSpPr>
          <p:cNvPr id="18" name="TextBox 17"/>
          <p:cNvSpPr txBox="1"/>
          <p:nvPr/>
        </p:nvSpPr>
        <p:spPr>
          <a:xfrm>
            <a:off x="6348599" y="2628000"/>
            <a:ext cx="5196600" cy="198000"/>
          </a:xfrm>
          <a:prstGeom prst="rect">
            <a:avLst/>
          </a:prstGeom>
          <a:noFill/>
        </p:spPr>
        <p:txBody>
          <a:bodyPr wrap="square">
            <a:spAutoFit/>
          </a:bodyPr>
          <a:lstStyle/>
          <a:p>
            <a:r>
              <a:rPr sz="1200" b="1" i="0">
                <a:solidFill>
                  <a:srgbClr val="6B7280"/>
                </a:solidFill>
                <a:latin typeface="Calibri"/>
              </a:rPr>
              <a:t>n = 9</a:t>
            </a:r>
          </a:p>
        </p:txBody>
      </p:sp>
      <p:sp>
        <p:nvSpPr>
          <p:cNvPr id="19" name="TextBox 18"/>
          <p:cNvSpPr txBox="1"/>
          <p:nvPr/>
        </p:nvSpPr>
        <p:spPr>
          <a:xfrm>
            <a:off x="6348599" y="2880000"/>
            <a:ext cx="5196600" cy="684000"/>
          </a:xfrm>
          <a:prstGeom prst="rect">
            <a:avLst/>
          </a:prstGeom>
          <a:noFill/>
        </p:spPr>
        <p:txBody>
          <a:bodyPr wrap="square">
            <a:spAutoFit/>
          </a:bodyPr>
          <a:lstStyle/>
          <a:p>
            <a:r>
              <a:rPr sz="3400" b="1" i="0">
                <a:solidFill>
                  <a:srgbClr val="374151"/>
                </a:solidFill>
                <a:latin typeface="Calibri"/>
              </a:rPr>
              <a:t>Ø 661,1</a:t>
            </a:r>
          </a:p>
        </p:txBody>
      </p:sp>
      <p:sp>
        <p:nvSpPr>
          <p:cNvPr id="20" name="TextBox 19"/>
          <p:cNvSpPr txBox="1"/>
          <p:nvPr/>
        </p:nvSpPr>
        <p:spPr>
          <a:xfrm>
            <a:off x="6348599" y="3600000"/>
            <a:ext cx="5196600" cy="288000"/>
          </a:xfrm>
          <a:prstGeom prst="rect">
            <a:avLst/>
          </a:prstGeom>
          <a:noFill/>
        </p:spPr>
        <p:txBody>
          <a:bodyPr wrap="square">
            <a:spAutoFit/>
          </a:bodyPr>
          <a:lstStyle/>
          <a:p>
            <a:r>
              <a:rPr sz="1400" b="0" i="0">
                <a:solidFill>
                  <a:srgbClr val="6B7280"/>
                </a:solidFill>
                <a:latin typeface="Calibri"/>
              </a:rPr>
              <a:t>± 41,2 (Std.-Abw.)</a:t>
            </a:r>
          </a:p>
        </p:txBody>
      </p:sp>
      <p:sp>
        <p:nvSpPr>
          <p:cNvPr id="21" name="TextBox 20"/>
          <p:cNvSpPr txBox="1"/>
          <p:nvPr/>
        </p:nvSpPr>
        <p:spPr>
          <a:xfrm>
            <a:off x="5952599" y="3024000"/>
            <a:ext cx="288000" cy="432000"/>
          </a:xfrm>
          <a:prstGeom prst="rect">
            <a:avLst/>
          </a:prstGeom>
          <a:noFill/>
        </p:spPr>
        <p:txBody>
          <a:bodyPr wrap="square">
            <a:spAutoFit/>
          </a:bodyPr>
          <a:lstStyle/>
          <a:p>
            <a:pPr algn="ctr"/>
            <a:r>
              <a:rPr sz="3000" b="1" i="0">
                <a:solidFill>
                  <a:srgbClr val="6B7280"/>
                </a:solidFill>
                <a:latin typeface="Calibri"/>
              </a:rPr>
              <a:t>→</a:t>
            </a:r>
          </a:p>
        </p:txBody>
      </p:sp>
      <p:sp>
        <p:nvSpPr>
          <p:cNvPr id="22" name="Rectangle 21"/>
          <p:cNvSpPr/>
          <p:nvPr/>
        </p:nvSpPr>
        <p:spPr>
          <a:xfrm>
            <a:off x="503999" y="4518000"/>
            <a:ext cx="11185200" cy="172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3999" y="4518000"/>
            <a:ext cx="90000" cy="1728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7999" y="4662000"/>
            <a:ext cx="10620000" cy="324000"/>
          </a:xfrm>
          <a:prstGeom prst="rect">
            <a:avLst/>
          </a:prstGeom>
          <a:noFill/>
        </p:spPr>
        <p:txBody>
          <a:bodyPr wrap="square">
            <a:spAutoFit/>
          </a:bodyPr>
          <a:lstStyle/>
          <a:p>
            <a:r>
              <a:rPr sz="1800" b="1" i="0">
                <a:solidFill>
                  <a:srgbClr val="A0453F"/>
                </a:solidFill>
                <a:latin typeface="Calibri"/>
              </a:rPr>
              <a:t>Ergebnis</a:t>
            </a:r>
          </a:p>
        </p:txBody>
      </p:sp>
      <p:sp>
        <p:nvSpPr>
          <p:cNvPr id="25" name="TextBox 24"/>
          <p:cNvSpPr txBox="1"/>
          <p:nvPr/>
        </p:nvSpPr>
        <p:spPr>
          <a:xfrm>
            <a:off x="827999" y="5004000"/>
            <a:ext cx="10620000" cy="1134000"/>
          </a:xfrm>
          <a:prstGeom prst="rect">
            <a:avLst/>
          </a:prstGeom>
          <a:noFill/>
        </p:spPr>
        <p:txBody>
          <a:bodyPr wrap="square">
            <a:spAutoFit/>
          </a:bodyPr>
          <a:lstStyle/>
          <a:p>
            <a:r>
              <a:rPr sz="1600" b="0" i="0">
                <a:solidFill>
                  <a:srgbClr val="374151"/>
                </a:solidFill>
                <a:latin typeface="Calibri"/>
              </a:rPr>
              <a:t>Mittelwertdifferenz: 117,8 Personen (95 %-Konfidenzintervall: [82,8; 152,7]). Welch-t-Test: t = 6,61, p ≈ 0,00001 — statistisch hoch signifikant, H₀ wird verworfen.</a:t>
            </a:r>
          </a:p>
        </p:txBody>
      </p:sp>
      <p:sp>
        <p:nvSpPr>
          <p:cNvPr id="26" name="TextBox 25"/>
          <p:cNvSpPr txBox="1"/>
          <p:nvPr/>
        </p:nvSpPr>
        <p:spPr>
          <a:xfrm>
            <a:off x="11124000" y="6533999"/>
            <a:ext cx="936000" cy="270000"/>
          </a:xfrm>
          <a:prstGeom prst="rect">
            <a:avLst/>
          </a:prstGeom>
          <a:noFill/>
        </p:spPr>
        <p:txBody>
          <a:bodyPr wrap="none">
            <a:spAutoFit/>
          </a:bodyPr>
          <a:lstStyle/>
          <a:p>
            <a:pPr algn="r"/>
            <a:fld id="{DAC07652-0513-4EC5-A4E3-E5658BB5C35B}" type="slidenum">
              <a:rPr lang="de-DE" sz="1200">
                <a:solidFill>
                  <a:srgbClr val="6B7280"/>
                </a:solidFill>
              </a:rPr>
              <a:t>23</a:t>
            </a:fld>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4.6</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Regressionsanalyse: Trend der Langzeitarbeitslosigkeit</a:t>
            </a:r>
          </a:p>
        </p:txBody>
      </p:sp>
      <p:sp>
        <p:nvSpPr>
          <p:cNvPr id="5" name="Rectangle 4"/>
          <p:cNvSpPr/>
          <p:nvPr/>
        </p:nvSpPr>
        <p:spPr>
          <a:xfrm>
            <a:off x="503999" y="1224000"/>
            <a:ext cx="5484600" cy="162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54846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8000" y="1368000"/>
            <a:ext cx="5196600" cy="288000"/>
          </a:xfrm>
          <a:prstGeom prst="rect">
            <a:avLst/>
          </a:prstGeom>
          <a:noFill/>
        </p:spPr>
        <p:txBody>
          <a:bodyPr wrap="square">
            <a:spAutoFit/>
          </a:bodyPr>
          <a:lstStyle/>
          <a:p>
            <a:r>
              <a:rPr sz="1500" b="1" i="0">
                <a:solidFill>
                  <a:srgbClr val="3B6EA8"/>
                </a:solidFill>
                <a:latin typeface="Calibri"/>
              </a:rPr>
              <a:t>Regressionsgleichung</a:t>
            </a:r>
          </a:p>
        </p:txBody>
      </p:sp>
      <p:sp>
        <p:nvSpPr>
          <p:cNvPr id="8" name="TextBox 7"/>
          <p:cNvSpPr txBox="1"/>
          <p:nvPr/>
        </p:nvSpPr>
        <p:spPr>
          <a:xfrm>
            <a:off x="648000" y="1745999"/>
            <a:ext cx="5196600" cy="576000"/>
          </a:xfrm>
          <a:prstGeom prst="rect">
            <a:avLst/>
          </a:prstGeom>
          <a:noFill/>
        </p:spPr>
        <p:txBody>
          <a:bodyPr wrap="square">
            <a:spAutoFit/>
          </a:bodyPr>
          <a:lstStyle/>
          <a:p>
            <a:r>
              <a:rPr sz="2000" b="1" i="0">
                <a:solidFill>
                  <a:srgbClr val="374151"/>
                </a:solidFill>
                <a:latin typeface="Consolas"/>
              </a:rPr>
              <a:t>LZA = 490,4 + 13,16 × Monatsindex</a:t>
            </a:r>
          </a:p>
        </p:txBody>
      </p:sp>
      <p:sp>
        <p:nvSpPr>
          <p:cNvPr id="9" name="TextBox 8"/>
          <p:cNvSpPr txBox="1"/>
          <p:nvPr/>
        </p:nvSpPr>
        <p:spPr>
          <a:xfrm>
            <a:off x="648000" y="2340000"/>
            <a:ext cx="5196600" cy="396000"/>
          </a:xfrm>
          <a:prstGeom prst="rect">
            <a:avLst/>
          </a:prstGeom>
          <a:noFill/>
        </p:spPr>
        <p:txBody>
          <a:bodyPr wrap="square">
            <a:spAutoFit/>
          </a:bodyPr>
          <a:lstStyle/>
          <a:p>
            <a:r>
              <a:rPr sz="1350" b="0" i="0">
                <a:solidFill>
                  <a:srgbClr val="6B7280"/>
                </a:solidFill>
                <a:latin typeface="Calibri"/>
              </a:rPr>
              <a:t>Steigung: +13,2 Personen pro Monat</a:t>
            </a:r>
          </a:p>
        </p:txBody>
      </p:sp>
      <p:sp>
        <p:nvSpPr>
          <p:cNvPr id="10" name="Rectangle 9"/>
          <p:cNvSpPr/>
          <p:nvPr/>
        </p:nvSpPr>
        <p:spPr>
          <a:xfrm>
            <a:off x="6204600" y="1224000"/>
            <a:ext cx="5484600" cy="162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04600" y="1224000"/>
            <a:ext cx="54846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48599" y="1368000"/>
            <a:ext cx="5196600" cy="288000"/>
          </a:xfrm>
          <a:prstGeom prst="rect">
            <a:avLst/>
          </a:prstGeom>
          <a:noFill/>
        </p:spPr>
        <p:txBody>
          <a:bodyPr wrap="square">
            <a:spAutoFit/>
          </a:bodyPr>
          <a:lstStyle/>
          <a:p>
            <a:r>
              <a:rPr sz="1500" b="1" i="0">
                <a:solidFill>
                  <a:srgbClr val="6B5B8F"/>
                </a:solidFill>
                <a:latin typeface="Calibri"/>
              </a:rPr>
              <a:t>Bestimmtheitsmaß R²</a:t>
            </a:r>
          </a:p>
        </p:txBody>
      </p:sp>
      <p:sp>
        <p:nvSpPr>
          <p:cNvPr id="13" name="TextBox 12"/>
          <p:cNvSpPr txBox="1"/>
          <p:nvPr/>
        </p:nvSpPr>
        <p:spPr>
          <a:xfrm>
            <a:off x="6348599" y="1692000"/>
            <a:ext cx="5196600" cy="648000"/>
          </a:xfrm>
          <a:prstGeom prst="rect">
            <a:avLst/>
          </a:prstGeom>
          <a:noFill/>
        </p:spPr>
        <p:txBody>
          <a:bodyPr wrap="square">
            <a:spAutoFit/>
          </a:bodyPr>
          <a:lstStyle/>
          <a:p>
            <a:r>
              <a:rPr sz="3400" b="1" i="0">
                <a:solidFill>
                  <a:srgbClr val="374151"/>
                </a:solidFill>
                <a:latin typeface="Calibri"/>
              </a:rPr>
              <a:t>0,983</a:t>
            </a:r>
          </a:p>
        </p:txBody>
      </p:sp>
      <p:sp>
        <p:nvSpPr>
          <p:cNvPr id="14" name="TextBox 13"/>
          <p:cNvSpPr txBox="1"/>
          <p:nvPr/>
        </p:nvSpPr>
        <p:spPr>
          <a:xfrm>
            <a:off x="6348599" y="2340000"/>
            <a:ext cx="5196600" cy="396000"/>
          </a:xfrm>
          <a:prstGeom prst="rect">
            <a:avLst/>
          </a:prstGeom>
          <a:noFill/>
        </p:spPr>
        <p:txBody>
          <a:bodyPr wrap="square">
            <a:spAutoFit/>
          </a:bodyPr>
          <a:lstStyle/>
          <a:p>
            <a:r>
              <a:rPr sz="1350" b="0" i="0">
                <a:solidFill>
                  <a:srgbClr val="6B7280"/>
                </a:solidFill>
                <a:latin typeface="Calibri"/>
              </a:rPr>
              <a:t>außergewöhnlich guter linearer Fit</a:t>
            </a:r>
          </a:p>
        </p:txBody>
      </p:sp>
      <p:sp>
        <p:nvSpPr>
          <p:cNvPr id="15" name="Rectangle 14"/>
          <p:cNvSpPr/>
          <p:nvPr/>
        </p:nvSpPr>
        <p:spPr>
          <a:xfrm>
            <a:off x="503999" y="3042000"/>
            <a:ext cx="35844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3999" y="3042000"/>
            <a:ext cx="35844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000" y="3186000"/>
            <a:ext cx="3332400" cy="198000"/>
          </a:xfrm>
          <a:prstGeom prst="rect">
            <a:avLst/>
          </a:prstGeom>
          <a:noFill/>
        </p:spPr>
        <p:txBody>
          <a:bodyPr wrap="square">
            <a:spAutoFit/>
          </a:bodyPr>
          <a:lstStyle/>
          <a:p>
            <a:r>
              <a:rPr sz="1250" b="1" i="0">
                <a:solidFill>
                  <a:srgbClr val="3F7A72"/>
                </a:solidFill>
                <a:latin typeface="Calibri"/>
              </a:rPr>
              <a:t>JULI 2026</a:t>
            </a:r>
          </a:p>
        </p:txBody>
      </p:sp>
      <p:sp>
        <p:nvSpPr>
          <p:cNvPr id="18" name="TextBox 17"/>
          <p:cNvSpPr txBox="1"/>
          <p:nvPr/>
        </p:nvSpPr>
        <p:spPr>
          <a:xfrm>
            <a:off x="630000" y="3456000"/>
            <a:ext cx="3332400" cy="576000"/>
          </a:xfrm>
          <a:prstGeom prst="rect">
            <a:avLst/>
          </a:prstGeom>
          <a:noFill/>
        </p:spPr>
        <p:txBody>
          <a:bodyPr wrap="square">
            <a:spAutoFit/>
          </a:bodyPr>
          <a:lstStyle/>
          <a:p>
            <a:r>
              <a:rPr sz="2600" b="1" i="0">
                <a:solidFill>
                  <a:srgbClr val="374151"/>
                </a:solidFill>
                <a:latin typeface="Calibri"/>
              </a:rPr>
              <a:t>↑ ≈ 727</a:t>
            </a:r>
          </a:p>
        </p:txBody>
      </p:sp>
      <p:sp>
        <p:nvSpPr>
          <p:cNvPr id="19" name="TextBox 18"/>
          <p:cNvSpPr txBox="1"/>
          <p:nvPr/>
        </p:nvSpPr>
        <p:spPr>
          <a:xfrm>
            <a:off x="630000" y="4032000"/>
            <a:ext cx="3332400" cy="360000"/>
          </a:xfrm>
          <a:prstGeom prst="rect">
            <a:avLst/>
          </a:prstGeom>
          <a:noFill/>
        </p:spPr>
        <p:txBody>
          <a:bodyPr wrap="square">
            <a:spAutoFit/>
          </a:bodyPr>
          <a:lstStyle/>
          <a:p>
            <a:r>
              <a:rPr sz="1150" b="0" i="0">
                <a:solidFill>
                  <a:srgbClr val="6B7280"/>
                </a:solidFill>
                <a:latin typeface="Calibri"/>
              </a:rPr>
              <a:t>Personen (prognostiziert)</a:t>
            </a:r>
          </a:p>
        </p:txBody>
      </p:sp>
      <p:sp>
        <p:nvSpPr>
          <p:cNvPr id="20" name="Rectangle 19"/>
          <p:cNvSpPr/>
          <p:nvPr/>
        </p:nvSpPr>
        <p:spPr>
          <a:xfrm>
            <a:off x="4304400" y="3042000"/>
            <a:ext cx="35844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04400" y="3042000"/>
            <a:ext cx="35844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30400" y="3186000"/>
            <a:ext cx="3332400" cy="198000"/>
          </a:xfrm>
          <a:prstGeom prst="rect">
            <a:avLst/>
          </a:prstGeom>
          <a:noFill/>
        </p:spPr>
        <p:txBody>
          <a:bodyPr wrap="square">
            <a:spAutoFit/>
          </a:bodyPr>
          <a:lstStyle/>
          <a:p>
            <a:r>
              <a:rPr sz="1250" b="1" i="0">
                <a:solidFill>
                  <a:srgbClr val="3F7A72"/>
                </a:solidFill>
                <a:latin typeface="Calibri"/>
              </a:rPr>
              <a:t>AUGUST 2026</a:t>
            </a:r>
          </a:p>
        </p:txBody>
      </p:sp>
      <p:sp>
        <p:nvSpPr>
          <p:cNvPr id="23" name="TextBox 22"/>
          <p:cNvSpPr txBox="1"/>
          <p:nvPr/>
        </p:nvSpPr>
        <p:spPr>
          <a:xfrm>
            <a:off x="4430400" y="3456000"/>
            <a:ext cx="3332400" cy="576000"/>
          </a:xfrm>
          <a:prstGeom prst="rect">
            <a:avLst/>
          </a:prstGeom>
          <a:noFill/>
        </p:spPr>
        <p:txBody>
          <a:bodyPr wrap="square">
            <a:spAutoFit/>
          </a:bodyPr>
          <a:lstStyle/>
          <a:p>
            <a:r>
              <a:rPr sz="2600" b="1" i="0">
                <a:solidFill>
                  <a:srgbClr val="374151"/>
                </a:solidFill>
                <a:latin typeface="Calibri"/>
              </a:rPr>
              <a:t>↑ ≈ 740</a:t>
            </a:r>
          </a:p>
        </p:txBody>
      </p:sp>
      <p:sp>
        <p:nvSpPr>
          <p:cNvPr id="24" name="TextBox 23"/>
          <p:cNvSpPr txBox="1"/>
          <p:nvPr/>
        </p:nvSpPr>
        <p:spPr>
          <a:xfrm>
            <a:off x="4430400" y="4032000"/>
            <a:ext cx="3332400" cy="360000"/>
          </a:xfrm>
          <a:prstGeom prst="rect">
            <a:avLst/>
          </a:prstGeom>
          <a:noFill/>
        </p:spPr>
        <p:txBody>
          <a:bodyPr wrap="square">
            <a:spAutoFit/>
          </a:bodyPr>
          <a:lstStyle/>
          <a:p>
            <a:r>
              <a:rPr sz="1150" b="0" i="0">
                <a:solidFill>
                  <a:srgbClr val="6B7280"/>
                </a:solidFill>
                <a:latin typeface="Calibri"/>
              </a:rPr>
              <a:t>Personen (prognostiziert)</a:t>
            </a:r>
          </a:p>
        </p:txBody>
      </p:sp>
      <p:sp>
        <p:nvSpPr>
          <p:cNvPr id="25" name="Rectangle 24"/>
          <p:cNvSpPr/>
          <p:nvPr/>
        </p:nvSpPr>
        <p:spPr>
          <a:xfrm>
            <a:off x="8104799" y="3042000"/>
            <a:ext cx="35844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04799" y="3042000"/>
            <a:ext cx="35844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30800" y="3186000"/>
            <a:ext cx="3332400" cy="198000"/>
          </a:xfrm>
          <a:prstGeom prst="rect">
            <a:avLst/>
          </a:prstGeom>
          <a:noFill/>
        </p:spPr>
        <p:txBody>
          <a:bodyPr wrap="square">
            <a:spAutoFit/>
          </a:bodyPr>
          <a:lstStyle/>
          <a:p>
            <a:r>
              <a:rPr sz="1250" b="1" i="0">
                <a:solidFill>
                  <a:srgbClr val="3F7A72"/>
                </a:solidFill>
                <a:latin typeface="Calibri"/>
              </a:rPr>
              <a:t>SEPTEMBER 2026</a:t>
            </a:r>
          </a:p>
        </p:txBody>
      </p:sp>
      <p:sp>
        <p:nvSpPr>
          <p:cNvPr id="28" name="TextBox 27"/>
          <p:cNvSpPr txBox="1"/>
          <p:nvPr/>
        </p:nvSpPr>
        <p:spPr>
          <a:xfrm>
            <a:off x="8230800" y="3456000"/>
            <a:ext cx="3332400" cy="576000"/>
          </a:xfrm>
          <a:prstGeom prst="rect">
            <a:avLst/>
          </a:prstGeom>
          <a:noFill/>
        </p:spPr>
        <p:txBody>
          <a:bodyPr wrap="square">
            <a:spAutoFit/>
          </a:bodyPr>
          <a:lstStyle/>
          <a:p>
            <a:r>
              <a:rPr sz="2600" b="1" i="0">
                <a:solidFill>
                  <a:srgbClr val="374151"/>
                </a:solidFill>
                <a:latin typeface="Calibri"/>
              </a:rPr>
              <a:t>↑ ≈ 754</a:t>
            </a:r>
          </a:p>
        </p:txBody>
      </p:sp>
      <p:sp>
        <p:nvSpPr>
          <p:cNvPr id="29" name="TextBox 28"/>
          <p:cNvSpPr txBox="1"/>
          <p:nvPr/>
        </p:nvSpPr>
        <p:spPr>
          <a:xfrm>
            <a:off x="8230800" y="4032000"/>
            <a:ext cx="3332400" cy="360000"/>
          </a:xfrm>
          <a:prstGeom prst="rect">
            <a:avLst/>
          </a:prstGeom>
          <a:noFill/>
        </p:spPr>
        <p:txBody>
          <a:bodyPr wrap="square">
            <a:spAutoFit/>
          </a:bodyPr>
          <a:lstStyle/>
          <a:p>
            <a:r>
              <a:rPr sz="1150" b="0" i="0">
                <a:solidFill>
                  <a:srgbClr val="6B7280"/>
                </a:solidFill>
                <a:latin typeface="Calibri"/>
              </a:rPr>
              <a:t>Personen (prognostiziert)</a:t>
            </a:r>
          </a:p>
        </p:txBody>
      </p:sp>
      <p:sp>
        <p:nvSpPr>
          <p:cNvPr id="30" name="Rectangle 29"/>
          <p:cNvSpPr/>
          <p:nvPr/>
        </p:nvSpPr>
        <p:spPr>
          <a:xfrm>
            <a:off x="503999" y="4680000"/>
            <a:ext cx="11185200" cy="115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3999" y="4680000"/>
            <a:ext cx="90000" cy="1152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7999" y="4806000"/>
            <a:ext cx="10620000" cy="288000"/>
          </a:xfrm>
          <a:prstGeom prst="rect">
            <a:avLst/>
          </a:prstGeom>
          <a:noFill/>
        </p:spPr>
        <p:txBody>
          <a:bodyPr wrap="square">
            <a:spAutoFit/>
          </a:bodyPr>
          <a:lstStyle/>
          <a:p>
            <a:r>
              <a:rPr sz="1600" b="1" i="0">
                <a:solidFill>
                  <a:srgbClr val="C79A56"/>
                </a:solidFill>
                <a:latin typeface="Calibri"/>
              </a:rPr>
              <a:t>⚠️ Einschränkung</a:t>
            </a:r>
          </a:p>
        </p:txBody>
      </p:sp>
      <p:sp>
        <p:nvSpPr>
          <p:cNvPr id="33" name="TextBox 32"/>
          <p:cNvSpPr txBox="1"/>
          <p:nvPr/>
        </p:nvSpPr>
        <p:spPr>
          <a:xfrm>
            <a:off x="827999" y="5112000"/>
            <a:ext cx="10620000" cy="612000"/>
          </a:xfrm>
          <a:prstGeom prst="rect">
            <a:avLst/>
          </a:prstGeom>
          <a:noFill/>
        </p:spPr>
        <p:txBody>
          <a:bodyPr wrap="square">
            <a:spAutoFit/>
          </a:bodyPr>
          <a:lstStyle/>
          <a:p>
            <a:r>
              <a:rPr sz="1400" b="0" i="0">
                <a:solidFill>
                  <a:srgbClr val="374151"/>
                </a:solidFill>
                <a:latin typeface="Calibri"/>
              </a:rPr>
              <a:t>Lineare Extrapolation aus nur 18 Datenpunkten, ohne Berücksichtigung von Saisonalität oder möglichen Strukturbrüchen — nur eine grobe Orientierung.</a:t>
            </a:r>
          </a:p>
        </p:txBody>
      </p:sp>
      <p:sp>
        <p:nvSpPr>
          <p:cNvPr id="34" name="TextBox 33"/>
          <p:cNvSpPr txBox="1"/>
          <p:nvPr/>
        </p:nvSpPr>
        <p:spPr>
          <a:xfrm>
            <a:off x="11124000" y="6533999"/>
            <a:ext cx="936000" cy="270000"/>
          </a:xfrm>
          <a:prstGeom prst="rect">
            <a:avLst/>
          </a:prstGeom>
          <a:noFill/>
        </p:spPr>
        <p:txBody>
          <a:bodyPr wrap="none">
            <a:spAutoFit/>
          </a:bodyPr>
          <a:lstStyle/>
          <a:p>
            <a:pPr algn="r"/>
            <a:fld id="{98C0CA79-8F36-4F9D-9706-0E497478BF39}" type="slidenum">
              <a:rPr lang="de-DE" sz="1200">
                <a:solidFill>
                  <a:srgbClr val="6B7280"/>
                </a:solidFill>
              </a:rPr>
              <a:t>24</a:t>
            </a:fld>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4.7</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Linearer Trend und Prognose</a:t>
            </a:r>
          </a:p>
        </p:txBody>
      </p:sp>
      <p:pic>
        <p:nvPicPr>
          <p:cNvPr id="5" name="Picture 4" descr="abb9_regression.png"/>
          <p:cNvPicPr>
            <a:picLocks noChangeAspect="1"/>
          </p:cNvPicPr>
          <p:nvPr/>
        </p:nvPicPr>
        <p:blipFill>
          <a:blip r:embed="rId3"/>
          <a:stretch>
            <a:fillRect/>
          </a:stretch>
        </p:blipFill>
        <p:spPr>
          <a:xfrm>
            <a:off x="1287419" y="1152000"/>
            <a:ext cx="9618750" cy="4860000"/>
          </a:xfrm>
          <a:prstGeom prst="rect">
            <a:avLst/>
          </a:prstGeom>
        </p:spPr>
      </p:pic>
      <p:sp>
        <p:nvSpPr>
          <p:cNvPr id="6" name="TextBox 5"/>
          <p:cNvSpPr txBox="1"/>
          <p:nvPr/>
        </p:nvSpPr>
        <p:spPr>
          <a:xfrm>
            <a:off x="503999" y="6120000"/>
            <a:ext cx="11185200" cy="432000"/>
          </a:xfrm>
          <a:prstGeom prst="rect">
            <a:avLst/>
          </a:prstGeom>
          <a:noFill/>
        </p:spPr>
        <p:txBody>
          <a:bodyPr wrap="square">
            <a:spAutoFit/>
          </a:bodyPr>
          <a:lstStyle/>
          <a:p>
            <a:pPr algn="ctr"/>
            <a:r>
              <a:rPr sz="1300" b="0" i="1">
                <a:solidFill>
                  <a:srgbClr val="6B7280"/>
                </a:solidFill>
                <a:latin typeface="Calibri"/>
              </a:rPr>
              <a:t>R² = 0,983 — ein außergewöhnlich guter linearer Fit für die Langzeitarbeitslosen-Zahl.</a:t>
            </a:r>
          </a:p>
        </p:txBody>
      </p:sp>
      <p:sp>
        <p:nvSpPr>
          <p:cNvPr id="7" name="TextBox 6"/>
          <p:cNvSpPr txBox="1"/>
          <p:nvPr/>
        </p:nvSpPr>
        <p:spPr>
          <a:xfrm>
            <a:off x="11124000" y="6533999"/>
            <a:ext cx="936000" cy="270000"/>
          </a:xfrm>
          <a:prstGeom prst="rect">
            <a:avLst/>
          </a:prstGeom>
          <a:noFill/>
        </p:spPr>
        <p:txBody>
          <a:bodyPr wrap="none">
            <a:spAutoFit/>
          </a:bodyPr>
          <a:lstStyle/>
          <a:p>
            <a:pPr algn="r"/>
            <a:fld id="{60B268F4-C17D-47D9-B55B-BC8B6AFEADFA}" type="slidenum">
              <a:rPr lang="de-DE" sz="1200">
                <a:solidFill>
                  <a:srgbClr val="6B7280"/>
                </a:solidFill>
              </a:rPr>
              <a:t>25</a:t>
            </a:fld>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4.8</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 der statistischen Befunde</a:t>
            </a:r>
          </a:p>
        </p:txBody>
      </p:sp>
      <p:sp>
        <p:nvSpPr>
          <p:cNvPr id="5" name="Rectangle 4"/>
          <p:cNvSpPr/>
          <p:nvPr/>
        </p:nvSpPr>
        <p:spPr>
          <a:xfrm>
            <a:off x="503999" y="1224000"/>
            <a:ext cx="2635200" cy="259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26352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000" y="1350000"/>
            <a:ext cx="2383200" cy="468000"/>
          </a:xfrm>
          <a:prstGeom prst="rect">
            <a:avLst/>
          </a:prstGeom>
          <a:noFill/>
        </p:spPr>
        <p:txBody>
          <a:bodyPr wrap="square">
            <a:spAutoFit/>
          </a:bodyPr>
          <a:lstStyle/>
          <a:p>
            <a:r>
              <a:rPr sz="1400" b="1" i="0">
                <a:solidFill>
                  <a:srgbClr val="3B6EA8"/>
                </a:solidFill>
                <a:latin typeface="Calibri"/>
              </a:rPr>
              <a:t>Deskriptive
Statistik</a:t>
            </a:r>
          </a:p>
        </p:txBody>
      </p:sp>
      <p:sp>
        <p:nvSpPr>
          <p:cNvPr id="8" name="TextBox 7"/>
          <p:cNvSpPr txBox="1"/>
          <p:nvPr/>
        </p:nvSpPr>
        <p:spPr>
          <a:xfrm>
            <a:off x="630000" y="1854000"/>
            <a:ext cx="2383200" cy="576000"/>
          </a:xfrm>
          <a:prstGeom prst="rect">
            <a:avLst/>
          </a:prstGeom>
          <a:noFill/>
        </p:spPr>
        <p:txBody>
          <a:bodyPr wrap="square">
            <a:spAutoFit/>
          </a:bodyPr>
          <a:lstStyle/>
          <a:p>
            <a:r>
              <a:rPr sz="2100" b="1" i="0">
                <a:solidFill>
                  <a:srgbClr val="374151"/>
                </a:solidFill>
                <a:latin typeface="Calibri"/>
              </a:rPr>
              <a:t>CV ≈ 11,8 %</a:t>
            </a:r>
          </a:p>
        </p:txBody>
      </p:sp>
      <p:sp>
        <p:nvSpPr>
          <p:cNvPr id="9" name="TextBox 8"/>
          <p:cNvSpPr txBox="1"/>
          <p:nvPr/>
        </p:nvSpPr>
        <p:spPr>
          <a:xfrm>
            <a:off x="630000" y="2430000"/>
            <a:ext cx="2383200" cy="1314000"/>
          </a:xfrm>
          <a:prstGeom prst="rect">
            <a:avLst/>
          </a:prstGeom>
          <a:noFill/>
        </p:spPr>
        <p:txBody>
          <a:bodyPr wrap="square">
            <a:spAutoFit/>
          </a:bodyPr>
          <a:lstStyle/>
          <a:p>
            <a:r>
              <a:rPr sz="1250" b="0" i="0">
                <a:solidFill>
                  <a:srgbClr val="374151"/>
                </a:solidFill>
                <a:latin typeface="Calibri"/>
              </a:rPr>
              <a:t>Langzeitarbeitslose: stärkste relative Veränderung aller Kernkennzahlen</a:t>
            </a:r>
          </a:p>
        </p:txBody>
      </p:sp>
      <p:sp>
        <p:nvSpPr>
          <p:cNvPr id="10" name="Rectangle 9"/>
          <p:cNvSpPr/>
          <p:nvPr/>
        </p:nvSpPr>
        <p:spPr>
          <a:xfrm>
            <a:off x="3355200" y="1224000"/>
            <a:ext cx="2635200" cy="259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55200" y="1224000"/>
            <a:ext cx="26352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81200" y="1350000"/>
            <a:ext cx="2383200" cy="468000"/>
          </a:xfrm>
          <a:prstGeom prst="rect">
            <a:avLst/>
          </a:prstGeom>
          <a:noFill/>
        </p:spPr>
        <p:txBody>
          <a:bodyPr wrap="square">
            <a:spAutoFit/>
          </a:bodyPr>
          <a:lstStyle/>
          <a:p>
            <a:r>
              <a:rPr sz="1400" b="1" i="0">
                <a:solidFill>
                  <a:srgbClr val="6B5B8F"/>
                </a:solidFill>
                <a:latin typeface="Calibri"/>
              </a:rPr>
              <a:t>Korrelations-
analyse</a:t>
            </a:r>
          </a:p>
        </p:txBody>
      </p:sp>
      <p:sp>
        <p:nvSpPr>
          <p:cNvPr id="13" name="TextBox 12"/>
          <p:cNvSpPr txBox="1"/>
          <p:nvPr/>
        </p:nvSpPr>
        <p:spPr>
          <a:xfrm>
            <a:off x="3481200" y="1854000"/>
            <a:ext cx="2383200" cy="576000"/>
          </a:xfrm>
          <a:prstGeom prst="rect">
            <a:avLst/>
          </a:prstGeom>
          <a:noFill/>
        </p:spPr>
        <p:txBody>
          <a:bodyPr wrap="square">
            <a:spAutoFit/>
          </a:bodyPr>
          <a:lstStyle/>
          <a:p>
            <a:r>
              <a:rPr sz="2100" b="1" i="0">
                <a:solidFill>
                  <a:srgbClr val="374151"/>
                </a:solidFill>
                <a:latin typeface="Calibri"/>
              </a:rPr>
              <a:t>2 neu signifikant</a:t>
            </a:r>
          </a:p>
        </p:txBody>
      </p:sp>
      <p:sp>
        <p:nvSpPr>
          <p:cNvPr id="14" name="TextBox 13"/>
          <p:cNvSpPr txBox="1"/>
          <p:nvPr/>
        </p:nvSpPr>
        <p:spPr>
          <a:xfrm>
            <a:off x="3481200" y="2430000"/>
            <a:ext cx="2383200" cy="1314000"/>
          </a:xfrm>
          <a:prstGeom prst="rect">
            <a:avLst/>
          </a:prstGeom>
          <a:noFill/>
        </p:spPr>
        <p:txBody>
          <a:bodyPr wrap="square">
            <a:spAutoFit/>
          </a:bodyPr>
          <a:lstStyle/>
          <a:p>
            <a:r>
              <a:rPr sz="1250" b="0" i="0">
                <a:solidFill>
                  <a:srgbClr val="374151"/>
                </a:solidFill>
                <a:latin typeface="Calibri"/>
              </a:rPr>
              <a:t>LZA–Bedarfsgemeinschaften und LZA–Bestand erst durch 3 zusätzliche Monate nachweisbar</a:t>
            </a:r>
          </a:p>
        </p:txBody>
      </p:sp>
      <p:sp>
        <p:nvSpPr>
          <p:cNvPr id="15" name="Rectangle 14"/>
          <p:cNvSpPr/>
          <p:nvPr/>
        </p:nvSpPr>
        <p:spPr>
          <a:xfrm>
            <a:off x="6202800" y="1224000"/>
            <a:ext cx="2635200" cy="259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02800" y="1224000"/>
            <a:ext cx="26352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8800" y="1350000"/>
            <a:ext cx="2383200" cy="468000"/>
          </a:xfrm>
          <a:prstGeom prst="rect">
            <a:avLst/>
          </a:prstGeom>
          <a:noFill/>
        </p:spPr>
        <p:txBody>
          <a:bodyPr wrap="square">
            <a:spAutoFit/>
          </a:bodyPr>
          <a:lstStyle/>
          <a:p>
            <a:r>
              <a:rPr sz="1400" b="1" i="0">
                <a:solidFill>
                  <a:srgbClr val="A0453F"/>
                </a:solidFill>
                <a:latin typeface="Calibri"/>
              </a:rPr>
              <a:t>Hypothesen-
test</a:t>
            </a:r>
          </a:p>
        </p:txBody>
      </p:sp>
      <p:sp>
        <p:nvSpPr>
          <p:cNvPr id="18" name="TextBox 17"/>
          <p:cNvSpPr txBox="1"/>
          <p:nvPr/>
        </p:nvSpPr>
        <p:spPr>
          <a:xfrm>
            <a:off x="6328800" y="1854000"/>
            <a:ext cx="2383200" cy="576000"/>
          </a:xfrm>
          <a:prstGeom prst="rect">
            <a:avLst/>
          </a:prstGeom>
          <a:noFill/>
        </p:spPr>
        <p:txBody>
          <a:bodyPr wrap="square">
            <a:spAutoFit/>
          </a:bodyPr>
          <a:lstStyle/>
          <a:p>
            <a:r>
              <a:rPr sz="2100" b="1" i="0">
                <a:solidFill>
                  <a:srgbClr val="374151"/>
                </a:solidFill>
                <a:latin typeface="Calibri"/>
              </a:rPr>
              <a:t>p ≈ 0,00001</a:t>
            </a:r>
          </a:p>
        </p:txBody>
      </p:sp>
      <p:sp>
        <p:nvSpPr>
          <p:cNvPr id="19" name="TextBox 18"/>
          <p:cNvSpPr txBox="1"/>
          <p:nvPr/>
        </p:nvSpPr>
        <p:spPr>
          <a:xfrm>
            <a:off x="6328800" y="2430000"/>
            <a:ext cx="2383200" cy="1314000"/>
          </a:xfrm>
          <a:prstGeom prst="rect">
            <a:avLst/>
          </a:prstGeom>
          <a:noFill/>
        </p:spPr>
        <p:txBody>
          <a:bodyPr wrap="square">
            <a:spAutoFit/>
          </a:bodyPr>
          <a:lstStyle/>
          <a:p>
            <a:r>
              <a:rPr sz="1250" b="0" i="0">
                <a:solidFill>
                  <a:srgbClr val="374151"/>
                </a:solidFill>
                <a:latin typeface="Calibri"/>
              </a:rPr>
              <a:t>Anstieg der Langzeitarbeitslosigkeit zwischen 1. und 2. Hälfte: statistisch hoch signifikant</a:t>
            </a:r>
          </a:p>
        </p:txBody>
      </p:sp>
      <p:sp>
        <p:nvSpPr>
          <p:cNvPr id="20" name="Rectangle 19"/>
          <p:cNvSpPr/>
          <p:nvPr/>
        </p:nvSpPr>
        <p:spPr>
          <a:xfrm>
            <a:off x="9054000" y="1224000"/>
            <a:ext cx="2635200" cy="259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54000" y="1224000"/>
            <a:ext cx="26352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80000" y="1350000"/>
            <a:ext cx="2383200" cy="468000"/>
          </a:xfrm>
          <a:prstGeom prst="rect">
            <a:avLst/>
          </a:prstGeom>
          <a:noFill/>
        </p:spPr>
        <p:txBody>
          <a:bodyPr wrap="square">
            <a:spAutoFit/>
          </a:bodyPr>
          <a:lstStyle/>
          <a:p>
            <a:r>
              <a:rPr sz="1400" b="1" i="0">
                <a:solidFill>
                  <a:srgbClr val="3F7A72"/>
                </a:solidFill>
                <a:latin typeface="Calibri"/>
              </a:rPr>
              <a:t>Regression</a:t>
            </a:r>
          </a:p>
        </p:txBody>
      </p:sp>
      <p:sp>
        <p:nvSpPr>
          <p:cNvPr id="23" name="TextBox 22"/>
          <p:cNvSpPr txBox="1"/>
          <p:nvPr/>
        </p:nvSpPr>
        <p:spPr>
          <a:xfrm>
            <a:off x="9180000" y="1854000"/>
            <a:ext cx="2383200" cy="576000"/>
          </a:xfrm>
          <a:prstGeom prst="rect">
            <a:avLst/>
          </a:prstGeom>
          <a:noFill/>
        </p:spPr>
        <p:txBody>
          <a:bodyPr wrap="square">
            <a:spAutoFit/>
          </a:bodyPr>
          <a:lstStyle/>
          <a:p>
            <a:r>
              <a:rPr sz="2100" b="1" i="0">
                <a:solidFill>
                  <a:srgbClr val="374151"/>
                </a:solidFill>
                <a:latin typeface="Calibri"/>
              </a:rPr>
              <a:t>R² = 0,983</a:t>
            </a:r>
          </a:p>
        </p:txBody>
      </p:sp>
      <p:sp>
        <p:nvSpPr>
          <p:cNvPr id="24" name="TextBox 23"/>
          <p:cNvSpPr txBox="1"/>
          <p:nvPr/>
        </p:nvSpPr>
        <p:spPr>
          <a:xfrm>
            <a:off x="9180000" y="2430000"/>
            <a:ext cx="2383200" cy="1314000"/>
          </a:xfrm>
          <a:prstGeom prst="rect">
            <a:avLst/>
          </a:prstGeom>
          <a:noFill/>
        </p:spPr>
        <p:txBody>
          <a:bodyPr wrap="square">
            <a:spAutoFit/>
          </a:bodyPr>
          <a:lstStyle/>
          <a:p>
            <a:r>
              <a:rPr sz="1250" b="0" i="0">
                <a:solidFill>
                  <a:srgbClr val="374151"/>
                </a:solidFill>
                <a:latin typeface="Calibri"/>
              </a:rPr>
              <a:t>Linearer Zeittrend erklärt 98,3 % der Schwankung — Prognose: 727–754 Personen</a:t>
            </a:r>
          </a:p>
        </p:txBody>
      </p:sp>
      <p:sp>
        <p:nvSpPr>
          <p:cNvPr id="25" name="Rectangle 24"/>
          <p:cNvSpPr/>
          <p:nvPr/>
        </p:nvSpPr>
        <p:spPr>
          <a:xfrm>
            <a:off x="503999" y="4014000"/>
            <a:ext cx="11185200" cy="154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3999" y="4014000"/>
            <a:ext cx="90000" cy="1548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7999" y="4158000"/>
            <a:ext cx="10620000" cy="324000"/>
          </a:xfrm>
          <a:prstGeom prst="rect">
            <a:avLst/>
          </a:prstGeom>
          <a:noFill/>
        </p:spPr>
        <p:txBody>
          <a:bodyPr wrap="square">
            <a:spAutoFit/>
          </a:bodyPr>
          <a:lstStyle/>
          <a:p>
            <a:r>
              <a:rPr sz="1800" b="1" i="0">
                <a:solidFill>
                  <a:srgbClr val="A0453F"/>
                </a:solidFill>
                <a:latin typeface="Calibri"/>
              </a:rPr>
              <a:t>Gesamtfazit</a:t>
            </a:r>
          </a:p>
        </p:txBody>
      </p:sp>
      <p:sp>
        <p:nvSpPr>
          <p:cNvPr id="28" name="TextBox 27"/>
          <p:cNvSpPr txBox="1"/>
          <p:nvPr/>
        </p:nvSpPr>
        <p:spPr>
          <a:xfrm>
            <a:off x="827999" y="4500000"/>
            <a:ext cx="10620000" cy="954000"/>
          </a:xfrm>
          <a:prstGeom prst="rect">
            <a:avLst/>
          </a:prstGeom>
          <a:noFill/>
        </p:spPr>
        <p:txBody>
          <a:bodyPr wrap="square">
            <a:spAutoFit/>
          </a:bodyPr>
          <a:lstStyle/>
          <a:p>
            <a:r>
              <a:rPr sz="1600" b="0" i="0">
                <a:solidFill>
                  <a:srgbClr val="374151"/>
                </a:solidFill>
                <a:latin typeface="Calibri"/>
              </a:rPr>
              <a:t>Die Verschärfung der Langzeitarbeitslosigkeit ist über alle vier statistischen Verfahren hinweg konsistent nachweisbar — sie ist der am stärksten abgesicherte Trend im gesamten Datensatz.</a:t>
            </a:r>
          </a:p>
        </p:txBody>
      </p:sp>
      <p:sp>
        <p:nvSpPr>
          <p:cNvPr id="29" name="TextBox 28"/>
          <p:cNvSpPr txBox="1"/>
          <p:nvPr/>
        </p:nvSpPr>
        <p:spPr>
          <a:xfrm>
            <a:off x="11124000" y="6533999"/>
            <a:ext cx="936000" cy="270000"/>
          </a:xfrm>
          <a:prstGeom prst="rect">
            <a:avLst/>
          </a:prstGeom>
          <a:noFill/>
        </p:spPr>
        <p:txBody>
          <a:bodyPr wrap="none">
            <a:spAutoFit/>
          </a:bodyPr>
          <a:lstStyle/>
          <a:p>
            <a:pPr algn="r"/>
            <a:fld id="{B91C9C1D-05CE-42DA-9781-36FDBF449C62}" type="slidenum">
              <a:rPr lang="de-DE" sz="1200">
                <a:solidFill>
                  <a:srgbClr val="6B7280"/>
                </a:solidFill>
              </a:rPr>
              <a:t>26</a:t>
            </a:fld>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E4057"/>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588"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5</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Fluktuation</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400"/>
              </a:spcAft>
            </a:pPr>
            <a:r>
              <a:rPr sz="1800" b="0" i="0">
                <a:solidFill>
                  <a:srgbClr val="E0E7FF"/>
                </a:solidFill>
                <a:latin typeface="Calibri"/>
              </a:rPr>
              <a:t>●  Zugang und Abgang im Monatsverlauf</a:t>
            </a:r>
          </a:p>
          <a:p>
            <a:pPr>
              <a:spcAft>
                <a:spcPts val="1400"/>
              </a:spcAft>
            </a:pPr>
            <a:r>
              <a:rPr sz="1800" b="0" i="0">
                <a:solidFill>
                  <a:srgbClr val="E0E7FF"/>
                </a:solidFill>
                <a:latin typeface="Calibri"/>
              </a:rPr>
              <a:t>●  Netto-Fluktuation vs. Bestandsänderung</a:t>
            </a:r>
          </a:p>
          <a:p>
            <a:pPr>
              <a:spcAft>
                <a:spcPts val="1400"/>
              </a:spcAft>
            </a:pPr>
            <a:r>
              <a:rPr sz="1800" b="0" i="0">
                <a:solidFill>
                  <a:srgbClr val="E0E7FF"/>
                </a:solidFill>
                <a:latin typeface="Calibri"/>
              </a:rPr>
              <a:t>●  12-Monatssummen als mittelfristiger Trend</a:t>
            </a:r>
          </a:p>
        </p:txBody>
      </p:sp>
      <p:sp>
        <p:nvSpPr>
          <p:cNvPr id="6" name="TextBox 5"/>
          <p:cNvSpPr txBox="1"/>
          <p:nvPr/>
        </p:nvSpPr>
        <p:spPr>
          <a:xfrm>
            <a:off x="11124000" y="6533999"/>
            <a:ext cx="936000" cy="270000"/>
          </a:xfrm>
          <a:prstGeom prst="rect">
            <a:avLst/>
          </a:prstGeom>
          <a:noFill/>
        </p:spPr>
        <p:txBody>
          <a:bodyPr wrap="none">
            <a:spAutoFit/>
          </a:bodyPr>
          <a:lstStyle/>
          <a:p>
            <a:pPr algn="r"/>
            <a:fld id="{E85627EB-2F52-4618-BA1C-906B89BC0B6E}" type="slidenum">
              <a:rPr lang="de-DE" sz="1200">
                <a:solidFill>
                  <a:srgbClr val="FFFFFF"/>
                </a:solidFill>
              </a:rPr>
              <a:t>27</a:t>
            </a:fld>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5.1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Zugang und Abgang im Monatsverlauf</a:t>
            </a:r>
          </a:p>
        </p:txBody>
      </p:sp>
      <p:pic>
        <p:nvPicPr>
          <p:cNvPr id="5" name="Picture 4" descr="abb10_zugang_abgang.png"/>
          <p:cNvPicPr>
            <a:picLocks noChangeAspect="1"/>
          </p:cNvPicPr>
          <p:nvPr/>
        </p:nvPicPr>
        <p:blipFill>
          <a:blip r:embed="rId3"/>
          <a:stretch>
            <a:fillRect/>
          </a:stretch>
        </p:blipFill>
        <p:spPr>
          <a:xfrm>
            <a:off x="1146794" y="1116000"/>
            <a:ext cx="990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Zugang Ø 267/Monat, Abgang Ø 281/Monat — im Mittel etwas mehr Abgang als Zugang.</a:t>
            </a:r>
          </a:p>
        </p:txBody>
      </p:sp>
      <p:sp>
        <p:nvSpPr>
          <p:cNvPr id="7" name="TextBox 6"/>
          <p:cNvSpPr txBox="1"/>
          <p:nvPr/>
        </p:nvSpPr>
        <p:spPr>
          <a:xfrm>
            <a:off x="11124000" y="6533999"/>
            <a:ext cx="936000" cy="270000"/>
          </a:xfrm>
          <a:prstGeom prst="rect">
            <a:avLst/>
          </a:prstGeom>
          <a:noFill/>
        </p:spPr>
        <p:txBody>
          <a:bodyPr wrap="none">
            <a:spAutoFit/>
          </a:bodyPr>
          <a:lstStyle/>
          <a:p>
            <a:pPr algn="r"/>
            <a:fld id="{D75EA2F1-C618-42F9-891C-AFA5B0694850}" type="slidenum">
              <a:rPr lang="de-DE" sz="1200">
                <a:solidFill>
                  <a:srgbClr val="6B7280"/>
                </a:solidFill>
              </a:rPr>
              <a:t>28</a:t>
            </a:fld>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5.2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Netto-Fluktuation vs. Bestandsänderung</a:t>
            </a:r>
          </a:p>
        </p:txBody>
      </p:sp>
      <p:pic>
        <p:nvPicPr>
          <p:cNvPr id="5" name="Picture 4" descr="abb11_netto_fluktuation.png"/>
          <p:cNvPicPr>
            <a:picLocks noChangeAspect="1"/>
          </p:cNvPicPr>
          <p:nvPr/>
        </p:nvPicPr>
        <p:blipFill>
          <a:blip r:embed="rId3"/>
          <a:stretch>
            <a:fillRect/>
          </a:stretch>
        </p:blipFill>
        <p:spPr>
          <a:xfrm>
            <a:off x="1146794" y="1116000"/>
            <a:ext cx="990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Netto-Fluktuation liegt in allen 18 Monaten unter der tatsächlichen Bestandsänderung (Ø −20,9 Personen) — plausibel durch Rechtskreiswechsel SGB II/SGB III.</a:t>
            </a:r>
          </a:p>
        </p:txBody>
      </p:sp>
      <p:sp>
        <p:nvSpPr>
          <p:cNvPr id="7" name="TextBox 6"/>
          <p:cNvSpPr txBox="1"/>
          <p:nvPr/>
        </p:nvSpPr>
        <p:spPr>
          <a:xfrm>
            <a:off x="11124000" y="6533999"/>
            <a:ext cx="936000" cy="270000"/>
          </a:xfrm>
          <a:prstGeom prst="rect">
            <a:avLst/>
          </a:prstGeom>
          <a:noFill/>
        </p:spPr>
        <p:txBody>
          <a:bodyPr wrap="none">
            <a:spAutoFit/>
          </a:bodyPr>
          <a:lstStyle/>
          <a:p>
            <a:pPr algn="r"/>
            <a:fld id="{04BB61A9-ADB3-4B73-BF43-FE3F06FE71B1}" type="slidenum">
              <a:rPr lang="de-DE" sz="1200">
                <a:solidFill>
                  <a:srgbClr val="6B7280"/>
                </a:solidFill>
              </a:rPr>
              <a:t>29</a:t>
            </a:fld>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5.3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12-Monatssummen: der mittelfristige Trend</a:t>
            </a:r>
          </a:p>
        </p:txBody>
      </p:sp>
      <p:pic>
        <p:nvPicPr>
          <p:cNvPr id="5" name="Picture 4" descr="abb12_12m_summen.png"/>
          <p:cNvPicPr>
            <a:picLocks noChangeAspect="1"/>
          </p:cNvPicPr>
          <p:nvPr/>
        </p:nvPicPr>
        <p:blipFill>
          <a:blip r:embed="rId3"/>
          <a:stretch>
            <a:fillRect/>
          </a:stretch>
        </p:blipFill>
        <p:spPr>
          <a:xfrm>
            <a:off x="816794" y="1116000"/>
            <a:ext cx="1056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Rollierende Netto-Fluktuation verschlechtert sich von −58 auf −264 Personen pro Jahr.</a:t>
            </a:r>
          </a:p>
        </p:txBody>
      </p:sp>
      <p:sp>
        <p:nvSpPr>
          <p:cNvPr id="7" name="TextBox 6"/>
          <p:cNvSpPr txBox="1"/>
          <p:nvPr/>
        </p:nvSpPr>
        <p:spPr>
          <a:xfrm>
            <a:off x="11124000" y="6533999"/>
            <a:ext cx="936000" cy="270000"/>
          </a:xfrm>
          <a:prstGeom prst="rect">
            <a:avLst/>
          </a:prstGeom>
          <a:noFill/>
        </p:spPr>
        <p:txBody>
          <a:bodyPr wrap="none">
            <a:spAutoFit/>
          </a:bodyPr>
          <a:lstStyle/>
          <a:p>
            <a:pPr algn="r"/>
            <a:fld id="{722431C7-D7C2-4D56-A7BA-3D4B87311EE2}" type="slidenum">
              <a:rPr lang="de-DE" sz="1200">
                <a:solidFill>
                  <a:srgbClr val="6B7280"/>
                </a:solidFill>
              </a:rPr>
              <a:t>30</a:t>
            </a:fld>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5.4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404000"/>
            <a:ext cx="35844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565999"/>
            <a:ext cx="3296400" cy="324000"/>
          </a:xfrm>
          <a:prstGeom prst="rect">
            <a:avLst/>
          </a:prstGeom>
          <a:noFill/>
        </p:spPr>
        <p:txBody>
          <a:bodyPr wrap="square">
            <a:spAutoFit/>
          </a:bodyPr>
          <a:lstStyle/>
          <a:p>
            <a:r>
              <a:rPr sz="1500" b="1" i="0">
                <a:solidFill>
                  <a:srgbClr val="3B6EA8"/>
                </a:solidFill>
                <a:latin typeface="Calibri"/>
              </a:rPr>
              <a:t>Zugang &amp; Abgang</a:t>
            </a:r>
          </a:p>
        </p:txBody>
      </p:sp>
      <p:sp>
        <p:nvSpPr>
          <p:cNvPr id="8" name="TextBox 7"/>
          <p:cNvSpPr txBox="1"/>
          <p:nvPr/>
        </p:nvSpPr>
        <p:spPr>
          <a:xfrm>
            <a:off x="647999" y="1962000"/>
            <a:ext cx="3296400" cy="162000"/>
          </a:xfrm>
          <a:prstGeom prst="rect">
            <a:avLst/>
          </a:prstGeom>
          <a:noFill/>
        </p:spPr>
        <p:txBody>
          <a:bodyPr wrap="square">
            <a:spAutoFit/>
          </a:bodyPr>
          <a:lstStyle/>
          <a:p>
            <a:r>
              <a:rPr sz="1050" b="1" i="0">
                <a:solidFill>
                  <a:srgbClr val="6B7280"/>
                </a:solidFill>
                <a:latin typeface="Calibri"/>
              </a:rPr>
              <a:t>ZUGANG (Ø / MONAT)</a:t>
            </a:r>
          </a:p>
        </p:txBody>
      </p:sp>
      <p:sp>
        <p:nvSpPr>
          <p:cNvPr id="9" name="TextBox 8"/>
          <p:cNvSpPr txBox="1"/>
          <p:nvPr/>
        </p:nvSpPr>
        <p:spPr>
          <a:xfrm>
            <a:off x="647999" y="2124000"/>
            <a:ext cx="3296400" cy="396000"/>
          </a:xfrm>
          <a:prstGeom prst="rect">
            <a:avLst/>
          </a:prstGeom>
          <a:noFill/>
        </p:spPr>
        <p:txBody>
          <a:bodyPr wrap="square">
            <a:spAutoFit/>
          </a:bodyPr>
          <a:lstStyle/>
          <a:p>
            <a:r>
              <a:rPr sz="2400" b="1" i="0">
                <a:solidFill>
                  <a:srgbClr val="3F7A72"/>
                </a:solidFill>
                <a:latin typeface="Calibri"/>
              </a:rPr>
              <a:t>267</a:t>
            </a:r>
          </a:p>
        </p:txBody>
      </p:sp>
      <p:sp>
        <p:nvSpPr>
          <p:cNvPr id="10" name="TextBox 9"/>
          <p:cNvSpPr txBox="1"/>
          <p:nvPr/>
        </p:nvSpPr>
        <p:spPr>
          <a:xfrm>
            <a:off x="647999" y="2556000"/>
            <a:ext cx="3296400" cy="162000"/>
          </a:xfrm>
          <a:prstGeom prst="rect">
            <a:avLst/>
          </a:prstGeom>
          <a:noFill/>
        </p:spPr>
        <p:txBody>
          <a:bodyPr wrap="square">
            <a:spAutoFit/>
          </a:bodyPr>
          <a:lstStyle/>
          <a:p>
            <a:r>
              <a:rPr sz="1050" b="1" i="0">
                <a:solidFill>
                  <a:srgbClr val="6B7280"/>
                </a:solidFill>
                <a:latin typeface="Calibri"/>
              </a:rPr>
              <a:t>ABGANG (Ø / MONAT)</a:t>
            </a:r>
          </a:p>
        </p:txBody>
      </p:sp>
      <p:sp>
        <p:nvSpPr>
          <p:cNvPr id="11" name="TextBox 10"/>
          <p:cNvSpPr txBox="1"/>
          <p:nvPr/>
        </p:nvSpPr>
        <p:spPr>
          <a:xfrm>
            <a:off x="647999" y="2718000"/>
            <a:ext cx="3296400" cy="396000"/>
          </a:xfrm>
          <a:prstGeom prst="rect">
            <a:avLst/>
          </a:prstGeom>
          <a:noFill/>
        </p:spPr>
        <p:txBody>
          <a:bodyPr wrap="square">
            <a:spAutoFit/>
          </a:bodyPr>
          <a:lstStyle/>
          <a:p>
            <a:r>
              <a:rPr sz="2400" b="1" i="0">
                <a:solidFill>
                  <a:srgbClr val="A0453F"/>
                </a:solidFill>
                <a:latin typeface="Calibri"/>
              </a:rPr>
              <a:t>281</a:t>
            </a:r>
          </a:p>
        </p:txBody>
      </p:sp>
      <p:sp>
        <p:nvSpPr>
          <p:cNvPr id="12" name="TextBox 11"/>
          <p:cNvSpPr txBox="1"/>
          <p:nvPr/>
        </p:nvSpPr>
        <p:spPr>
          <a:xfrm>
            <a:off x="647999" y="3186000"/>
            <a:ext cx="3296400" cy="1530000"/>
          </a:xfrm>
          <a:prstGeom prst="rect">
            <a:avLst/>
          </a:prstGeom>
          <a:noFill/>
        </p:spPr>
        <p:txBody>
          <a:bodyPr wrap="square">
            <a:spAutoFit/>
          </a:bodyPr>
          <a:lstStyle/>
          <a:p>
            <a:r>
              <a:rPr sz="1300" b="0" i="0">
                <a:solidFill>
                  <a:srgbClr val="374151"/>
                </a:solidFill>
                <a:latin typeface="Calibri"/>
              </a:rPr>
              <a:t>Deutlich mehr Dynamik als der stabile Bestand vermuten lässt.</a:t>
            </a:r>
          </a:p>
        </p:txBody>
      </p:sp>
      <p:sp>
        <p:nvSpPr>
          <p:cNvPr id="13" name="Rectangle 12"/>
          <p:cNvSpPr/>
          <p:nvPr/>
        </p:nvSpPr>
        <p:spPr>
          <a:xfrm>
            <a:off x="4304400"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4400" y="1404000"/>
            <a:ext cx="35844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48400" y="1565999"/>
            <a:ext cx="3296400" cy="324000"/>
          </a:xfrm>
          <a:prstGeom prst="rect">
            <a:avLst/>
          </a:prstGeom>
          <a:noFill/>
        </p:spPr>
        <p:txBody>
          <a:bodyPr wrap="square">
            <a:spAutoFit/>
          </a:bodyPr>
          <a:lstStyle/>
          <a:p>
            <a:r>
              <a:rPr sz="1500" b="1" i="0">
                <a:solidFill>
                  <a:srgbClr val="6B5B8F"/>
                </a:solidFill>
                <a:latin typeface="Calibri"/>
              </a:rPr>
              <a:t>Netto-Fluktuation</a:t>
            </a:r>
          </a:p>
        </p:txBody>
      </p:sp>
      <p:sp>
        <p:nvSpPr>
          <p:cNvPr id="16" name="TextBox 15"/>
          <p:cNvSpPr txBox="1"/>
          <p:nvPr/>
        </p:nvSpPr>
        <p:spPr>
          <a:xfrm>
            <a:off x="4448400" y="2015999"/>
            <a:ext cx="3296400" cy="612000"/>
          </a:xfrm>
          <a:prstGeom prst="rect">
            <a:avLst/>
          </a:prstGeom>
          <a:noFill/>
        </p:spPr>
        <p:txBody>
          <a:bodyPr wrap="square">
            <a:spAutoFit/>
          </a:bodyPr>
          <a:lstStyle/>
          <a:p>
            <a:r>
              <a:rPr sz="3000" b="1" i="0">
                <a:solidFill>
                  <a:srgbClr val="374151"/>
                </a:solidFill>
                <a:latin typeface="Calibri"/>
              </a:rPr>
              <a:t>−14,4</a:t>
            </a:r>
          </a:p>
        </p:txBody>
      </p:sp>
      <p:sp>
        <p:nvSpPr>
          <p:cNvPr id="17" name="TextBox 16"/>
          <p:cNvSpPr txBox="1"/>
          <p:nvPr/>
        </p:nvSpPr>
        <p:spPr>
          <a:xfrm>
            <a:off x="4448400" y="2646000"/>
            <a:ext cx="3296400" cy="270000"/>
          </a:xfrm>
          <a:prstGeom prst="rect">
            <a:avLst/>
          </a:prstGeom>
          <a:noFill/>
        </p:spPr>
        <p:txBody>
          <a:bodyPr wrap="square">
            <a:spAutoFit/>
          </a:bodyPr>
          <a:lstStyle/>
          <a:p>
            <a:r>
              <a:rPr sz="1050" b="1" i="0">
                <a:solidFill>
                  <a:srgbClr val="6B7280"/>
                </a:solidFill>
                <a:latin typeface="Calibri"/>
              </a:rPr>
              <a:t>PERSONEN / MONAT (MITTELWERT)</a:t>
            </a:r>
          </a:p>
        </p:txBody>
      </p:sp>
      <p:sp>
        <p:nvSpPr>
          <p:cNvPr id="18" name="TextBox 17"/>
          <p:cNvSpPr txBox="1"/>
          <p:nvPr/>
        </p:nvSpPr>
        <p:spPr>
          <a:xfrm>
            <a:off x="4448400" y="3186000"/>
            <a:ext cx="3296400" cy="1530000"/>
          </a:xfrm>
          <a:prstGeom prst="rect">
            <a:avLst/>
          </a:prstGeom>
          <a:noFill/>
        </p:spPr>
        <p:txBody>
          <a:bodyPr wrap="square">
            <a:spAutoFit/>
          </a:bodyPr>
          <a:lstStyle/>
          <a:p>
            <a:r>
              <a:rPr sz="1300" b="0" i="0">
                <a:solidFill>
                  <a:srgbClr val="374151"/>
                </a:solidFill>
                <a:latin typeface="Calibri"/>
              </a:rPr>
              <a:t>Leicht rückläufige Tendenz seit Anfang 2025.</a:t>
            </a:r>
          </a:p>
        </p:txBody>
      </p:sp>
      <p:sp>
        <p:nvSpPr>
          <p:cNvPr id="19" name="Rectangle 18"/>
          <p:cNvSpPr/>
          <p:nvPr/>
        </p:nvSpPr>
        <p:spPr>
          <a:xfrm>
            <a:off x="81047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04799" y="1404000"/>
            <a:ext cx="35844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48799" y="1565999"/>
            <a:ext cx="3296400" cy="324000"/>
          </a:xfrm>
          <a:prstGeom prst="rect">
            <a:avLst/>
          </a:prstGeom>
          <a:noFill/>
        </p:spPr>
        <p:txBody>
          <a:bodyPr wrap="square">
            <a:spAutoFit/>
          </a:bodyPr>
          <a:lstStyle/>
          <a:p>
            <a:r>
              <a:rPr sz="1500" b="1" i="0">
                <a:solidFill>
                  <a:srgbClr val="3F7A72"/>
                </a:solidFill>
                <a:latin typeface="Calibri"/>
              </a:rPr>
              <a:t>Erklärung</a:t>
            </a:r>
          </a:p>
        </p:txBody>
      </p:sp>
      <p:sp>
        <p:nvSpPr>
          <p:cNvPr id="22" name="TextBox 21"/>
          <p:cNvSpPr txBox="1"/>
          <p:nvPr/>
        </p:nvSpPr>
        <p:spPr>
          <a:xfrm>
            <a:off x="8248799" y="2034000"/>
            <a:ext cx="3296400" cy="576000"/>
          </a:xfrm>
          <a:prstGeom prst="rect">
            <a:avLst/>
          </a:prstGeom>
          <a:noFill/>
        </p:spPr>
        <p:txBody>
          <a:bodyPr wrap="square">
            <a:spAutoFit/>
          </a:bodyPr>
          <a:lstStyle/>
          <a:p>
            <a:r>
              <a:rPr sz="1700" b="1" i="0">
                <a:solidFill>
                  <a:srgbClr val="3F7A72"/>
                </a:solidFill>
                <a:latin typeface="Calibri"/>
              </a:rPr>
              <a:t>⇄ Rechtskreiswechsel</a:t>
            </a:r>
          </a:p>
        </p:txBody>
      </p:sp>
      <p:sp>
        <p:nvSpPr>
          <p:cNvPr id="23" name="TextBox 22"/>
          <p:cNvSpPr txBox="1"/>
          <p:nvPr/>
        </p:nvSpPr>
        <p:spPr>
          <a:xfrm>
            <a:off x="8248799" y="2538000"/>
            <a:ext cx="3296400" cy="270000"/>
          </a:xfrm>
          <a:prstGeom prst="rect">
            <a:avLst/>
          </a:prstGeom>
          <a:noFill/>
        </p:spPr>
        <p:txBody>
          <a:bodyPr wrap="square">
            <a:spAutoFit/>
          </a:bodyPr>
          <a:lstStyle/>
          <a:p>
            <a:r>
              <a:rPr sz="1200" b="0" i="0">
                <a:solidFill>
                  <a:srgbClr val="6B7280"/>
                </a:solidFill>
                <a:latin typeface="Calibri"/>
              </a:rPr>
              <a:t>SGB II ↔ SGB III</a:t>
            </a:r>
          </a:p>
        </p:txBody>
      </p:sp>
      <p:sp>
        <p:nvSpPr>
          <p:cNvPr id="24" name="TextBox 23"/>
          <p:cNvSpPr txBox="1"/>
          <p:nvPr/>
        </p:nvSpPr>
        <p:spPr>
          <a:xfrm>
            <a:off x="8248799" y="3186000"/>
            <a:ext cx="3296400" cy="1530000"/>
          </a:xfrm>
          <a:prstGeom prst="rect">
            <a:avLst/>
          </a:prstGeom>
          <a:noFill/>
        </p:spPr>
        <p:txBody>
          <a:bodyPr wrap="square">
            <a:spAutoFit/>
          </a:bodyPr>
          <a:lstStyle/>
          <a:p>
            <a:r>
              <a:rPr sz="1300" b="0" i="0">
                <a:solidFill>
                  <a:srgbClr val="374151"/>
                </a:solidFill>
                <a:latin typeface="Calibri"/>
              </a:rPr>
              <a:t>Differenz zur tatsächlichen Bestandsänderung ist dadurch plausibel erklärbar.</a:t>
            </a:r>
          </a:p>
        </p:txBody>
      </p:sp>
      <p:sp>
        <p:nvSpPr>
          <p:cNvPr id="25" name="TextBox 24"/>
          <p:cNvSpPr txBox="1"/>
          <p:nvPr/>
        </p:nvSpPr>
        <p:spPr>
          <a:xfrm>
            <a:off x="11124000" y="6533999"/>
            <a:ext cx="936000" cy="270000"/>
          </a:xfrm>
          <a:prstGeom prst="rect">
            <a:avLst/>
          </a:prstGeom>
          <a:noFill/>
        </p:spPr>
        <p:txBody>
          <a:bodyPr wrap="none">
            <a:spAutoFit/>
          </a:bodyPr>
          <a:lstStyle/>
          <a:p>
            <a:pPr algn="r"/>
            <a:fld id="{56ABA818-176D-4D0E-9C36-0E2DD8A197BD}" type="slidenum">
              <a:rPr lang="de-DE" sz="1200">
                <a:solidFill>
                  <a:srgbClr val="6B7280"/>
                </a:solidFill>
              </a:rPr>
              <a:t>31</a:t>
            </a:fld>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4A3F5E"/>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588"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6</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Demografie</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400"/>
              </a:spcAft>
            </a:pPr>
            <a:r>
              <a:rPr sz="1800" b="0" i="0">
                <a:solidFill>
                  <a:srgbClr val="E0E7FF"/>
                </a:solidFill>
                <a:latin typeface="Calibri"/>
              </a:rPr>
              <a:t>●  Altersstruktur und Geschlecht als Zeitreihe</a:t>
            </a:r>
          </a:p>
          <a:p>
            <a:pPr>
              <a:spcAft>
                <a:spcPts val="1400"/>
              </a:spcAft>
            </a:pPr>
            <a:r>
              <a:rPr sz="1800" b="0" i="0">
                <a:solidFill>
                  <a:srgbClr val="E0E7FF"/>
                </a:solidFill>
                <a:latin typeface="Calibri"/>
              </a:rPr>
              <a:t>●  Ausländer und Schwerbehinderte erstmals ausgewertet</a:t>
            </a:r>
          </a:p>
        </p:txBody>
      </p:sp>
      <p:sp>
        <p:nvSpPr>
          <p:cNvPr id="6" name="TextBox 5"/>
          <p:cNvSpPr txBox="1"/>
          <p:nvPr/>
        </p:nvSpPr>
        <p:spPr>
          <a:xfrm>
            <a:off x="11124000" y="6533999"/>
            <a:ext cx="936000" cy="270000"/>
          </a:xfrm>
          <a:prstGeom prst="rect">
            <a:avLst/>
          </a:prstGeom>
          <a:noFill/>
        </p:spPr>
        <p:txBody>
          <a:bodyPr wrap="none">
            <a:spAutoFit/>
          </a:bodyPr>
          <a:lstStyle/>
          <a:p>
            <a:pPr algn="r"/>
            <a:fld id="{5FFBA8D8-8DD9-430C-83E2-99812F781C68}" type="slidenum">
              <a:rPr lang="de-DE" sz="1200">
                <a:solidFill>
                  <a:srgbClr val="FFFFFF"/>
                </a:solidFill>
              </a:rPr>
              <a:t>32</a:t>
            </a:fld>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6.1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Altersstruktur im Zeitverlauf</a:t>
            </a:r>
          </a:p>
        </p:txBody>
      </p:sp>
      <p:pic>
        <p:nvPicPr>
          <p:cNvPr id="5" name="Picture 4" descr="abb13_altersstruktur.png"/>
          <p:cNvPicPr>
            <a:picLocks noChangeAspect="1"/>
          </p:cNvPicPr>
          <p:nvPr/>
        </p:nvPicPr>
        <p:blipFill>
          <a:blip r:embed="rId3"/>
          <a:stretch>
            <a:fillRect/>
          </a:stretch>
        </p:blipFill>
        <p:spPr>
          <a:xfrm>
            <a:off x="1146794" y="1116000"/>
            <a:ext cx="990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25-50 Jahre größte Gruppe (~57 %); Anteil der 55+ an der Gruppe 50+ steigt von 64,8 % auf 68,8 %.</a:t>
            </a:r>
          </a:p>
        </p:txBody>
      </p:sp>
      <p:sp>
        <p:nvSpPr>
          <p:cNvPr id="7" name="TextBox 6"/>
          <p:cNvSpPr txBox="1"/>
          <p:nvPr/>
        </p:nvSpPr>
        <p:spPr>
          <a:xfrm>
            <a:off x="11124000" y="6533999"/>
            <a:ext cx="936000" cy="270000"/>
          </a:xfrm>
          <a:prstGeom prst="rect">
            <a:avLst/>
          </a:prstGeom>
          <a:noFill/>
        </p:spPr>
        <p:txBody>
          <a:bodyPr wrap="none">
            <a:spAutoFit/>
          </a:bodyPr>
          <a:lstStyle/>
          <a:p>
            <a:pPr algn="r"/>
            <a:fld id="{CEAB261C-7271-4A19-BAC2-E4B55F614A3A}" type="slidenum">
              <a:rPr lang="de-DE" sz="1200">
                <a:solidFill>
                  <a:srgbClr val="6B7280"/>
                </a:solidFill>
              </a:rPr>
              <a:t>33</a:t>
            </a:fld>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6.2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Geschlechterverteilung im Zeitverlauf</a:t>
            </a:r>
          </a:p>
        </p:txBody>
      </p:sp>
      <p:pic>
        <p:nvPicPr>
          <p:cNvPr id="5" name="Picture 4" descr="abb14_geschlecht.png"/>
          <p:cNvPicPr>
            <a:picLocks noChangeAspect="1"/>
          </p:cNvPicPr>
          <p:nvPr/>
        </p:nvPicPr>
        <p:blipFill>
          <a:blip r:embed="rId3"/>
          <a:stretch>
            <a:fillRect/>
          </a:stretch>
        </p:blipFill>
        <p:spPr>
          <a:xfrm>
            <a:off x="720193" y="1116000"/>
            <a:ext cx="10753200" cy="4731408"/>
          </a:xfrm>
          <a:prstGeom prst="rect">
            <a:avLst/>
          </a:prstGeom>
        </p:spPr>
      </p:pic>
      <p:sp>
        <p:nvSpPr>
          <p:cNvPr id="6" name="TextBox 5"/>
          <p:cNvSpPr txBox="1"/>
          <p:nvPr/>
        </p:nvSpPr>
        <p:spPr>
          <a:xfrm>
            <a:off x="503999" y="5955408"/>
            <a:ext cx="11185200" cy="576000"/>
          </a:xfrm>
          <a:prstGeom prst="rect">
            <a:avLst/>
          </a:prstGeom>
          <a:noFill/>
        </p:spPr>
        <p:txBody>
          <a:bodyPr wrap="square">
            <a:spAutoFit/>
          </a:bodyPr>
          <a:lstStyle/>
          <a:p>
            <a:pPr algn="ctr"/>
            <a:r>
              <a:rPr sz="1300" b="0" i="1">
                <a:solidFill>
                  <a:srgbClr val="6B7280"/>
                </a:solidFill>
                <a:latin typeface="Calibri"/>
              </a:rPr>
              <a:t>Männeranteil steigt leicht von 53,1 % auf 54,5 %.</a:t>
            </a:r>
          </a:p>
        </p:txBody>
      </p:sp>
      <p:sp>
        <p:nvSpPr>
          <p:cNvPr id="7" name="TextBox 6"/>
          <p:cNvSpPr txBox="1"/>
          <p:nvPr/>
        </p:nvSpPr>
        <p:spPr>
          <a:xfrm>
            <a:off x="11124000" y="6533999"/>
            <a:ext cx="936000" cy="270000"/>
          </a:xfrm>
          <a:prstGeom prst="rect">
            <a:avLst/>
          </a:prstGeom>
          <a:noFill/>
        </p:spPr>
        <p:txBody>
          <a:bodyPr wrap="none">
            <a:spAutoFit/>
          </a:bodyPr>
          <a:lstStyle/>
          <a:p>
            <a:pPr algn="r"/>
            <a:fld id="{A14C9A28-7BC4-45E4-B49C-FE4327C00060}" type="slidenum">
              <a:rPr lang="de-DE" sz="1200">
                <a:solidFill>
                  <a:srgbClr val="6B7280"/>
                </a:solidFill>
              </a:rPr>
              <a:t>34</a:t>
            </a:fld>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6.3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Ausländische Arbeitslose im Zeitverlauf</a:t>
            </a:r>
          </a:p>
        </p:txBody>
      </p:sp>
      <p:pic>
        <p:nvPicPr>
          <p:cNvPr id="5" name="Picture 4" descr="abb15_auslaender.png"/>
          <p:cNvPicPr>
            <a:picLocks noChangeAspect="1"/>
          </p:cNvPicPr>
          <p:nvPr/>
        </p:nvPicPr>
        <p:blipFill>
          <a:blip r:embed="rId3"/>
          <a:stretch>
            <a:fillRect/>
          </a:stretch>
        </p:blipFill>
        <p:spPr>
          <a:xfrm>
            <a:off x="720193" y="1116000"/>
            <a:ext cx="10753200" cy="4731408"/>
          </a:xfrm>
          <a:prstGeom prst="rect">
            <a:avLst/>
          </a:prstGeom>
        </p:spPr>
      </p:pic>
      <p:sp>
        <p:nvSpPr>
          <p:cNvPr id="6" name="TextBox 5"/>
          <p:cNvSpPr txBox="1"/>
          <p:nvPr/>
        </p:nvSpPr>
        <p:spPr>
          <a:xfrm>
            <a:off x="503999" y="5955408"/>
            <a:ext cx="11185200" cy="576000"/>
          </a:xfrm>
          <a:prstGeom prst="rect">
            <a:avLst/>
          </a:prstGeom>
          <a:noFill/>
        </p:spPr>
        <p:txBody>
          <a:bodyPr wrap="square">
            <a:spAutoFit/>
          </a:bodyPr>
          <a:lstStyle/>
          <a:p>
            <a:pPr algn="ctr"/>
            <a:r>
              <a:rPr sz="1300" b="0" i="1">
                <a:solidFill>
                  <a:srgbClr val="6B7280"/>
                </a:solidFill>
                <a:latin typeface="Calibri"/>
              </a:rPr>
              <a:t>Überraschend hoher, deutlich rückläufiger Anteil: 51,7 % → 45,4 % des Bestands.</a:t>
            </a:r>
          </a:p>
        </p:txBody>
      </p:sp>
      <p:sp>
        <p:nvSpPr>
          <p:cNvPr id="7" name="TextBox 6"/>
          <p:cNvSpPr txBox="1"/>
          <p:nvPr/>
        </p:nvSpPr>
        <p:spPr>
          <a:xfrm>
            <a:off x="11124000" y="6533999"/>
            <a:ext cx="936000" cy="270000"/>
          </a:xfrm>
          <a:prstGeom prst="rect">
            <a:avLst/>
          </a:prstGeom>
          <a:noFill/>
        </p:spPr>
        <p:txBody>
          <a:bodyPr wrap="none">
            <a:spAutoFit/>
          </a:bodyPr>
          <a:lstStyle/>
          <a:p>
            <a:pPr algn="r"/>
            <a:fld id="{9CF6E40E-74F7-4D8F-860D-9A2F1E7FEBB5}" type="slidenum">
              <a:rPr lang="de-DE" sz="1200">
                <a:solidFill>
                  <a:srgbClr val="6B7280"/>
                </a:solidFill>
              </a:rPr>
              <a:t>35</a:t>
            </a:fld>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6.4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Schwerbehinderte Menschen im Zeitverlauf</a:t>
            </a:r>
          </a:p>
        </p:txBody>
      </p:sp>
      <p:pic>
        <p:nvPicPr>
          <p:cNvPr id="5" name="Picture 4" descr="abb16_schwerbehinderte.png"/>
          <p:cNvPicPr>
            <a:picLocks noChangeAspect="1"/>
          </p:cNvPicPr>
          <p:nvPr/>
        </p:nvPicPr>
        <p:blipFill>
          <a:blip r:embed="rId3"/>
          <a:stretch>
            <a:fillRect/>
          </a:stretch>
        </p:blipFill>
        <p:spPr>
          <a:xfrm>
            <a:off x="720193" y="1116000"/>
            <a:ext cx="10753200" cy="4731408"/>
          </a:xfrm>
          <a:prstGeom prst="rect">
            <a:avLst/>
          </a:prstGeom>
        </p:spPr>
      </p:pic>
      <p:sp>
        <p:nvSpPr>
          <p:cNvPr id="6" name="TextBox 5"/>
          <p:cNvSpPr txBox="1"/>
          <p:nvPr/>
        </p:nvSpPr>
        <p:spPr>
          <a:xfrm>
            <a:off x="503999" y="5955408"/>
            <a:ext cx="11185200" cy="576000"/>
          </a:xfrm>
          <a:prstGeom prst="rect">
            <a:avLst/>
          </a:prstGeom>
          <a:noFill/>
        </p:spPr>
        <p:txBody>
          <a:bodyPr wrap="square">
            <a:spAutoFit/>
          </a:bodyPr>
          <a:lstStyle/>
          <a:p>
            <a:pPr algn="ctr"/>
            <a:r>
              <a:rPr sz="1300" b="0" i="1">
                <a:solidFill>
                  <a:srgbClr val="6B7280"/>
                </a:solidFill>
                <a:latin typeface="Calibri"/>
              </a:rPr>
              <a:t>Kleinerer, leicht steigender Anteil: 7,9 % → 8,7 %.</a:t>
            </a:r>
          </a:p>
        </p:txBody>
      </p:sp>
      <p:sp>
        <p:nvSpPr>
          <p:cNvPr id="7" name="TextBox 6"/>
          <p:cNvSpPr txBox="1"/>
          <p:nvPr/>
        </p:nvSpPr>
        <p:spPr>
          <a:xfrm>
            <a:off x="11124000" y="6533999"/>
            <a:ext cx="936000" cy="270000"/>
          </a:xfrm>
          <a:prstGeom prst="rect">
            <a:avLst/>
          </a:prstGeom>
          <a:noFill/>
        </p:spPr>
        <p:txBody>
          <a:bodyPr wrap="none">
            <a:spAutoFit/>
          </a:bodyPr>
          <a:lstStyle/>
          <a:p>
            <a:pPr algn="r"/>
            <a:fld id="{39DC4FE6-DDA1-484E-B5D4-488446563FFF}" type="slidenum">
              <a:rPr lang="de-DE" sz="1200">
                <a:solidFill>
                  <a:srgbClr val="6B7280"/>
                </a:solidFill>
              </a:rPr>
              <a:t>36</a:t>
            </a:fld>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6.5</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224000"/>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26352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000" y="1350000"/>
            <a:ext cx="2383200" cy="324000"/>
          </a:xfrm>
          <a:prstGeom prst="rect">
            <a:avLst/>
          </a:prstGeom>
          <a:noFill/>
        </p:spPr>
        <p:txBody>
          <a:bodyPr wrap="square">
            <a:spAutoFit/>
          </a:bodyPr>
          <a:lstStyle/>
          <a:p>
            <a:r>
              <a:rPr sz="1400" b="1" i="0">
                <a:solidFill>
                  <a:srgbClr val="3B6EA8"/>
                </a:solidFill>
                <a:latin typeface="Calibri"/>
              </a:rPr>
              <a:t>Altersstruktur</a:t>
            </a:r>
          </a:p>
        </p:txBody>
      </p:sp>
      <p:sp>
        <p:nvSpPr>
          <p:cNvPr id="8" name="TextBox 7"/>
          <p:cNvSpPr txBox="1"/>
          <p:nvPr/>
        </p:nvSpPr>
        <p:spPr>
          <a:xfrm>
            <a:off x="630000" y="1782000"/>
            <a:ext cx="2383200" cy="576000"/>
          </a:xfrm>
          <a:prstGeom prst="rect">
            <a:avLst/>
          </a:prstGeom>
          <a:noFill/>
        </p:spPr>
        <p:txBody>
          <a:bodyPr wrap="square">
            <a:spAutoFit/>
          </a:bodyPr>
          <a:lstStyle/>
          <a:p>
            <a:r>
              <a:rPr sz="1800" b="1" i="0">
                <a:solidFill>
                  <a:srgbClr val="374151"/>
                </a:solidFill>
                <a:latin typeface="Calibri"/>
              </a:rPr>
              <a:t>64,8 % → 68,8 %</a:t>
            </a:r>
          </a:p>
        </p:txBody>
      </p:sp>
      <p:sp>
        <p:nvSpPr>
          <p:cNvPr id="9" name="TextBox 8"/>
          <p:cNvSpPr txBox="1"/>
          <p:nvPr/>
        </p:nvSpPr>
        <p:spPr>
          <a:xfrm>
            <a:off x="630000" y="2376000"/>
            <a:ext cx="2383200" cy="1332000"/>
          </a:xfrm>
          <a:prstGeom prst="rect">
            <a:avLst/>
          </a:prstGeom>
          <a:noFill/>
        </p:spPr>
        <p:txBody>
          <a:bodyPr wrap="square">
            <a:spAutoFit/>
          </a:bodyPr>
          <a:lstStyle/>
          <a:p>
            <a:r>
              <a:rPr sz="1250" b="0" i="0">
                <a:solidFill>
                  <a:srgbClr val="374151"/>
                </a:solidFill>
                <a:latin typeface="Calibri"/>
              </a:rPr>
              <a:t>Anteil der 55+ an der Gruppe 50+ — leichte Alterung</a:t>
            </a:r>
          </a:p>
        </p:txBody>
      </p:sp>
      <p:sp>
        <p:nvSpPr>
          <p:cNvPr id="10" name="Rectangle 9"/>
          <p:cNvSpPr/>
          <p:nvPr/>
        </p:nvSpPr>
        <p:spPr>
          <a:xfrm>
            <a:off x="3355200" y="1224000"/>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55200" y="1224000"/>
            <a:ext cx="26352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81200" y="1350000"/>
            <a:ext cx="2383200" cy="324000"/>
          </a:xfrm>
          <a:prstGeom prst="rect">
            <a:avLst/>
          </a:prstGeom>
          <a:noFill/>
        </p:spPr>
        <p:txBody>
          <a:bodyPr wrap="square">
            <a:spAutoFit/>
          </a:bodyPr>
          <a:lstStyle/>
          <a:p>
            <a:r>
              <a:rPr sz="1400" b="1" i="0">
                <a:solidFill>
                  <a:srgbClr val="6B5B8F"/>
                </a:solidFill>
                <a:latin typeface="Calibri"/>
              </a:rPr>
              <a:t>Geschlecht</a:t>
            </a:r>
          </a:p>
        </p:txBody>
      </p:sp>
      <p:sp>
        <p:nvSpPr>
          <p:cNvPr id="13" name="TextBox 12"/>
          <p:cNvSpPr txBox="1"/>
          <p:nvPr/>
        </p:nvSpPr>
        <p:spPr>
          <a:xfrm>
            <a:off x="3481200" y="1782000"/>
            <a:ext cx="2383200" cy="576000"/>
          </a:xfrm>
          <a:prstGeom prst="rect">
            <a:avLst/>
          </a:prstGeom>
          <a:noFill/>
        </p:spPr>
        <p:txBody>
          <a:bodyPr wrap="square">
            <a:spAutoFit/>
          </a:bodyPr>
          <a:lstStyle/>
          <a:p>
            <a:r>
              <a:rPr sz="1800" b="1" i="0">
                <a:solidFill>
                  <a:srgbClr val="374151"/>
                </a:solidFill>
                <a:latin typeface="Calibri"/>
              </a:rPr>
              <a:t>53,1 % → 54,5 %</a:t>
            </a:r>
          </a:p>
        </p:txBody>
      </p:sp>
      <p:sp>
        <p:nvSpPr>
          <p:cNvPr id="14" name="TextBox 13"/>
          <p:cNvSpPr txBox="1"/>
          <p:nvPr/>
        </p:nvSpPr>
        <p:spPr>
          <a:xfrm>
            <a:off x="3481200" y="2376000"/>
            <a:ext cx="2383200" cy="1332000"/>
          </a:xfrm>
          <a:prstGeom prst="rect">
            <a:avLst/>
          </a:prstGeom>
          <a:noFill/>
        </p:spPr>
        <p:txBody>
          <a:bodyPr wrap="square">
            <a:spAutoFit/>
          </a:bodyPr>
          <a:lstStyle/>
          <a:p>
            <a:r>
              <a:rPr sz="1250" b="0" i="0">
                <a:solidFill>
                  <a:srgbClr val="374151"/>
                </a:solidFill>
                <a:latin typeface="Calibri"/>
              </a:rPr>
              <a:t>Männeranteil — bemerkenswert stabil</a:t>
            </a:r>
          </a:p>
        </p:txBody>
      </p:sp>
      <p:sp>
        <p:nvSpPr>
          <p:cNvPr id="15" name="Rectangle 14"/>
          <p:cNvSpPr/>
          <p:nvPr/>
        </p:nvSpPr>
        <p:spPr>
          <a:xfrm>
            <a:off x="6202800" y="1224000"/>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02800" y="1224000"/>
            <a:ext cx="26352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8800" y="1350000"/>
            <a:ext cx="2383200" cy="324000"/>
          </a:xfrm>
          <a:prstGeom prst="rect">
            <a:avLst/>
          </a:prstGeom>
          <a:noFill/>
        </p:spPr>
        <p:txBody>
          <a:bodyPr wrap="square">
            <a:spAutoFit/>
          </a:bodyPr>
          <a:lstStyle/>
          <a:p>
            <a:r>
              <a:rPr sz="1400" b="1" i="0">
                <a:solidFill>
                  <a:srgbClr val="A0453F"/>
                </a:solidFill>
                <a:latin typeface="Calibri"/>
              </a:rPr>
              <a:t>Ausländeranteil</a:t>
            </a:r>
          </a:p>
        </p:txBody>
      </p:sp>
      <p:sp>
        <p:nvSpPr>
          <p:cNvPr id="18" name="TextBox 17"/>
          <p:cNvSpPr txBox="1"/>
          <p:nvPr/>
        </p:nvSpPr>
        <p:spPr>
          <a:xfrm>
            <a:off x="6328800" y="1782000"/>
            <a:ext cx="2383200" cy="576000"/>
          </a:xfrm>
          <a:prstGeom prst="rect">
            <a:avLst/>
          </a:prstGeom>
          <a:noFill/>
        </p:spPr>
        <p:txBody>
          <a:bodyPr wrap="square">
            <a:spAutoFit/>
          </a:bodyPr>
          <a:lstStyle/>
          <a:p>
            <a:r>
              <a:rPr sz="1800" b="1" i="0">
                <a:solidFill>
                  <a:srgbClr val="374151"/>
                </a:solidFill>
                <a:latin typeface="Calibri"/>
              </a:rPr>
              <a:t>51,7 % → 45,4 %</a:t>
            </a:r>
          </a:p>
        </p:txBody>
      </p:sp>
      <p:sp>
        <p:nvSpPr>
          <p:cNvPr id="19" name="TextBox 18"/>
          <p:cNvSpPr txBox="1"/>
          <p:nvPr/>
        </p:nvSpPr>
        <p:spPr>
          <a:xfrm>
            <a:off x="6328800" y="2376000"/>
            <a:ext cx="2383200" cy="1332000"/>
          </a:xfrm>
          <a:prstGeom prst="rect">
            <a:avLst/>
          </a:prstGeom>
          <a:noFill/>
        </p:spPr>
        <p:txBody>
          <a:bodyPr wrap="square">
            <a:spAutoFit/>
          </a:bodyPr>
          <a:lstStyle/>
          <a:p>
            <a:r>
              <a:rPr sz="1250" b="0" i="0">
                <a:solidFill>
                  <a:srgbClr val="374151"/>
                </a:solidFill>
                <a:latin typeface="Calibri"/>
              </a:rPr>
              <a:t>★ Deutlich rückläufig — auffälligste neue Erkenntnis</a:t>
            </a:r>
          </a:p>
        </p:txBody>
      </p:sp>
      <p:sp>
        <p:nvSpPr>
          <p:cNvPr id="20" name="Rectangle 19"/>
          <p:cNvSpPr/>
          <p:nvPr/>
        </p:nvSpPr>
        <p:spPr>
          <a:xfrm>
            <a:off x="9054000" y="1224000"/>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54000" y="1224000"/>
            <a:ext cx="26352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80000" y="1350000"/>
            <a:ext cx="2383200" cy="324000"/>
          </a:xfrm>
          <a:prstGeom prst="rect">
            <a:avLst/>
          </a:prstGeom>
          <a:noFill/>
        </p:spPr>
        <p:txBody>
          <a:bodyPr wrap="square">
            <a:spAutoFit/>
          </a:bodyPr>
          <a:lstStyle/>
          <a:p>
            <a:r>
              <a:rPr sz="1400" b="1" i="0">
                <a:solidFill>
                  <a:srgbClr val="3F7A72"/>
                </a:solidFill>
                <a:latin typeface="Calibri"/>
              </a:rPr>
              <a:t>Schwerbehinderte</a:t>
            </a:r>
          </a:p>
        </p:txBody>
      </p:sp>
      <p:sp>
        <p:nvSpPr>
          <p:cNvPr id="23" name="TextBox 22"/>
          <p:cNvSpPr txBox="1"/>
          <p:nvPr/>
        </p:nvSpPr>
        <p:spPr>
          <a:xfrm>
            <a:off x="9180000" y="1782000"/>
            <a:ext cx="2383200" cy="576000"/>
          </a:xfrm>
          <a:prstGeom prst="rect">
            <a:avLst/>
          </a:prstGeom>
          <a:noFill/>
        </p:spPr>
        <p:txBody>
          <a:bodyPr wrap="square">
            <a:spAutoFit/>
          </a:bodyPr>
          <a:lstStyle/>
          <a:p>
            <a:r>
              <a:rPr sz="1800" b="1" i="0">
                <a:solidFill>
                  <a:srgbClr val="374151"/>
                </a:solidFill>
                <a:latin typeface="Calibri"/>
              </a:rPr>
              <a:t>7,9 % → 8,7 %</a:t>
            </a:r>
          </a:p>
        </p:txBody>
      </p:sp>
      <p:sp>
        <p:nvSpPr>
          <p:cNvPr id="24" name="TextBox 23"/>
          <p:cNvSpPr txBox="1"/>
          <p:nvPr/>
        </p:nvSpPr>
        <p:spPr>
          <a:xfrm>
            <a:off x="9180000" y="2376000"/>
            <a:ext cx="2383200" cy="1332000"/>
          </a:xfrm>
          <a:prstGeom prst="rect">
            <a:avLst/>
          </a:prstGeom>
          <a:noFill/>
        </p:spPr>
        <p:txBody>
          <a:bodyPr wrap="square">
            <a:spAutoFit/>
          </a:bodyPr>
          <a:lstStyle/>
          <a:p>
            <a:r>
              <a:rPr sz="1250" b="0" i="0">
                <a:solidFill>
                  <a:srgbClr val="374151"/>
                </a:solidFill>
                <a:latin typeface="Calibri"/>
              </a:rPr>
              <a:t>Kleinerer, leicht steigender Anteil</a:t>
            </a:r>
          </a:p>
        </p:txBody>
      </p:sp>
      <p:sp>
        <p:nvSpPr>
          <p:cNvPr id="25" name="Rectangle 24"/>
          <p:cNvSpPr/>
          <p:nvPr/>
        </p:nvSpPr>
        <p:spPr>
          <a:xfrm>
            <a:off x="503999" y="3978000"/>
            <a:ext cx="111852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3999" y="3978000"/>
            <a:ext cx="90000" cy="144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7999" y="4122000"/>
            <a:ext cx="10620000" cy="324000"/>
          </a:xfrm>
          <a:prstGeom prst="rect">
            <a:avLst/>
          </a:prstGeom>
          <a:noFill/>
        </p:spPr>
        <p:txBody>
          <a:bodyPr wrap="square">
            <a:spAutoFit/>
          </a:bodyPr>
          <a:lstStyle/>
          <a:p>
            <a:r>
              <a:rPr sz="1800" b="1" i="0">
                <a:solidFill>
                  <a:srgbClr val="A0453F"/>
                </a:solidFill>
                <a:latin typeface="Calibri"/>
              </a:rPr>
              <a:t>Kernbefund</a:t>
            </a:r>
          </a:p>
        </p:txBody>
      </p:sp>
      <p:sp>
        <p:nvSpPr>
          <p:cNvPr id="28" name="TextBox 27"/>
          <p:cNvSpPr txBox="1"/>
          <p:nvPr/>
        </p:nvSpPr>
        <p:spPr>
          <a:xfrm>
            <a:off x="827999" y="4464000"/>
            <a:ext cx="10620000" cy="846000"/>
          </a:xfrm>
          <a:prstGeom prst="rect">
            <a:avLst/>
          </a:prstGeom>
          <a:noFill/>
        </p:spPr>
        <p:txBody>
          <a:bodyPr wrap="square">
            <a:spAutoFit/>
          </a:bodyPr>
          <a:lstStyle/>
          <a:p>
            <a:r>
              <a:rPr sz="1600" b="0" i="0">
                <a:solidFill>
                  <a:srgbClr val="374151"/>
                </a:solidFill>
                <a:latin typeface="Calibri"/>
              </a:rPr>
              <a:t>Der deutlich rückläufige Ausländeranteil (51,7 % → 45,4 %) ist die auffälligste neue Erkenntnis dieses Kapitels — Altersstruktur, Geschlecht und der Anteil Schwerbehinderter sind vergleichsweise stabil.</a:t>
            </a:r>
          </a:p>
        </p:txBody>
      </p:sp>
      <p:sp>
        <p:nvSpPr>
          <p:cNvPr id="29" name="TextBox 28"/>
          <p:cNvSpPr txBox="1"/>
          <p:nvPr/>
        </p:nvSpPr>
        <p:spPr>
          <a:xfrm>
            <a:off x="11124000" y="6533999"/>
            <a:ext cx="936000" cy="270000"/>
          </a:xfrm>
          <a:prstGeom prst="rect">
            <a:avLst/>
          </a:prstGeom>
          <a:noFill/>
        </p:spPr>
        <p:txBody>
          <a:bodyPr wrap="none">
            <a:spAutoFit/>
          </a:bodyPr>
          <a:lstStyle/>
          <a:p>
            <a:pPr algn="r"/>
            <a:fld id="{02E60DE6-8825-444E-8D91-06D22094696D}" type="slidenum">
              <a:rPr lang="de-DE" sz="1200">
                <a:solidFill>
                  <a:srgbClr val="6B7280"/>
                </a:solidFill>
              </a:rPr>
              <a:t>37</a:t>
            </a:fld>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C79A56"/>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588" cy="5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7</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Erwerbstätigkeit ("Aufstocker")</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400"/>
              </a:spcAft>
            </a:pPr>
            <a:r>
              <a:rPr sz="1800" b="0" i="0">
                <a:solidFill>
                  <a:srgbClr val="E0E7FF"/>
                </a:solidFill>
                <a:latin typeface="Calibri"/>
              </a:rPr>
              <a:t>●  Aufstockerquote im Zeitverlauf</a:t>
            </a:r>
          </a:p>
          <a:p>
            <a:pPr>
              <a:spcAft>
                <a:spcPts val="1400"/>
              </a:spcAft>
            </a:pPr>
            <a:r>
              <a:rPr sz="1800" b="0" i="0">
                <a:solidFill>
                  <a:srgbClr val="E0E7FF"/>
                </a:solidFill>
                <a:latin typeface="Calibri"/>
              </a:rPr>
              <a:t>●  Erwerbsform und Einkommensstruktur</a:t>
            </a:r>
          </a:p>
          <a:p>
            <a:pPr>
              <a:spcAft>
                <a:spcPts val="1400"/>
              </a:spcAft>
            </a:pPr>
            <a:r>
              <a:rPr sz="1800" b="0" i="0">
                <a:solidFill>
                  <a:srgbClr val="E0E7FF"/>
                </a:solidFill>
                <a:latin typeface="Calibri"/>
              </a:rPr>
              <a:t>●  Neues Tabellenblatt: 3.3 Erwerbstätigkeit</a:t>
            </a:r>
          </a:p>
        </p:txBody>
      </p:sp>
      <p:sp>
        <p:nvSpPr>
          <p:cNvPr id="6" name="TextBox 5"/>
          <p:cNvSpPr txBox="1"/>
          <p:nvPr/>
        </p:nvSpPr>
        <p:spPr>
          <a:xfrm>
            <a:off x="11124000" y="6533999"/>
            <a:ext cx="936000" cy="270000"/>
          </a:xfrm>
          <a:prstGeom prst="rect">
            <a:avLst/>
          </a:prstGeom>
          <a:noFill/>
        </p:spPr>
        <p:txBody>
          <a:bodyPr wrap="none">
            <a:spAutoFit/>
          </a:bodyPr>
          <a:lstStyle/>
          <a:p>
            <a:pPr algn="r"/>
            <a:fld id="{E87A6E33-17AA-4105-A5BF-6AA240D3FC6B}" type="slidenum">
              <a:rPr lang="de-DE" sz="1200">
                <a:solidFill>
                  <a:srgbClr val="FFFFFF"/>
                </a:solidFill>
              </a:rPr>
              <a:t>38</a:t>
            </a:fld>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7.1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Aufstockerquote im Zeitverlauf</a:t>
            </a:r>
          </a:p>
        </p:txBody>
      </p:sp>
      <p:pic>
        <p:nvPicPr>
          <p:cNvPr id="5" name="Picture 4" descr="abb17_aufstockerquote.png"/>
          <p:cNvPicPr>
            <a:picLocks noChangeAspect="1"/>
          </p:cNvPicPr>
          <p:nvPr/>
        </p:nvPicPr>
        <p:blipFill>
          <a:blip r:embed="rId3"/>
          <a:stretch>
            <a:fillRect/>
          </a:stretch>
        </p:blipFill>
        <p:spPr>
          <a:xfrm>
            <a:off x="1146794" y="1116000"/>
            <a:ext cx="990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Stabil bei Ø 21,4 % — rund jede fünfte ELB ist erwerbstätig, verdient aber nicht genug für den Ausstieg aus dem Bürgergeld.</a:t>
            </a:r>
          </a:p>
        </p:txBody>
      </p:sp>
      <p:sp>
        <p:nvSpPr>
          <p:cNvPr id="7" name="TextBox 6"/>
          <p:cNvSpPr txBox="1"/>
          <p:nvPr/>
        </p:nvSpPr>
        <p:spPr>
          <a:xfrm>
            <a:off x="11124000" y="6533999"/>
            <a:ext cx="936000" cy="270000"/>
          </a:xfrm>
          <a:prstGeom prst="rect">
            <a:avLst/>
          </a:prstGeom>
          <a:noFill/>
        </p:spPr>
        <p:txBody>
          <a:bodyPr wrap="none">
            <a:spAutoFit/>
          </a:bodyPr>
          <a:lstStyle/>
          <a:p>
            <a:pPr algn="r"/>
            <a:fld id="{E1B63519-0472-4B3E-8794-7460582EFBF1}" type="slidenum">
              <a:rPr lang="de-DE" sz="1200">
                <a:solidFill>
                  <a:srgbClr val="6B7280"/>
                </a:solidFill>
              </a:rPr>
              <a:t>39</a:t>
            </a:fld>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7.2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Abhängig vs. selbständig erwerbstätig</a:t>
            </a:r>
          </a:p>
        </p:txBody>
      </p:sp>
      <p:pic>
        <p:nvPicPr>
          <p:cNvPr id="5" name="Picture 4" descr="abb18_abhaengig_selbstaendig.png"/>
          <p:cNvPicPr>
            <a:picLocks noChangeAspect="1"/>
          </p:cNvPicPr>
          <p:nvPr/>
        </p:nvPicPr>
        <p:blipFill>
          <a:blip r:embed="rId3"/>
          <a:stretch>
            <a:fillRect/>
          </a:stretch>
        </p:blipFill>
        <p:spPr>
          <a:xfrm>
            <a:off x="720193" y="1116000"/>
            <a:ext cx="10753200" cy="4731408"/>
          </a:xfrm>
          <a:prstGeom prst="rect">
            <a:avLst/>
          </a:prstGeom>
        </p:spPr>
      </p:pic>
      <p:sp>
        <p:nvSpPr>
          <p:cNvPr id="6" name="TextBox 5"/>
          <p:cNvSpPr txBox="1"/>
          <p:nvPr/>
        </p:nvSpPr>
        <p:spPr>
          <a:xfrm>
            <a:off x="503999" y="5955408"/>
            <a:ext cx="11185200" cy="576000"/>
          </a:xfrm>
          <a:prstGeom prst="rect">
            <a:avLst/>
          </a:prstGeom>
          <a:noFill/>
        </p:spPr>
        <p:txBody>
          <a:bodyPr wrap="square">
            <a:spAutoFit/>
          </a:bodyPr>
          <a:lstStyle/>
          <a:p>
            <a:pPr algn="ctr"/>
            <a:r>
              <a:rPr sz="1300" b="0" i="1">
                <a:solidFill>
                  <a:srgbClr val="6B7280"/>
                </a:solidFill>
                <a:latin typeface="Calibri"/>
              </a:rPr>
              <a:t>Klar dominiert von abhängiger Beschäftigung (93–94 %).</a:t>
            </a:r>
          </a:p>
        </p:txBody>
      </p:sp>
      <p:sp>
        <p:nvSpPr>
          <p:cNvPr id="7" name="TextBox 6"/>
          <p:cNvSpPr txBox="1"/>
          <p:nvPr/>
        </p:nvSpPr>
        <p:spPr>
          <a:xfrm>
            <a:off x="11124000" y="6533999"/>
            <a:ext cx="936000" cy="270000"/>
          </a:xfrm>
          <a:prstGeom prst="rect">
            <a:avLst/>
          </a:prstGeom>
          <a:noFill/>
        </p:spPr>
        <p:txBody>
          <a:bodyPr wrap="none">
            <a:spAutoFit/>
          </a:bodyPr>
          <a:lstStyle/>
          <a:p>
            <a:pPr algn="r"/>
            <a:fld id="{2537CD88-84D6-49EA-AFB0-306A35EF34DD}" type="slidenum">
              <a:rPr lang="de-DE" sz="1200">
                <a:solidFill>
                  <a:srgbClr val="6B7280"/>
                </a:solidFill>
              </a:rPr>
              <a:t>40</a:t>
            </a:fld>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7.3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Einkommensstruktur der abhängig Erwerbstätigen</a:t>
            </a:r>
          </a:p>
        </p:txBody>
      </p:sp>
      <p:pic>
        <p:nvPicPr>
          <p:cNvPr id="5" name="Picture 4" descr="abb19_einkommensstruktur.png"/>
          <p:cNvPicPr>
            <a:picLocks noChangeAspect="1"/>
          </p:cNvPicPr>
          <p:nvPr/>
        </p:nvPicPr>
        <p:blipFill>
          <a:blip r:embed="rId3"/>
          <a:stretch>
            <a:fillRect/>
          </a:stretch>
        </p:blipFill>
        <p:spPr>
          <a:xfrm>
            <a:off x="720193" y="1116000"/>
            <a:ext cx="10753200" cy="4731408"/>
          </a:xfrm>
          <a:prstGeom prst="rect">
            <a:avLst/>
          </a:prstGeom>
        </p:spPr>
      </p:pic>
      <p:sp>
        <p:nvSpPr>
          <p:cNvPr id="6" name="TextBox 5"/>
          <p:cNvSpPr txBox="1"/>
          <p:nvPr/>
        </p:nvSpPr>
        <p:spPr>
          <a:xfrm>
            <a:off x="503999" y="5955408"/>
            <a:ext cx="11185200" cy="576000"/>
          </a:xfrm>
          <a:prstGeom prst="rect">
            <a:avLst/>
          </a:prstGeom>
          <a:noFill/>
        </p:spPr>
        <p:txBody>
          <a:bodyPr wrap="square">
            <a:spAutoFit/>
          </a:bodyPr>
          <a:lstStyle/>
          <a:p>
            <a:pPr algn="ctr"/>
            <a:r>
              <a:rPr sz="1300" b="0" i="1">
                <a:solidFill>
                  <a:srgbClr val="6B7280"/>
                </a:solidFill>
                <a:latin typeface="Calibri"/>
              </a:rPr>
              <a:t>Leichte Verschiebung zu höheren Einkommen: „bis Geringfügigkeitsgrenze“ sinkt, „im/über Übergangsbereich“ steigen.</a:t>
            </a:r>
          </a:p>
        </p:txBody>
      </p:sp>
      <p:sp>
        <p:nvSpPr>
          <p:cNvPr id="7" name="TextBox 6"/>
          <p:cNvSpPr txBox="1"/>
          <p:nvPr/>
        </p:nvSpPr>
        <p:spPr>
          <a:xfrm>
            <a:off x="11124000" y="6533999"/>
            <a:ext cx="936000" cy="270000"/>
          </a:xfrm>
          <a:prstGeom prst="rect">
            <a:avLst/>
          </a:prstGeom>
          <a:noFill/>
        </p:spPr>
        <p:txBody>
          <a:bodyPr wrap="none">
            <a:spAutoFit/>
          </a:bodyPr>
          <a:lstStyle/>
          <a:p>
            <a:pPr algn="r"/>
            <a:fld id="{2AEF084E-6D5C-427E-A9CF-24966BC440E6}" type="slidenum">
              <a:rPr lang="de-DE" sz="1200">
                <a:solidFill>
                  <a:srgbClr val="6B7280"/>
                </a:solidFill>
              </a:rPr>
              <a:t>41</a:t>
            </a:fld>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7.4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224000"/>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26352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000" y="1350000"/>
            <a:ext cx="2383200" cy="324000"/>
          </a:xfrm>
          <a:prstGeom prst="rect">
            <a:avLst/>
          </a:prstGeom>
          <a:noFill/>
        </p:spPr>
        <p:txBody>
          <a:bodyPr wrap="square">
            <a:spAutoFit/>
          </a:bodyPr>
          <a:lstStyle/>
          <a:p>
            <a:r>
              <a:rPr sz="1400" b="1" i="0">
                <a:solidFill>
                  <a:srgbClr val="3B6EA8"/>
                </a:solidFill>
                <a:latin typeface="Calibri"/>
              </a:rPr>
              <a:t>Aufstockerquote</a:t>
            </a:r>
          </a:p>
        </p:txBody>
      </p:sp>
      <p:sp>
        <p:nvSpPr>
          <p:cNvPr id="8" name="TextBox 7"/>
          <p:cNvSpPr txBox="1"/>
          <p:nvPr/>
        </p:nvSpPr>
        <p:spPr>
          <a:xfrm>
            <a:off x="630000" y="1782000"/>
            <a:ext cx="2383200" cy="576000"/>
          </a:xfrm>
          <a:prstGeom prst="rect">
            <a:avLst/>
          </a:prstGeom>
          <a:noFill/>
        </p:spPr>
        <p:txBody>
          <a:bodyPr wrap="square">
            <a:spAutoFit/>
          </a:bodyPr>
          <a:lstStyle/>
          <a:p>
            <a:r>
              <a:rPr sz="1800" b="1" i="0">
                <a:solidFill>
                  <a:srgbClr val="374151"/>
                </a:solidFill>
                <a:latin typeface="Calibri"/>
              </a:rPr>
              <a:t>Ø 21,4 %</a:t>
            </a:r>
          </a:p>
        </p:txBody>
      </p:sp>
      <p:sp>
        <p:nvSpPr>
          <p:cNvPr id="9" name="TextBox 8"/>
          <p:cNvSpPr txBox="1"/>
          <p:nvPr/>
        </p:nvSpPr>
        <p:spPr>
          <a:xfrm>
            <a:off x="630000" y="2376000"/>
            <a:ext cx="2383200" cy="1332000"/>
          </a:xfrm>
          <a:prstGeom prst="rect">
            <a:avLst/>
          </a:prstGeom>
          <a:noFill/>
        </p:spPr>
        <p:txBody>
          <a:bodyPr wrap="square">
            <a:spAutoFit/>
          </a:bodyPr>
          <a:lstStyle/>
          <a:p>
            <a:r>
              <a:rPr sz="1250" b="0" i="0">
                <a:solidFill>
                  <a:srgbClr val="374151"/>
                </a:solidFill>
                <a:latin typeface="Calibri"/>
              </a:rPr>
              <a:t>Rund jede fünfte ELB ist erwerbstätig</a:t>
            </a:r>
          </a:p>
        </p:txBody>
      </p:sp>
      <p:sp>
        <p:nvSpPr>
          <p:cNvPr id="10" name="Rectangle 9"/>
          <p:cNvSpPr/>
          <p:nvPr/>
        </p:nvSpPr>
        <p:spPr>
          <a:xfrm>
            <a:off x="3355200" y="1224000"/>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55200" y="1224000"/>
            <a:ext cx="26352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81200" y="1350000"/>
            <a:ext cx="2383200" cy="324000"/>
          </a:xfrm>
          <a:prstGeom prst="rect">
            <a:avLst/>
          </a:prstGeom>
          <a:noFill/>
        </p:spPr>
        <p:txBody>
          <a:bodyPr wrap="square">
            <a:spAutoFit/>
          </a:bodyPr>
          <a:lstStyle/>
          <a:p>
            <a:r>
              <a:rPr sz="1400" b="1" i="0">
                <a:solidFill>
                  <a:srgbClr val="6B5B8F"/>
                </a:solidFill>
                <a:latin typeface="Calibri"/>
              </a:rPr>
              <a:t>Erwerbsform</a:t>
            </a:r>
          </a:p>
        </p:txBody>
      </p:sp>
      <p:sp>
        <p:nvSpPr>
          <p:cNvPr id="13" name="TextBox 12"/>
          <p:cNvSpPr txBox="1"/>
          <p:nvPr/>
        </p:nvSpPr>
        <p:spPr>
          <a:xfrm>
            <a:off x="3481200" y="1782000"/>
            <a:ext cx="2383200" cy="576000"/>
          </a:xfrm>
          <a:prstGeom prst="rect">
            <a:avLst/>
          </a:prstGeom>
          <a:noFill/>
        </p:spPr>
        <p:txBody>
          <a:bodyPr wrap="square">
            <a:spAutoFit/>
          </a:bodyPr>
          <a:lstStyle/>
          <a:p>
            <a:r>
              <a:rPr sz="1800" b="1" i="0">
                <a:solidFill>
                  <a:srgbClr val="374151"/>
                </a:solidFill>
                <a:latin typeface="Calibri"/>
              </a:rPr>
              <a:t>93–94 %</a:t>
            </a:r>
          </a:p>
        </p:txBody>
      </p:sp>
      <p:sp>
        <p:nvSpPr>
          <p:cNvPr id="14" name="TextBox 13"/>
          <p:cNvSpPr txBox="1"/>
          <p:nvPr/>
        </p:nvSpPr>
        <p:spPr>
          <a:xfrm>
            <a:off x="3481200" y="2376000"/>
            <a:ext cx="2383200" cy="1332000"/>
          </a:xfrm>
          <a:prstGeom prst="rect">
            <a:avLst/>
          </a:prstGeom>
          <a:noFill/>
        </p:spPr>
        <p:txBody>
          <a:bodyPr wrap="square">
            <a:spAutoFit/>
          </a:bodyPr>
          <a:lstStyle/>
          <a:p>
            <a:r>
              <a:rPr sz="1250" b="0" i="0">
                <a:solidFill>
                  <a:srgbClr val="374151"/>
                </a:solidFill>
                <a:latin typeface="Calibri"/>
              </a:rPr>
              <a:t>Klar dominiert von abhängiger Beschäftigung</a:t>
            </a:r>
          </a:p>
        </p:txBody>
      </p:sp>
      <p:sp>
        <p:nvSpPr>
          <p:cNvPr id="15" name="Rectangle 14"/>
          <p:cNvSpPr/>
          <p:nvPr/>
        </p:nvSpPr>
        <p:spPr>
          <a:xfrm>
            <a:off x="6202800" y="1224000"/>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02800" y="1224000"/>
            <a:ext cx="26352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8800" y="1350000"/>
            <a:ext cx="2383200" cy="324000"/>
          </a:xfrm>
          <a:prstGeom prst="rect">
            <a:avLst/>
          </a:prstGeom>
          <a:noFill/>
        </p:spPr>
        <p:txBody>
          <a:bodyPr wrap="square">
            <a:spAutoFit/>
          </a:bodyPr>
          <a:lstStyle/>
          <a:p>
            <a:r>
              <a:rPr sz="1400" b="1" i="0">
                <a:solidFill>
                  <a:srgbClr val="3F7A72"/>
                </a:solidFill>
                <a:latin typeface="Calibri"/>
              </a:rPr>
              <a:t>Einkommensstruktur</a:t>
            </a:r>
          </a:p>
        </p:txBody>
      </p:sp>
      <p:sp>
        <p:nvSpPr>
          <p:cNvPr id="18" name="TextBox 17"/>
          <p:cNvSpPr txBox="1"/>
          <p:nvPr/>
        </p:nvSpPr>
        <p:spPr>
          <a:xfrm>
            <a:off x="6328800" y="1782000"/>
            <a:ext cx="2383200" cy="576000"/>
          </a:xfrm>
          <a:prstGeom prst="rect">
            <a:avLst/>
          </a:prstGeom>
          <a:noFill/>
        </p:spPr>
        <p:txBody>
          <a:bodyPr wrap="square">
            <a:spAutoFit/>
          </a:bodyPr>
          <a:lstStyle/>
          <a:p>
            <a:r>
              <a:rPr sz="1800" b="1" i="0">
                <a:solidFill>
                  <a:srgbClr val="374151"/>
                </a:solidFill>
                <a:latin typeface="Calibri"/>
              </a:rPr>
              <a:t>↗ leicht steigend</a:t>
            </a:r>
          </a:p>
        </p:txBody>
      </p:sp>
      <p:sp>
        <p:nvSpPr>
          <p:cNvPr id="19" name="TextBox 18"/>
          <p:cNvSpPr txBox="1"/>
          <p:nvPr/>
        </p:nvSpPr>
        <p:spPr>
          <a:xfrm>
            <a:off x="6328800" y="2376000"/>
            <a:ext cx="2383200" cy="1332000"/>
          </a:xfrm>
          <a:prstGeom prst="rect">
            <a:avLst/>
          </a:prstGeom>
          <a:noFill/>
        </p:spPr>
        <p:txBody>
          <a:bodyPr wrap="square">
            <a:spAutoFit/>
          </a:bodyPr>
          <a:lstStyle/>
          <a:p>
            <a:r>
              <a:rPr sz="1250" b="0" i="0">
                <a:solidFill>
                  <a:srgbClr val="374151"/>
                </a:solidFill>
                <a:latin typeface="Calibri"/>
              </a:rPr>
              <a:t>Verschiebung zu höheren Einkommen innerhalb der Aufstocker</a:t>
            </a:r>
          </a:p>
        </p:txBody>
      </p:sp>
      <p:sp>
        <p:nvSpPr>
          <p:cNvPr id="20" name="Rectangle 19"/>
          <p:cNvSpPr/>
          <p:nvPr/>
        </p:nvSpPr>
        <p:spPr>
          <a:xfrm>
            <a:off x="9054000" y="1224000"/>
            <a:ext cx="2635200" cy="25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54000" y="1224000"/>
            <a:ext cx="2635200" cy="90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80000" y="1350000"/>
            <a:ext cx="2383200" cy="324000"/>
          </a:xfrm>
          <a:prstGeom prst="rect">
            <a:avLst/>
          </a:prstGeom>
          <a:noFill/>
        </p:spPr>
        <p:txBody>
          <a:bodyPr wrap="square">
            <a:spAutoFit/>
          </a:bodyPr>
          <a:lstStyle/>
          <a:p>
            <a:r>
              <a:rPr sz="1400" b="1" i="0">
                <a:solidFill>
                  <a:srgbClr val="C79A56"/>
                </a:solidFill>
                <a:latin typeface="Calibri"/>
              </a:rPr>
              <a:t>Datenbesonderheit</a:t>
            </a:r>
          </a:p>
        </p:txBody>
      </p:sp>
      <p:sp>
        <p:nvSpPr>
          <p:cNvPr id="23" name="TextBox 22"/>
          <p:cNvSpPr txBox="1"/>
          <p:nvPr/>
        </p:nvSpPr>
        <p:spPr>
          <a:xfrm>
            <a:off x="9180000" y="1782000"/>
            <a:ext cx="2383200" cy="576000"/>
          </a:xfrm>
          <a:prstGeom prst="rect">
            <a:avLst/>
          </a:prstGeom>
          <a:noFill/>
        </p:spPr>
        <p:txBody>
          <a:bodyPr wrap="square">
            <a:spAutoFit/>
          </a:bodyPr>
          <a:lstStyle/>
          <a:p>
            <a:r>
              <a:rPr sz="1800" b="1" i="0">
                <a:solidFill>
                  <a:srgbClr val="374151"/>
                </a:solidFill>
                <a:latin typeface="Calibri"/>
              </a:rPr>
              <a:t>Okt 2024 – Mär 2026</a:t>
            </a:r>
          </a:p>
        </p:txBody>
      </p:sp>
      <p:sp>
        <p:nvSpPr>
          <p:cNvPr id="24" name="TextBox 23"/>
          <p:cNvSpPr txBox="1"/>
          <p:nvPr/>
        </p:nvSpPr>
        <p:spPr>
          <a:xfrm>
            <a:off x="9180000" y="2376000"/>
            <a:ext cx="2383200" cy="1332000"/>
          </a:xfrm>
          <a:prstGeom prst="rect">
            <a:avLst/>
          </a:prstGeom>
          <a:noFill/>
        </p:spPr>
        <p:txBody>
          <a:bodyPr wrap="square">
            <a:spAutoFit/>
          </a:bodyPr>
          <a:lstStyle/>
          <a:p>
            <a:r>
              <a:rPr sz="1250" b="0" i="0">
                <a:solidFill>
                  <a:srgbClr val="374151"/>
                </a:solidFill>
                <a:latin typeface="Calibri"/>
              </a:rPr>
              <a:t>Eigenes Zeitfenster mit 3 Monaten Wartezeit, unabhängig vom Sidebar-Filter</a:t>
            </a:r>
          </a:p>
        </p:txBody>
      </p:sp>
      <p:sp>
        <p:nvSpPr>
          <p:cNvPr id="25" name="Rectangle 24"/>
          <p:cNvSpPr/>
          <p:nvPr/>
        </p:nvSpPr>
        <p:spPr>
          <a:xfrm>
            <a:off x="503999" y="3978000"/>
            <a:ext cx="111852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3999" y="3978000"/>
            <a:ext cx="90000" cy="144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7999" y="4122000"/>
            <a:ext cx="10620000" cy="324000"/>
          </a:xfrm>
          <a:prstGeom prst="rect">
            <a:avLst/>
          </a:prstGeom>
          <a:noFill/>
        </p:spPr>
        <p:txBody>
          <a:bodyPr wrap="square">
            <a:spAutoFit/>
          </a:bodyPr>
          <a:lstStyle/>
          <a:p>
            <a:r>
              <a:rPr sz="1800" b="1" i="0">
                <a:solidFill>
                  <a:srgbClr val="3B6EA8"/>
                </a:solidFill>
                <a:latin typeface="Calibri"/>
              </a:rPr>
              <a:t>Fazit</a:t>
            </a:r>
          </a:p>
        </p:txBody>
      </p:sp>
      <p:sp>
        <p:nvSpPr>
          <p:cNvPr id="28" name="TextBox 27"/>
          <p:cNvSpPr txBox="1"/>
          <p:nvPr/>
        </p:nvSpPr>
        <p:spPr>
          <a:xfrm>
            <a:off x="827999" y="4464000"/>
            <a:ext cx="10620000" cy="846000"/>
          </a:xfrm>
          <a:prstGeom prst="rect">
            <a:avLst/>
          </a:prstGeom>
          <a:noFill/>
        </p:spPr>
        <p:txBody>
          <a:bodyPr wrap="square">
            <a:spAutoFit/>
          </a:bodyPr>
          <a:lstStyle/>
          <a:p>
            <a:r>
              <a:rPr sz="1600" b="0" i="0">
                <a:solidFill>
                  <a:srgbClr val="374151"/>
                </a:solidFill>
                <a:latin typeface="Calibri"/>
              </a:rPr>
              <a:t>Die Aufstockerquote bleibt über den gesamten Beobachtungszeitraum bemerkenswert konstant — die Erwerbstätigenstruktur unter Bürgergeld-Beziehenden zeigt sich stabil, mit nur leichten Verschiebungen hin zu höheren Einkommen.</a:t>
            </a:r>
          </a:p>
        </p:txBody>
      </p:sp>
      <p:sp>
        <p:nvSpPr>
          <p:cNvPr id="29" name="TextBox 28"/>
          <p:cNvSpPr txBox="1"/>
          <p:nvPr/>
        </p:nvSpPr>
        <p:spPr>
          <a:xfrm>
            <a:off x="11124000" y="6533999"/>
            <a:ext cx="936000" cy="270000"/>
          </a:xfrm>
          <a:prstGeom prst="rect">
            <a:avLst/>
          </a:prstGeom>
          <a:noFill/>
        </p:spPr>
        <p:txBody>
          <a:bodyPr wrap="none">
            <a:spAutoFit/>
          </a:bodyPr>
          <a:lstStyle/>
          <a:p>
            <a:pPr algn="r"/>
            <a:fld id="{F83E3253-DBA8-404B-8F57-596C3EFDBEA8}" type="slidenum">
              <a:rPr lang="de-DE" sz="1200">
                <a:solidFill>
                  <a:srgbClr val="6B7280"/>
                </a:solidFill>
              </a:rPr>
              <a:t>42</a:t>
            </a:fld>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3F7A72"/>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588"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8</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Finanzen (Zahlungsansprüche)</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400"/>
              </a:spcAft>
            </a:pPr>
            <a:r>
              <a:rPr sz="1800" b="0" i="0">
                <a:solidFill>
                  <a:srgbClr val="E0E7FF"/>
                </a:solidFill>
                <a:latin typeface="Calibri"/>
              </a:rPr>
              <a:t>●  Einzige Quelle für Euro-Beträge im Datensatz</a:t>
            </a:r>
          </a:p>
          <a:p>
            <a:pPr>
              <a:spcAft>
                <a:spcPts val="1400"/>
              </a:spcAft>
            </a:pPr>
            <a:r>
              <a:rPr sz="1800" b="0" i="0">
                <a:solidFill>
                  <a:srgbClr val="E0E7FF"/>
                </a:solidFill>
                <a:latin typeface="Calibri"/>
              </a:rPr>
              <a:t>●  Gesamtvolumen und Struktur der Zahlungsansprüche</a:t>
            </a:r>
          </a:p>
        </p:txBody>
      </p:sp>
      <p:sp>
        <p:nvSpPr>
          <p:cNvPr id="6" name="TextBox 5"/>
          <p:cNvSpPr txBox="1"/>
          <p:nvPr/>
        </p:nvSpPr>
        <p:spPr>
          <a:xfrm>
            <a:off x="11124000" y="6533999"/>
            <a:ext cx="936000" cy="270000"/>
          </a:xfrm>
          <a:prstGeom prst="rect">
            <a:avLst/>
          </a:prstGeom>
          <a:noFill/>
        </p:spPr>
        <p:txBody>
          <a:bodyPr wrap="none">
            <a:spAutoFit/>
          </a:bodyPr>
          <a:lstStyle/>
          <a:p>
            <a:pPr algn="r"/>
            <a:fld id="{0304FEBE-69EA-4345-A6F7-FEC999FB4080}" type="slidenum">
              <a:rPr lang="de-DE" sz="1200">
                <a:solidFill>
                  <a:srgbClr val="FFFFFF"/>
                </a:solidFill>
              </a:rPr>
              <a:t>43</a:t>
            </a:fld>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8.1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Gesamtvolumen und Ø je Bedarfsgemeinschaft</a:t>
            </a:r>
          </a:p>
        </p:txBody>
      </p:sp>
      <p:pic>
        <p:nvPicPr>
          <p:cNvPr id="5" name="Picture 4" descr="abb20_zahlungsanspruch_volumen.png"/>
          <p:cNvPicPr>
            <a:picLocks noChangeAspect="1"/>
          </p:cNvPicPr>
          <p:nvPr/>
        </p:nvPicPr>
        <p:blipFill>
          <a:blip r:embed="rId3"/>
          <a:stretch>
            <a:fillRect/>
          </a:stretch>
        </p:blipFill>
        <p:spPr>
          <a:xfrm>
            <a:off x="1146794" y="1116000"/>
            <a:ext cx="990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Gesamtvolumen praktisch stabil (3.451,5 → 3.473,0 Tsd. Euro), Ø je BG spürbar gestiegen (1.251 € → 1.288 €).</a:t>
            </a:r>
          </a:p>
        </p:txBody>
      </p:sp>
      <p:sp>
        <p:nvSpPr>
          <p:cNvPr id="7" name="TextBox 6"/>
          <p:cNvSpPr txBox="1"/>
          <p:nvPr/>
        </p:nvSpPr>
        <p:spPr>
          <a:xfrm>
            <a:off x="11124000" y="6533999"/>
            <a:ext cx="936000" cy="270000"/>
          </a:xfrm>
          <a:prstGeom prst="rect">
            <a:avLst/>
          </a:prstGeom>
          <a:noFill/>
        </p:spPr>
        <p:txBody>
          <a:bodyPr wrap="none">
            <a:spAutoFit/>
          </a:bodyPr>
          <a:lstStyle/>
          <a:p>
            <a:pPr algn="r"/>
            <a:fld id="{0E7D6B01-DD02-4E65-88B8-ECA35B9BAB21}" type="slidenum">
              <a:rPr lang="de-DE" sz="1200">
                <a:solidFill>
                  <a:srgbClr val="6B7280"/>
                </a:solidFill>
              </a:rPr>
              <a:t>44</a:t>
            </a:fld>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8.2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Struktur der Zahlungsansprüche</a:t>
            </a:r>
          </a:p>
        </p:txBody>
      </p:sp>
      <p:pic>
        <p:nvPicPr>
          <p:cNvPr id="5" name="Picture 4" descr="abb21_zahlungsanspruch_struktur.png"/>
          <p:cNvPicPr>
            <a:picLocks noChangeAspect="1"/>
          </p:cNvPicPr>
          <p:nvPr/>
        </p:nvPicPr>
        <p:blipFill>
          <a:blip r:embed="rId3"/>
          <a:stretch>
            <a:fillRect/>
          </a:stretch>
        </p:blipFill>
        <p:spPr>
          <a:xfrm>
            <a:off x="931576" y="1116000"/>
            <a:ext cx="10330434"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Regelbedarf ELB (~40 %) und Kosten der Unterkunft (~36 %) dominieren; Sozialversicherungsbeiträge-Anteil steigt deutlich.</a:t>
            </a:r>
          </a:p>
        </p:txBody>
      </p:sp>
      <p:sp>
        <p:nvSpPr>
          <p:cNvPr id="7" name="TextBox 6"/>
          <p:cNvSpPr txBox="1"/>
          <p:nvPr/>
        </p:nvSpPr>
        <p:spPr>
          <a:xfrm>
            <a:off x="11124000" y="6533999"/>
            <a:ext cx="936000" cy="270000"/>
          </a:xfrm>
          <a:prstGeom prst="rect">
            <a:avLst/>
          </a:prstGeom>
          <a:noFill/>
        </p:spPr>
        <p:txBody>
          <a:bodyPr wrap="none">
            <a:spAutoFit/>
          </a:bodyPr>
          <a:lstStyle/>
          <a:p>
            <a:pPr algn="r"/>
            <a:fld id="{ED2954A6-FC0B-45C0-9A9F-55CB5DC776C3}" type="slidenum">
              <a:rPr lang="de-DE" sz="1200">
                <a:solidFill>
                  <a:srgbClr val="6B7280"/>
                </a:solidFill>
              </a:rPr>
              <a:t>45</a:t>
            </a:fld>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8.3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404000"/>
            <a:ext cx="35844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565999"/>
            <a:ext cx="3296400" cy="324000"/>
          </a:xfrm>
          <a:prstGeom prst="rect">
            <a:avLst/>
          </a:prstGeom>
          <a:noFill/>
        </p:spPr>
        <p:txBody>
          <a:bodyPr wrap="square">
            <a:spAutoFit/>
          </a:bodyPr>
          <a:lstStyle/>
          <a:p>
            <a:r>
              <a:rPr sz="1500" b="1" i="0">
                <a:solidFill>
                  <a:srgbClr val="3B6EA8"/>
                </a:solidFill>
                <a:latin typeface="Calibri"/>
              </a:rPr>
              <a:t>Gesamtvolumen &amp; Ø je BG</a:t>
            </a:r>
          </a:p>
        </p:txBody>
      </p:sp>
      <p:sp>
        <p:nvSpPr>
          <p:cNvPr id="8" name="TextBox 7"/>
          <p:cNvSpPr txBox="1"/>
          <p:nvPr/>
        </p:nvSpPr>
        <p:spPr>
          <a:xfrm>
            <a:off x="647999" y="1962000"/>
            <a:ext cx="3296400" cy="162000"/>
          </a:xfrm>
          <a:prstGeom prst="rect">
            <a:avLst/>
          </a:prstGeom>
          <a:noFill/>
        </p:spPr>
        <p:txBody>
          <a:bodyPr wrap="square">
            <a:spAutoFit/>
          </a:bodyPr>
          <a:lstStyle/>
          <a:p>
            <a:r>
              <a:rPr sz="1050" b="1" i="0">
                <a:solidFill>
                  <a:srgbClr val="6B7280"/>
                </a:solidFill>
                <a:latin typeface="Calibri"/>
              </a:rPr>
              <a:t>GESAMTVOLUMEN (TSD. €)</a:t>
            </a:r>
          </a:p>
        </p:txBody>
      </p:sp>
      <p:sp>
        <p:nvSpPr>
          <p:cNvPr id="9" name="TextBox 8"/>
          <p:cNvSpPr txBox="1"/>
          <p:nvPr/>
        </p:nvSpPr>
        <p:spPr>
          <a:xfrm>
            <a:off x="647999" y="2124000"/>
            <a:ext cx="3296400" cy="396000"/>
          </a:xfrm>
          <a:prstGeom prst="rect">
            <a:avLst/>
          </a:prstGeom>
          <a:noFill/>
        </p:spPr>
        <p:txBody>
          <a:bodyPr wrap="square">
            <a:spAutoFit/>
          </a:bodyPr>
          <a:lstStyle/>
          <a:p>
            <a:r>
              <a:rPr sz="1900" b="1" i="0">
                <a:solidFill>
                  <a:srgbClr val="374151"/>
                </a:solidFill>
                <a:latin typeface="Calibri"/>
              </a:rPr>
              <a:t>3.451,5 → 3.473,0</a:t>
            </a:r>
          </a:p>
        </p:txBody>
      </p:sp>
      <p:sp>
        <p:nvSpPr>
          <p:cNvPr id="10" name="TextBox 9"/>
          <p:cNvSpPr txBox="1"/>
          <p:nvPr/>
        </p:nvSpPr>
        <p:spPr>
          <a:xfrm>
            <a:off x="647999" y="2592000"/>
            <a:ext cx="3296400" cy="162000"/>
          </a:xfrm>
          <a:prstGeom prst="rect">
            <a:avLst/>
          </a:prstGeom>
          <a:noFill/>
        </p:spPr>
        <p:txBody>
          <a:bodyPr wrap="square">
            <a:spAutoFit/>
          </a:bodyPr>
          <a:lstStyle/>
          <a:p>
            <a:r>
              <a:rPr sz="1050" b="1" i="0">
                <a:solidFill>
                  <a:srgbClr val="6B7280"/>
                </a:solidFill>
                <a:latin typeface="Calibri"/>
              </a:rPr>
              <a:t>Ø JE BEDARFSGEMEINSCHAFT</a:t>
            </a:r>
          </a:p>
        </p:txBody>
      </p:sp>
      <p:sp>
        <p:nvSpPr>
          <p:cNvPr id="11" name="TextBox 10"/>
          <p:cNvSpPr txBox="1"/>
          <p:nvPr/>
        </p:nvSpPr>
        <p:spPr>
          <a:xfrm>
            <a:off x="647999" y="2754000"/>
            <a:ext cx="3296400" cy="396000"/>
          </a:xfrm>
          <a:prstGeom prst="rect">
            <a:avLst/>
          </a:prstGeom>
          <a:noFill/>
        </p:spPr>
        <p:txBody>
          <a:bodyPr wrap="square">
            <a:spAutoFit/>
          </a:bodyPr>
          <a:lstStyle/>
          <a:p>
            <a:r>
              <a:rPr sz="1900" b="1" i="0">
                <a:solidFill>
                  <a:srgbClr val="374151"/>
                </a:solidFill>
                <a:latin typeface="Calibri"/>
              </a:rPr>
              <a:t>1.251 € → 1.288 €</a:t>
            </a:r>
          </a:p>
        </p:txBody>
      </p:sp>
      <p:sp>
        <p:nvSpPr>
          <p:cNvPr id="12" name="TextBox 11"/>
          <p:cNvSpPr txBox="1"/>
          <p:nvPr/>
        </p:nvSpPr>
        <p:spPr>
          <a:xfrm>
            <a:off x="647999" y="3311999"/>
            <a:ext cx="3296400" cy="1404000"/>
          </a:xfrm>
          <a:prstGeom prst="rect">
            <a:avLst/>
          </a:prstGeom>
          <a:noFill/>
        </p:spPr>
        <p:txBody>
          <a:bodyPr wrap="square">
            <a:spAutoFit/>
          </a:bodyPr>
          <a:lstStyle/>
          <a:p>
            <a:r>
              <a:rPr sz="1250" b="0" i="0">
                <a:solidFill>
                  <a:srgbClr val="374151"/>
                </a:solidFill>
                <a:latin typeface="Calibri"/>
              </a:rPr>
              <a:t>Gesamtvolumen praktisch stabil, Durchschnitt je BG deutlich gestiegen.</a:t>
            </a:r>
          </a:p>
        </p:txBody>
      </p:sp>
      <p:sp>
        <p:nvSpPr>
          <p:cNvPr id="13" name="Rectangle 12"/>
          <p:cNvSpPr/>
          <p:nvPr/>
        </p:nvSpPr>
        <p:spPr>
          <a:xfrm>
            <a:off x="4304400"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4400" y="1404000"/>
            <a:ext cx="35844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48400" y="1565999"/>
            <a:ext cx="3296400" cy="324000"/>
          </a:xfrm>
          <a:prstGeom prst="rect">
            <a:avLst/>
          </a:prstGeom>
          <a:noFill/>
        </p:spPr>
        <p:txBody>
          <a:bodyPr wrap="square">
            <a:spAutoFit/>
          </a:bodyPr>
          <a:lstStyle/>
          <a:p>
            <a:r>
              <a:rPr sz="1500" b="1" i="0">
                <a:solidFill>
                  <a:srgbClr val="6B5B8F"/>
                </a:solidFill>
                <a:latin typeface="Calibri"/>
              </a:rPr>
              <a:t>Kostenstruktur</a:t>
            </a:r>
          </a:p>
        </p:txBody>
      </p:sp>
      <p:sp>
        <p:nvSpPr>
          <p:cNvPr id="16" name="TextBox 15"/>
          <p:cNvSpPr txBox="1"/>
          <p:nvPr/>
        </p:nvSpPr>
        <p:spPr>
          <a:xfrm>
            <a:off x="4448400" y="1962000"/>
            <a:ext cx="3296400" cy="162000"/>
          </a:xfrm>
          <a:prstGeom prst="rect">
            <a:avLst/>
          </a:prstGeom>
          <a:noFill/>
        </p:spPr>
        <p:txBody>
          <a:bodyPr wrap="square">
            <a:spAutoFit/>
          </a:bodyPr>
          <a:lstStyle/>
          <a:p>
            <a:r>
              <a:rPr sz="1050" b="1" i="0">
                <a:solidFill>
                  <a:srgbClr val="6B7280"/>
                </a:solidFill>
                <a:latin typeface="Calibri"/>
              </a:rPr>
              <a:t>REGELBEDARF ELB</a:t>
            </a:r>
          </a:p>
        </p:txBody>
      </p:sp>
      <p:sp>
        <p:nvSpPr>
          <p:cNvPr id="17" name="TextBox 16"/>
          <p:cNvSpPr txBox="1"/>
          <p:nvPr/>
        </p:nvSpPr>
        <p:spPr>
          <a:xfrm>
            <a:off x="4448400" y="2124000"/>
            <a:ext cx="3296400" cy="396000"/>
          </a:xfrm>
          <a:prstGeom prst="rect">
            <a:avLst/>
          </a:prstGeom>
          <a:noFill/>
        </p:spPr>
        <p:txBody>
          <a:bodyPr wrap="square">
            <a:spAutoFit/>
          </a:bodyPr>
          <a:lstStyle/>
          <a:p>
            <a:r>
              <a:rPr sz="1900" b="1" i="0">
                <a:solidFill>
                  <a:srgbClr val="374151"/>
                </a:solidFill>
                <a:latin typeface="Calibri"/>
              </a:rPr>
              <a:t>~ 40 %</a:t>
            </a:r>
          </a:p>
        </p:txBody>
      </p:sp>
      <p:sp>
        <p:nvSpPr>
          <p:cNvPr id="18" name="TextBox 17"/>
          <p:cNvSpPr txBox="1"/>
          <p:nvPr/>
        </p:nvSpPr>
        <p:spPr>
          <a:xfrm>
            <a:off x="4448400" y="2592000"/>
            <a:ext cx="3296400" cy="162000"/>
          </a:xfrm>
          <a:prstGeom prst="rect">
            <a:avLst/>
          </a:prstGeom>
          <a:noFill/>
        </p:spPr>
        <p:txBody>
          <a:bodyPr wrap="square">
            <a:spAutoFit/>
          </a:bodyPr>
          <a:lstStyle/>
          <a:p>
            <a:r>
              <a:rPr sz="1050" b="1" i="0">
                <a:solidFill>
                  <a:srgbClr val="6B7280"/>
                </a:solidFill>
                <a:latin typeface="Calibri"/>
              </a:rPr>
              <a:t>KOSTEN DER UNTERKUNFT</a:t>
            </a:r>
          </a:p>
        </p:txBody>
      </p:sp>
      <p:sp>
        <p:nvSpPr>
          <p:cNvPr id="19" name="TextBox 18"/>
          <p:cNvSpPr txBox="1"/>
          <p:nvPr/>
        </p:nvSpPr>
        <p:spPr>
          <a:xfrm>
            <a:off x="4448400" y="2754000"/>
            <a:ext cx="3296400" cy="396000"/>
          </a:xfrm>
          <a:prstGeom prst="rect">
            <a:avLst/>
          </a:prstGeom>
          <a:noFill/>
        </p:spPr>
        <p:txBody>
          <a:bodyPr wrap="square">
            <a:spAutoFit/>
          </a:bodyPr>
          <a:lstStyle/>
          <a:p>
            <a:r>
              <a:rPr sz="1900" b="1" i="0">
                <a:solidFill>
                  <a:srgbClr val="374151"/>
                </a:solidFill>
                <a:latin typeface="Calibri"/>
              </a:rPr>
              <a:t>~ 36 %</a:t>
            </a:r>
          </a:p>
        </p:txBody>
      </p:sp>
      <p:sp>
        <p:nvSpPr>
          <p:cNvPr id="20" name="TextBox 19"/>
          <p:cNvSpPr txBox="1"/>
          <p:nvPr/>
        </p:nvSpPr>
        <p:spPr>
          <a:xfrm>
            <a:off x="4448400" y="3311999"/>
            <a:ext cx="3296400" cy="1404000"/>
          </a:xfrm>
          <a:prstGeom prst="rect">
            <a:avLst/>
          </a:prstGeom>
          <a:noFill/>
        </p:spPr>
        <p:txBody>
          <a:bodyPr wrap="square">
            <a:spAutoFit/>
          </a:bodyPr>
          <a:lstStyle/>
          <a:p>
            <a:r>
              <a:rPr sz="1250" b="0" i="0">
                <a:solidFill>
                  <a:srgbClr val="374151"/>
                </a:solidFill>
                <a:latin typeface="Calibri"/>
              </a:rPr>
              <a:t>Regelbedarf ELB und Kosten der Unterkunft dominieren die Struktur.</a:t>
            </a:r>
          </a:p>
        </p:txBody>
      </p:sp>
      <p:sp>
        <p:nvSpPr>
          <p:cNvPr id="21" name="Rectangle 20"/>
          <p:cNvSpPr/>
          <p:nvPr/>
        </p:nvSpPr>
        <p:spPr>
          <a:xfrm>
            <a:off x="81047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04799" y="1404000"/>
            <a:ext cx="35844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48799" y="1565999"/>
            <a:ext cx="3296400" cy="324000"/>
          </a:xfrm>
          <a:prstGeom prst="rect">
            <a:avLst/>
          </a:prstGeom>
          <a:noFill/>
        </p:spPr>
        <p:txBody>
          <a:bodyPr wrap="square">
            <a:spAutoFit/>
          </a:bodyPr>
          <a:lstStyle/>
          <a:p>
            <a:r>
              <a:rPr sz="1500" b="1" i="0">
                <a:solidFill>
                  <a:srgbClr val="A0453F"/>
                </a:solidFill>
                <a:latin typeface="Calibri"/>
              </a:rPr>
              <a:t>Sozialversicherung</a:t>
            </a:r>
          </a:p>
        </p:txBody>
      </p:sp>
      <p:sp>
        <p:nvSpPr>
          <p:cNvPr id="24" name="TextBox 23"/>
          <p:cNvSpPr txBox="1"/>
          <p:nvPr/>
        </p:nvSpPr>
        <p:spPr>
          <a:xfrm>
            <a:off x="8248799" y="1962000"/>
            <a:ext cx="3296400" cy="162000"/>
          </a:xfrm>
          <a:prstGeom prst="rect">
            <a:avLst/>
          </a:prstGeom>
          <a:noFill/>
        </p:spPr>
        <p:txBody>
          <a:bodyPr wrap="square">
            <a:spAutoFit/>
          </a:bodyPr>
          <a:lstStyle/>
          <a:p>
            <a:r>
              <a:rPr sz="1050" b="1" i="0">
                <a:solidFill>
                  <a:srgbClr val="6B7280"/>
                </a:solidFill>
                <a:latin typeface="Calibri"/>
              </a:rPr>
              <a:t>ANTEIL AN DER STRUKTUR</a:t>
            </a:r>
          </a:p>
        </p:txBody>
      </p:sp>
      <p:sp>
        <p:nvSpPr>
          <p:cNvPr id="25" name="TextBox 24"/>
          <p:cNvSpPr txBox="1"/>
          <p:nvPr/>
        </p:nvSpPr>
        <p:spPr>
          <a:xfrm>
            <a:off x="8248799" y="2124000"/>
            <a:ext cx="3296400" cy="396000"/>
          </a:xfrm>
          <a:prstGeom prst="rect">
            <a:avLst/>
          </a:prstGeom>
          <a:noFill/>
        </p:spPr>
        <p:txBody>
          <a:bodyPr wrap="square">
            <a:spAutoFit/>
          </a:bodyPr>
          <a:lstStyle/>
          <a:p>
            <a:r>
              <a:rPr sz="1900" b="1" i="0">
                <a:solidFill>
                  <a:srgbClr val="A0453F"/>
                </a:solidFill>
                <a:latin typeface="Calibri"/>
              </a:rPr>
              <a:t>15,6 % → 18,3 %</a:t>
            </a:r>
          </a:p>
        </p:txBody>
      </p:sp>
      <p:sp>
        <p:nvSpPr>
          <p:cNvPr id="26" name="TextBox 25"/>
          <p:cNvSpPr txBox="1"/>
          <p:nvPr/>
        </p:nvSpPr>
        <p:spPr>
          <a:xfrm>
            <a:off x="8248799" y="2682000"/>
            <a:ext cx="3296400" cy="2033999"/>
          </a:xfrm>
          <a:prstGeom prst="rect">
            <a:avLst/>
          </a:prstGeom>
          <a:noFill/>
        </p:spPr>
        <p:txBody>
          <a:bodyPr wrap="square">
            <a:spAutoFit/>
          </a:bodyPr>
          <a:lstStyle/>
          <a:p>
            <a:r>
              <a:rPr sz="1250" b="0" i="0">
                <a:solidFill>
                  <a:srgbClr val="374151"/>
                </a:solidFill>
                <a:latin typeface="Calibri"/>
              </a:rPr>
              <a:t>Anteil steigt spürbar — der Regelbedarf-NEF-Anteil sinkt entsprechend.</a:t>
            </a:r>
          </a:p>
        </p:txBody>
      </p:sp>
      <p:sp>
        <p:nvSpPr>
          <p:cNvPr id="27" name="TextBox 26"/>
          <p:cNvSpPr txBox="1"/>
          <p:nvPr/>
        </p:nvSpPr>
        <p:spPr>
          <a:xfrm>
            <a:off x="11124000" y="6533999"/>
            <a:ext cx="936000" cy="270000"/>
          </a:xfrm>
          <a:prstGeom prst="rect">
            <a:avLst/>
          </a:prstGeom>
          <a:noFill/>
        </p:spPr>
        <p:txBody>
          <a:bodyPr wrap="none">
            <a:spAutoFit/>
          </a:bodyPr>
          <a:lstStyle/>
          <a:p>
            <a:pPr algn="r"/>
            <a:fld id="{9E9397F0-80B2-49BF-854D-CE330DFEBB5D}" type="slidenum">
              <a:rPr lang="de-DE" sz="1200">
                <a:solidFill>
                  <a:srgbClr val="6B7280"/>
                </a:solidFill>
              </a:rPr>
              <a:t>46</a:t>
            </a:fld>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A0453F"/>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588"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9</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Förderung (aktive Arbeitsmarktpolitik)</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400"/>
              </a:spcAft>
            </a:pPr>
            <a:r>
              <a:rPr sz="1800" b="0" i="0">
                <a:solidFill>
                  <a:srgbClr val="E0E7FF"/>
                </a:solidFill>
                <a:latin typeface="Calibri"/>
              </a:rPr>
              <a:t>●  Eintritte und Bestand an Fördermaßnahmen</a:t>
            </a:r>
          </a:p>
          <a:p>
            <a:pPr>
              <a:spcAft>
                <a:spcPts val="1400"/>
              </a:spcAft>
            </a:pPr>
            <a:r>
              <a:rPr sz="1800" b="0" i="0">
                <a:solidFill>
                  <a:srgbClr val="E0E7FF"/>
                </a:solidFill>
                <a:latin typeface="Calibri"/>
              </a:rPr>
              <a:t>●  Aktivierungsquote AQ1/AQ2a</a:t>
            </a:r>
          </a:p>
        </p:txBody>
      </p:sp>
      <p:sp>
        <p:nvSpPr>
          <p:cNvPr id="6" name="TextBox 5"/>
          <p:cNvSpPr txBox="1"/>
          <p:nvPr/>
        </p:nvSpPr>
        <p:spPr>
          <a:xfrm>
            <a:off x="11124000" y="6533999"/>
            <a:ext cx="936000" cy="270000"/>
          </a:xfrm>
          <a:prstGeom prst="rect">
            <a:avLst/>
          </a:prstGeom>
          <a:noFill/>
        </p:spPr>
        <p:txBody>
          <a:bodyPr wrap="none">
            <a:spAutoFit/>
          </a:bodyPr>
          <a:lstStyle/>
          <a:p>
            <a:pPr algn="r"/>
            <a:fld id="{6B17FA33-B97C-4860-8EB4-4FE2CECD8470}" type="slidenum">
              <a:rPr lang="de-DE" sz="1200">
                <a:solidFill>
                  <a:srgbClr val="FFFFFF"/>
                </a:solidFill>
              </a:rPr>
              <a:t>48</a:t>
            </a:fld>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9.1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Eintritte und Bestand an Fördermaßnahmen</a:t>
            </a:r>
          </a:p>
        </p:txBody>
      </p:sp>
      <p:pic>
        <p:nvPicPr>
          <p:cNvPr id="5" name="Picture 4" descr="abb22_eintritte_bestand.png"/>
          <p:cNvPicPr>
            <a:picLocks noChangeAspect="1"/>
          </p:cNvPicPr>
          <p:nvPr/>
        </p:nvPicPr>
        <p:blipFill>
          <a:blip r:embed="rId3"/>
          <a:stretch>
            <a:fillRect/>
          </a:stretch>
        </p:blipFill>
        <p:spPr>
          <a:xfrm>
            <a:off x="1146794" y="1116000"/>
            <a:ext cx="990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Eintritte volatil und leicht rückläufig; Bestand mit Höchststand 313 im April 2025, seither wieder gesunken.</a:t>
            </a:r>
          </a:p>
        </p:txBody>
      </p:sp>
      <p:sp>
        <p:nvSpPr>
          <p:cNvPr id="7" name="TextBox 6"/>
          <p:cNvSpPr txBox="1"/>
          <p:nvPr/>
        </p:nvSpPr>
        <p:spPr>
          <a:xfrm>
            <a:off x="11124000" y="6533999"/>
            <a:ext cx="936000" cy="270000"/>
          </a:xfrm>
          <a:prstGeom prst="rect">
            <a:avLst/>
          </a:prstGeom>
          <a:noFill/>
        </p:spPr>
        <p:txBody>
          <a:bodyPr wrap="none">
            <a:spAutoFit/>
          </a:bodyPr>
          <a:lstStyle/>
          <a:p>
            <a:pPr algn="r"/>
            <a:fld id="{BCBDFB1F-E70E-4667-A756-ABA04CD67611}" type="slidenum">
              <a:rPr lang="de-DE" sz="1200">
                <a:solidFill>
                  <a:srgbClr val="6B7280"/>
                </a:solidFill>
              </a:rPr>
              <a:t>49</a:t>
            </a:fld>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9.2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Aktivierungsquote im Zeitverlauf</a:t>
            </a:r>
          </a:p>
        </p:txBody>
      </p:sp>
      <p:pic>
        <p:nvPicPr>
          <p:cNvPr id="5" name="Picture 4" descr="abb23_aktivierungsquote.png"/>
          <p:cNvPicPr>
            <a:picLocks noChangeAspect="1"/>
          </p:cNvPicPr>
          <p:nvPr/>
        </p:nvPicPr>
        <p:blipFill>
          <a:blip r:embed="rId3"/>
          <a:stretch>
            <a:fillRect/>
          </a:stretch>
        </p:blipFill>
        <p:spPr>
          <a:xfrm>
            <a:off x="931576" y="1116000"/>
            <a:ext cx="10330434"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AQ1 (13,3 % → 9,9 %) und AQ2a (6,0 % → 5,5 %) beide rückläufig.</a:t>
            </a:r>
          </a:p>
        </p:txBody>
      </p:sp>
      <p:sp>
        <p:nvSpPr>
          <p:cNvPr id="7" name="TextBox 6"/>
          <p:cNvSpPr txBox="1"/>
          <p:nvPr/>
        </p:nvSpPr>
        <p:spPr>
          <a:xfrm>
            <a:off x="11124000" y="6533999"/>
            <a:ext cx="936000" cy="270000"/>
          </a:xfrm>
          <a:prstGeom prst="rect">
            <a:avLst/>
          </a:prstGeom>
          <a:noFill/>
        </p:spPr>
        <p:txBody>
          <a:bodyPr wrap="none">
            <a:spAutoFit/>
          </a:bodyPr>
          <a:lstStyle/>
          <a:p>
            <a:pPr algn="r"/>
            <a:fld id="{EAAC6083-6359-4A9F-8A5C-D8678662C891}" type="slidenum">
              <a:rPr lang="de-DE" sz="1200">
                <a:solidFill>
                  <a:srgbClr val="6B7280"/>
                </a:solidFill>
              </a:rPr>
              <a:t>50</a:t>
            </a:fld>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9.3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Struktur: Geschlecht und Vorgeschichte</a:t>
            </a:r>
          </a:p>
        </p:txBody>
      </p:sp>
      <p:pic>
        <p:nvPicPr>
          <p:cNvPr id="5" name="Picture 4" descr="abb24_foerderung_anteile.png"/>
          <p:cNvPicPr>
            <a:picLocks noChangeAspect="1"/>
          </p:cNvPicPr>
          <p:nvPr/>
        </p:nvPicPr>
        <p:blipFill>
          <a:blip r:embed="rId3"/>
          <a:stretch>
            <a:fillRect/>
          </a:stretch>
        </p:blipFill>
        <p:spPr>
          <a:xfrm>
            <a:off x="720193" y="1116000"/>
            <a:ext cx="10753200" cy="4731408"/>
          </a:xfrm>
          <a:prstGeom prst="rect">
            <a:avLst/>
          </a:prstGeom>
        </p:spPr>
      </p:pic>
      <p:sp>
        <p:nvSpPr>
          <p:cNvPr id="6" name="TextBox 5"/>
          <p:cNvSpPr txBox="1"/>
          <p:nvPr/>
        </p:nvSpPr>
        <p:spPr>
          <a:xfrm>
            <a:off x="503999" y="5955408"/>
            <a:ext cx="11185200" cy="576000"/>
          </a:xfrm>
          <a:prstGeom prst="rect">
            <a:avLst/>
          </a:prstGeom>
          <a:noFill/>
        </p:spPr>
        <p:txBody>
          <a:bodyPr wrap="square">
            <a:spAutoFit/>
          </a:bodyPr>
          <a:lstStyle/>
          <a:p>
            <a:pPr algn="ctr"/>
            <a:r>
              <a:rPr sz="1300" b="0" i="1">
                <a:solidFill>
                  <a:srgbClr val="6B7280"/>
                </a:solidFill>
                <a:latin typeface="Calibri"/>
              </a:rPr>
              <a:t>Frauenanteil stabil (~44 %); Anteil zuvor Langzeitarbeitsloser steigt deutlich (16,2 % → 23,6 %).</a:t>
            </a:r>
          </a:p>
        </p:txBody>
      </p:sp>
      <p:sp>
        <p:nvSpPr>
          <p:cNvPr id="7" name="TextBox 6"/>
          <p:cNvSpPr txBox="1"/>
          <p:nvPr/>
        </p:nvSpPr>
        <p:spPr>
          <a:xfrm>
            <a:off x="11124000" y="6533999"/>
            <a:ext cx="936000" cy="270000"/>
          </a:xfrm>
          <a:prstGeom prst="rect">
            <a:avLst/>
          </a:prstGeom>
          <a:noFill/>
        </p:spPr>
        <p:txBody>
          <a:bodyPr wrap="none">
            <a:spAutoFit/>
          </a:bodyPr>
          <a:lstStyle/>
          <a:p>
            <a:pPr algn="r"/>
            <a:fld id="{82A909DD-4441-4543-9A78-F14CD71E4DF0}" type="slidenum">
              <a:rPr lang="de-DE" sz="1200">
                <a:solidFill>
                  <a:srgbClr val="6B7280"/>
                </a:solidFill>
              </a:rPr>
              <a:t>51</a:t>
            </a:fld>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9.4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404000"/>
            <a:ext cx="35844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565999"/>
            <a:ext cx="3296400" cy="324000"/>
          </a:xfrm>
          <a:prstGeom prst="rect">
            <a:avLst/>
          </a:prstGeom>
          <a:noFill/>
        </p:spPr>
        <p:txBody>
          <a:bodyPr wrap="square">
            <a:spAutoFit/>
          </a:bodyPr>
          <a:lstStyle/>
          <a:p>
            <a:r>
              <a:rPr sz="1500" b="1" i="0">
                <a:solidFill>
                  <a:srgbClr val="3B6EA8"/>
                </a:solidFill>
                <a:latin typeface="Calibri"/>
              </a:rPr>
              <a:t>Eintritte &amp; Bestand</a:t>
            </a:r>
          </a:p>
        </p:txBody>
      </p:sp>
      <p:sp>
        <p:nvSpPr>
          <p:cNvPr id="8" name="TextBox 7"/>
          <p:cNvSpPr txBox="1"/>
          <p:nvPr/>
        </p:nvSpPr>
        <p:spPr>
          <a:xfrm>
            <a:off x="647999" y="1962000"/>
            <a:ext cx="3296400" cy="162000"/>
          </a:xfrm>
          <a:prstGeom prst="rect">
            <a:avLst/>
          </a:prstGeom>
          <a:noFill/>
        </p:spPr>
        <p:txBody>
          <a:bodyPr wrap="square">
            <a:spAutoFit/>
          </a:bodyPr>
          <a:lstStyle/>
          <a:p>
            <a:r>
              <a:rPr sz="1050" b="1" i="0">
                <a:solidFill>
                  <a:srgbClr val="6B7280"/>
                </a:solidFill>
                <a:latin typeface="Calibri"/>
              </a:rPr>
              <a:t>HÖCHSTSTAND BESTAND</a:t>
            </a:r>
          </a:p>
        </p:txBody>
      </p:sp>
      <p:sp>
        <p:nvSpPr>
          <p:cNvPr id="9" name="TextBox 8"/>
          <p:cNvSpPr txBox="1"/>
          <p:nvPr/>
        </p:nvSpPr>
        <p:spPr>
          <a:xfrm>
            <a:off x="647999" y="2124000"/>
            <a:ext cx="3296400" cy="396000"/>
          </a:xfrm>
          <a:prstGeom prst="rect">
            <a:avLst/>
          </a:prstGeom>
          <a:noFill/>
        </p:spPr>
        <p:txBody>
          <a:bodyPr wrap="square">
            <a:spAutoFit/>
          </a:bodyPr>
          <a:lstStyle/>
          <a:p>
            <a:r>
              <a:rPr sz="1900" b="1" i="0">
                <a:solidFill>
                  <a:srgbClr val="374151"/>
                </a:solidFill>
                <a:latin typeface="Calibri"/>
              </a:rPr>
              <a:t>313 (April 2025)</a:t>
            </a:r>
          </a:p>
        </p:txBody>
      </p:sp>
      <p:sp>
        <p:nvSpPr>
          <p:cNvPr id="10" name="TextBox 9"/>
          <p:cNvSpPr txBox="1"/>
          <p:nvPr/>
        </p:nvSpPr>
        <p:spPr>
          <a:xfrm>
            <a:off x="647999" y="2682000"/>
            <a:ext cx="3296400" cy="2033999"/>
          </a:xfrm>
          <a:prstGeom prst="rect">
            <a:avLst/>
          </a:prstGeom>
          <a:noFill/>
        </p:spPr>
        <p:txBody>
          <a:bodyPr wrap="square">
            <a:spAutoFit/>
          </a:bodyPr>
          <a:lstStyle/>
          <a:p>
            <a:r>
              <a:rPr sz="1250" b="0" i="0">
                <a:solidFill>
                  <a:srgbClr val="374151"/>
                </a:solidFill>
                <a:latin typeface="Calibri"/>
              </a:rPr>
              <a:t>Eintritte volatil und leicht rückläufig; Bestand seither wieder gesunken.</a:t>
            </a:r>
          </a:p>
        </p:txBody>
      </p:sp>
      <p:sp>
        <p:nvSpPr>
          <p:cNvPr id="11" name="Rectangle 10"/>
          <p:cNvSpPr/>
          <p:nvPr/>
        </p:nvSpPr>
        <p:spPr>
          <a:xfrm>
            <a:off x="4304400"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04400" y="1404000"/>
            <a:ext cx="35844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48400" y="1565999"/>
            <a:ext cx="3296400" cy="324000"/>
          </a:xfrm>
          <a:prstGeom prst="rect">
            <a:avLst/>
          </a:prstGeom>
          <a:noFill/>
        </p:spPr>
        <p:txBody>
          <a:bodyPr wrap="square">
            <a:spAutoFit/>
          </a:bodyPr>
          <a:lstStyle/>
          <a:p>
            <a:r>
              <a:rPr sz="1500" b="1" i="0">
                <a:solidFill>
                  <a:srgbClr val="6B5B8F"/>
                </a:solidFill>
                <a:latin typeface="Calibri"/>
              </a:rPr>
              <a:t>Aktivierungsquoten</a:t>
            </a:r>
          </a:p>
        </p:txBody>
      </p:sp>
      <p:sp>
        <p:nvSpPr>
          <p:cNvPr id="14" name="TextBox 13"/>
          <p:cNvSpPr txBox="1"/>
          <p:nvPr/>
        </p:nvSpPr>
        <p:spPr>
          <a:xfrm>
            <a:off x="4448400" y="1962000"/>
            <a:ext cx="3296400" cy="162000"/>
          </a:xfrm>
          <a:prstGeom prst="rect">
            <a:avLst/>
          </a:prstGeom>
          <a:noFill/>
        </p:spPr>
        <p:txBody>
          <a:bodyPr wrap="square">
            <a:spAutoFit/>
          </a:bodyPr>
          <a:lstStyle/>
          <a:p>
            <a:r>
              <a:rPr sz="1050" b="1" i="0">
                <a:solidFill>
                  <a:srgbClr val="6B7280"/>
                </a:solidFill>
                <a:latin typeface="Calibri"/>
              </a:rPr>
              <a:t>AQ1</a:t>
            </a:r>
          </a:p>
        </p:txBody>
      </p:sp>
      <p:sp>
        <p:nvSpPr>
          <p:cNvPr id="15" name="TextBox 14"/>
          <p:cNvSpPr txBox="1"/>
          <p:nvPr/>
        </p:nvSpPr>
        <p:spPr>
          <a:xfrm>
            <a:off x="4448400" y="2124000"/>
            <a:ext cx="3296400" cy="396000"/>
          </a:xfrm>
          <a:prstGeom prst="rect">
            <a:avLst/>
          </a:prstGeom>
          <a:noFill/>
        </p:spPr>
        <p:txBody>
          <a:bodyPr wrap="square">
            <a:spAutoFit/>
          </a:bodyPr>
          <a:lstStyle/>
          <a:p>
            <a:r>
              <a:rPr sz="1900" b="1" i="0">
                <a:solidFill>
                  <a:srgbClr val="374151"/>
                </a:solidFill>
                <a:latin typeface="Calibri"/>
              </a:rPr>
              <a:t>13,3 % → 9,9 %</a:t>
            </a:r>
          </a:p>
        </p:txBody>
      </p:sp>
      <p:sp>
        <p:nvSpPr>
          <p:cNvPr id="16" name="TextBox 15"/>
          <p:cNvSpPr txBox="1"/>
          <p:nvPr/>
        </p:nvSpPr>
        <p:spPr>
          <a:xfrm>
            <a:off x="4448400" y="2592000"/>
            <a:ext cx="3296400" cy="162000"/>
          </a:xfrm>
          <a:prstGeom prst="rect">
            <a:avLst/>
          </a:prstGeom>
          <a:noFill/>
        </p:spPr>
        <p:txBody>
          <a:bodyPr wrap="square">
            <a:spAutoFit/>
          </a:bodyPr>
          <a:lstStyle/>
          <a:p>
            <a:r>
              <a:rPr sz="1050" b="1" i="0">
                <a:solidFill>
                  <a:srgbClr val="6B7280"/>
                </a:solidFill>
                <a:latin typeface="Calibri"/>
              </a:rPr>
              <a:t>AQ2A</a:t>
            </a:r>
          </a:p>
        </p:txBody>
      </p:sp>
      <p:sp>
        <p:nvSpPr>
          <p:cNvPr id="17" name="TextBox 16"/>
          <p:cNvSpPr txBox="1"/>
          <p:nvPr/>
        </p:nvSpPr>
        <p:spPr>
          <a:xfrm>
            <a:off x="4448400" y="2754000"/>
            <a:ext cx="3296400" cy="396000"/>
          </a:xfrm>
          <a:prstGeom prst="rect">
            <a:avLst/>
          </a:prstGeom>
          <a:noFill/>
        </p:spPr>
        <p:txBody>
          <a:bodyPr wrap="square">
            <a:spAutoFit/>
          </a:bodyPr>
          <a:lstStyle/>
          <a:p>
            <a:r>
              <a:rPr sz="1900" b="1" i="0">
                <a:solidFill>
                  <a:srgbClr val="374151"/>
                </a:solidFill>
                <a:latin typeface="Calibri"/>
              </a:rPr>
              <a:t>6,0 % → 5,5 %</a:t>
            </a:r>
          </a:p>
        </p:txBody>
      </p:sp>
      <p:sp>
        <p:nvSpPr>
          <p:cNvPr id="18" name="TextBox 17"/>
          <p:cNvSpPr txBox="1"/>
          <p:nvPr/>
        </p:nvSpPr>
        <p:spPr>
          <a:xfrm>
            <a:off x="4448400" y="3311999"/>
            <a:ext cx="3296400" cy="1404000"/>
          </a:xfrm>
          <a:prstGeom prst="rect">
            <a:avLst/>
          </a:prstGeom>
          <a:noFill/>
        </p:spPr>
        <p:txBody>
          <a:bodyPr wrap="square">
            <a:spAutoFit/>
          </a:bodyPr>
          <a:lstStyle/>
          <a:p>
            <a:r>
              <a:rPr sz="1250" b="0" i="0">
                <a:solidFill>
                  <a:srgbClr val="374151"/>
                </a:solidFill>
                <a:latin typeface="Calibri"/>
              </a:rPr>
              <a:t>Beide Quoten rückläufig.</a:t>
            </a:r>
          </a:p>
        </p:txBody>
      </p:sp>
      <p:sp>
        <p:nvSpPr>
          <p:cNvPr id="19" name="Rectangle 18"/>
          <p:cNvSpPr/>
          <p:nvPr/>
        </p:nvSpPr>
        <p:spPr>
          <a:xfrm>
            <a:off x="81047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04799" y="1404000"/>
            <a:ext cx="35844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48799" y="1565999"/>
            <a:ext cx="3296400" cy="324000"/>
          </a:xfrm>
          <a:prstGeom prst="rect">
            <a:avLst/>
          </a:prstGeom>
          <a:noFill/>
        </p:spPr>
        <p:txBody>
          <a:bodyPr wrap="square">
            <a:spAutoFit/>
          </a:bodyPr>
          <a:lstStyle/>
          <a:p>
            <a:r>
              <a:rPr sz="1500" b="1" i="0">
                <a:solidFill>
                  <a:srgbClr val="A0453F"/>
                </a:solidFill>
                <a:latin typeface="Calibri"/>
              </a:rPr>
              <a:t>Vorgeschichte</a:t>
            </a:r>
          </a:p>
        </p:txBody>
      </p:sp>
      <p:sp>
        <p:nvSpPr>
          <p:cNvPr id="22" name="TextBox 21"/>
          <p:cNvSpPr txBox="1"/>
          <p:nvPr/>
        </p:nvSpPr>
        <p:spPr>
          <a:xfrm>
            <a:off x="8248799" y="1962000"/>
            <a:ext cx="3296400" cy="162000"/>
          </a:xfrm>
          <a:prstGeom prst="rect">
            <a:avLst/>
          </a:prstGeom>
          <a:noFill/>
        </p:spPr>
        <p:txBody>
          <a:bodyPr wrap="square">
            <a:spAutoFit/>
          </a:bodyPr>
          <a:lstStyle/>
          <a:p>
            <a:r>
              <a:rPr sz="1050" b="1" i="0">
                <a:solidFill>
                  <a:srgbClr val="6B7280"/>
                </a:solidFill>
                <a:latin typeface="Calibri"/>
              </a:rPr>
              <a:t>ANTEIL ZUVOR LANGZEITARBEITSLOS</a:t>
            </a:r>
          </a:p>
        </p:txBody>
      </p:sp>
      <p:sp>
        <p:nvSpPr>
          <p:cNvPr id="23" name="TextBox 22"/>
          <p:cNvSpPr txBox="1"/>
          <p:nvPr/>
        </p:nvSpPr>
        <p:spPr>
          <a:xfrm>
            <a:off x="8248799" y="2124000"/>
            <a:ext cx="3296400" cy="396000"/>
          </a:xfrm>
          <a:prstGeom prst="rect">
            <a:avLst/>
          </a:prstGeom>
          <a:noFill/>
        </p:spPr>
        <p:txBody>
          <a:bodyPr wrap="square">
            <a:spAutoFit/>
          </a:bodyPr>
          <a:lstStyle/>
          <a:p>
            <a:r>
              <a:rPr sz="1900" b="1" i="0">
                <a:solidFill>
                  <a:srgbClr val="A0453F"/>
                </a:solidFill>
                <a:latin typeface="Calibri"/>
              </a:rPr>
              <a:t>16,2 % → 23,6 %</a:t>
            </a:r>
          </a:p>
        </p:txBody>
      </p:sp>
      <p:sp>
        <p:nvSpPr>
          <p:cNvPr id="24" name="TextBox 23"/>
          <p:cNvSpPr txBox="1"/>
          <p:nvPr/>
        </p:nvSpPr>
        <p:spPr>
          <a:xfrm>
            <a:off x="8248799" y="2682000"/>
            <a:ext cx="3296400" cy="2033999"/>
          </a:xfrm>
          <a:prstGeom prst="rect">
            <a:avLst/>
          </a:prstGeom>
          <a:noFill/>
        </p:spPr>
        <p:txBody>
          <a:bodyPr wrap="square">
            <a:spAutoFit/>
          </a:bodyPr>
          <a:lstStyle/>
          <a:p>
            <a:r>
              <a:rPr sz="1250" b="0" i="0">
                <a:solidFill>
                  <a:srgbClr val="374151"/>
                </a:solidFill>
                <a:latin typeface="Calibri"/>
              </a:rPr>
              <a:t>Steigt deutlich — Anknüpfungspunkt an die Langzeitarbeitslosigkeit.</a:t>
            </a:r>
          </a:p>
        </p:txBody>
      </p:sp>
      <p:sp>
        <p:nvSpPr>
          <p:cNvPr id="25" name="TextBox 24"/>
          <p:cNvSpPr txBox="1"/>
          <p:nvPr/>
        </p:nvSpPr>
        <p:spPr>
          <a:xfrm>
            <a:off x="11124000" y="6533999"/>
            <a:ext cx="936000" cy="270000"/>
          </a:xfrm>
          <a:prstGeom prst="rect">
            <a:avLst/>
          </a:prstGeom>
          <a:noFill/>
        </p:spPr>
        <p:txBody>
          <a:bodyPr wrap="none">
            <a:spAutoFit/>
          </a:bodyPr>
          <a:lstStyle/>
          <a:p>
            <a:pPr algn="r"/>
            <a:fld id="{CC29248D-A35A-436D-BEA7-7014AAE70EA9}" type="slidenum">
              <a:rPr lang="de-DE" sz="1200">
                <a:solidFill>
                  <a:srgbClr val="6B7280"/>
                </a:solidFill>
              </a:rPr>
              <a:t>52</a:t>
            </a:fld>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2E4057"/>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588"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10</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Bezugsdauer</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400"/>
              </a:spcAft>
            </a:pPr>
            <a:r>
              <a:rPr sz="1800" b="0" i="0">
                <a:solidFill>
                  <a:srgbClr val="E0E7FF"/>
                </a:solidFill>
                <a:latin typeface="Calibri"/>
              </a:rPr>
              <a:t>●  Haushaltsstruktur, Langzeitleistungsbezug</a:t>
            </a:r>
          </a:p>
          <a:p>
            <a:pPr>
              <a:spcAft>
                <a:spcPts val="1400"/>
              </a:spcAft>
            </a:pPr>
            <a:r>
              <a:rPr sz="1800" b="0" i="0">
                <a:solidFill>
                  <a:srgbClr val="E0E7FF"/>
                </a:solidFill>
                <a:latin typeface="Calibri"/>
              </a:rPr>
              <a:t>●  Der "Drehtür-Effekt"</a:t>
            </a:r>
          </a:p>
        </p:txBody>
      </p:sp>
      <p:sp>
        <p:nvSpPr>
          <p:cNvPr id="6" name="TextBox 5"/>
          <p:cNvSpPr txBox="1"/>
          <p:nvPr/>
        </p:nvSpPr>
        <p:spPr>
          <a:xfrm>
            <a:off x="11124000" y="6533999"/>
            <a:ext cx="936000" cy="270000"/>
          </a:xfrm>
          <a:prstGeom prst="rect">
            <a:avLst/>
          </a:prstGeom>
          <a:noFill/>
        </p:spPr>
        <p:txBody>
          <a:bodyPr wrap="none">
            <a:spAutoFit/>
          </a:bodyPr>
          <a:lstStyle/>
          <a:p>
            <a:pPr algn="r"/>
            <a:fld id="{03758D28-4C30-4D2F-B94D-B41346FBFDA1}" type="slidenum">
              <a:rPr lang="de-DE" sz="1200">
                <a:solidFill>
                  <a:srgbClr val="FFFFFF"/>
                </a:solidFill>
              </a:rPr>
              <a:t>53</a:t>
            </a:fld>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10.1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Struktur der Bedarfsgemeinschaften: Größe und Typ</a:t>
            </a:r>
          </a:p>
        </p:txBody>
      </p:sp>
      <p:pic>
        <p:nvPicPr>
          <p:cNvPr id="5" name="Picture 4" descr="abb25_bg_groesse.png"/>
          <p:cNvPicPr>
            <a:picLocks noChangeAspect="1"/>
          </p:cNvPicPr>
          <p:nvPr/>
        </p:nvPicPr>
        <p:blipFill>
          <a:blip r:embed="rId3"/>
          <a:stretch>
            <a:fillRect/>
          </a:stretch>
        </p:blipFill>
        <p:spPr>
          <a:xfrm>
            <a:off x="503999" y="1188000"/>
            <a:ext cx="5580000" cy="2455200"/>
          </a:xfrm>
          <a:prstGeom prst="rect">
            <a:avLst/>
          </a:prstGeom>
        </p:spPr>
      </p:pic>
      <p:sp>
        <p:nvSpPr>
          <p:cNvPr id="6" name="TextBox 5"/>
          <p:cNvSpPr txBox="1"/>
          <p:nvPr/>
        </p:nvSpPr>
        <p:spPr>
          <a:xfrm>
            <a:off x="503999" y="3733200"/>
            <a:ext cx="5580000" cy="576000"/>
          </a:xfrm>
          <a:prstGeom prst="rect">
            <a:avLst/>
          </a:prstGeom>
          <a:noFill/>
        </p:spPr>
        <p:txBody>
          <a:bodyPr wrap="square">
            <a:spAutoFit/>
          </a:bodyPr>
          <a:lstStyle/>
          <a:p>
            <a:pPr algn="ctr"/>
            <a:r>
              <a:rPr sz="1200" b="0" i="1">
                <a:solidFill>
                  <a:srgbClr val="6B7280"/>
                </a:solidFill>
                <a:latin typeface="Calibri"/>
              </a:rPr>
              <a:t>Nach Haushaltsgröße</a:t>
            </a:r>
          </a:p>
        </p:txBody>
      </p:sp>
      <p:pic>
        <p:nvPicPr>
          <p:cNvPr id="7" name="Picture 6" descr="abb26_bg_typ.png"/>
          <p:cNvPicPr>
            <a:picLocks noChangeAspect="1"/>
          </p:cNvPicPr>
          <p:nvPr/>
        </p:nvPicPr>
        <p:blipFill>
          <a:blip r:embed="rId4"/>
          <a:stretch>
            <a:fillRect/>
          </a:stretch>
        </p:blipFill>
        <p:spPr>
          <a:xfrm>
            <a:off x="6120000" y="1188000"/>
            <a:ext cx="5580000" cy="2455200"/>
          </a:xfrm>
          <a:prstGeom prst="rect">
            <a:avLst/>
          </a:prstGeom>
        </p:spPr>
      </p:pic>
      <p:sp>
        <p:nvSpPr>
          <p:cNvPr id="8" name="TextBox 7"/>
          <p:cNvSpPr txBox="1"/>
          <p:nvPr/>
        </p:nvSpPr>
        <p:spPr>
          <a:xfrm>
            <a:off x="6120000" y="3733200"/>
            <a:ext cx="5580000" cy="576000"/>
          </a:xfrm>
          <a:prstGeom prst="rect">
            <a:avLst/>
          </a:prstGeom>
          <a:noFill/>
        </p:spPr>
        <p:txBody>
          <a:bodyPr wrap="square">
            <a:spAutoFit/>
          </a:bodyPr>
          <a:lstStyle/>
          <a:p>
            <a:pPr algn="ctr"/>
            <a:r>
              <a:rPr sz="1200" b="0" i="1">
                <a:solidFill>
                  <a:srgbClr val="6B7280"/>
                </a:solidFill>
                <a:latin typeface="Calibri"/>
              </a:rPr>
              <a:t>Nach BG-Typ</a:t>
            </a:r>
          </a:p>
        </p:txBody>
      </p:sp>
      <p:sp>
        <p:nvSpPr>
          <p:cNvPr id="9" name="TextBox 8"/>
          <p:cNvSpPr txBox="1"/>
          <p:nvPr/>
        </p:nvSpPr>
        <p:spPr>
          <a:xfrm>
            <a:off x="11124000" y="6533999"/>
            <a:ext cx="936000" cy="270000"/>
          </a:xfrm>
          <a:prstGeom prst="rect">
            <a:avLst/>
          </a:prstGeom>
          <a:noFill/>
        </p:spPr>
        <p:txBody>
          <a:bodyPr wrap="none">
            <a:spAutoFit/>
          </a:bodyPr>
          <a:lstStyle/>
          <a:p>
            <a:pPr algn="r"/>
            <a:fld id="{A9E12D72-13B6-44AB-ABC1-E3F77A76C992}" type="slidenum">
              <a:rPr lang="de-DE" sz="1200">
                <a:solidFill>
                  <a:srgbClr val="6B7280"/>
                </a:solidFill>
              </a:rPr>
              <a:t>54</a:t>
            </a:fld>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10.2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Langzeitleistungsbezug (LZB) vs. Langzeitarbeitslosigkeit (LZA)</a:t>
            </a:r>
          </a:p>
        </p:txBody>
      </p:sp>
      <p:pic>
        <p:nvPicPr>
          <p:cNvPr id="5" name="Picture 4" descr="abb27_lzb_lza.png"/>
          <p:cNvPicPr>
            <a:picLocks noChangeAspect="1"/>
          </p:cNvPicPr>
          <p:nvPr/>
        </p:nvPicPr>
        <p:blipFill>
          <a:blip r:embed="rId3"/>
          <a:stretch>
            <a:fillRect/>
          </a:stretch>
        </p:blipFill>
        <p:spPr>
          <a:xfrm>
            <a:off x="931576" y="1116000"/>
            <a:ext cx="10330434"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LZB-Anteil an allen ELB steigt deutlich: 48,9 % → 55,1 %.</a:t>
            </a:r>
          </a:p>
        </p:txBody>
      </p:sp>
      <p:sp>
        <p:nvSpPr>
          <p:cNvPr id="7" name="TextBox 6"/>
          <p:cNvSpPr txBox="1"/>
          <p:nvPr/>
        </p:nvSpPr>
        <p:spPr>
          <a:xfrm>
            <a:off x="11124000" y="6533999"/>
            <a:ext cx="936000" cy="270000"/>
          </a:xfrm>
          <a:prstGeom prst="rect">
            <a:avLst/>
          </a:prstGeom>
          <a:noFill/>
        </p:spPr>
        <p:txBody>
          <a:bodyPr wrap="none">
            <a:spAutoFit/>
          </a:bodyPr>
          <a:lstStyle/>
          <a:p>
            <a:pPr algn="r"/>
            <a:fld id="{FDE91F97-4881-4599-AAA3-B684C4B014E0}" type="slidenum">
              <a:rPr lang="de-DE" sz="1200">
                <a:solidFill>
                  <a:srgbClr val="6B7280"/>
                </a:solidFill>
              </a:rPr>
              <a:t>55</a:t>
            </a:fld>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10.3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Bewegungsdynamik: der "Drehtür-Effekt"</a:t>
            </a:r>
          </a:p>
        </p:txBody>
      </p:sp>
      <p:pic>
        <p:nvPicPr>
          <p:cNvPr id="5" name="Picture 4" descr="abb28_drehtuer.png"/>
          <p:cNvPicPr>
            <a:picLocks noChangeAspect="1"/>
          </p:cNvPicPr>
          <p:nvPr/>
        </p:nvPicPr>
        <p:blipFill>
          <a:blip r:embed="rId3"/>
          <a:stretch>
            <a:fillRect/>
          </a:stretch>
        </p:blipFill>
        <p:spPr>
          <a:xfrm>
            <a:off x="720193" y="1116000"/>
            <a:ext cx="10753200" cy="4731408"/>
          </a:xfrm>
          <a:prstGeom prst="rect">
            <a:avLst/>
          </a:prstGeom>
        </p:spPr>
      </p:pic>
      <p:sp>
        <p:nvSpPr>
          <p:cNvPr id="6" name="TextBox 5"/>
          <p:cNvSpPr txBox="1"/>
          <p:nvPr/>
        </p:nvSpPr>
        <p:spPr>
          <a:xfrm>
            <a:off x="503999" y="5955408"/>
            <a:ext cx="11185200" cy="576000"/>
          </a:xfrm>
          <a:prstGeom prst="rect">
            <a:avLst/>
          </a:prstGeom>
          <a:noFill/>
        </p:spPr>
        <p:txBody>
          <a:bodyPr wrap="square">
            <a:spAutoFit/>
          </a:bodyPr>
          <a:lstStyle/>
          <a:p>
            <a:pPr algn="ctr"/>
            <a:r>
              <a:rPr sz="1300" b="0" i="1">
                <a:solidFill>
                  <a:srgbClr val="6B7280"/>
                </a:solidFill>
                <a:latin typeface="Calibri"/>
              </a:rPr>
              <a:t>Anteil Zugang mit Vorbezug steigt deutlich (56,1 % → 73,4 %) — echte Erstzugänge werden seltener.</a:t>
            </a:r>
          </a:p>
        </p:txBody>
      </p:sp>
      <p:sp>
        <p:nvSpPr>
          <p:cNvPr id="7" name="TextBox 6"/>
          <p:cNvSpPr txBox="1"/>
          <p:nvPr/>
        </p:nvSpPr>
        <p:spPr>
          <a:xfrm>
            <a:off x="11124000" y="6533999"/>
            <a:ext cx="936000" cy="270000"/>
          </a:xfrm>
          <a:prstGeom prst="rect">
            <a:avLst/>
          </a:prstGeom>
          <a:noFill/>
        </p:spPr>
        <p:txBody>
          <a:bodyPr wrap="none">
            <a:spAutoFit/>
          </a:bodyPr>
          <a:lstStyle/>
          <a:p>
            <a:pPr algn="r"/>
            <a:fld id="{CFC2D8BB-FE01-4A68-B51C-DCBD1142B0B0}" type="slidenum">
              <a:rPr lang="de-DE" sz="1200">
                <a:solidFill>
                  <a:srgbClr val="6B7280"/>
                </a:solidFill>
              </a:rPr>
              <a:t>56</a:t>
            </a:fld>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10.4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224000"/>
            <a:ext cx="3584400" cy="259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35844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386000"/>
            <a:ext cx="3296400" cy="324000"/>
          </a:xfrm>
          <a:prstGeom prst="rect">
            <a:avLst/>
          </a:prstGeom>
          <a:noFill/>
        </p:spPr>
        <p:txBody>
          <a:bodyPr wrap="square">
            <a:spAutoFit/>
          </a:bodyPr>
          <a:lstStyle/>
          <a:p>
            <a:r>
              <a:rPr sz="1500" b="1" i="0">
                <a:solidFill>
                  <a:srgbClr val="3B6EA8"/>
                </a:solidFill>
                <a:latin typeface="Calibri"/>
              </a:rPr>
              <a:t>Haushaltsstruktur</a:t>
            </a:r>
          </a:p>
        </p:txBody>
      </p:sp>
      <p:sp>
        <p:nvSpPr>
          <p:cNvPr id="8" name="TextBox 7"/>
          <p:cNvSpPr txBox="1"/>
          <p:nvPr/>
        </p:nvSpPr>
        <p:spPr>
          <a:xfrm>
            <a:off x="647999" y="1800000"/>
            <a:ext cx="3296400" cy="576000"/>
          </a:xfrm>
          <a:prstGeom prst="rect">
            <a:avLst/>
          </a:prstGeom>
          <a:noFill/>
        </p:spPr>
        <p:txBody>
          <a:bodyPr wrap="square">
            <a:spAutoFit/>
          </a:bodyPr>
          <a:lstStyle/>
          <a:p>
            <a:r>
              <a:rPr sz="2000" b="1" i="0">
                <a:solidFill>
                  <a:srgbClr val="374151"/>
                </a:solidFill>
                <a:latin typeface="Calibri"/>
              </a:rPr>
              <a:t>57,0 % → 59,3 %</a:t>
            </a:r>
          </a:p>
        </p:txBody>
      </p:sp>
      <p:sp>
        <p:nvSpPr>
          <p:cNvPr id="9" name="TextBox 8"/>
          <p:cNvSpPr txBox="1"/>
          <p:nvPr/>
        </p:nvSpPr>
        <p:spPr>
          <a:xfrm>
            <a:off x="647999" y="2411999"/>
            <a:ext cx="3296400" cy="1260000"/>
          </a:xfrm>
          <a:prstGeom prst="rect">
            <a:avLst/>
          </a:prstGeom>
          <a:noFill/>
        </p:spPr>
        <p:txBody>
          <a:bodyPr wrap="square">
            <a:spAutoFit/>
          </a:bodyPr>
          <a:lstStyle/>
          <a:p>
            <a:r>
              <a:rPr sz="1300" b="0" i="0">
                <a:solidFill>
                  <a:srgbClr val="374151"/>
                </a:solidFill>
                <a:latin typeface="Calibri"/>
              </a:rPr>
              <a:t>Anteil Single-Bedarfsgemeinschaften nimmt relativ zu.</a:t>
            </a:r>
          </a:p>
        </p:txBody>
      </p:sp>
      <p:sp>
        <p:nvSpPr>
          <p:cNvPr id="10" name="Rectangle 9"/>
          <p:cNvSpPr/>
          <p:nvPr/>
        </p:nvSpPr>
        <p:spPr>
          <a:xfrm>
            <a:off x="4304400" y="1224000"/>
            <a:ext cx="3584400" cy="259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04400" y="1224000"/>
            <a:ext cx="35844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8400" y="1386000"/>
            <a:ext cx="3296400" cy="324000"/>
          </a:xfrm>
          <a:prstGeom prst="rect">
            <a:avLst/>
          </a:prstGeom>
          <a:noFill/>
        </p:spPr>
        <p:txBody>
          <a:bodyPr wrap="square">
            <a:spAutoFit/>
          </a:bodyPr>
          <a:lstStyle/>
          <a:p>
            <a:r>
              <a:rPr sz="1500" b="1" i="0">
                <a:solidFill>
                  <a:srgbClr val="6B5B8F"/>
                </a:solidFill>
                <a:latin typeface="Calibri"/>
              </a:rPr>
              <a:t>Langzeitleistungsbezug</a:t>
            </a:r>
          </a:p>
        </p:txBody>
      </p:sp>
      <p:sp>
        <p:nvSpPr>
          <p:cNvPr id="13" name="TextBox 12"/>
          <p:cNvSpPr txBox="1"/>
          <p:nvPr/>
        </p:nvSpPr>
        <p:spPr>
          <a:xfrm>
            <a:off x="4448400" y="1800000"/>
            <a:ext cx="3296400" cy="576000"/>
          </a:xfrm>
          <a:prstGeom prst="rect">
            <a:avLst/>
          </a:prstGeom>
          <a:noFill/>
        </p:spPr>
        <p:txBody>
          <a:bodyPr wrap="square">
            <a:spAutoFit/>
          </a:bodyPr>
          <a:lstStyle/>
          <a:p>
            <a:r>
              <a:rPr sz="2000" b="1" i="0">
                <a:solidFill>
                  <a:srgbClr val="374151"/>
                </a:solidFill>
                <a:latin typeface="Calibri"/>
              </a:rPr>
              <a:t>48,9 % → 55,1 %</a:t>
            </a:r>
          </a:p>
        </p:txBody>
      </p:sp>
      <p:sp>
        <p:nvSpPr>
          <p:cNvPr id="14" name="TextBox 13"/>
          <p:cNvSpPr txBox="1"/>
          <p:nvPr/>
        </p:nvSpPr>
        <p:spPr>
          <a:xfrm>
            <a:off x="4448400" y="2411999"/>
            <a:ext cx="3296400" cy="1260000"/>
          </a:xfrm>
          <a:prstGeom prst="rect">
            <a:avLst/>
          </a:prstGeom>
          <a:noFill/>
        </p:spPr>
        <p:txBody>
          <a:bodyPr wrap="square">
            <a:spAutoFit/>
          </a:bodyPr>
          <a:lstStyle/>
          <a:p>
            <a:r>
              <a:rPr sz="1300" b="0" i="0">
                <a:solidFill>
                  <a:srgbClr val="374151"/>
                </a:solidFill>
                <a:latin typeface="Calibri"/>
              </a:rPr>
              <a:t>Über die Hälfte aller ELB ist inzwischen langzeitleistungsbeziehend.</a:t>
            </a:r>
          </a:p>
        </p:txBody>
      </p:sp>
      <p:sp>
        <p:nvSpPr>
          <p:cNvPr id="15" name="Rectangle 14"/>
          <p:cNvSpPr/>
          <p:nvPr/>
        </p:nvSpPr>
        <p:spPr>
          <a:xfrm>
            <a:off x="8104799" y="1224000"/>
            <a:ext cx="3584400" cy="2592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04799" y="1224000"/>
            <a:ext cx="35844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8799" y="1386000"/>
            <a:ext cx="3296400" cy="324000"/>
          </a:xfrm>
          <a:prstGeom prst="rect">
            <a:avLst/>
          </a:prstGeom>
          <a:noFill/>
        </p:spPr>
        <p:txBody>
          <a:bodyPr wrap="square">
            <a:spAutoFit/>
          </a:bodyPr>
          <a:lstStyle/>
          <a:p>
            <a:r>
              <a:rPr sz="1500" b="1" i="0">
                <a:solidFill>
                  <a:srgbClr val="A0453F"/>
                </a:solidFill>
                <a:latin typeface="Calibri"/>
              </a:rPr>
              <a:t>Drehtür-Effekt</a:t>
            </a:r>
          </a:p>
        </p:txBody>
      </p:sp>
      <p:sp>
        <p:nvSpPr>
          <p:cNvPr id="18" name="TextBox 17"/>
          <p:cNvSpPr txBox="1"/>
          <p:nvPr/>
        </p:nvSpPr>
        <p:spPr>
          <a:xfrm>
            <a:off x="8248799" y="1800000"/>
            <a:ext cx="3296400" cy="576000"/>
          </a:xfrm>
          <a:prstGeom prst="rect">
            <a:avLst/>
          </a:prstGeom>
          <a:noFill/>
        </p:spPr>
        <p:txBody>
          <a:bodyPr wrap="square">
            <a:spAutoFit/>
          </a:bodyPr>
          <a:lstStyle/>
          <a:p>
            <a:r>
              <a:rPr sz="2000" b="1" i="0">
                <a:solidFill>
                  <a:srgbClr val="374151"/>
                </a:solidFill>
                <a:latin typeface="Calibri"/>
              </a:rPr>
              <a:t>56,1 % → 73,4 %</a:t>
            </a:r>
          </a:p>
        </p:txBody>
      </p:sp>
      <p:sp>
        <p:nvSpPr>
          <p:cNvPr id="19" name="TextBox 18"/>
          <p:cNvSpPr txBox="1"/>
          <p:nvPr/>
        </p:nvSpPr>
        <p:spPr>
          <a:xfrm>
            <a:off x="8248799" y="2411999"/>
            <a:ext cx="3296400" cy="1260000"/>
          </a:xfrm>
          <a:prstGeom prst="rect">
            <a:avLst/>
          </a:prstGeom>
          <a:noFill/>
        </p:spPr>
        <p:txBody>
          <a:bodyPr wrap="square">
            <a:spAutoFit/>
          </a:bodyPr>
          <a:lstStyle/>
          <a:p>
            <a:r>
              <a:rPr sz="1300" b="0" i="0">
                <a:solidFill>
                  <a:srgbClr val="374151"/>
                </a:solidFill>
                <a:latin typeface="Calibri"/>
              </a:rPr>
              <a:t>Anteil Zugang mit Vorbezug — echte Erstzugänge werden seltener.</a:t>
            </a:r>
          </a:p>
        </p:txBody>
      </p:sp>
      <p:sp>
        <p:nvSpPr>
          <p:cNvPr id="20" name="Rectangle 19"/>
          <p:cNvSpPr/>
          <p:nvPr/>
        </p:nvSpPr>
        <p:spPr>
          <a:xfrm>
            <a:off x="503999" y="4014000"/>
            <a:ext cx="111852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3999" y="4014000"/>
            <a:ext cx="90000" cy="144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999" y="4158000"/>
            <a:ext cx="10620000" cy="324000"/>
          </a:xfrm>
          <a:prstGeom prst="rect">
            <a:avLst/>
          </a:prstGeom>
          <a:noFill/>
        </p:spPr>
        <p:txBody>
          <a:bodyPr wrap="square">
            <a:spAutoFit/>
          </a:bodyPr>
          <a:lstStyle/>
          <a:p>
            <a:r>
              <a:rPr sz="1800" b="1" i="0">
                <a:solidFill>
                  <a:srgbClr val="A0453F"/>
                </a:solidFill>
                <a:latin typeface="Calibri"/>
              </a:rPr>
              <a:t>Kernbefund</a:t>
            </a:r>
          </a:p>
        </p:txBody>
      </p:sp>
      <p:sp>
        <p:nvSpPr>
          <p:cNvPr id="23" name="TextBox 22"/>
          <p:cNvSpPr txBox="1"/>
          <p:nvPr/>
        </p:nvSpPr>
        <p:spPr>
          <a:xfrm>
            <a:off x="827999" y="4500000"/>
            <a:ext cx="10620000" cy="846000"/>
          </a:xfrm>
          <a:prstGeom prst="rect">
            <a:avLst/>
          </a:prstGeom>
          <a:noFill/>
        </p:spPr>
        <p:txBody>
          <a:bodyPr wrap="square">
            <a:spAutoFit/>
          </a:bodyPr>
          <a:lstStyle/>
          <a:p>
            <a:r>
              <a:rPr sz="1600" b="0" i="0">
                <a:solidFill>
                  <a:srgbClr val="374151"/>
                </a:solidFill>
                <a:latin typeface="Calibri"/>
              </a:rPr>
              <a:t>Bestätigt unabhängig von den Kapiteln 3 und 9 dieselbe Verfestigungstendenz wie die Langzeitarbeitslosigkeit.</a:t>
            </a:r>
          </a:p>
        </p:txBody>
      </p:sp>
      <p:sp>
        <p:nvSpPr>
          <p:cNvPr id="24" name="TextBox 23"/>
          <p:cNvSpPr txBox="1"/>
          <p:nvPr/>
        </p:nvSpPr>
        <p:spPr>
          <a:xfrm>
            <a:off x="11124000" y="6533999"/>
            <a:ext cx="936000" cy="270000"/>
          </a:xfrm>
          <a:prstGeom prst="rect">
            <a:avLst/>
          </a:prstGeom>
          <a:noFill/>
        </p:spPr>
        <p:txBody>
          <a:bodyPr wrap="none">
            <a:spAutoFit/>
          </a:bodyPr>
          <a:lstStyle/>
          <a:p>
            <a:pPr algn="r"/>
            <a:fld id="{F3393678-539F-431D-B228-9BC1F8D4D24E}" type="slidenum">
              <a:rPr lang="de-DE" sz="1200">
                <a:solidFill>
                  <a:srgbClr val="6B7280"/>
                </a:solidFill>
              </a:rPr>
              <a:t>57</a:t>
            </a:fld>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4A3F5E"/>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588"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11</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Rechtskreisvergleich: SGB II vs. SGB III</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400"/>
              </a:spcAft>
            </a:pPr>
            <a:r>
              <a:rPr sz="1800" b="0" i="0">
                <a:solidFill>
                  <a:srgbClr val="E0E7FF"/>
                </a:solidFill>
                <a:latin typeface="Calibri"/>
              </a:rPr>
              <a:t>●  Jobcenter-Anteil an der Gesamtarbeitslosigkeit</a:t>
            </a:r>
          </a:p>
          <a:p>
            <a:pPr>
              <a:spcAft>
                <a:spcPts val="1400"/>
              </a:spcAft>
            </a:pPr>
            <a:r>
              <a:rPr sz="1800" b="0" i="0">
                <a:solidFill>
                  <a:srgbClr val="E0E7FF"/>
                </a:solidFill>
                <a:latin typeface="Calibri"/>
              </a:rPr>
              <a:t>●  Keine neuen Rohdaten nötig</a:t>
            </a:r>
          </a:p>
        </p:txBody>
      </p:sp>
      <p:sp>
        <p:nvSpPr>
          <p:cNvPr id="6" name="TextBox 5"/>
          <p:cNvSpPr txBox="1"/>
          <p:nvPr/>
        </p:nvSpPr>
        <p:spPr>
          <a:xfrm>
            <a:off x="11124000" y="6533999"/>
            <a:ext cx="936000" cy="270000"/>
          </a:xfrm>
          <a:prstGeom prst="rect">
            <a:avLst/>
          </a:prstGeom>
          <a:noFill/>
        </p:spPr>
        <p:txBody>
          <a:bodyPr wrap="none">
            <a:spAutoFit/>
          </a:bodyPr>
          <a:lstStyle/>
          <a:p>
            <a:pPr algn="r"/>
            <a:fld id="{22817276-45C4-44CA-AB5F-A19018C0AB38}" type="slidenum">
              <a:rPr lang="de-DE" sz="1200">
                <a:solidFill>
                  <a:srgbClr val="FFFFFF"/>
                </a:solidFill>
              </a:rPr>
              <a:t>58</a:t>
            </a:fld>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11.1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Jobcenter-Anteil am Arbeitslosenbestand insgesamt</a:t>
            </a:r>
          </a:p>
        </p:txBody>
      </p:sp>
      <p:pic>
        <p:nvPicPr>
          <p:cNvPr id="5" name="Picture 4" descr="abb29_rechtskreis_bestand.png"/>
          <p:cNvPicPr>
            <a:picLocks noChangeAspect="1"/>
          </p:cNvPicPr>
          <p:nvPr/>
        </p:nvPicPr>
        <p:blipFill>
          <a:blip r:embed="rId3"/>
          <a:stretch>
            <a:fillRect/>
          </a:stretch>
        </p:blipFill>
        <p:spPr>
          <a:xfrm>
            <a:off x="931576" y="1116000"/>
            <a:ext cx="10330434"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Jobcenter-Anteil stabil bei Ø 39,8 % — die Mehrheit (≈ 60 %) fällt in die Zuständigkeit der Agentur für Arbeit.</a:t>
            </a:r>
          </a:p>
        </p:txBody>
      </p:sp>
      <p:sp>
        <p:nvSpPr>
          <p:cNvPr id="7" name="TextBox 6"/>
          <p:cNvSpPr txBox="1"/>
          <p:nvPr/>
        </p:nvSpPr>
        <p:spPr>
          <a:xfrm>
            <a:off x="11124000" y="6533999"/>
            <a:ext cx="936000" cy="270000"/>
          </a:xfrm>
          <a:prstGeom prst="rect">
            <a:avLst/>
          </a:prstGeom>
          <a:noFill/>
        </p:spPr>
        <p:txBody>
          <a:bodyPr wrap="none">
            <a:spAutoFit/>
          </a:bodyPr>
          <a:lstStyle/>
          <a:p>
            <a:pPr algn="r"/>
            <a:fld id="{609D5C9E-6D07-484A-A550-992568A9EE25}" type="slidenum">
              <a:rPr lang="de-DE" sz="1200">
                <a:solidFill>
                  <a:srgbClr val="6B7280"/>
                </a:solidFill>
              </a:rPr>
              <a:t>59</a:t>
            </a:fld>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11.2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Langzeitarbeitslosigkeit: Konzentration im SGB II</a:t>
            </a:r>
          </a:p>
        </p:txBody>
      </p:sp>
      <p:pic>
        <p:nvPicPr>
          <p:cNvPr id="5" name="Picture 4" descr="abb30_rechtskreis_lza.png"/>
          <p:cNvPicPr>
            <a:picLocks noChangeAspect="1"/>
          </p:cNvPicPr>
          <p:nvPr/>
        </p:nvPicPr>
        <p:blipFill>
          <a:blip r:embed="rId3"/>
          <a:stretch>
            <a:fillRect/>
          </a:stretch>
        </p:blipFill>
        <p:spPr>
          <a:xfrm>
            <a:off x="931576" y="1116000"/>
            <a:ext cx="10330434"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Jobcenter-Anteil hier Ø 72,3 % — plausibel durch die Befristung von Arbeitslosengeld I.</a:t>
            </a:r>
          </a:p>
        </p:txBody>
      </p:sp>
      <p:sp>
        <p:nvSpPr>
          <p:cNvPr id="7" name="TextBox 6"/>
          <p:cNvSpPr txBox="1"/>
          <p:nvPr/>
        </p:nvSpPr>
        <p:spPr>
          <a:xfrm>
            <a:off x="11124000" y="6533999"/>
            <a:ext cx="936000" cy="270000"/>
          </a:xfrm>
          <a:prstGeom prst="rect">
            <a:avLst/>
          </a:prstGeom>
          <a:noFill/>
        </p:spPr>
        <p:txBody>
          <a:bodyPr wrap="none">
            <a:spAutoFit/>
          </a:bodyPr>
          <a:lstStyle/>
          <a:p>
            <a:pPr algn="r"/>
            <a:fld id="{0A3FC4D0-0EF3-45DD-A4CA-20F2C631361E}" type="slidenum">
              <a:rPr lang="de-DE" sz="1200">
                <a:solidFill>
                  <a:srgbClr val="6B7280"/>
                </a:solidFill>
              </a:rPr>
              <a:t>60</a:t>
            </a:fld>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11.3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Quoten im Vergleich</a:t>
            </a:r>
          </a:p>
        </p:txBody>
      </p:sp>
      <p:pic>
        <p:nvPicPr>
          <p:cNvPr id="5" name="Picture 4" descr="abb31_rechtskreis_quoten.png"/>
          <p:cNvPicPr>
            <a:picLocks noChangeAspect="1"/>
          </p:cNvPicPr>
          <p:nvPr/>
        </p:nvPicPr>
        <p:blipFill>
          <a:blip r:embed="rId3"/>
          <a:stretch>
            <a:fillRect/>
          </a:stretch>
        </p:blipFill>
        <p:spPr>
          <a:xfrm>
            <a:off x="931576" y="1116000"/>
            <a:ext cx="10330434"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1">
                <a:solidFill>
                  <a:srgbClr val="6B7280"/>
                </a:solidFill>
                <a:latin typeface="Calibri"/>
              </a:rPr>
              <a:t>SGB-II-Anteil an der Arbeitslosenquote ≈ 40 %, an der Unterbeschäftigungsquote ≈ 46 %.</a:t>
            </a:r>
          </a:p>
        </p:txBody>
      </p:sp>
      <p:sp>
        <p:nvSpPr>
          <p:cNvPr id="7" name="TextBox 6"/>
          <p:cNvSpPr txBox="1"/>
          <p:nvPr/>
        </p:nvSpPr>
        <p:spPr>
          <a:xfrm>
            <a:off x="11124000" y="6533999"/>
            <a:ext cx="936000" cy="270000"/>
          </a:xfrm>
          <a:prstGeom prst="rect">
            <a:avLst/>
          </a:prstGeom>
          <a:noFill/>
        </p:spPr>
        <p:txBody>
          <a:bodyPr wrap="none">
            <a:spAutoFit/>
          </a:bodyPr>
          <a:lstStyle/>
          <a:p>
            <a:pPr algn="r"/>
            <a:fld id="{D24A911A-1EBA-4792-BAAF-A4C027001388}" type="slidenum">
              <a:rPr lang="de-DE" sz="1200">
                <a:solidFill>
                  <a:srgbClr val="6B7280"/>
                </a:solidFill>
              </a:rPr>
              <a:t>61</a:t>
            </a:fld>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588"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11.4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224000"/>
            <a:ext cx="5484600" cy="23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54846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386000"/>
            <a:ext cx="5196600" cy="396000"/>
          </a:xfrm>
          <a:prstGeom prst="rect">
            <a:avLst/>
          </a:prstGeom>
          <a:noFill/>
        </p:spPr>
        <p:txBody>
          <a:bodyPr wrap="square">
            <a:spAutoFit/>
          </a:bodyPr>
          <a:lstStyle/>
          <a:p>
            <a:r>
              <a:rPr sz="1600" b="1" i="0">
                <a:solidFill>
                  <a:srgbClr val="3B6EA8"/>
                </a:solidFill>
                <a:latin typeface="Calibri"/>
              </a:rPr>
              <a:t>Anteil an Gesamtarbeitslosigkeit</a:t>
            </a:r>
          </a:p>
        </p:txBody>
      </p:sp>
      <p:sp>
        <p:nvSpPr>
          <p:cNvPr id="8" name="TextBox 7"/>
          <p:cNvSpPr txBox="1"/>
          <p:nvPr/>
        </p:nvSpPr>
        <p:spPr>
          <a:xfrm>
            <a:off x="647999" y="1854000"/>
            <a:ext cx="5196600" cy="648000"/>
          </a:xfrm>
          <a:prstGeom prst="rect">
            <a:avLst/>
          </a:prstGeom>
          <a:noFill/>
        </p:spPr>
        <p:txBody>
          <a:bodyPr wrap="square">
            <a:spAutoFit/>
          </a:bodyPr>
          <a:lstStyle/>
          <a:p>
            <a:r>
              <a:rPr sz="3400" b="1" i="0">
                <a:solidFill>
                  <a:srgbClr val="374151"/>
                </a:solidFill>
                <a:latin typeface="Calibri"/>
              </a:rPr>
              <a:t>≈ 40 %</a:t>
            </a:r>
          </a:p>
        </p:txBody>
      </p:sp>
      <p:sp>
        <p:nvSpPr>
          <p:cNvPr id="9" name="TextBox 8"/>
          <p:cNvSpPr txBox="1"/>
          <p:nvPr/>
        </p:nvSpPr>
        <p:spPr>
          <a:xfrm>
            <a:off x="647999" y="2574000"/>
            <a:ext cx="5196600" cy="845999"/>
          </a:xfrm>
          <a:prstGeom prst="rect">
            <a:avLst/>
          </a:prstGeom>
          <a:noFill/>
        </p:spPr>
        <p:txBody>
          <a:bodyPr wrap="square">
            <a:spAutoFit/>
          </a:bodyPr>
          <a:lstStyle/>
          <a:p>
            <a:r>
              <a:rPr sz="1350" b="0" i="0">
                <a:solidFill>
                  <a:srgbClr val="374151"/>
                </a:solidFill>
                <a:latin typeface="Calibri"/>
              </a:rPr>
              <a:t>Jobcenter (SGB II) trägt nur rund 40 % der gesamten Arbeitslosigkeit in Regensburg.</a:t>
            </a:r>
          </a:p>
        </p:txBody>
      </p:sp>
      <p:sp>
        <p:nvSpPr>
          <p:cNvPr id="10" name="Rectangle 9"/>
          <p:cNvSpPr/>
          <p:nvPr/>
        </p:nvSpPr>
        <p:spPr>
          <a:xfrm>
            <a:off x="6204600" y="1224000"/>
            <a:ext cx="5484600" cy="23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04600" y="1224000"/>
            <a:ext cx="5484600" cy="9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48599" y="1386000"/>
            <a:ext cx="5196600" cy="396000"/>
          </a:xfrm>
          <a:prstGeom prst="rect">
            <a:avLst/>
          </a:prstGeom>
          <a:noFill/>
        </p:spPr>
        <p:txBody>
          <a:bodyPr wrap="square">
            <a:spAutoFit/>
          </a:bodyPr>
          <a:lstStyle/>
          <a:p>
            <a:r>
              <a:rPr sz="1600" b="1" i="0">
                <a:solidFill>
                  <a:srgbClr val="A0453F"/>
                </a:solidFill>
                <a:latin typeface="Calibri"/>
              </a:rPr>
              <a:t>Anteil an Langzeitarbeitslosigkeit</a:t>
            </a:r>
          </a:p>
        </p:txBody>
      </p:sp>
      <p:sp>
        <p:nvSpPr>
          <p:cNvPr id="13" name="TextBox 12"/>
          <p:cNvSpPr txBox="1"/>
          <p:nvPr/>
        </p:nvSpPr>
        <p:spPr>
          <a:xfrm>
            <a:off x="6348599" y="1854000"/>
            <a:ext cx="5196600" cy="648000"/>
          </a:xfrm>
          <a:prstGeom prst="rect">
            <a:avLst/>
          </a:prstGeom>
          <a:noFill/>
        </p:spPr>
        <p:txBody>
          <a:bodyPr wrap="square">
            <a:spAutoFit/>
          </a:bodyPr>
          <a:lstStyle/>
          <a:p>
            <a:r>
              <a:rPr sz="3400" b="1" i="0">
                <a:solidFill>
                  <a:srgbClr val="374151"/>
                </a:solidFill>
                <a:latin typeface="Calibri"/>
              </a:rPr>
              <a:t>≈ 72 %</a:t>
            </a:r>
          </a:p>
        </p:txBody>
      </p:sp>
      <p:sp>
        <p:nvSpPr>
          <p:cNvPr id="14" name="TextBox 13"/>
          <p:cNvSpPr txBox="1"/>
          <p:nvPr/>
        </p:nvSpPr>
        <p:spPr>
          <a:xfrm>
            <a:off x="6348599" y="2574000"/>
            <a:ext cx="5196600" cy="845999"/>
          </a:xfrm>
          <a:prstGeom prst="rect">
            <a:avLst/>
          </a:prstGeom>
          <a:noFill/>
        </p:spPr>
        <p:txBody>
          <a:bodyPr wrap="square">
            <a:spAutoFit/>
          </a:bodyPr>
          <a:lstStyle/>
          <a:p>
            <a:r>
              <a:rPr sz="1350" b="0" i="0">
                <a:solidFill>
                  <a:srgbClr val="374151"/>
                </a:solidFill>
                <a:latin typeface="Calibri"/>
              </a:rPr>
              <a:t>Deutlich höherer Jobcenter-Anteil, sobald es um Langzeitarbeitslosigkeit geht.</a:t>
            </a:r>
          </a:p>
        </p:txBody>
      </p:sp>
      <p:sp>
        <p:nvSpPr>
          <p:cNvPr id="15" name="Rectangle 14"/>
          <p:cNvSpPr/>
          <p:nvPr/>
        </p:nvSpPr>
        <p:spPr>
          <a:xfrm>
            <a:off x="503999" y="3762000"/>
            <a:ext cx="11185200" cy="1655999"/>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3999" y="3762000"/>
            <a:ext cx="90000" cy="1655999"/>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999" y="3906000"/>
            <a:ext cx="10620000" cy="324000"/>
          </a:xfrm>
          <a:prstGeom prst="rect">
            <a:avLst/>
          </a:prstGeom>
          <a:noFill/>
        </p:spPr>
        <p:txBody>
          <a:bodyPr wrap="square">
            <a:spAutoFit/>
          </a:bodyPr>
          <a:lstStyle/>
          <a:p>
            <a:r>
              <a:rPr sz="1800" b="1" i="0">
                <a:solidFill>
                  <a:srgbClr val="6B5B8F"/>
                </a:solidFill>
                <a:latin typeface="Calibri"/>
              </a:rPr>
              <a:t>Kernaussage</a:t>
            </a:r>
          </a:p>
        </p:txBody>
      </p:sp>
      <p:sp>
        <p:nvSpPr>
          <p:cNvPr id="18" name="TextBox 17"/>
          <p:cNvSpPr txBox="1"/>
          <p:nvPr/>
        </p:nvSpPr>
        <p:spPr>
          <a:xfrm>
            <a:off x="827999" y="4248000"/>
            <a:ext cx="10620000" cy="1062000"/>
          </a:xfrm>
          <a:prstGeom prst="rect">
            <a:avLst/>
          </a:prstGeom>
          <a:noFill/>
        </p:spPr>
        <p:txBody>
          <a:bodyPr wrap="square">
            <a:spAutoFit/>
          </a:bodyPr>
          <a:lstStyle/>
          <a:p>
            <a:r>
              <a:rPr sz="1600" b="0" i="0">
                <a:solidFill>
                  <a:srgbClr val="374151"/>
                </a:solidFill>
                <a:latin typeface="Calibri"/>
              </a:rPr>
              <a:t>Der Jobcenter-Fokus bildet nur einen Teil der Gesamtarbeitslosigkeit ab — aber genau den Teil mit der stärksten Konzentration von Langzeitarbeitslosigkeit.</a:t>
            </a:r>
          </a:p>
        </p:txBody>
      </p:sp>
      <p:sp>
        <p:nvSpPr>
          <p:cNvPr id="19" name="TextBox 18"/>
          <p:cNvSpPr txBox="1"/>
          <p:nvPr/>
        </p:nvSpPr>
        <p:spPr>
          <a:xfrm>
            <a:off x="11124000" y="6533999"/>
            <a:ext cx="936000" cy="270000"/>
          </a:xfrm>
          <a:prstGeom prst="rect">
            <a:avLst/>
          </a:prstGeom>
          <a:noFill/>
        </p:spPr>
        <p:txBody>
          <a:bodyPr wrap="none">
            <a:spAutoFit/>
          </a:bodyPr>
          <a:lstStyle/>
          <a:p>
            <a:pPr algn="r"/>
            <a:fld id="{E00D68BF-56EC-4B67-8654-076FE608659B}" type="slidenum">
              <a:rPr lang="de-DE" sz="1200">
                <a:solidFill>
                  <a:srgbClr val="6B7280"/>
                </a:solidFill>
              </a:rPr>
              <a:t>47</a:t>
            </a:fld>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2E4057"/>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200"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a:solidFill>
                  <a:srgbClr val="BFDBFE"/>
                </a:solidFill>
                <a:latin typeface="Calibri"/>
              </a:rPr>
              <a:t>KAPITEL 12</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Gemeldete Arbeitsstellen</a:t>
            </a:r>
          </a:p>
        </p:txBody>
      </p:sp>
      <p:sp>
        <p:nvSpPr>
          <p:cNvPr id="5" name="TextBox 4"/>
          <p:cNvSpPr txBox="1"/>
          <p:nvPr/>
        </p:nvSpPr>
        <p:spPr>
          <a:xfrm>
            <a:off x="720000" y="3311999"/>
            <a:ext cx="10753200" cy="2880000"/>
          </a:xfrm>
          <a:prstGeom prst="rect">
            <a:avLst/>
          </a:prstGeom>
          <a:noFill/>
        </p:spPr>
        <p:txBody>
          <a:bodyPr wrap="square">
            <a:spAutoFit/>
          </a:bodyPr>
          <a:lstStyle/>
          <a:p>
            <a:r>
              <a:rPr sz="1800" b="0" i="0">
                <a:solidFill>
                  <a:srgbClr val="E0E7FF"/>
                </a:solidFill>
                <a:latin typeface="Calibri"/>
              </a:rPr>
              <a:t>●  Nachfrageseite des Arbeitsmarkts, bisher komplett ausgeklammert</a:t>
            </a:r>
          </a:p>
          <a:p>
            <a:r>
              <a:rPr sz="1800" b="0" i="0">
                <a:solidFill>
                  <a:srgbClr val="E0E7FF"/>
                </a:solidFill>
                <a:latin typeface="Calibri"/>
              </a:rPr>
              <a:t>●  Keine Rechtskreis-Differenzierung möglich</a:t>
            </a:r>
          </a:p>
        </p:txBody>
      </p:sp>
      <p:sp>
        <p:nvSpPr>
          <p:cNvPr id="6" name="TextBox 5"/>
          <p:cNvSpPr txBox="1"/>
          <p:nvPr/>
        </p:nvSpPr>
        <p:spPr>
          <a:xfrm>
            <a:off x="11124000" y="6533999"/>
            <a:ext cx="936000" cy="270000"/>
          </a:xfrm>
          <a:prstGeom prst="rect">
            <a:avLst/>
          </a:prstGeom>
          <a:noFill/>
        </p:spPr>
        <p:txBody>
          <a:bodyPr wrap="none">
            <a:spAutoFit/>
          </a:bodyPr>
          <a:lstStyle/>
          <a:p>
            <a:pPr algn="r"/>
            <a:fld id="{C0C36086-A5F7-4E23-A747-517B87CCF483}" type="slidenum">
              <a:rPr lang="de-DE" sz="1200">
                <a:solidFill>
                  <a:srgbClr val="FFFFFF"/>
                </a:solidFill>
              </a:rPr>
              <a:t>62</a:t>
            </a:fld>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a:solidFill>
                  <a:srgbClr val="FFFFFF"/>
                </a:solidFill>
                <a:latin typeface="Calibri"/>
              </a:rPr>
              <a:t>12.1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Zugang und Bestand im Zeitverlauf</a:t>
            </a:r>
          </a:p>
        </p:txBody>
      </p:sp>
      <p:pic>
        <p:nvPicPr>
          <p:cNvPr id="5" name="Picture 4" descr="abb33_arbeitsstellen_zugang_bestand.png"/>
          <p:cNvPicPr>
            <a:picLocks noChangeAspect="1"/>
          </p:cNvPicPr>
          <p:nvPr/>
        </p:nvPicPr>
        <p:blipFill>
          <a:blip r:embed="rId3"/>
          <a:stretch>
            <a:fillRect/>
          </a:stretch>
        </p:blipFill>
        <p:spPr>
          <a:xfrm>
            <a:off x="2400600" y="1116000"/>
            <a:ext cx="7392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Bestand sinkt deutlich von 1.571 auf 1.192 Stellen (rund −24 %), Höchststand im August 2025.</a:t>
            </a:r>
          </a:p>
        </p:txBody>
      </p:sp>
      <p:sp>
        <p:nvSpPr>
          <p:cNvPr id="7" name="TextBox 6"/>
          <p:cNvSpPr txBox="1"/>
          <p:nvPr/>
        </p:nvSpPr>
        <p:spPr>
          <a:xfrm>
            <a:off x="11124000" y="6533999"/>
            <a:ext cx="936000" cy="270000"/>
          </a:xfrm>
          <a:prstGeom prst="rect">
            <a:avLst/>
          </a:prstGeom>
          <a:noFill/>
        </p:spPr>
        <p:txBody>
          <a:bodyPr wrap="none">
            <a:spAutoFit/>
          </a:bodyPr>
          <a:lstStyle/>
          <a:p>
            <a:pPr algn="r"/>
            <a:fld id="{D2B6B262-76FA-4A4E-BDDE-E582C86685C6}" type="slidenum">
              <a:rPr lang="de-DE" sz="1200">
                <a:solidFill>
                  <a:srgbClr val="6B7280"/>
                </a:solidFill>
              </a:rPr>
              <a:t>63</a:t>
            </a:fld>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a:solidFill>
                  <a:srgbClr val="FFFFFF"/>
                </a:solidFill>
                <a:latin typeface="Calibri"/>
              </a:rPr>
              <a:t>12.2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Angebot-Nachfrage-Relation</a:t>
            </a:r>
          </a:p>
        </p:txBody>
      </p:sp>
      <p:pic>
        <p:nvPicPr>
          <p:cNvPr id="5" name="Picture 4" descr="abb34_arbeitsstellen_angebot_nachfrage.png"/>
          <p:cNvPicPr>
            <a:picLocks noChangeAspect="1"/>
          </p:cNvPicPr>
          <p:nvPr/>
        </p:nvPicPr>
        <p:blipFill>
          <a:blip r:embed="rId3"/>
          <a:stretch>
            <a:fillRect/>
          </a:stretch>
        </p:blipFill>
        <p:spPr>
          <a:xfrm>
            <a:off x="2136599" y="1116000"/>
            <a:ext cx="792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Relation fällt von 107 auf 80 Arbeitsstellen je 100 Arbeitslose — deutlich unter 100.</a:t>
            </a:r>
          </a:p>
        </p:txBody>
      </p:sp>
      <p:sp>
        <p:nvSpPr>
          <p:cNvPr id="7" name="TextBox 6"/>
          <p:cNvSpPr txBox="1"/>
          <p:nvPr/>
        </p:nvSpPr>
        <p:spPr>
          <a:xfrm>
            <a:off x="11124000" y="6533999"/>
            <a:ext cx="936000" cy="270000"/>
          </a:xfrm>
          <a:prstGeom prst="rect">
            <a:avLst/>
          </a:prstGeom>
          <a:noFill/>
        </p:spPr>
        <p:txBody>
          <a:bodyPr wrap="none">
            <a:spAutoFit/>
          </a:bodyPr>
          <a:lstStyle/>
          <a:p>
            <a:pPr algn="r"/>
            <a:fld id="{85F3CC8C-26D1-4ADA-A8AD-98E13BED70A0}" type="slidenum">
              <a:rPr lang="de-DE" sz="1200">
                <a:solidFill>
                  <a:srgbClr val="6B7280"/>
                </a:solidFill>
              </a:rPr>
              <a:t>64</a:t>
            </a:fld>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a:solidFill>
                  <a:srgbClr val="FFFFFF"/>
                </a:solidFill>
                <a:latin typeface="Calibri"/>
              </a:rPr>
              <a:t>12.3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Struktur des Stellenbestands</a:t>
            </a:r>
          </a:p>
        </p:txBody>
      </p:sp>
      <p:pic>
        <p:nvPicPr>
          <p:cNvPr id="5" name="Picture 4" descr="abb35_arbeitsstellen_struktur.png"/>
          <p:cNvPicPr>
            <a:picLocks noChangeAspect="1"/>
          </p:cNvPicPr>
          <p:nvPr/>
        </p:nvPicPr>
        <p:blipFill>
          <a:blip r:embed="rId3"/>
          <a:stretch>
            <a:fillRect/>
          </a:stretch>
        </p:blipFill>
        <p:spPr>
          <a:xfrm>
            <a:off x="2136599" y="1116000"/>
            <a:ext cx="792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98,7 % des Stellenbestands (Juni 2026) sind sozialversicherungspflichtig.</a:t>
            </a:r>
          </a:p>
        </p:txBody>
      </p:sp>
      <p:sp>
        <p:nvSpPr>
          <p:cNvPr id="7" name="TextBox 6"/>
          <p:cNvSpPr txBox="1"/>
          <p:nvPr/>
        </p:nvSpPr>
        <p:spPr>
          <a:xfrm>
            <a:off x="11124000" y="6533999"/>
            <a:ext cx="936000" cy="270000"/>
          </a:xfrm>
          <a:prstGeom prst="rect">
            <a:avLst/>
          </a:prstGeom>
          <a:noFill/>
        </p:spPr>
        <p:txBody>
          <a:bodyPr wrap="none">
            <a:spAutoFit/>
          </a:bodyPr>
          <a:lstStyle/>
          <a:p>
            <a:pPr algn="r"/>
            <a:fld id="{39E89CA4-CF52-416F-9B8C-830204FEC2D1}" type="slidenum">
              <a:rPr lang="de-DE" sz="1200">
                <a:solidFill>
                  <a:srgbClr val="6B7280"/>
                </a:solidFill>
              </a:rPr>
              <a:t>65</a:t>
            </a:fld>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a:solidFill>
                  <a:srgbClr val="FFFFFF"/>
                </a:solidFill>
                <a:latin typeface="Calibri"/>
              </a:rPr>
              <a:t>12.4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404000"/>
            <a:ext cx="35844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565999"/>
            <a:ext cx="3296400" cy="468000"/>
          </a:xfrm>
          <a:prstGeom prst="rect">
            <a:avLst/>
          </a:prstGeom>
          <a:noFill/>
        </p:spPr>
        <p:txBody>
          <a:bodyPr wrap="square">
            <a:spAutoFit/>
          </a:bodyPr>
          <a:lstStyle/>
          <a:p>
            <a:r>
              <a:rPr sz="1500" b="1" i="0">
                <a:solidFill>
                  <a:srgbClr val="3B6EA8"/>
                </a:solidFill>
                <a:latin typeface="Calibri"/>
              </a:rPr>
              <a:t>Zugang &amp; Bestand</a:t>
            </a:r>
          </a:p>
        </p:txBody>
      </p:sp>
      <p:sp>
        <p:nvSpPr>
          <p:cNvPr id="8" name="TextBox 7"/>
          <p:cNvSpPr txBox="1"/>
          <p:nvPr/>
        </p:nvSpPr>
        <p:spPr>
          <a:xfrm>
            <a:off x="647999" y="2070000"/>
            <a:ext cx="3296400" cy="648000"/>
          </a:xfrm>
          <a:prstGeom prst="rect">
            <a:avLst/>
          </a:prstGeom>
          <a:noFill/>
        </p:spPr>
        <p:txBody>
          <a:bodyPr wrap="square">
            <a:spAutoFit/>
          </a:bodyPr>
          <a:lstStyle/>
          <a:p>
            <a:r>
              <a:rPr sz="2600" b="1" i="0">
                <a:solidFill>
                  <a:srgbClr val="374151"/>
                </a:solidFill>
                <a:latin typeface="Calibri"/>
              </a:rPr>
              <a:t>1.571 → 1.192</a:t>
            </a:r>
          </a:p>
        </p:txBody>
      </p:sp>
      <p:sp>
        <p:nvSpPr>
          <p:cNvPr id="9" name="TextBox 8"/>
          <p:cNvSpPr txBox="1"/>
          <p:nvPr/>
        </p:nvSpPr>
        <p:spPr>
          <a:xfrm>
            <a:off x="647999" y="2790000"/>
            <a:ext cx="3296400" cy="1925999"/>
          </a:xfrm>
          <a:prstGeom prst="rect">
            <a:avLst/>
          </a:prstGeom>
          <a:noFill/>
        </p:spPr>
        <p:txBody>
          <a:bodyPr wrap="square">
            <a:spAutoFit/>
          </a:bodyPr>
          <a:lstStyle/>
          <a:p>
            <a:r>
              <a:rPr sz="1300" b="0" i="0">
                <a:solidFill>
                  <a:srgbClr val="374151"/>
                </a:solidFill>
                <a:latin typeface="Calibri"/>
              </a:rPr>
              <a:t>Rückgang um rund 24 % — Höchststand im August 2025.</a:t>
            </a:r>
          </a:p>
        </p:txBody>
      </p:sp>
      <p:sp>
        <p:nvSpPr>
          <p:cNvPr id="10" name="Rectangle 9"/>
          <p:cNvSpPr/>
          <p:nvPr/>
        </p:nvSpPr>
        <p:spPr>
          <a:xfrm>
            <a:off x="4304400"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04400" y="1404000"/>
            <a:ext cx="35844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8400" y="1565999"/>
            <a:ext cx="3296400" cy="468000"/>
          </a:xfrm>
          <a:prstGeom prst="rect">
            <a:avLst/>
          </a:prstGeom>
          <a:noFill/>
        </p:spPr>
        <p:txBody>
          <a:bodyPr wrap="square">
            <a:spAutoFit/>
          </a:bodyPr>
          <a:lstStyle/>
          <a:p>
            <a:r>
              <a:rPr sz="1500" b="1" i="0">
                <a:solidFill>
                  <a:srgbClr val="6B5B8F"/>
                </a:solidFill>
                <a:latin typeface="Calibri"/>
              </a:rPr>
              <a:t>Angebot-Nachfrage</a:t>
            </a:r>
          </a:p>
        </p:txBody>
      </p:sp>
      <p:sp>
        <p:nvSpPr>
          <p:cNvPr id="13" name="TextBox 12"/>
          <p:cNvSpPr txBox="1"/>
          <p:nvPr/>
        </p:nvSpPr>
        <p:spPr>
          <a:xfrm>
            <a:off x="4448400" y="2070000"/>
            <a:ext cx="3296400" cy="648000"/>
          </a:xfrm>
          <a:prstGeom prst="rect">
            <a:avLst/>
          </a:prstGeom>
          <a:noFill/>
        </p:spPr>
        <p:txBody>
          <a:bodyPr wrap="square">
            <a:spAutoFit/>
          </a:bodyPr>
          <a:lstStyle/>
          <a:p>
            <a:r>
              <a:rPr sz="2600" b="1" i="0">
                <a:solidFill>
                  <a:srgbClr val="374151"/>
                </a:solidFill>
                <a:latin typeface="Calibri"/>
              </a:rPr>
              <a:t>107 → 80</a:t>
            </a:r>
          </a:p>
        </p:txBody>
      </p:sp>
      <p:sp>
        <p:nvSpPr>
          <p:cNvPr id="14" name="TextBox 13"/>
          <p:cNvSpPr txBox="1"/>
          <p:nvPr/>
        </p:nvSpPr>
        <p:spPr>
          <a:xfrm>
            <a:off x="4448400" y="2790000"/>
            <a:ext cx="3296400" cy="1925999"/>
          </a:xfrm>
          <a:prstGeom prst="rect">
            <a:avLst/>
          </a:prstGeom>
          <a:noFill/>
        </p:spPr>
        <p:txBody>
          <a:bodyPr wrap="square">
            <a:spAutoFit/>
          </a:bodyPr>
          <a:lstStyle/>
          <a:p>
            <a:r>
              <a:rPr sz="1300" b="0" i="0">
                <a:solidFill>
                  <a:srgbClr val="374151"/>
                </a:solidFill>
                <a:latin typeface="Calibri"/>
              </a:rPr>
              <a:t>Arbeitsstellen je 100 Arbeitslose — deutlich unter dem Ausgangsniveau.</a:t>
            </a:r>
          </a:p>
        </p:txBody>
      </p:sp>
      <p:sp>
        <p:nvSpPr>
          <p:cNvPr id="15" name="Rectangle 14"/>
          <p:cNvSpPr/>
          <p:nvPr/>
        </p:nvSpPr>
        <p:spPr>
          <a:xfrm>
            <a:off x="81047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04799" y="1404000"/>
            <a:ext cx="35844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8799" y="1565999"/>
            <a:ext cx="3296400" cy="468000"/>
          </a:xfrm>
          <a:prstGeom prst="rect">
            <a:avLst/>
          </a:prstGeom>
          <a:noFill/>
        </p:spPr>
        <p:txBody>
          <a:bodyPr wrap="square">
            <a:spAutoFit/>
          </a:bodyPr>
          <a:lstStyle/>
          <a:p>
            <a:r>
              <a:rPr sz="1500" b="1" i="0">
                <a:solidFill>
                  <a:srgbClr val="3F7A72"/>
                </a:solidFill>
                <a:latin typeface="Calibri"/>
              </a:rPr>
              <a:t>Struktur</a:t>
            </a:r>
          </a:p>
        </p:txBody>
      </p:sp>
      <p:sp>
        <p:nvSpPr>
          <p:cNvPr id="18" name="TextBox 17"/>
          <p:cNvSpPr txBox="1"/>
          <p:nvPr/>
        </p:nvSpPr>
        <p:spPr>
          <a:xfrm>
            <a:off x="8248799" y="2070000"/>
            <a:ext cx="3296400" cy="648000"/>
          </a:xfrm>
          <a:prstGeom prst="rect">
            <a:avLst/>
          </a:prstGeom>
          <a:noFill/>
        </p:spPr>
        <p:txBody>
          <a:bodyPr wrap="square">
            <a:spAutoFit/>
          </a:bodyPr>
          <a:lstStyle/>
          <a:p>
            <a:r>
              <a:rPr sz="2600" b="1" i="0">
                <a:solidFill>
                  <a:srgbClr val="374151"/>
                </a:solidFill>
                <a:latin typeface="Calibri"/>
              </a:rPr>
              <a:t>98,7 %</a:t>
            </a:r>
          </a:p>
        </p:txBody>
      </p:sp>
      <p:sp>
        <p:nvSpPr>
          <p:cNvPr id="19" name="TextBox 18"/>
          <p:cNvSpPr txBox="1"/>
          <p:nvPr/>
        </p:nvSpPr>
        <p:spPr>
          <a:xfrm>
            <a:off x="8248799" y="2790000"/>
            <a:ext cx="3296400" cy="1925999"/>
          </a:xfrm>
          <a:prstGeom prst="rect">
            <a:avLst/>
          </a:prstGeom>
          <a:noFill/>
        </p:spPr>
        <p:txBody>
          <a:bodyPr wrap="square">
            <a:spAutoFit/>
          </a:bodyPr>
          <a:lstStyle/>
          <a:p>
            <a:r>
              <a:rPr sz="1300" b="0" i="0">
                <a:solidFill>
                  <a:srgbClr val="374151"/>
                </a:solidFill>
                <a:latin typeface="Calibri"/>
              </a:rPr>
              <a:t>des Stellenbestands sind sozialversicherungspflichtig.</a:t>
            </a:r>
          </a:p>
        </p:txBody>
      </p:sp>
      <p:sp>
        <p:nvSpPr>
          <p:cNvPr id="20" name="Rectangle 19"/>
          <p:cNvSpPr/>
          <p:nvPr/>
        </p:nvSpPr>
        <p:spPr>
          <a:xfrm>
            <a:off x="503999" y="5058000"/>
            <a:ext cx="111852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3999" y="5058000"/>
            <a:ext cx="90000" cy="144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999" y="5202000"/>
            <a:ext cx="10620000" cy="324000"/>
          </a:xfrm>
          <a:prstGeom prst="rect">
            <a:avLst/>
          </a:prstGeom>
          <a:noFill/>
        </p:spPr>
        <p:txBody>
          <a:bodyPr wrap="square">
            <a:spAutoFit/>
          </a:bodyPr>
          <a:lstStyle/>
          <a:p>
            <a:r>
              <a:rPr sz="1800" b="1" i="0">
                <a:solidFill>
                  <a:srgbClr val="A0453F"/>
                </a:solidFill>
                <a:latin typeface="Calibri"/>
              </a:rPr>
              <a:t>Kernaussage</a:t>
            </a:r>
          </a:p>
        </p:txBody>
      </p:sp>
      <p:sp>
        <p:nvSpPr>
          <p:cNvPr id="23" name="TextBox 22"/>
          <p:cNvSpPr txBox="1"/>
          <p:nvPr/>
        </p:nvSpPr>
        <p:spPr>
          <a:xfrm>
            <a:off x="827999" y="5544000"/>
            <a:ext cx="10620000" cy="846000"/>
          </a:xfrm>
          <a:prstGeom prst="rect">
            <a:avLst/>
          </a:prstGeom>
          <a:noFill/>
        </p:spPr>
        <p:txBody>
          <a:bodyPr wrap="square">
            <a:spAutoFit/>
          </a:bodyPr>
          <a:lstStyle/>
          <a:p>
            <a:r>
              <a:rPr sz="1600" b="0" i="0">
                <a:solidFill>
                  <a:srgbClr val="374151"/>
                </a:solidFill>
                <a:latin typeface="Calibri"/>
              </a:rPr>
              <a:t>Ein von den bisherigen Kennzahlen unabhängiger Beleg dafür, dass sich die Arbeitsmarktlage in Regensburg auch auf der Nachfrageseite eintrübt.</a:t>
            </a:r>
          </a:p>
        </p:txBody>
      </p:sp>
      <p:sp>
        <p:nvSpPr>
          <p:cNvPr id="24" name="TextBox 23"/>
          <p:cNvSpPr txBox="1"/>
          <p:nvPr/>
        </p:nvSpPr>
        <p:spPr>
          <a:xfrm>
            <a:off x="11124000" y="6533999"/>
            <a:ext cx="936000" cy="270000"/>
          </a:xfrm>
          <a:prstGeom prst="rect">
            <a:avLst/>
          </a:prstGeom>
          <a:noFill/>
        </p:spPr>
        <p:txBody>
          <a:bodyPr wrap="none">
            <a:spAutoFit/>
          </a:bodyPr>
          <a:lstStyle/>
          <a:p>
            <a:pPr algn="r"/>
            <a:fld id="{867ABD6A-FC75-4BA8-BB94-49095A745117}" type="slidenum">
              <a:rPr lang="de-DE" sz="1200">
                <a:solidFill>
                  <a:srgbClr val="6B7280"/>
                </a:solidFill>
              </a:rPr>
              <a:t>66</a:t>
            </a:fld>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4A3F5E"/>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200"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a:solidFill>
                  <a:srgbClr val="BFDBFE"/>
                </a:solidFill>
                <a:latin typeface="Calibri"/>
              </a:rPr>
              <a:t>KAPITEL 13</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Unterbeschäftigung</a:t>
            </a:r>
          </a:p>
        </p:txBody>
      </p:sp>
      <p:sp>
        <p:nvSpPr>
          <p:cNvPr id="5" name="TextBox 4"/>
          <p:cNvSpPr txBox="1"/>
          <p:nvPr/>
        </p:nvSpPr>
        <p:spPr>
          <a:xfrm>
            <a:off x="720000" y="3311999"/>
            <a:ext cx="10753200" cy="2880000"/>
          </a:xfrm>
          <a:prstGeom prst="rect">
            <a:avLst/>
          </a:prstGeom>
          <a:noFill/>
        </p:spPr>
        <p:txBody>
          <a:bodyPr wrap="square">
            <a:spAutoFit/>
          </a:bodyPr>
          <a:lstStyle/>
          <a:p>
            <a:r>
              <a:rPr sz="1800" b="0" i="0">
                <a:solidFill>
                  <a:srgbClr val="E0E7FF"/>
                </a:solidFill>
                <a:latin typeface="Calibri"/>
              </a:rPr>
              <a:t>●  Drei absolute Kennzahlen hinter der bereits genutzten Quote</a:t>
            </a:r>
          </a:p>
          <a:p>
            <a:r>
              <a:rPr sz="1800" b="0" i="0">
                <a:solidFill>
                  <a:srgbClr val="E0E7FF"/>
                </a:solidFill>
                <a:latin typeface="Calibri"/>
              </a:rPr>
              <a:t>●  SGB-II-Anteil im Vergleich zu Bestand und Langzeitarbeitslosigkeit</a:t>
            </a:r>
          </a:p>
        </p:txBody>
      </p:sp>
      <p:sp>
        <p:nvSpPr>
          <p:cNvPr id="6" name="TextBox 5"/>
          <p:cNvSpPr txBox="1"/>
          <p:nvPr/>
        </p:nvSpPr>
        <p:spPr>
          <a:xfrm>
            <a:off x="11124000" y="6533999"/>
            <a:ext cx="936000" cy="270000"/>
          </a:xfrm>
          <a:prstGeom prst="rect">
            <a:avLst/>
          </a:prstGeom>
          <a:noFill/>
        </p:spPr>
        <p:txBody>
          <a:bodyPr wrap="none">
            <a:spAutoFit/>
          </a:bodyPr>
          <a:lstStyle/>
          <a:p>
            <a:pPr algn="r"/>
            <a:fld id="{5016CEC8-A82A-465E-9932-DE21C1D80AB9}" type="slidenum">
              <a:rPr lang="de-DE" sz="1200">
                <a:solidFill>
                  <a:srgbClr val="FFFFFF"/>
                </a:solidFill>
              </a:rPr>
              <a:t>67</a:t>
            </a:fld>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a:solidFill>
                  <a:srgbClr val="FFFFFF"/>
                </a:solidFill>
                <a:latin typeface="Calibri"/>
              </a:rPr>
              <a:t>13.1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Drei Komponenten im Vergleich</a:t>
            </a:r>
          </a:p>
        </p:txBody>
      </p:sp>
      <p:pic>
        <p:nvPicPr>
          <p:cNvPr id="5" name="Picture 4" descr="abb36_unterbeschaeftigung_komponenten.png"/>
          <p:cNvPicPr>
            <a:picLocks noChangeAspect="1"/>
          </p:cNvPicPr>
          <p:nvPr/>
        </p:nvPicPr>
        <p:blipFill>
          <a:blip r:embed="rId3"/>
          <a:stretch>
            <a:fillRect/>
          </a:stretch>
        </p:blipFill>
        <p:spPr>
          <a:xfrm>
            <a:off x="2400600" y="1116000"/>
            <a:ext cx="7392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Kurzarbeiter-Komponente verschwindend gering (Ø 2,6 Personen), Maßnahmen-Komponente deutlich substanzieller (Ø 399).</a:t>
            </a:r>
          </a:p>
        </p:txBody>
      </p:sp>
      <p:sp>
        <p:nvSpPr>
          <p:cNvPr id="7" name="TextBox 6"/>
          <p:cNvSpPr txBox="1"/>
          <p:nvPr/>
        </p:nvSpPr>
        <p:spPr>
          <a:xfrm>
            <a:off x="11124000" y="6533999"/>
            <a:ext cx="936000" cy="270000"/>
          </a:xfrm>
          <a:prstGeom prst="rect">
            <a:avLst/>
          </a:prstGeom>
          <a:noFill/>
        </p:spPr>
        <p:txBody>
          <a:bodyPr wrap="none">
            <a:spAutoFit/>
          </a:bodyPr>
          <a:lstStyle/>
          <a:p>
            <a:pPr algn="r"/>
            <a:fld id="{433963FE-B2B5-4DF7-A776-D8D67889C6FF}" type="slidenum">
              <a:rPr lang="de-DE" sz="1200">
                <a:solidFill>
                  <a:srgbClr val="6B7280"/>
                </a:solidFill>
              </a:rPr>
              <a:t>68</a:t>
            </a:fld>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a:solidFill>
                  <a:srgbClr val="FFFFFF"/>
                </a:solidFill>
                <a:latin typeface="Calibri"/>
              </a:rPr>
              <a:t>13.2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SGB-II-Anteil im Vergleich</a:t>
            </a:r>
          </a:p>
        </p:txBody>
      </p:sp>
      <p:pic>
        <p:nvPicPr>
          <p:cNvPr id="5" name="Picture 4" descr="abb37_unterbeschaeftigung_anteil.png"/>
          <p:cNvPicPr>
            <a:picLocks noChangeAspect="1"/>
          </p:cNvPicPr>
          <p:nvPr/>
        </p:nvPicPr>
        <p:blipFill>
          <a:blip r:embed="rId3"/>
          <a:stretch>
            <a:fillRect/>
          </a:stretch>
        </p:blipFill>
        <p:spPr>
          <a:xfrm>
            <a:off x="2400600" y="1116000"/>
            <a:ext cx="7392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SGB-II-Anteil (41–50 %) liegt zwischen dem Anteil am Bestand (≈ 40 %) und an der LZA (≈ 72 %).</a:t>
            </a:r>
          </a:p>
        </p:txBody>
      </p:sp>
      <p:sp>
        <p:nvSpPr>
          <p:cNvPr id="7" name="TextBox 6"/>
          <p:cNvSpPr txBox="1"/>
          <p:nvPr/>
        </p:nvSpPr>
        <p:spPr>
          <a:xfrm>
            <a:off x="11124000" y="6533999"/>
            <a:ext cx="936000" cy="270000"/>
          </a:xfrm>
          <a:prstGeom prst="rect">
            <a:avLst/>
          </a:prstGeom>
          <a:noFill/>
        </p:spPr>
        <p:txBody>
          <a:bodyPr wrap="none">
            <a:spAutoFit/>
          </a:bodyPr>
          <a:lstStyle/>
          <a:p>
            <a:pPr algn="r"/>
            <a:fld id="{E1583B03-45DC-4B82-B25C-59C92E4BC675}" type="slidenum">
              <a:rPr lang="de-DE" sz="1200">
                <a:solidFill>
                  <a:srgbClr val="6B7280"/>
                </a:solidFill>
              </a:rPr>
              <a:t>69</a:t>
            </a:fld>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a:solidFill>
                  <a:srgbClr val="FFFFFF"/>
                </a:solidFill>
                <a:latin typeface="Calibri"/>
              </a:rPr>
              <a:t>13.3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404000"/>
            <a:ext cx="35844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565999"/>
            <a:ext cx="3296400" cy="468000"/>
          </a:xfrm>
          <a:prstGeom prst="rect">
            <a:avLst/>
          </a:prstGeom>
          <a:noFill/>
        </p:spPr>
        <p:txBody>
          <a:bodyPr wrap="square">
            <a:spAutoFit/>
          </a:bodyPr>
          <a:lstStyle/>
          <a:p>
            <a:r>
              <a:rPr sz="1500" b="1" i="0">
                <a:solidFill>
                  <a:srgbClr val="3B6EA8"/>
                </a:solidFill>
                <a:latin typeface="Calibri"/>
              </a:rPr>
              <a:t>Kurzarbeiter-Komponente</a:t>
            </a:r>
          </a:p>
        </p:txBody>
      </p:sp>
      <p:sp>
        <p:nvSpPr>
          <p:cNvPr id="8" name="TextBox 7"/>
          <p:cNvSpPr txBox="1"/>
          <p:nvPr/>
        </p:nvSpPr>
        <p:spPr>
          <a:xfrm>
            <a:off x="647999" y="2070000"/>
            <a:ext cx="3296400" cy="648000"/>
          </a:xfrm>
          <a:prstGeom prst="rect">
            <a:avLst/>
          </a:prstGeom>
          <a:noFill/>
        </p:spPr>
        <p:txBody>
          <a:bodyPr wrap="square">
            <a:spAutoFit/>
          </a:bodyPr>
          <a:lstStyle/>
          <a:p>
            <a:r>
              <a:rPr sz="2600" b="1" i="0">
                <a:solidFill>
                  <a:srgbClr val="374151"/>
                </a:solidFill>
                <a:latin typeface="Calibri"/>
              </a:rPr>
              <a:t>Ø 2,6 Personen</a:t>
            </a:r>
          </a:p>
        </p:txBody>
      </p:sp>
      <p:sp>
        <p:nvSpPr>
          <p:cNvPr id="9" name="TextBox 8"/>
          <p:cNvSpPr txBox="1"/>
          <p:nvPr/>
        </p:nvSpPr>
        <p:spPr>
          <a:xfrm>
            <a:off x="647999" y="2790000"/>
            <a:ext cx="3296400" cy="1925999"/>
          </a:xfrm>
          <a:prstGeom prst="rect">
            <a:avLst/>
          </a:prstGeom>
          <a:noFill/>
        </p:spPr>
        <p:txBody>
          <a:bodyPr wrap="square">
            <a:spAutoFit/>
          </a:bodyPr>
          <a:lstStyle/>
          <a:p>
            <a:r>
              <a:rPr sz="1300" b="0" i="0">
                <a:solidFill>
                  <a:srgbClr val="374151"/>
                </a:solidFill>
                <a:latin typeface="Calibri"/>
              </a:rPr>
              <a:t>Verschwindend gering — Kurzarbeit spielt praktisch keine Rolle.</a:t>
            </a:r>
          </a:p>
        </p:txBody>
      </p:sp>
      <p:sp>
        <p:nvSpPr>
          <p:cNvPr id="10" name="Rectangle 9"/>
          <p:cNvSpPr/>
          <p:nvPr/>
        </p:nvSpPr>
        <p:spPr>
          <a:xfrm>
            <a:off x="4304400"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04400" y="1404000"/>
            <a:ext cx="35844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8400" y="1565999"/>
            <a:ext cx="3296400" cy="468000"/>
          </a:xfrm>
          <a:prstGeom prst="rect">
            <a:avLst/>
          </a:prstGeom>
          <a:noFill/>
        </p:spPr>
        <p:txBody>
          <a:bodyPr wrap="square">
            <a:spAutoFit/>
          </a:bodyPr>
          <a:lstStyle/>
          <a:p>
            <a:r>
              <a:rPr sz="1500" b="1" i="0">
                <a:solidFill>
                  <a:srgbClr val="6B5B8F"/>
                </a:solidFill>
                <a:latin typeface="Calibri"/>
              </a:rPr>
              <a:t>Maßnahmen-Komponente</a:t>
            </a:r>
          </a:p>
        </p:txBody>
      </p:sp>
      <p:sp>
        <p:nvSpPr>
          <p:cNvPr id="13" name="TextBox 12"/>
          <p:cNvSpPr txBox="1"/>
          <p:nvPr/>
        </p:nvSpPr>
        <p:spPr>
          <a:xfrm>
            <a:off x="4448400" y="2070000"/>
            <a:ext cx="3296400" cy="648000"/>
          </a:xfrm>
          <a:prstGeom prst="rect">
            <a:avLst/>
          </a:prstGeom>
          <a:noFill/>
        </p:spPr>
        <p:txBody>
          <a:bodyPr wrap="square">
            <a:spAutoFit/>
          </a:bodyPr>
          <a:lstStyle/>
          <a:p>
            <a:r>
              <a:rPr sz="2600" b="1" i="0">
                <a:solidFill>
                  <a:srgbClr val="374151"/>
                </a:solidFill>
                <a:latin typeface="Calibri"/>
              </a:rPr>
              <a:t>Ø 399 Personen</a:t>
            </a:r>
          </a:p>
        </p:txBody>
      </p:sp>
      <p:sp>
        <p:nvSpPr>
          <p:cNvPr id="14" name="TextBox 13"/>
          <p:cNvSpPr txBox="1"/>
          <p:nvPr/>
        </p:nvSpPr>
        <p:spPr>
          <a:xfrm>
            <a:off x="4448400" y="2790000"/>
            <a:ext cx="3296400" cy="1925999"/>
          </a:xfrm>
          <a:prstGeom prst="rect">
            <a:avLst/>
          </a:prstGeom>
          <a:noFill/>
        </p:spPr>
        <p:txBody>
          <a:bodyPr wrap="square">
            <a:spAutoFit/>
          </a:bodyPr>
          <a:lstStyle/>
          <a:p>
            <a:r>
              <a:rPr sz="1300" b="0" i="0">
                <a:solidFill>
                  <a:srgbClr val="374151"/>
                </a:solidFill>
                <a:latin typeface="Calibri"/>
              </a:rPr>
              <a:t>Deutlich substanzieller als die Kurzarbeiter-Komponente.</a:t>
            </a:r>
          </a:p>
        </p:txBody>
      </p:sp>
      <p:sp>
        <p:nvSpPr>
          <p:cNvPr id="15" name="Rectangle 14"/>
          <p:cNvSpPr/>
          <p:nvPr/>
        </p:nvSpPr>
        <p:spPr>
          <a:xfrm>
            <a:off x="81047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04799" y="1404000"/>
            <a:ext cx="35844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8799" y="1565999"/>
            <a:ext cx="3296400" cy="468000"/>
          </a:xfrm>
          <a:prstGeom prst="rect">
            <a:avLst/>
          </a:prstGeom>
          <a:noFill/>
        </p:spPr>
        <p:txBody>
          <a:bodyPr wrap="square">
            <a:spAutoFit/>
          </a:bodyPr>
          <a:lstStyle/>
          <a:p>
            <a:r>
              <a:rPr sz="1500" b="1" i="0">
                <a:solidFill>
                  <a:srgbClr val="3F7A72"/>
                </a:solidFill>
                <a:latin typeface="Calibri"/>
              </a:rPr>
              <a:t>SGB-II-Anteil</a:t>
            </a:r>
          </a:p>
        </p:txBody>
      </p:sp>
      <p:sp>
        <p:nvSpPr>
          <p:cNvPr id="18" name="TextBox 17"/>
          <p:cNvSpPr txBox="1"/>
          <p:nvPr/>
        </p:nvSpPr>
        <p:spPr>
          <a:xfrm>
            <a:off x="8248799" y="2070000"/>
            <a:ext cx="3296400" cy="648000"/>
          </a:xfrm>
          <a:prstGeom prst="rect">
            <a:avLst/>
          </a:prstGeom>
          <a:noFill/>
        </p:spPr>
        <p:txBody>
          <a:bodyPr wrap="square">
            <a:spAutoFit/>
          </a:bodyPr>
          <a:lstStyle/>
          <a:p>
            <a:r>
              <a:rPr sz="2600" b="1" i="0">
                <a:solidFill>
                  <a:srgbClr val="374151"/>
                </a:solidFill>
                <a:latin typeface="Calibri"/>
              </a:rPr>
              <a:t>41–50 %</a:t>
            </a:r>
          </a:p>
        </p:txBody>
      </p:sp>
      <p:sp>
        <p:nvSpPr>
          <p:cNvPr id="19" name="TextBox 18"/>
          <p:cNvSpPr txBox="1"/>
          <p:nvPr/>
        </p:nvSpPr>
        <p:spPr>
          <a:xfrm>
            <a:off x="8248799" y="2790000"/>
            <a:ext cx="3296400" cy="1925999"/>
          </a:xfrm>
          <a:prstGeom prst="rect">
            <a:avLst/>
          </a:prstGeom>
          <a:noFill/>
        </p:spPr>
        <p:txBody>
          <a:bodyPr wrap="square">
            <a:spAutoFit/>
          </a:bodyPr>
          <a:lstStyle/>
          <a:p>
            <a:r>
              <a:rPr sz="1300" b="0" i="0">
                <a:solidFill>
                  <a:srgbClr val="374151"/>
                </a:solidFill>
                <a:latin typeface="Calibri"/>
              </a:rPr>
              <a:t>Zwischen dem Anteil am Bestand (≈ 40 %) und an der LZA (≈ 72 %).</a:t>
            </a:r>
          </a:p>
        </p:txBody>
      </p:sp>
      <p:sp>
        <p:nvSpPr>
          <p:cNvPr id="20" name="Rectangle 19"/>
          <p:cNvSpPr/>
          <p:nvPr/>
        </p:nvSpPr>
        <p:spPr>
          <a:xfrm>
            <a:off x="503999" y="5058000"/>
            <a:ext cx="111852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3999" y="5058000"/>
            <a:ext cx="90000" cy="144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999" y="5202000"/>
            <a:ext cx="10620000" cy="324000"/>
          </a:xfrm>
          <a:prstGeom prst="rect">
            <a:avLst/>
          </a:prstGeom>
          <a:noFill/>
        </p:spPr>
        <p:txBody>
          <a:bodyPr wrap="square">
            <a:spAutoFit/>
          </a:bodyPr>
          <a:lstStyle/>
          <a:p>
            <a:r>
              <a:rPr sz="1800" b="1" i="0">
                <a:solidFill>
                  <a:srgbClr val="A0453F"/>
                </a:solidFill>
                <a:latin typeface="Calibri"/>
              </a:rPr>
              <a:t>Kernaussage</a:t>
            </a:r>
          </a:p>
        </p:txBody>
      </p:sp>
      <p:sp>
        <p:nvSpPr>
          <p:cNvPr id="23" name="TextBox 22"/>
          <p:cNvSpPr txBox="1"/>
          <p:nvPr/>
        </p:nvSpPr>
        <p:spPr>
          <a:xfrm>
            <a:off x="827999" y="5544000"/>
            <a:ext cx="10620000" cy="846000"/>
          </a:xfrm>
          <a:prstGeom prst="rect">
            <a:avLst/>
          </a:prstGeom>
          <a:noFill/>
        </p:spPr>
        <p:txBody>
          <a:bodyPr wrap="square">
            <a:spAutoFit/>
          </a:bodyPr>
          <a:lstStyle/>
          <a:p>
            <a:r>
              <a:rPr sz="1600" b="0" i="0">
                <a:solidFill>
                  <a:srgbClr val="374151"/>
                </a:solidFill>
                <a:latin typeface="Calibri"/>
              </a:rPr>
              <a:t>Ein weiterer Baustein im Gesamtbild, wie unterschiedlich stark sich verschiedene Kennzahlen auf den Rechtskreis SGB II konzentrieren.</a:t>
            </a:r>
          </a:p>
        </p:txBody>
      </p:sp>
      <p:sp>
        <p:nvSpPr>
          <p:cNvPr id="24" name="TextBox 23"/>
          <p:cNvSpPr txBox="1"/>
          <p:nvPr/>
        </p:nvSpPr>
        <p:spPr>
          <a:xfrm>
            <a:off x="11124000" y="6533999"/>
            <a:ext cx="936000" cy="270000"/>
          </a:xfrm>
          <a:prstGeom prst="rect">
            <a:avLst/>
          </a:prstGeom>
          <a:noFill/>
        </p:spPr>
        <p:txBody>
          <a:bodyPr wrap="none">
            <a:spAutoFit/>
          </a:bodyPr>
          <a:lstStyle/>
          <a:p>
            <a:pPr algn="r"/>
            <a:fld id="{972BCCC9-B7C2-41E8-A02E-F88FF0AEF085}" type="slidenum">
              <a:rPr lang="de-DE" sz="1200">
                <a:solidFill>
                  <a:srgbClr val="6B7280"/>
                </a:solidFill>
              </a:rPr>
              <a:t>70</a:t>
            </a:fld>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C79A56"/>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200" cy="5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14</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RLB/ELB/NEF-Struktur</a:t>
            </a:r>
          </a:p>
        </p:txBody>
      </p:sp>
      <p:sp>
        <p:nvSpPr>
          <p:cNvPr id="5" name="TextBox 4"/>
          <p:cNvSpPr txBox="1"/>
          <p:nvPr/>
        </p:nvSpPr>
        <p:spPr>
          <a:xfrm>
            <a:off x="720000" y="3311999"/>
            <a:ext cx="10753200" cy="2880000"/>
          </a:xfrm>
          <a:prstGeom prst="rect">
            <a:avLst/>
          </a:prstGeom>
          <a:noFill/>
        </p:spPr>
        <p:txBody>
          <a:bodyPr wrap="square">
            <a:spAutoFit/>
          </a:bodyPr>
          <a:lstStyle/>
          <a:p>
            <a:r>
              <a:rPr sz="1800" b="0" i="0">
                <a:solidFill>
                  <a:srgbClr val="E0E7FF"/>
                </a:solidFill>
                <a:latin typeface="Calibri"/>
              </a:rPr>
              <a:t>●  Struktur der Bedarfsgemeinschaften, bisher nur als Momentaufnahme sichtbar</a:t>
            </a:r>
          </a:p>
          <a:p>
            <a:r>
              <a:rPr sz="1800" b="0" i="0">
                <a:solidFill>
                  <a:srgbClr val="E0E7FF"/>
                </a:solidFill>
                <a:latin typeface="Calibri"/>
              </a:rPr>
              <a:t>●  RLB = ELB + NEF; PERS − RLB = nicht leistungsberechtigte Haushaltsmitglieder</a:t>
            </a:r>
          </a:p>
        </p:txBody>
      </p:sp>
      <p:sp>
        <p:nvSpPr>
          <p:cNvPr id="6" name="TextBox 5"/>
          <p:cNvSpPr txBox="1"/>
          <p:nvPr/>
        </p:nvSpPr>
        <p:spPr>
          <a:xfrm>
            <a:off x="11124000" y="6533999"/>
            <a:ext cx="936000" cy="270000"/>
          </a:xfrm>
          <a:prstGeom prst="rect">
            <a:avLst/>
          </a:prstGeom>
          <a:noFill/>
        </p:spPr>
        <p:txBody>
          <a:bodyPr wrap="none">
            <a:spAutoFit/>
          </a:bodyPr>
          <a:lstStyle/>
          <a:p>
            <a:pPr algn="r"/>
            <a:fld id="{A83F3EE9-39EE-42E0-A7F0-36EBF33A5809}" type="slidenum">
              <a:rPr lang="de-DE" sz="1200">
                <a:solidFill>
                  <a:srgbClr val="FFFFFF"/>
                </a:solidFill>
              </a:rPr>
              <a:t>71</a:t>
            </a:fld>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14.1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RLB, ELB und NEF im Vergleich</a:t>
            </a:r>
          </a:p>
        </p:txBody>
      </p:sp>
      <p:pic>
        <p:nvPicPr>
          <p:cNvPr id="5" name="Picture 4" descr="abb38_rlb_elb_nef_zeitreihe.png"/>
          <p:cNvPicPr>
            <a:picLocks noChangeAspect="1"/>
          </p:cNvPicPr>
          <p:nvPr/>
        </p:nvPicPr>
        <p:blipFill>
          <a:blip r:embed="rId3"/>
          <a:stretch>
            <a:fillRect/>
          </a:stretch>
        </p:blipFill>
        <p:spPr>
          <a:xfrm>
            <a:off x="2400600" y="1116000"/>
            <a:ext cx="7392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Alle drei Kennzahlen rückläufig — RLB −6,9 %, ELB −5,5 %, NEF −10,5 % (am stärksten).</a:t>
            </a:r>
          </a:p>
        </p:txBody>
      </p:sp>
      <p:sp>
        <p:nvSpPr>
          <p:cNvPr id="7" name="TextBox 6"/>
          <p:cNvSpPr txBox="1"/>
          <p:nvPr/>
        </p:nvSpPr>
        <p:spPr>
          <a:xfrm>
            <a:off x="11124000" y="6533999"/>
            <a:ext cx="936000" cy="270000"/>
          </a:xfrm>
          <a:prstGeom prst="rect">
            <a:avLst/>
          </a:prstGeom>
          <a:noFill/>
        </p:spPr>
        <p:txBody>
          <a:bodyPr wrap="none">
            <a:spAutoFit/>
          </a:bodyPr>
          <a:lstStyle/>
          <a:p>
            <a:pPr algn="r"/>
            <a:fld id="{F85CEFBA-AC10-41FE-B691-A09DDF76F596}" type="slidenum">
              <a:rPr lang="de-DE" sz="1200">
                <a:solidFill>
                  <a:srgbClr val="6B7280"/>
                </a:solidFill>
              </a:rPr>
              <a:t>72</a:t>
            </a:fld>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14.2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Nicht leistungsberechtigte Haushaltsmitglieder</a:t>
            </a:r>
          </a:p>
        </p:txBody>
      </p:sp>
      <p:pic>
        <p:nvPicPr>
          <p:cNvPr id="5" name="Picture 4" descr="abb39_rlb_elb_nef_differenz.png"/>
          <p:cNvPicPr>
            <a:picLocks noChangeAspect="1"/>
          </p:cNvPicPr>
          <p:nvPr/>
        </p:nvPicPr>
        <p:blipFill>
          <a:blip r:embed="rId3"/>
          <a:stretch>
            <a:fillRect/>
          </a:stretch>
        </p:blipFill>
        <p:spPr>
          <a:xfrm>
            <a:off x="2400600" y="1116000"/>
            <a:ext cx="7392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Gegenläufiger Trend: PERS − RLB steigt von 286 auf 309 Personen, trotz sinkender BG-Kennzahlen.</a:t>
            </a:r>
          </a:p>
        </p:txBody>
      </p:sp>
      <p:sp>
        <p:nvSpPr>
          <p:cNvPr id="7" name="TextBox 6"/>
          <p:cNvSpPr txBox="1"/>
          <p:nvPr/>
        </p:nvSpPr>
        <p:spPr>
          <a:xfrm>
            <a:off x="11124000" y="6533999"/>
            <a:ext cx="936000" cy="270000"/>
          </a:xfrm>
          <a:prstGeom prst="rect">
            <a:avLst/>
          </a:prstGeom>
          <a:noFill/>
        </p:spPr>
        <p:txBody>
          <a:bodyPr wrap="none">
            <a:spAutoFit/>
          </a:bodyPr>
          <a:lstStyle/>
          <a:p>
            <a:pPr algn="r"/>
            <a:fld id="{6D9C8D1E-E298-4794-B6A0-CAD0CA7BBBBE}" type="slidenum">
              <a:rPr lang="de-DE" sz="1200">
                <a:solidFill>
                  <a:srgbClr val="6B7280"/>
                </a:solidFill>
              </a:rPr>
              <a:t>73</a:t>
            </a:fld>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14.3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Struktur im letzten Berichtsmonat</a:t>
            </a:r>
          </a:p>
        </p:txBody>
      </p:sp>
      <p:pic>
        <p:nvPicPr>
          <p:cNvPr id="5" name="Picture 4" descr="abb40_rlb_elb_nef_struktur.png"/>
          <p:cNvPicPr>
            <a:picLocks noChangeAspect="1"/>
          </p:cNvPicPr>
          <p:nvPr/>
        </p:nvPicPr>
        <p:blipFill>
          <a:blip r:embed="rId3"/>
          <a:stretch>
            <a:fillRect/>
          </a:stretch>
        </p:blipFill>
        <p:spPr>
          <a:xfrm>
            <a:off x="2400600" y="1116000"/>
            <a:ext cx="7392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Rund 68 % ELB, 26 % NEF, 6 % nicht leistungsberechtigt.</a:t>
            </a:r>
          </a:p>
        </p:txBody>
      </p:sp>
      <p:sp>
        <p:nvSpPr>
          <p:cNvPr id="7" name="TextBox 6"/>
          <p:cNvSpPr txBox="1"/>
          <p:nvPr/>
        </p:nvSpPr>
        <p:spPr>
          <a:xfrm>
            <a:off x="11124000" y="6533999"/>
            <a:ext cx="936000" cy="270000"/>
          </a:xfrm>
          <a:prstGeom prst="rect">
            <a:avLst/>
          </a:prstGeom>
          <a:noFill/>
        </p:spPr>
        <p:txBody>
          <a:bodyPr wrap="none">
            <a:spAutoFit/>
          </a:bodyPr>
          <a:lstStyle/>
          <a:p>
            <a:pPr algn="r"/>
            <a:fld id="{0BEB8E5A-3681-4C8C-ABCD-45B3899CFD79}" type="slidenum">
              <a:rPr lang="de-DE" sz="1200">
                <a:solidFill>
                  <a:srgbClr val="6B7280"/>
                </a:solidFill>
              </a:rPr>
              <a:t>74</a:t>
            </a:fld>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14.4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404000"/>
            <a:ext cx="35844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565999"/>
            <a:ext cx="3296400" cy="468000"/>
          </a:xfrm>
          <a:prstGeom prst="rect">
            <a:avLst/>
          </a:prstGeom>
          <a:noFill/>
        </p:spPr>
        <p:txBody>
          <a:bodyPr wrap="square">
            <a:spAutoFit/>
          </a:bodyPr>
          <a:lstStyle/>
          <a:p>
            <a:r>
              <a:rPr sz="1500" b="1" i="0">
                <a:solidFill>
                  <a:srgbClr val="3B6EA8"/>
                </a:solidFill>
                <a:latin typeface="Calibri"/>
              </a:rPr>
              <a:t>RLB / ELB / NEF</a:t>
            </a:r>
          </a:p>
        </p:txBody>
      </p:sp>
      <p:sp>
        <p:nvSpPr>
          <p:cNvPr id="8" name="TextBox 7"/>
          <p:cNvSpPr txBox="1"/>
          <p:nvPr/>
        </p:nvSpPr>
        <p:spPr>
          <a:xfrm>
            <a:off x="647999" y="2070000"/>
            <a:ext cx="3296400" cy="648000"/>
          </a:xfrm>
          <a:prstGeom prst="rect">
            <a:avLst/>
          </a:prstGeom>
          <a:noFill/>
        </p:spPr>
        <p:txBody>
          <a:bodyPr wrap="square">
            <a:spAutoFit/>
          </a:bodyPr>
          <a:lstStyle/>
          <a:p>
            <a:r>
              <a:rPr sz="2200" b="1" i="0">
                <a:solidFill>
                  <a:srgbClr val="374151"/>
                </a:solidFill>
                <a:latin typeface="Calibri"/>
              </a:rPr>
              <a:t>−6,9 % / −5,5 % / −10,5 %</a:t>
            </a:r>
          </a:p>
        </p:txBody>
      </p:sp>
      <p:sp>
        <p:nvSpPr>
          <p:cNvPr id="9" name="TextBox 8"/>
          <p:cNvSpPr txBox="1"/>
          <p:nvPr/>
        </p:nvSpPr>
        <p:spPr>
          <a:xfrm>
            <a:off x="647999" y="2790000"/>
            <a:ext cx="3296400" cy="1925999"/>
          </a:xfrm>
          <a:prstGeom prst="rect">
            <a:avLst/>
          </a:prstGeom>
          <a:noFill/>
        </p:spPr>
        <p:txBody>
          <a:bodyPr wrap="square">
            <a:spAutoFit/>
          </a:bodyPr>
          <a:lstStyle/>
          <a:p>
            <a:r>
              <a:rPr sz="1300" b="0" i="0">
                <a:solidFill>
                  <a:srgbClr val="374151"/>
                </a:solidFill>
                <a:latin typeface="Calibri"/>
              </a:rPr>
              <a:t>Alle drei Kennzahlen rückläufig — NEF am stärksten.</a:t>
            </a:r>
          </a:p>
        </p:txBody>
      </p:sp>
      <p:sp>
        <p:nvSpPr>
          <p:cNvPr id="10" name="Rectangle 9"/>
          <p:cNvSpPr/>
          <p:nvPr/>
        </p:nvSpPr>
        <p:spPr>
          <a:xfrm>
            <a:off x="4304400"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04400" y="1404000"/>
            <a:ext cx="35844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8400" y="1565999"/>
            <a:ext cx="3296400" cy="468000"/>
          </a:xfrm>
          <a:prstGeom prst="rect">
            <a:avLst/>
          </a:prstGeom>
          <a:noFill/>
        </p:spPr>
        <p:txBody>
          <a:bodyPr wrap="square">
            <a:spAutoFit/>
          </a:bodyPr>
          <a:lstStyle/>
          <a:p>
            <a:r>
              <a:rPr sz="1500" b="1" i="0">
                <a:solidFill>
                  <a:srgbClr val="6B5B8F"/>
                </a:solidFill>
                <a:latin typeface="Calibri"/>
              </a:rPr>
              <a:t>Nicht leistungsberechtigt</a:t>
            </a:r>
          </a:p>
        </p:txBody>
      </p:sp>
      <p:sp>
        <p:nvSpPr>
          <p:cNvPr id="13" name="TextBox 12"/>
          <p:cNvSpPr txBox="1"/>
          <p:nvPr/>
        </p:nvSpPr>
        <p:spPr>
          <a:xfrm>
            <a:off x="4448400" y="2070000"/>
            <a:ext cx="3296400" cy="648000"/>
          </a:xfrm>
          <a:prstGeom prst="rect">
            <a:avLst/>
          </a:prstGeom>
          <a:noFill/>
        </p:spPr>
        <p:txBody>
          <a:bodyPr wrap="square">
            <a:spAutoFit/>
          </a:bodyPr>
          <a:lstStyle/>
          <a:p>
            <a:r>
              <a:rPr sz="2200" b="1" i="0">
                <a:solidFill>
                  <a:srgbClr val="374151"/>
                </a:solidFill>
                <a:latin typeface="Calibri"/>
              </a:rPr>
              <a:t>286 → 309</a:t>
            </a:r>
          </a:p>
        </p:txBody>
      </p:sp>
      <p:sp>
        <p:nvSpPr>
          <p:cNvPr id="14" name="TextBox 13"/>
          <p:cNvSpPr txBox="1"/>
          <p:nvPr/>
        </p:nvSpPr>
        <p:spPr>
          <a:xfrm>
            <a:off x="4448400" y="2790000"/>
            <a:ext cx="3296400" cy="1925999"/>
          </a:xfrm>
          <a:prstGeom prst="rect">
            <a:avLst/>
          </a:prstGeom>
          <a:noFill/>
        </p:spPr>
        <p:txBody>
          <a:bodyPr wrap="square">
            <a:spAutoFit/>
          </a:bodyPr>
          <a:lstStyle/>
          <a:p>
            <a:r>
              <a:rPr sz="1300" b="0" i="0">
                <a:solidFill>
                  <a:srgbClr val="374151"/>
                </a:solidFill>
                <a:latin typeface="Calibri"/>
              </a:rPr>
              <a:t>Gegenläufiger Trend: steigt trotz sinkender BG-Kennzahlen (Anteil 5,2 % → 6,0 %).</a:t>
            </a:r>
          </a:p>
        </p:txBody>
      </p:sp>
      <p:sp>
        <p:nvSpPr>
          <p:cNvPr id="15" name="Rectangle 14"/>
          <p:cNvSpPr/>
          <p:nvPr/>
        </p:nvSpPr>
        <p:spPr>
          <a:xfrm>
            <a:off x="81047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04799" y="1404000"/>
            <a:ext cx="35844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8799" y="1565999"/>
            <a:ext cx="3296400" cy="468000"/>
          </a:xfrm>
          <a:prstGeom prst="rect">
            <a:avLst/>
          </a:prstGeom>
          <a:noFill/>
        </p:spPr>
        <p:txBody>
          <a:bodyPr wrap="square">
            <a:spAutoFit/>
          </a:bodyPr>
          <a:lstStyle/>
          <a:p>
            <a:r>
              <a:rPr sz="1500" b="1" i="0">
                <a:solidFill>
                  <a:srgbClr val="3F7A72"/>
                </a:solidFill>
                <a:latin typeface="Calibri"/>
              </a:rPr>
              <a:t>Struktur</a:t>
            </a:r>
          </a:p>
        </p:txBody>
      </p:sp>
      <p:sp>
        <p:nvSpPr>
          <p:cNvPr id="18" name="TextBox 17"/>
          <p:cNvSpPr txBox="1"/>
          <p:nvPr/>
        </p:nvSpPr>
        <p:spPr>
          <a:xfrm>
            <a:off x="8248799" y="2070000"/>
            <a:ext cx="3296400" cy="648000"/>
          </a:xfrm>
          <a:prstGeom prst="rect">
            <a:avLst/>
          </a:prstGeom>
          <a:noFill/>
        </p:spPr>
        <p:txBody>
          <a:bodyPr wrap="square">
            <a:spAutoFit/>
          </a:bodyPr>
          <a:lstStyle/>
          <a:p>
            <a:r>
              <a:rPr sz="2200" b="1" i="0">
                <a:solidFill>
                  <a:srgbClr val="374151"/>
                </a:solidFill>
                <a:latin typeface="Calibri"/>
              </a:rPr>
              <a:t>68 % / 26 % / 6 %</a:t>
            </a:r>
          </a:p>
        </p:txBody>
      </p:sp>
      <p:sp>
        <p:nvSpPr>
          <p:cNvPr id="19" name="TextBox 18"/>
          <p:cNvSpPr txBox="1"/>
          <p:nvPr/>
        </p:nvSpPr>
        <p:spPr>
          <a:xfrm>
            <a:off x="8248799" y="2790000"/>
            <a:ext cx="3296400" cy="1925999"/>
          </a:xfrm>
          <a:prstGeom prst="rect">
            <a:avLst/>
          </a:prstGeom>
          <a:noFill/>
        </p:spPr>
        <p:txBody>
          <a:bodyPr wrap="square">
            <a:spAutoFit/>
          </a:bodyPr>
          <a:lstStyle/>
          <a:p>
            <a:r>
              <a:rPr sz="1300" b="0" i="0">
                <a:solidFill>
                  <a:srgbClr val="374151"/>
                </a:solidFill>
                <a:latin typeface="Calibri"/>
              </a:rPr>
              <a:t>ELB / NEF / nicht leistungsberechtigt im letzten Berichtsmonat.</a:t>
            </a:r>
          </a:p>
        </p:txBody>
      </p:sp>
      <p:sp>
        <p:nvSpPr>
          <p:cNvPr id="20" name="Rectangle 19"/>
          <p:cNvSpPr/>
          <p:nvPr/>
        </p:nvSpPr>
        <p:spPr>
          <a:xfrm>
            <a:off x="503999" y="5058000"/>
            <a:ext cx="111852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3999" y="5058000"/>
            <a:ext cx="90000" cy="144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999" y="5202000"/>
            <a:ext cx="10620000" cy="324000"/>
          </a:xfrm>
          <a:prstGeom prst="rect">
            <a:avLst/>
          </a:prstGeom>
          <a:noFill/>
        </p:spPr>
        <p:txBody>
          <a:bodyPr wrap="square">
            <a:spAutoFit/>
          </a:bodyPr>
          <a:lstStyle/>
          <a:p>
            <a:r>
              <a:rPr sz="1800" b="1" i="0">
                <a:solidFill>
                  <a:srgbClr val="A0453F"/>
                </a:solidFill>
                <a:latin typeface="Calibri"/>
              </a:rPr>
              <a:t>Kernaussage</a:t>
            </a:r>
          </a:p>
        </p:txBody>
      </p:sp>
      <p:sp>
        <p:nvSpPr>
          <p:cNvPr id="23" name="TextBox 22"/>
          <p:cNvSpPr txBox="1"/>
          <p:nvPr/>
        </p:nvSpPr>
        <p:spPr>
          <a:xfrm>
            <a:off x="827999" y="5544000"/>
            <a:ext cx="10620000" cy="846000"/>
          </a:xfrm>
          <a:prstGeom prst="rect">
            <a:avLst/>
          </a:prstGeom>
          <a:noFill/>
        </p:spPr>
        <p:txBody>
          <a:bodyPr wrap="square">
            <a:spAutoFit/>
          </a:bodyPr>
          <a:lstStyle/>
          <a:p>
            <a:r>
              <a:rPr sz="1600" b="0" i="0">
                <a:solidFill>
                  <a:srgbClr val="374151"/>
                </a:solidFill>
                <a:latin typeface="Calibri"/>
              </a:rPr>
              <a:t>Ein Befund, der bislang nur als Momentaufnahme im Funnel-Chart sichtbar war und erstmals als eigene Zeitreihe eine gegenläufige Struktur innerhalb der Bedarfsgemeinschaften aufdeckt.</a:t>
            </a:r>
          </a:p>
        </p:txBody>
      </p:sp>
      <p:sp>
        <p:nvSpPr>
          <p:cNvPr id="24" name="TextBox 23"/>
          <p:cNvSpPr txBox="1"/>
          <p:nvPr/>
        </p:nvSpPr>
        <p:spPr>
          <a:xfrm>
            <a:off x="11124000" y="6533999"/>
            <a:ext cx="936000" cy="270000"/>
          </a:xfrm>
          <a:prstGeom prst="rect">
            <a:avLst/>
          </a:prstGeom>
          <a:noFill/>
        </p:spPr>
        <p:txBody>
          <a:bodyPr wrap="none">
            <a:spAutoFit/>
          </a:bodyPr>
          <a:lstStyle/>
          <a:p>
            <a:pPr algn="r"/>
            <a:fld id="{67DF1108-F2DE-4A0D-BC56-605E1E00E316}" type="slidenum">
              <a:rPr lang="de-DE" sz="1200">
                <a:solidFill>
                  <a:srgbClr val="6B7280"/>
                </a:solidFill>
              </a:rPr>
              <a:t>75</a:t>
            </a:fld>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3F7A72"/>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200"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314000"/>
            <a:ext cx="10753200" cy="259200"/>
          </a:xfrm>
          <a:prstGeom prst="rect">
            <a:avLst/>
          </a:prstGeom>
          <a:noFill/>
        </p:spPr>
        <p:txBody>
          <a:bodyPr wrap="square">
            <a:spAutoFit/>
          </a:bodyPr>
          <a:lstStyle/>
          <a:p>
            <a:r>
              <a:rPr sz="2200" b="1" i="0">
                <a:solidFill>
                  <a:srgbClr val="BFDBFE"/>
                </a:solidFill>
                <a:latin typeface="Calibri"/>
              </a:rPr>
              <a:t>KAPITEL 15</a:t>
            </a:r>
          </a:p>
        </p:txBody>
      </p:sp>
      <p:sp>
        <p:nvSpPr>
          <p:cNvPr id="4" name="TextBox 3"/>
          <p:cNvSpPr txBox="1"/>
          <p:nvPr/>
        </p:nvSpPr>
        <p:spPr>
          <a:xfrm>
            <a:off x="720000" y="1602000"/>
            <a:ext cx="10753200" cy="792000"/>
          </a:xfrm>
          <a:prstGeom prst="rect">
            <a:avLst/>
          </a:prstGeom>
          <a:noFill/>
        </p:spPr>
        <p:txBody>
          <a:bodyPr wrap="square">
            <a:spAutoFit/>
          </a:bodyPr>
          <a:lstStyle/>
          <a:p>
            <a:r>
              <a:rPr sz="4000" b="1" i="0">
                <a:solidFill>
                  <a:srgbClr val="FFFFFF"/>
                </a:solidFill>
                <a:latin typeface="Calibri"/>
              </a:rPr>
              <a:t>Beschäftigung</a:t>
            </a:r>
          </a:p>
        </p:txBody>
      </p:sp>
      <p:sp>
        <p:nvSpPr>
          <p:cNvPr id="5" name="TextBox 4"/>
          <p:cNvSpPr txBox="1"/>
          <p:nvPr/>
        </p:nvSpPr>
        <p:spPr>
          <a:xfrm>
            <a:off x="720000" y="3311999"/>
            <a:ext cx="10753200" cy="2880000"/>
          </a:xfrm>
          <a:prstGeom prst="rect">
            <a:avLst/>
          </a:prstGeom>
          <a:noFill/>
        </p:spPr>
        <p:txBody>
          <a:bodyPr wrap="square">
            <a:spAutoFit/>
          </a:bodyPr>
          <a:lstStyle/>
          <a:p>
            <a:r>
              <a:rPr sz="1800" b="0" i="0">
                <a:solidFill>
                  <a:srgbClr val="E0E7FF"/>
                </a:solidFill>
                <a:latin typeface="Calibri"/>
              </a:rPr>
              <a:t>●  Das Gegenstück zur Arbeitslosigkeit — sozialversicherungspflichtig und geringfügig</a:t>
            </a:r>
          </a:p>
          <a:p>
            <a:r>
              <a:rPr sz="1800" b="0" i="0">
                <a:solidFill>
                  <a:srgbClr val="E0E7FF"/>
                </a:solidFill>
                <a:latin typeface="Calibri"/>
              </a:rPr>
              <a:t>●  Quartalsweise, 6 Monate Wartezeit — eigenes Zeitfenster Juni 2024 – Dezember 2025</a:t>
            </a:r>
          </a:p>
        </p:txBody>
      </p:sp>
      <p:sp>
        <p:nvSpPr>
          <p:cNvPr id="6" name="TextBox 5"/>
          <p:cNvSpPr txBox="1"/>
          <p:nvPr/>
        </p:nvSpPr>
        <p:spPr>
          <a:xfrm>
            <a:off x="11124000" y="6533999"/>
            <a:ext cx="936000" cy="270000"/>
          </a:xfrm>
          <a:prstGeom prst="rect">
            <a:avLst/>
          </a:prstGeom>
          <a:noFill/>
        </p:spPr>
        <p:txBody>
          <a:bodyPr wrap="none">
            <a:spAutoFit/>
          </a:bodyPr>
          <a:lstStyle/>
          <a:p>
            <a:pPr algn="r"/>
            <a:fld id="{C4D5BB96-318F-4697-88D8-6A483C4C9F34}" type="slidenum">
              <a:rPr lang="de-DE" sz="1200">
                <a:solidFill>
                  <a:srgbClr val="FFFFFF"/>
                </a:solidFill>
              </a:rPr>
              <a:t>76</a:t>
            </a:fld>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15.1</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Sozialversicherungspflichtig: Arbeitsort vs. Wohnort</a:t>
            </a:r>
          </a:p>
        </p:txBody>
      </p:sp>
      <p:pic>
        <p:nvPicPr>
          <p:cNvPr id="5" name="Picture 4" descr="abb41_beschaeftigung_ao_wo.png"/>
          <p:cNvPicPr>
            <a:picLocks noChangeAspect="1"/>
          </p:cNvPicPr>
          <p:nvPr/>
        </p:nvPicPr>
        <p:blipFill>
          <a:blip r:embed="rId3"/>
          <a:stretch>
            <a:fillRect/>
          </a:stretch>
        </p:blipFill>
        <p:spPr>
          <a:xfrm>
            <a:off x="2400600" y="1116000"/>
            <a:ext cx="7392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Beide Perspektiven über 7 Quartale bemerkenswert stabil — Wohnort durchgehend rund 34.000 über Arbeitsort.</a:t>
            </a:r>
          </a:p>
        </p:txBody>
      </p:sp>
      <p:sp>
        <p:nvSpPr>
          <p:cNvPr id="7" name="TextBox 6"/>
          <p:cNvSpPr txBox="1"/>
          <p:nvPr/>
        </p:nvSpPr>
        <p:spPr>
          <a:xfrm>
            <a:off x="11124000" y="6533999"/>
            <a:ext cx="936000" cy="270000"/>
          </a:xfrm>
          <a:prstGeom prst="rect">
            <a:avLst/>
          </a:prstGeom>
          <a:noFill/>
        </p:spPr>
        <p:txBody>
          <a:bodyPr wrap="none">
            <a:spAutoFit/>
          </a:bodyPr>
          <a:lstStyle/>
          <a:p>
            <a:pPr algn="r"/>
            <a:fld id="{3949E393-9C69-4F05-A4E3-2800A04BEF91}" type="slidenum">
              <a:rPr lang="de-DE" sz="1200">
                <a:solidFill>
                  <a:srgbClr val="6B7280"/>
                </a:solidFill>
              </a:rPr>
              <a:t>77</a:t>
            </a:fld>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15.2</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Pendlersaldo</a:t>
            </a:r>
          </a:p>
        </p:txBody>
      </p:sp>
      <p:pic>
        <p:nvPicPr>
          <p:cNvPr id="5" name="Picture 4" descr="abb42_beschaeftigung_pendlersaldo.png"/>
          <p:cNvPicPr>
            <a:picLocks noChangeAspect="1"/>
          </p:cNvPicPr>
          <p:nvPr/>
        </p:nvPicPr>
        <p:blipFill>
          <a:blip r:embed="rId3"/>
          <a:stretch>
            <a:fillRect/>
          </a:stretch>
        </p:blipFill>
        <p:spPr>
          <a:xfrm>
            <a:off x="2136599" y="1116000"/>
            <a:ext cx="792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Außergewöhnlich stabiler Auspendlerüberschuss: Ø ≈ 33.929 Personen (Spanne 33.739–34.069).</a:t>
            </a:r>
          </a:p>
        </p:txBody>
      </p:sp>
      <p:sp>
        <p:nvSpPr>
          <p:cNvPr id="7" name="TextBox 6"/>
          <p:cNvSpPr txBox="1"/>
          <p:nvPr/>
        </p:nvSpPr>
        <p:spPr>
          <a:xfrm>
            <a:off x="11124000" y="6533999"/>
            <a:ext cx="936000" cy="270000"/>
          </a:xfrm>
          <a:prstGeom prst="rect">
            <a:avLst/>
          </a:prstGeom>
          <a:noFill/>
        </p:spPr>
        <p:txBody>
          <a:bodyPr wrap="none">
            <a:spAutoFit/>
          </a:bodyPr>
          <a:lstStyle/>
          <a:p>
            <a:pPr algn="r"/>
            <a:fld id="{63FF2C33-6BF0-4741-9573-8C6757A2148C}" type="slidenum">
              <a:rPr lang="de-DE" sz="1200">
                <a:solidFill>
                  <a:srgbClr val="6B7280"/>
                </a:solidFill>
              </a:rPr>
              <a:t>78</a:t>
            </a:fld>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15.3</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Anteil geringfügiger Beschäftigung</a:t>
            </a:r>
          </a:p>
        </p:txBody>
      </p:sp>
      <p:pic>
        <p:nvPicPr>
          <p:cNvPr id="5" name="Picture 4" descr="abb43_beschaeftigung_anteil_geringfuegig.png"/>
          <p:cNvPicPr>
            <a:picLocks noChangeAspect="1"/>
          </p:cNvPicPr>
          <p:nvPr/>
        </p:nvPicPr>
        <p:blipFill>
          <a:blip r:embed="rId3"/>
          <a:stretch>
            <a:fillRect/>
          </a:stretch>
        </p:blipFill>
        <p:spPr>
          <a:xfrm>
            <a:off x="2136599" y="1116000"/>
            <a:ext cx="7920000" cy="4752000"/>
          </a:xfrm>
          <a:prstGeom prst="rect">
            <a:avLst/>
          </a:prstGeom>
        </p:spPr>
      </p:pic>
      <p:sp>
        <p:nvSpPr>
          <p:cNvPr id="6" name="TextBox 5"/>
          <p:cNvSpPr txBox="1"/>
          <p:nvPr/>
        </p:nvSpPr>
        <p:spPr>
          <a:xfrm>
            <a:off x="503999" y="5976000"/>
            <a:ext cx="11185200" cy="576000"/>
          </a:xfrm>
          <a:prstGeom prst="rect">
            <a:avLst/>
          </a:prstGeom>
          <a:noFill/>
        </p:spPr>
        <p:txBody>
          <a:bodyPr wrap="square">
            <a:spAutoFit/>
          </a:bodyPr>
          <a:lstStyle/>
          <a:p>
            <a:pPr algn="ctr"/>
            <a:r>
              <a:rPr sz="1300" b="0" i="0">
                <a:solidFill>
                  <a:srgbClr val="6B7280"/>
                </a:solidFill>
                <a:latin typeface="Calibri"/>
              </a:rPr>
              <a:t>Anteil sinkt leicht (AO 13,3 % → 13,0 %, WO 10,8 % → 10,5 %) — passend zu Kapitel 7.</a:t>
            </a:r>
          </a:p>
        </p:txBody>
      </p:sp>
      <p:sp>
        <p:nvSpPr>
          <p:cNvPr id="7" name="TextBox 6"/>
          <p:cNvSpPr txBox="1"/>
          <p:nvPr/>
        </p:nvSpPr>
        <p:spPr>
          <a:xfrm>
            <a:off x="11124000" y="6533999"/>
            <a:ext cx="936000" cy="270000"/>
          </a:xfrm>
          <a:prstGeom prst="rect">
            <a:avLst/>
          </a:prstGeom>
          <a:noFill/>
        </p:spPr>
        <p:txBody>
          <a:bodyPr wrap="none">
            <a:spAutoFit/>
          </a:bodyPr>
          <a:lstStyle/>
          <a:p>
            <a:pPr algn="r"/>
            <a:fld id="{F851E48D-F454-429F-A235-AB62E470A7FC}" type="slidenum">
              <a:rPr lang="de-DE" sz="1200">
                <a:solidFill>
                  <a:srgbClr val="6B7280"/>
                </a:solidFill>
              </a:rPr>
              <a:t>79</a:t>
            </a:fld>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spAutoFit/>
          </a:bodyPr>
          <a:lstStyle/>
          <a:p>
            <a:r>
              <a:rPr sz="1400" b="1" i="0">
                <a:solidFill>
                  <a:srgbClr val="FFFFFF"/>
                </a:solidFill>
                <a:latin typeface="Calibri"/>
              </a:rPr>
              <a:t>15.4</a:t>
            </a:r>
          </a:p>
        </p:txBody>
      </p:sp>
      <p:sp>
        <p:nvSpPr>
          <p:cNvPr id="4" name="TextBox 3"/>
          <p:cNvSpPr txBox="1"/>
          <p:nvPr/>
        </p:nvSpPr>
        <p:spPr>
          <a:xfrm>
            <a:off x="432000" y="306000"/>
            <a:ext cx="11329200" cy="540000"/>
          </a:xfrm>
          <a:prstGeom prst="rect">
            <a:avLst/>
          </a:prstGeom>
          <a:noFill/>
        </p:spPr>
        <p:txBody>
          <a:bodyPr wrap="square">
            <a:spAutoFit/>
          </a:bodyPr>
          <a:lstStyle/>
          <a:p>
            <a:r>
              <a:rPr sz="2800" b="1" i="0">
                <a:solidFill>
                  <a:srgbClr val="FFFFFF"/>
                </a:solidFill>
                <a:latin typeface="Calibri"/>
              </a:rPr>
              <a:t>Zusammenfassung</a:t>
            </a:r>
          </a:p>
        </p:txBody>
      </p:sp>
      <p:sp>
        <p:nvSpPr>
          <p:cNvPr id="5" name="Rectangle 4"/>
          <p:cNvSpPr/>
          <p:nvPr/>
        </p:nvSpPr>
        <p:spPr>
          <a:xfrm>
            <a:off x="5039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404000"/>
            <a:ext cx="35844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565999"/>
            <a:ext cx="3296400" cy="468000"/>
          </a:xfrm>
          <a:prstGeom prst="rect">
            <a:avLst/>
          </a:prstGeom>
          <a:noFill/>
        </p:spPr>
        <p:txBody>
          <a:bodyPr wrap="square">
            <a:spAutoFit/>
          </a:bodyPr>
          <a:lstStyle/>
          <a:p>
            <a:r>
              <a:rPr sz="1500" b="1" i="0">
                <a:solidFill>
                  <a:srgbClr val="3B6EA8"/>
                </a:solidFill>
                <a:latin typeface="Calibri"/>
              </a:rPr>
              <a:t>Sozialversicherungspflichtig</a:t>
            </a:r>
          </a:p>
        </p:txBody>
      </p:sp>
      <p:sp>
        <p:nvSpPr>
          <p:cNvPr id="8" name="TextBox 7"/>
          <p:cNvSpPr txBox="1"/>
          <p:nvPr/>
        </p:nvSpPr>
        <p:spPr>
          <a:xfrm>
            <a:off x="647999" y="2070000"/>
            <a:ext cx="3296400" cy="648000"/>
          </a:xfrm>
          <a:prstGeom prst="rect">
            <a:avLst/>
          </a:prstGeom>
          <a:noFill/>
        </p:spPr>
        <p:txBody>
          <a:bodyPr wrap="square">
            <a:spAutoFit/>
          </a:bodyPr>
          <a:lstStyle/>
          <a:p>
            <a:r>
              <a:rPr sz="2200" b="1" i="0">
                <a:solidFill>
                  <a:srgbClr val="374151"/>
                </a:solidFill>
                <a:latin typeface="Calibri"/>
              </a:rPr>
              <a:t>Stabil über 7 Quartale</a:t>
            </a:r>
          </a:p>
        </p:txBody>
      </p:sp>
      <p:sp>
        <p:nvSpPr>
          <p:cNvPr id="9" name="TextBox 8"/>
          <p:cNvSpPr txBox="1"/>
          <p:nvPr/>
        </p:nvSpPr>
        <p:spPr>
          <a:xfrm>
            <a:off x="647999" y="2790000"/>
            <a:ext cx="3296400" cy="1925999"/>
          </a:xfrm>
          <a:prstGeom prst="rect">
            <a:avLst/>
          </a:prstGeom>
          <a:noFill/>
        </p:spPr>
        <p:txBody>
          <a:bodyPr wrap="square">
            <a:spAutoFit/>
          </a:bodyPr>
          <a:lstStyle/>
          <a:p>
            <a:r>
              <a:rPr sz="1300" b="0" i="0">
                <a:solidFill>
                  <a:srgbClr val="374151"/>
                </a:solidFill>
                <a:latin typeface="Calibri"/>
              </a:rPr>
              <a:t>Arbeitsort (AO) und Wohnort (WO) — beide bemerkenswert stabil.</a:t>
            </a:r>
          </a:p>
        </p:txBody>
      </p:sp>
      <p:sp>
        <p:nvSpPr>
          <p:cNvPr id="10" name="Rectangle 9"/>
          <p:cNvSpPr/>
          <p:nvPr/>
        </p:nvSpPr>
        <p:spPr>
          <a:xfrm>
            <a:off x="4304400"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04400" y="1404000"/>
            <a:ext cx="35844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8400" y="1565999"/>
            <a:ext cx="3296400" cy="468000"/>
          </a:xfrm>
          <a:prstGeom prst="rect">
            <a:avLst/>
          </a:prstGeom>
          <a:noFill/>
        </p:spPr>
        <p:txBody>
          <a:bodyPr wrap="square">
            <a:spAutoFit/>
          </a:bodyPr>
          <a:lstStyle/>
          <a:p>
            <a:r>
              <a:rPr sz="1500" b="1" i="0">
                <a:solidFill>
                  <a:srgbClr val="6B5B8F"/>
                </a:solidFill>
                <a:latin typeface="Calibri"/>
              </a:rPr>
              <a:t>Pendlersaldo</a:t>
            </a:r>
          </a:p>
        </p:txBody>
      </p:sp>
      <p:sp>
        <p:nvSpPr>
          <p:cNvPr id="13" name="TextBox 12"/>
          <p:cNvSpPr txBox="1"/>
          <p:nvPr/>
        </p:nvSpPr>
        <p:spPr>
          <a:xfrm>
            <a:off x="4448400" y="2070000"/>
            <a:ext cx="3296400" cy="648000"/>
          </a:xfrm>
          <a:prstGeom prst="rect">
            <a:avLst/>
          </a:prstGeom>
          <a:noFill/>
        </p:spPr>
        <p:txBody>
          <a:bodyPr wrap="square">
            <a:spAutoFit/>
          </a:bodyPr>
          <a:lstStyle/>
          <a:p>
            <a:r>
              <a:rPr sz="2200" b="1" i="0">
                <a:solidFill>
                  <a:srgbClr val="374151"/>
                </a:solidFill>
                <a:latin typeface="Calibri"/>
              </a:rPr>
              <a:t>Ø ≈ 33.929</a:t>
            </a:r>
          </a:p>
        </p:txBody>
      </p:sp>
      <p:sp>
        <p:nvSpPr>
          <p:cNvPr id="14" name="TextBox 13"/>
          <p:cNvSpPr txBox="1"/>
          <p:nvPr/>
        </p:nvSpPr>
        <p:spPr>
          <a:xfrm>
            <a:off x="4448400" y="2790000"/>
            <a:ext cx="3296400" cy="1925999"/>
          </a:xfrm>
          <a:prstGeom prst="rect">
            <a:avLst/>
          </a:prstGeom>
          <a:noFill/>
        </p:spPr>
        <p:txBody>
          <a:bodyPr wrap="square">
            <a:spAutoFit/>
          </a:bodyPr>
          <a:lstStyle/>
          <a:p>
            <a:r>
              <a:rPr sz="1300" b="0" i="0">
                <a:solidFill>
                  <a:srgbClr val="374151"/>
                </a:solidFill>
                <a:latin typeface="Calibri"/>
              </a:rPr>
              <a:t>Auspendlerüberschuss, kaum schwankend (Spanne 33.739–34.069).</a:t>
            </a:r>
          </a:p>
        </p:txBody>
      </p:sp>
      <p:sp>
        <p:nvSpPr>
          <p:cNvPr id="15" name="Rectangle 14"/>
          <p:cNvSpPr/>
          <p:nvPr/>
        </p:nvSpPr>
        <p:spPr>
          <a:xfrm>
            <a:off x="8104799" y="1404000"/>
            <a:ext cx="3584400" cy="345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04799" y="1404000"/>
            <a:ext cx="35844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8799" y="1565999"/>
            <a:ext cx="3296400" cy="468000"/>
          </a:xfrm>
          <a:prstGeom prst="rect">
            <a:avLst/>
          </a:prstGeom>
          <a:noFill/>
        </p:spPr>
        <p:txBody>
          <a:bodyPr wrap="square">
            <a:spAutoFit/>
          </a:bodyPr>
          <a:lstStyle/>
          <a:p>
            <a:r>
              <a:rPr sz="1500" b="1" i="0">
                <a:solidFill>
                  <a:srgbClr val="3F7A72"/>
                </a:solidFill>
                <a:latin typeface="Calibri"/>
              </a:rPr>
              <a:t>Geringfügige Beschäftigung</a:t>
            </a:r>
          </a:p>
        </p:txBody>
      </p:sp>
      <p:sp>
        <p:nvSpPr>
          <p:cNvPr id="18" name="TextBox 17"/>
          <p:cNvSpPr txBox="1"/>
          <p:nvPr/>
        </p:nvSpPr>
        <p:spPr>
          <a:xfrm>
            <a:off x="8248799" y="2070000"/>
            <a:ext cx="3296400" cy="648000"/>
          </a:xfrm>
          <a:prstGeom prst="rect">
            <a:avLst/>
          </a:prstGeom>
          <a:noFill/>
        </p:spPr>
        <p:txBody>
          <a:bodyPr wrap="square">
            <a:spAutoFit/>
          </a:bodyPr>
          <a:lstStyle/>
          <a:p>
            <a:r>
              <a:rPr sz="2200" b="1" i="0">
                <a:solidFill>
                  <a:srgbClr val="374151"/>
                </a:solidFill>
                <a:latin typeface="Calibri"/>
              </a:rPr>
              <a:t>Anteil sinkt leicht</a:t>
            </a:r>
          </a:p>
        </p:txBody>
      </p:sp>
      <p:sp>
        <p:nvSpPr>
          <p:cNvPr id="19" name="TextBox 18"/>
          <p:cNvSpPr txBox="1"/>
          <p:nvPr/>
        </p:nvSpPr>
        <p:spPr>
          <a:xfrm>
            <a:off x="8248799" y="2790000"/>
            <a:ext cx="3296400" cy="1925999"/>
          </a:xfrm>
          <a:prstGeom prst="rect">
            <a:avLst/>
          </a:prstGeom>
          <a:noFill/>
        </p:spPr>
        <p:txBody>
          <a:bodyPr wrap="square">
            <a:spAutoFit/>
          </a:bodyPr>
          <a:lstStyle/>
          <a:p>
            <a:r>
              <a:rPr sz="1300" b="0" i="0">
                <a:solidFill>
                  <a:srgbClr val="374151"/>
                </a:solidFill>
                <a:latin typeface="Calibri"/>
              </a:rPr>
              <a:t>Passend zur Einkommensverschiebung bei Aufstockern (Kapitel 7).</a:t>
            </a:r>
          </a:p>
        </p:txBody>
      </p:sp>
      <p:sp>
        <p:nvSpPr>
          <p:cNvPr id="20" name="Rectangle 19"/>
          <p:cNvSpPr/>
          <p:nvPr/>
        </p:nvSpPr>
        <p:spPr>
          <a:xfrm>
            <a:off x="503999" y="5058000"/>
            <a:ext cx="11185200" cy="1440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3999" y="5058000"/>
            <a:ext cx="90000" cy="1440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999" y="5202000"/>
            <a:ext cx="10620000" cy="324000"/>
          </a:xfrm>
          <a:prstGeom prst="rect">
            <a:avLst/>
          </a:prstGeom>
          <a:noFill/>
        </p:spPr>
        <p:txBody>
          <a:bodyPr wrap="square">
            <a:spAutoFit/>
          </a:bodyPr>
          <a:lstStyle/>
          <a:p>
            <a:r>
              <a:rPr sz="1800" b="1" i="0">
                <a:solidFill>
                  <a:srgbClr val="A0453F"/>
                </a:solidFill>
                <a:latin typeface="Calibri"/>
              </a:rPr>
              <a:t>Kernaussage</a:t>
            </a:r>
          </a:p>
        </p:txBody>
      </p:sp>
      <p:sp>
        <p:nvSpPr>
          <p:cNvPr id="23" name="TextBox 22"/>
          <p:cNvSpPr txBox="1"/>
          <p:nvPr/>
        </p:nvSpPr>
        <p:spPr>
          <a:xfrm>
            <a:off x="827999" y="5544000"/>
            <a:ext cx="10620000" cy="846000"/>
          </a:xfrm>
          <a:prstGeom prst="rect">
            <a:avLst/>
          </a:prstGeom>
          <a:noFill/>
        </p:spPr>
        <p:txBody>
          <a:bodyPr wrap="square">
            <a:spAutoFit/>
          </a:bodyPr>
          <a:lstStyle/>
          <a:p>
            <a:r>
              <a:rPr sz="1600" b="0" i="0">
                <a:solidFill>
                  <a:srgbClr val="374151"/>
                </a:solidFill>
                <a:latin typeface="Calibri"/>
              </a:rPr>
              <a:t>Ein struktureller, kaum schwankender Auspendlerüberschuss von rund 34.000 Personen — eine stabile Konstante der lokalen Arbeitsmarktgeografie, unberührt von den Schwankungen der Arbeitslosenzahlen.</a:t>
            </a:r>
          </a:p>
        </p:txBody>
      </p:sp>
      <p:sp>
        <p:nvSpPr>
          <p:cNvPr id="24" name="TextBox 23"/>
          <p:cNvSpPr txBox="1"/>
          <p:nvPr/>
        </p:nvSpPr>
        <p:spPr>
          <a:xfrm>
            <a:off x="11124000" y="6533999"/>
            <a:ext cx="936000" cy="270000"/>
          </a:xfrm>
          <a:prstGeom prst="rect">
            <a:avLst/>
          </a:prstGeom>
          <a:noFill/>
        </p:spPr>
        <p:txBody>
          <a:bodyPr wrap="none">
            <a:spAutoFit/>
          </a:bodyPr>
          <a:lstStyle/>
          <a:p>
            <a:pPr algn="r"/>
            <a:fld id="{F5C964D3-098C-4994-8551-BD9BA9712474}" type="slidenum">
              <a:rPr lang="de-DE" sz="1200">
                <a:solidFill>
                  <a:srgbClr val="6B7280"/>
                </a:solidFill>
              </a:rPr>
              <a:t>80</a:t>
            </a:fld>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A0453F"/>
        </a:solidFill>
        <a:effectLst/>
      </p:bgPr>
    </p:bg>
    <p:spTree>
      <p:nvGrpSpPr>
        <p:cNvPr id="1" name=""/>
        <p:cNvGrpSpPr/>
        <p:nvPr/>
      </p:nvGrpSpPr>
      <p:grpSpPr>
        <a:xfrm>
          <a:off x="0" y="0"/>
          <a:ext cx="0" cy="0"/>
          <a:chOff x="0" y="0"/>
          <a:chExt cx="0" cy="0"/>
        </a:xfrm>
      </p:grpSpPr>
      <p:sp>
        <p:nvSpPr>
          <p:cNvPr id="2" name="Rectangle 1"/>
          <p:cNvSpPr/>
          <p:nvPr/>
        </p:nvSpPr>
        <p:spPr>
          <a:xfrm>
            <a:off x="0" y="2951999"/>
            <a:ext cx="12193200"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944000"/>
            <a:ext cx="10753200" cy="540000"/>
          </a:xfrm>
          <a:prstGeom prst="rect">
            <a:avLst/>
          </a:prstGeom>
          <a:noFill/>
        </p:spPr>
        <p:txBody>
          <a:bodyPr wrap="square" anchor="t">
            <a:spAutoFit/>
          </a:bodyPr>
          <a:lstStyle/>
          <a:p>
            <a:pPr algn="l"/>
            <a:r>
              <a:rPr sz="2200" b="1">
                <a:solidFill>
                  <a:srgbClr val="BFDBFE"/>
                </a:solidFill>
                <a:latin typeface="Calibri"/>
              </a:rPr>
              <a:t>KAPITEL 16</a:t>
            </a:r>
          </a:p>
        </p:txBody>
      </p:sp>
      <p:sp>
        <p:nvSpPr>
          <p:cNvPr id="4" name="TextBox 3"/>
          <p:cNvSpPr txBox="1"/>
          <p:nvPr/>
        </p:nvSpPr>
        <p:spPr>
          <a:xfrm>
            <a:off x="720000" y="2196000"/>
            <a:ext cx="10753200" cy="792000"/>
          </a:xfrm>
          <a:prstGeom prst="rect">
            <a:avLst/>
          </a:prstGeom>
          <a:noFill/>
        </p:spPr>
        <p:txBody>
          <a:bodyPr wrap="square" anchor="t">
            <a:spAutoFit/>
          </a:bodyPr>
          <a:lstStyle/>
          <a:p>
            <a:pPr algn="l"/>
            <a:r>
              <a:rPr sz="4000" b="1" i="0">
                <a:solidFill>
                  <a:srgbClr val="FFFFFF"/>
                </a:solidFill>
                <a:latin typeface="Calibri"/>
              </a:rPr>
              <a:t>Fazit und Ausblick</a:t>
            </a:r>
          </a:p>
        </p:txBody>
      </p:sp>
      <p:sp>
        <p:nvSpPr>
          <p:cNvPr id="5" name="TextBox 4"/>
          <p:cNvSpPr txBox="1"/>
          <p:nvPr/>
        </p:nvSpPr>
        <p:spPr>
          <a:xfrm>
            <a:off x="720000" y="3311999"/>
            <a:ext cx="10753200" cy="2880000"/>
          </a:xfrm>
          <a:prstGeom prst="rect">
            <a:avLst/>
          </a:prstGeom>
          <a:noFill/>
        </p:spPr>
        <p:txBody>
          <a:bodyPr wrap="square">
            <a:spAutoFit/>
          </a:bodyPr>
          <a:lstStyle/>
          <a:p>
            <a:pPr>
              <a:spcAft>
                <a:spcPts val="1200"/>
              </a:spcAft>
            </a:pPr>
            <a:r>
              <a:rPr sz="1800">
                <a:solidFill>
                  <a:srgbClr val="E0E7FF"/>
                </a:solidFill>
                <a:latin typeface="Calibri"/>
              </a:rPr>
              <a:t>●  Zusammenfassung der Projektergebnisse</a:t>
            </a:r>
          </a:p>
          <a:p>
            <a:pPr>
              <a:spcAft>
                <a:spcPts val="1200"/>
              </a:spcAft>
            </a:pPr>
            <a:r>
              <a:rPr sz="1800">
                <a:solidFill>
                  <a:srgbClr val="E0E7FF"/>
                </a:solidFill>
                <a:latin typeface="Calibri"/>
              </a:rPr>
              <a:t>●  Priorisierte Themen für die Fortsetzung</a:t>
            </a:r>
          </a:p>
        </p:txBody>
      </p:sp>
      <p:sp>
        <p:nvSpPr>
          <p:cNvPr id="6" name="TextBox 5"/>
          <p:cNvSpPr txBox="1"/>
          <p:nvPr/>
        </p:nvSpPr>
        <p:spPr>
          <a:xfrm>
            <a:off x="11124000" y="6533999"/>
            <a:ext cx="936000" cy="270000"/>
          </a:xfrm>
          <a:prstGeom prst="rect">
            <a:avLst/>
          </a:prstGeom>
          <a:noFill/>
        </p:spPr>
        <p:txBody>
          <a:bodyPr wrap="none">
            <a:spAutoFit/>
          </a:bodyPr>
          <a:lstStyle/>
          <a:p>
            <a:pPr algn="r"/>
            <a:fld id="{45B6CC20-5DA2-42DA-BDF1-56B6E4C95AB2}" type="slidenum">
              <a:rPr lang="de-DE" sz="1200">
                <a:solidFill>
                  <a:srgbClr val="FFFFFF"/>
                </a:solidFill>
              </a:rPr>
              <a:t>81</a:t>
            </a:fld>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a:solidFill>
                  <a:srgbClr val="FFFFFF"/>
                </a:solidFill>
                <a:latin typeface="Calibri"/>
              </a:rPr>
              <a:t>16.1</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i="0">
                <a:solidFill>
                  <a:srgbClr val="FFFFFF"/>
                </a:solidFill>
                <a:latin typeface="Calibri"/>
              </a:rPr>
              <a:t>Fazit</a:t>
            </a:r>
          </a:p>
        </p:txBody>
      </p:sp>
      <p:sp>
        <p:nvSpPr>
          <p:cNvPr id="5" name="Rectangle 4"/>
          <p:cNvSpPr/>
          <p:nvPr/>
        </p:nvSpPr>
        <p:spPr>
          <a:xfrm>
            <a:off x="503999" y="1224000"/>
            <a:ext cx="3584400" cy="237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3584400" cy="90000"/>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1368000"/>
            <a:ext cx="3296400" cy="324000"/>
          </a:xfrm>
          <a:prstGeom prst="rect">
            <a:avLst/>
          </a:prstGeom>
          <a:noFill/>
        </p:spPr>
        <p:txBody>
          <a:bodyPr wrap="square">
            <a:spAutoFit/>
          </a:bodyPr>
          <a:lstStyle/>
          <a:p>
            <a:r>
              <a:rPr sz="1500" b="1" i="0">
                <a:solidFill>
                  <a:srgbClr val="3B6EA8"/>
                </a:solidFill>
                <a:latin typeface="Calibri"/>
              </a:rPr>
              <a:t>Datengrundlage</a:t>
            </a:r>
          </a:p>
        </p:txBody>
      </p:sp>
      <p:sp>
        <p:nvSpPr>
          <p:cNvPr id="8" name="TextBox 7"/>
          <p:cNvSpPr txBox="1"/>
          <p:nvPr/>
        </p:nvSpPr>
        <p:spPr>
          <a:xfrm>
            <a:off x="647999" y="1745999"/>
            <a:ext cx="3296400" cy="432000"/>
          </a:xfrm>
          <a:prstGeom prst="rect">
            <a:avLst/>
          </a:prstGeom>
          <a:noFill/>
        </p:spPr>
        <p:txBody>
          <a:bodyPr wrap="square">
            <a:spAutoFit/>
          </a:bodyPr>
          <a:lstStyle/>
          <a:p>
            <a:r>
              <a:rPr sz="2000" b="1" i="0">
                <a:solidFill>
                  <a:srgbClr val="374151"/>
                </a:solidFill>
                <a:latin typeface="Calibri"/>
              </a:rPr>
              <a:t>9 Kennzahlen</a:t>
            </a:r>
          </a:p>
        </p:txBody>
      </p:sp>
      <p:sp>
        <p:nvSpPr>
          <p:cNvPr id="9" name="TextBox 8"/>
          <p:cNvSpPr txBox="1"/>
          <p:nvPr/>
        </p:nvSpPr>
        <p:spPr>
          <a:xfrm>
            <a:off x="647999" y="2214000"/>
            <a:ext cx="3296400" cy="1259999"/>
          </a:xfrm>
          <a:prstGeom prst="rect">
            <a:avLst/>
          </a:prstGeom>
          <a:noFill/>
        </p:spPr>
        <p:txBody>
          <a:bodyPr wrap="square">
            <a:spAutoFit/>
          </a:bodyPr>
          <a:lstStyle/>
          <a:p>
            <a:r>
              <a:rPr sz="1200" b="0" i="0">
                <a:solidFill>
                  <a:srgbClr val="374151"/>
                </a:solidFill>
                <a:latin typeface="Calibri"/>
              </a:rPr>
              <a:t>Aus 18 Excel-Berichten (Kap. 2) — visuell ausgewertet (Kap. 3), statistisch vertieft (Kap. 4).</a:t>
            </a:r>
          </a:p>
        </p:txBody>
      </p:sp>
      <p:sp>
        <p:nvSpPr>
          <p:cNvPr id="10" name="Rectangle 9"/>
          <p:cNvSpPr/>
          <p:nvPr/>
        </p:nvSpPr>
        <p:spPr>
          <a:xfrm>
            <a:off x="4304400" y="1224000"/>
            <a:ext cx="3584400" cy="237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04400" y="1224000"/>
            <a:ext cx="3584400" cy="90000"/>
          </a:xfrm>
          <a:prstGeom prst="rect">
            <a:avLst/>
          </a:prstGeom>
          <a:solidFill>
            <a:srgbClr val="6B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8400" y="1368000"/>
            <a:ext cx="3296400" cy="324000"/>
          </a:xfrm>
          <a:prstGeom prst="rect">
            <a:avLst/>
          </a:prstGeom>
          <a:noFill/>
        </p:spPr>
        <p:txBody>
          <a:bodyPr wrap="square">
            <a:spAutoFit/>
          </a:bodyPr>
          <a:lstStyle/>
          <a:p>
            <a:r>
              <a:rPr sz="1500" b="1" i="0">
                <a:solidFill>
                  <a:srgbClr val="6B5B8F"/>
                </a:solidFill>
                <a:latin typeface="Calibri"/>
              </a:rPr>
              <a:t>Themenfelder</a:t>
            </a:r>
          </a:p>
        </p:txBody>
      </p:sp>
      <p:sp>
        <p:nvSpPr>
          <p:cNvPr id="13" name="TextBox 12"/>
          <p:cNvSpPr txBox="1"/>
          <p:nvPr/>
        </p:nvSpPr>
        <p:spPr>
          <a:xfrm>
            <a:off x="4448400" y="1745999"/>
            <a:ext cx="3296400" cy="432000"/>
          </a:xfrm>
          <a:prstGeom prst="rect">
            <a:avLst/>
          </a:prstGeom>
          <a:noFill/>
        </p:spPr>
        <p:txBody>
          <a:bodyPr wrap="square">
            <a:spAutoFit/>
          </a:bodyPr>
          <a:lstStyle/>
          <a:p>
            <a:r>
              <a:rPr sz="2000" b="1">
                <a:solidFill>
                  <a:srgbClr val="374151"/>
                </a:solidFill>
                <a:latin typeface="Calibri"/>
              </a:rPr>
              <a:t>+ 11 Themen</a:t>
            </a:r>
          </a:p>
        </p:txBody>
      </p:sp>
      <p:sp>
        <p:nvSpPr>
          <p:cNvPr id="14" name="TextBox 13"/>
          <p:cNvSpPr txBox="1"/>
          <p:nvPr/>
        </p:nvSpPr>
        <p:spPr>
          <a:xfrm>
            <a:off x="4448400" y="2214000"/>
            <a:ext cx="3296400" cy="1259999"/>
          </a:xfrm>
          <a:prstGeom prst="rect">
            <a:avLst/>
          </a:prstGeom>
          <a:noFill/>
        </p:spPr>
        <p:txBody>
          <a:bodyPr wrap="square">
            <a:spAutoFit/>
          </a:bodyPr>
          <a:lstStyle/>
          <a:p>
            <a:r>
              <a:rPr sz="1200" b="0">
                <a:solidFill>
                  <a:srgbClr val="374151"/>
                </a:solidFill>
                <a:latin typeface="Calibri"/>
              </a:rPr>
              <a:t>Kapitel 5–15: Fluktuation, Demografie, Erwerbstätigkeit, Finanzen, Förderung, Bezugsdauer, Rechtskreisvergleich, Arbeitsstellen, Unterbeschäftigung, RLB/ELB/NEF sowie Beschäftigung — 6 neue Tabellenblätter.</a:t>
            </a:r>
          </a:p>
        </p:txBody>
      </p:sp>
      <p:sp>
        <p:nvSpPr>
          <p:cNvPr id="15" name="Rectangle 14"/>
          <p:cNvSpPr/>
          <p:nvPr/>
        </p:nvSpPr>
        <p:spPr>
          <a:xfrm>
            <a:off x="8104799" y="1224000"/>
            <a:ext cx="3584400" cy="237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04799" y="1224000"/>
            <a:ext cx="3584400" cy="90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8799" y="1368000"/>
            <a:ext cx="3296400" cy="324000"/>
          </a:xfrm>
          <a:prstGeom prst="rect">
            <a:avLst/>
          </a:prstGeom>
          <a:noFill/>
        </p:spPr>
        <p:txBody>
          <a:bodyPr wrap="square">
            <a:spAutoFit/>
          </a:bodyPr>
          <a:lstStyle/>
          <a:p>
            <a:r>
              <a:rPr sz="1500" b="1" i="0">
                <a:solidFill>
                  <a:srgbClr val="3F7A72"/>
                </a:solidFill>
                <a:latin typeface="Calibri"/>
              </a:rPr>
              <a:t>Dashboard</a:t>
            </a:r>
          </a:p>
        </p:txBody>
      </p:sp>
      <p:sp>
        <p:nvSpPr>
          <p:cNvPr id="18" name="TextBox 17"/>
          <p:cNvSpPr txBox="1"/>
          <p:nvPr/>
        </p:nvSpPr>
        <p:spPr>
          <a:xfrm>
            <a:off x="8248799" y="1745999"/>
            <a:ext cx="3296400" cy="432000"/>
          </a:xfrm>
          <a:prstGeom prst="rect">
            <a:avLst/>
          </a:prstGeom>
          <a:noFill/>
        </p:spPr>
        <p:txBody>
          <a:bodyPr wrap="square">
            <a:spAutoFit/>
          </a:bodyPr>
          <a:lstStyle/>
          <a:p>
            <a:r>
              <a:rPr sz="2000" b="1">
                <a:solidFill>
                  <a:srgbClr val="374151"/>
                </a:solidFill>
                <a:latin typeface="Calibri"/>
              </a:rPr>
              <a:t>12 Tabs + Glossar</a:t>
            </a:r>
          </a:p>
        </p:txBody>
      </p:sp>
      <p:sp>
        <p:nvSpPr>
          <p:cNvPr id="19" name="TextBox 18"/>
          <p:cNvSpPr txBox="1"/>
          <p:nvPr/>
        </p:nvSpPr>
        <p:spPr>
          <a:xfrm>
            <a:off x="8248799" y="2214000"/>
            <a:ext cx="3296400" cy="1259999"/>
          </a:xfrm>
          <a:prstGeom prst="rect">
            <a:avLst/>
          </a:prstGeom>
          <a:noFill/>
        </p:spPr>
        <p:txBody>
          <a:bodyPr wrap="square">
            <a:spAutoFit/>
          </a:bodyPr>
          <a:lstStyle/>
          <a:p>
            <a:r>
              <a:rPr sz="1200" b="0" i="0">
                <a:solidFill>
                  <a:srgbClr val="374151"/>
                </a:solidFill>
                <a:latin typeface="Calibri"/>
              </a:rPr>
              <a:t>Ergebnisse zusätzlich interaktiv in einem Streamlit-Dashboard bereitgestellt.</a:t>
            </a:r>
          </a:p>
        </p:txBody>
      </p:sp>
      <p:sp>
        <p:nvSpPr>
          <p:cNvPr id="20" name="Rectangle 19"/>
          <p:cNvSpPr/>
          <p:nvPr/>
        </p:nvSpPr>
        <p:spPr>
          <a:xfrm>
            <a:off x="503999" y="3798000"/>
            <a:ext cx="11185200" cy="2736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3999" y="3798000"/>
            <a:ext cx="90000" cy="27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999" y="3942000"/>
            <a:ext cx="10620000" cy="324000"/>
          </a:xfrm>
          <a:prstGeom prst="rect">
            <a:avLst/>
          </a:prstGeom>
          <a:noFill/>
        </p:spPr>
        <p:txBody>
          <a:bodyPr wrap="square">
            <a:spAutoFit/>
          </a:bodyPr>
          <a:lstStyle/>
          <a:p>
            <a:r>
              <a:rPr sz="1800" b="1" i="0">
                <a:solidFill>
                  <a:srgbClr val="A0453F"/>
                </a:solidFill>
                <a:latin typeface="Calibri"/>
              </a:rPr>
              <a:t>Kernbefund</a:t>
            </a:r>
          </a:p>
        </p:txBody>
      </p:sp>
      <p:sp>
        <p:nvSpPr>
          <p:cNvPr id="23" name="TextBox 22"/>
          <p:cNvSpPr txBox="1"/>
          <p:nvPr/>
        </p:nvSpPr>
        <p:spPr>
          <a:xfrm>
            <a:off x="827999" y="4284000"/>
            <a:ext cx="10620000" cy="684000"/>
          </a:xfrm>
          <a:prstGeom prst="rect">
            <a:avLst/>
          </a:prstGeom>
          <a:noFill/>
        </p:spPr>
        <p:txBody>
          <a:bodyPr wrap="square">
            <a:spAutoFit/>
          </a:bodyPr>
          <a:lstStyle/>
          <a:p>
            <a:r>
              <a:rPr sz="1600" b="0" i="0">
                <a:solidFill>
                  <a:srgbClr val="374151"/>
                </a:solidFill>
                <a:latin typeface="Calibri"/>
              </a:rPr>
              <a:t>Die Langzeitarbeitslosigkeit verschärft sich konsistent durch alle Kapitel hinweg — sichtbar in:</a:t>
            </a:r>
          </a:p>
        </p:txBody>
      </p:sp>
      <p:sp>
        <p:nvSpPr>
          <p:cNvPr id="24" name="Rectangle 23"/>
          <p:cNvSpPr/>
          <p:nvPr/>
        </p:nvSpPr>
        <p:spPr>
          <a:xfrm>
            <a:off x="827999" y="5094000"/>
            <a:ext cx="2526300" cy="115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7999" y="5202000"/>
            <a:ext cx="2346300" cy="684000"/>
          </a:xfrm>
          <a:prstGeom prst="rect">
            <a:avLst/>
          </a:prstGeom>
          <a:noFill/>
        </p:spPr>
        <p:txBody>
          <a:bodyPr wrap="square">
            <a:spAutoFit/>
          </a:bodyPr>
          <a:lstStyle/>
          <a:p>
            <a:pPr algn="ctr"/>
            <a:r>
              <a:rPr sz="1300" b="1" i="0">
                <a:solidFill>
                  <a:srgbClr val="374151"/>
                </a:solidFill>
                <a:latin typeface="Calibri"/>
              </a:rPr>
              <a:t>Bestand</a:t>
            </a:r>
          </a:p>
        </p:txBody>
      </p:sp>
      <p:sp>
        <p:nvSpPr>
          <p:cNvPr id="26" name="TextBox 25"/>
          <p:cNvSpPr txBox="1"/>
          <p:nvPr/>
        </p:nvSpPr>
        <p:spPr>
          <a:xfrm>
            <a:off x="917999" y="5940000"/>
            <a:ext cx="2346300" cy="216000"/>
          </a:xfrm>
          <a:prstGeom prst="rect">
            <a:avLst/>
          </a:prstGeom>
          <a:noFill/>
        </p:spPr>
        <p:txBody>
          <a:bodyPr wrap="square">
            <a:spAutoFit/>
          </a:bodyPr>
          <a:lstStyle/>
          <a:p>
            <a:pPr algn="ctr"/>
            <a:r>
              <a:rPr sz="1150" b="1" i="0">
                <a:solidFill>
                  <a:srgbClr val="A0453F"/>
                </a:solidFill>
                <a:latin typeface="Calibri"/>
              </a:rPr>
              <a:t>Kapitel 3.3</a:t>
            </a:r>
          </a:p>
        </p:txBody>
      </p:sp>
      <p:sp>
        <p:nvSpPr>
          <p:cNvPr id="27" name="Rectangle 26"/>
          <p:cNvSpPr/>
          <p:nvPr/>
        </p:nvSpPr>
        <p:spPr>
          <a:xfrm>
            <a:off x="3498300" y="5094000"/>
            <a:ext cx="2526300" cy="115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88300" y="5202000"/>
            <a:ext cx="2346300" cy="684000"/>
          </a:xfrm>
          <a:prstGeom prst="rect">
            <a:avLst/>
          </a:prstGeom>
          <a:noFill/>
        </p:spPr>
        <p:txBody>
          <a:bodyPr wrap="square">
            <a:spAutoFit/>
          </a:bodyPr>
          <a:lstStyle/>
          <a:p>
            <a:pPr algn="ctr"/>
            <a:r>
              <a:rPr sz="1300" b="1" i="0">
                <a:solidFill>
                  <a:srgbClr val="374151"/>
                </a:solidFill>
                <a:latin typeface="Calibri"/>
              </a:rPr>
              <a:t>Langzeitleistungsbezug</a:t>
            </a:r>
          </a:p>
        </p:txBody>
      </p:sp>
      <p:sp>
        <p:nvSpPr>
          <p:cNvPr id="29" name="TextBox 28"/>
          <p:cNvSpPr txBox="1"/>
          <p:nvPr/>
        </p:nvSpPr>
        <p:spPr>
          <a:xfrm>
            <a:off x="3588300" y="5940000"/>
            <a:ext cx="2346300" cy="216000"/>
          </a:xfrm>
          <a:prstGeom prst="rect">
            <a:avLst/>
          </a:prstGeom>
          <a:noFill/>
        </p:spPr>
        <p:txBody>
          <a:bodyPr wrap="square">
            <a:spAutoFit/>
          </a:bodyPr>
          <a:lstStyle/>
          <a:p>
            <a:pPr algn="ctr"/>
            <a:r>
              <a:rPr sz="1150" b="1" i="0">
                <a:solidFill>
                  <a:srgbClr val="A0453F"/>
                </a:solidFill>
                <a:latin typeface="Calibri"/>
              </a:rPr>
              <a:t>Kapitel 10.2</a:t>
            </a:r>
          </a:p>
        </p:txBody>
      </p:sp>
      <p:sp>
        <p:nvSpPr>
          <p:cNvPr id="30" name="Rectangle 29"/>
          <p:cNvSpPr/>
          <p:nvPr/>
        </p:nvSpPr>
        <p:spPr>
          <a:xfrm>
            <a:off x="6168600" y="5094000"/>
            <a:ext cx="2526300" cy="115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58600" y="5202000"/>
            <a:ext cx="2346300" cy="684000"/>
          </a:xfrm>
          <a:prstGeom prst="rect">
            <a:avLst/>
          </a:prstGeom>
          <a:noFill/>
        </p:spPr>
        <p:txBody>
          <a:bodyPr wrap="square">
            <a:spAutoFit/>
          </a:bodyPr>
          <a:lstStyle/>
          <a:p>
            <a:pPr algn="ctr"/>
            <a:r>
              <a:rPr sz="1300" b="1" i="0">
                <a:solidFill>
                  <a:srgbClr val="374151"/>
                </a:solidFill>
                <a:latin typeface="Calibri"/>
              </a:rPr>
              <a:t>Förderungs-
teilnehmende</a:t>
            </a:r>
          </a:p>
        </p:txBody>
      </p:sp>
      <p:sp>
        <p:nvSpPr>
          <p:cNvPr id="32" name="TextBox 31"/>
          <p:cNvSpPr txBox="1"/>
          <p:nvPr/>
        </p:nvSpPr>
        <p:spPr>
          <a:xfrm>
            <a:off x="6258600" y="5940000"/>
            <a:ext cx="2346300" cy="216000"/>
          </a:xfrm>
          <a:prstGeom prst="rect">
            <a:avLst/>
          </a:prstGeom>
          <a:noFill/>
        </p:spPr>
        <p:txBody>
          <a:bodyPr wrap="square">
            <a:spAutoFit/>
          </a:bodyPr>
          <a:lstStyle/>
          <a:p>
            <a:pPr algn="ctr"/>
            <a:r>
              <a:rPr sz="1150" b="1" i="0">
                <a:solidFill>
                  <a:srgbClr val="A0453F"/>
                </a:solidFill>
                <a:latin typeface="Calibri"/>
              </a:rPr>
              <a:t>Kapitel 9.3</a:t>
            </a:r>
          </a:p>
        </p:txBody>
      </p:sp>
      <p:sp>
        <p:nvSpPr>
          <p:cNvPr id="33" name="Rectangle 32"/>
          <p:cNvSpPr/>
          <p:nvPr/>
        </p:nvSpPr>
        <p:spPr>
          <a:xfrm>
            <a:off x="8838900" y="5094000"/>
            <a:ext cx="2526300" cy="115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928900" y="5202000"/>
            <a:ext cx="2346300" cy="684000"/>
          </a:xfrm>
          <a:prstGeom prst="rect">
            <a:avLst/>
          </a:prstGeom>
          <a:noFill/>
        </p:spPr>
        <p:txBody>
          <a:bodyPr wrap="square">
            <a:spAutoFit/>
          </a:bodyPr>
          <a:lstStyle/>
          <a:p>
            <a:pPr algn="ctr"/>
            <a:r>
              <a:rPr sz="1300" b="1" i="0">
                <a:solidFill>
                  <a:srgbClr val="374151"/>
                </a:solidFill>
                <a:latin typeface="Calibri"/>
              </a:rPr>
              <a:t>Rechtskreis-
vergleich</a:t>
            </a:r>
          </a:p>
        </p:txBody>
      </p:sp>
      <p:sp>
        <p:nvSpPr>
          <p:cNvPr id="35" name="TextBox 34"/>
          <p:cNvSpPr txBox="1"/>
          <p:nvPr/>
        </p:nvSpPr>
        <p:spPr>
          <a:xfrm>
            <a:off x="8928900" y="5940000"/>
            <a:ext cx="2346300" cy="216000"/>
          </a:xfrm>
          <a:prstGeom prst="rect">
            <a:avLst/>
          </a:prstGeom>
          <a:noFill/>
        </p:spPr>
        <p:txBody>
          <a:bodyPr wrap="square">
            <a:spAutoFit/>
          </a:bodyPr>
          <a:lstStyle/>
          <a:p>
            <a:pPr algn="ctr"/>
            <a:r>
              <a:rPr sz="1150" b="1" i="0">
                <a:solidFill>
                  <a:srgbClr val="A0453F"/>
                </a:solidFill>
                <a:latin typeface="Calibri"/>
              </a:rPr>
              <a:t>Kapitel 11.2</a:t>
            </a:r>
          </a:p>
        </p:txBody>
      </p:sp>
      <p:sp>
        <p:nvSpPr>
          <p:cNvPr id="36" name="TextBox 35"/>
          <p:cNvSpPr txBox="1"/>
          <p:nvPr/>
        </p:nvSpPr>
        <p:spPr>
          <a:xfrm>
            <a:off x="11124000" y="6533999"/>
            <a:ext cx="936000" cy="270000"/>
          </a:xfrm>
          <a:prstGeom prst="rect">
            <a:avLst/>
          </a:prstGeom>
          <a:noFill/>
        </p:spPr>
        <p:txBody>
          <a:bodyPr wrap="none">
            <a:spAutoFit/>
          </a:bodyPr>
          <a:lstStyle/>
          <a:p>
            <a:pPr algn="r"/>
            <a:fld id="{7BBC66A9-738F-4260-925D-5AFDCCF0AB3A}" type="slidenum">
              <a:rPr lang="de-DE" sz="1200">
                <a:solidFill>
                  <a:srgbClr val="6B7280"/>
                </a:solidFill>
              </a:rPr>
              <a:t>82</a:t>
            </a:fld>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3200" cy="936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2000" y="90000"/>
            <a:ext cx="11329200" cy="251999"/>
          </a:xfrm>
          <a:prstGeom prst="rect">
            <a:avLst/>
          </a:prstGeom>
          <a:noFill/>
        </p:spPr>
        <p:txBody>
          <a:bodyPr wrap="square" anchor="t">
            <a:spAutoFit/>
          </a:bodyPr>
          <a:lstStyle/>
          <a:p>
            <a:pPr algn="l"/>
            <a:r>
              <a:rPr sz="1400" b="1">
                <a:solidFill>
                  <a:srgbClr val="FFFFFF"/>
                </a:solidFill>
                <a:latin typeface="Calibri"/>
              </a:rPr>
              <a:t>16.2</a:t>
            </a:r>
          </a:p>
        </p:txBody>
      </p:sp>
      <p:sp>
        <p:nvSpPr>
          <p:cNvPr id="4" name="TextBox 3"/>
          <p:cNvSpPr txBox="1"/>
          <p:nvPr/>
        </p:nvSpPr>
        <p:spPr>
          <a:xfrm>
            <a:off x="432000" y="306000"/>
            <a:ext cx="11329200" cy="540000"/>
          </a:xfrm>
          <a:prstGeom prst="rect">
            <a:avLst/>
          </a:prstGeom>
          <a:noFill/>
        </p:spPr>
        <p:txBody>
          <a:bodyPr wrap="square" anchor="t">
            <a:spAutoFit/>
          </a:bodyPr>
          <a:lstStyle/>
          <a:p>
            <a:pPr algn="l"/>
            <a:r>
              <a:rPr sz="2800" b="1">
                <a:solidFill>
                  <a:srgbClr val="FFFFFF"/>
                </a:solidFill>
                <a:latin typeface="Calibri"/>
              </a:rPr>
              <a:t>Ausblick</a:t>
            </a:r>
          </a:p>
        </p:txBody>
      </p:sp>
      <p:sp>
        <p:nvSpPr>
          <p:cNvPr id="5" name="Rectangle 4"/>
          <p:cNvSpPr/>
          <p:nvPr/>
        </p:nvSpPr>
        <p:spPr>
          <a:xfrm>
            <a:off x="503999" y="1224000"/>
            <a:ext cx="11185200" cy="154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3999" y="1224000"/>
            <a:ext cx="90000" cy="1548000"/>
          </a:xfrm>
          <a:prstGeom prst="rect">
            <a:avLst/>
          </a:prstGeom>
          <a:solidFill>
            <a:srgbClr val="3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7999" y="1386000"/>
            <a:ext cx="10620000" cy="324000"/>
          </a:xfrm>
          <a:prstGeom prst="rect">
            <a:avLst/>
          </a:prstGeom>
          <a:noFill/>
        </p:spPr>
        <p:txBody>
          <a:bodyPr wrap="square">
            <a:spAutoFit/>
          </a:bodyPr>
          <a:lstStyle/>
          <a:p>
            <a:r>
              <a:rPr sz="2000" b="1" i="0">
                <a:solidFill>
                  <a:srgbClr val="3F7A72"/>
                </a:solidFill>
                <a:latin typeface="Calibri"/>
              </a:rPr>
              <a:t>✓ Alle priorisierten Themen umgesetzt</a:t>
            </a:r>
          </a:p>
        </p:txBody>
      </p:sp>
      <p:sp>
        <p:nvSpPr>
          <p:cNvPr id="8" name="TextBox 7"/>
          <p:cNvSpPr txBox="1"/>
          <p:nvPr/>
        </p:nvSpPr>
        <p:spPr>
          <a:xfrm>
            <a:off x="827999" y="1782000"/>
            <a:ext cx="10620000" cy="881999"/>
          </a:xfrm>
          <a:prstGeom prst="rect">
            <a:avLst/>
          </a:prstGeom>
          <a:noFill/>
        </p:spPr>
        <p:txBody>
          <a:bodyPr wrap="square">
            <a:spAutoFit/>
          </a:bodyPr>
          <a:lstStyle/>
          <a:p>
            <a:r>
              <a:rPr sz="1600" b="0" i="0">
                <a:solidFill>
                  <a:srgbClr val="374151"/>
                </a:solidFill>
                <a:latin typeface="Calibri"/>
              </a:rPr>
              <a:t>Die Kapitel 5–15 decken alle ursprünglich identifizierten Themenfelder vollständig ab — sowohl die zuerst priorisierten als auch die nachrangigen Erweiterungsideen aus der Tabellenblatt-Sichtung (Kapitel 2.1).</a:t>
            </a:r>
          </a:p>
        </p:txBody>
      </p:sp>
      <p:sp>
        <p:nvSpPr>
          <p:cNvPr id="9" name="Rectangle 8"/>
          <p:cNvSpPr/>
          <p:nvPr/>
        </p:nvSpPr>
        <p:spPr>
          <a:xfrm>
            <a:off x="503999" y="2970000"/>
            <a:ext cx="11185200" cy="22680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3999" y="2970000"/>
            <a:ext cx="90000" cy="2268000"/>
          </a:xfrm>
          <a:prstGeom prst="rect">
            <a:avLst/>
          </a:prstGeom>
          <a:solidFill>
            <a:srgbClr val="A04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999" y="3131999"/>
            <a:ext cx="10620000" cy="324000"/>
          </a:xfrm>
          <a:prstGeom prst="rect">
            <a:avLst/>
          </a:prstGeom>
          <a:noFill/>
        </p:spPr>
        <p:txBody>
          <a:bodyPr wrap="square">
            <a:spAutoFit/>
          </a:bodyPr>
          <a:lstStyle/>
          <a:p>
            <a:r>
              <a:rPr sz="2000" b="1" i="0">
                <a:solidFill>
                  <a:srgbClr val="A0453F"/>
                </a:solidFill>
                <a:latin typeface="Calibri"/>
              </a:rPr>
              <a:t>Methodisch offen</a:t>
            </a:r>
          </a:p>
        </p:txBody>
      </p:sp>
      <p:sp>
        <p:nvSpPr>
          <p:cNvPr id="12" name="TextBox 11"/>
          <p:cNvSpPr txBox="1"/>
          <p:nvPr/>
        </p:nvSpPr>
        <p:spPr>
          <a:xfrm>
            <a:off x="827999" y="3528000"/>
            <a:ext cx="10620000" cy="1601999"/>
          </a:xfrm>
          <a:prstGeom prst="rect">
            <a:avLst/>
          </a:prstGeom>
          <a:noFill/>
        </p:spPr>
        <p:txBody>
          <a:bodyPr wrap="square">
            <a:spAutoFit/>
          </a:bodyPr>
          <a:lstStyle/>
          <a:p>
            <a:r>
              <a:rPr sz="1700" b="0" i="0">
                <a:solidFill>
                  <a:srgbClr val="374151"/>
                </a:solidFill>
                <a:latin typeface="Calibri"/>
              </a:rPr>
              <a:t>Über die in Kapitel 4 dokumentierte vertiefte Statistik hinaus bislang nicht eingesetzt: eine multiple Regression mit mehreren Prädiktoren sowie eine ANOVA für Mehrgruppenvergleiche. Violin- und Pie-/Donut-Plots wurden dagegen bereits in Kapitel 12 ergänzt.</a:t>
            </a:r>
          </a:p>
        </p:txBody>
      </p:sp>
      <p:sp>
        <p:nvSpPr>
          <p:cNvPr id="13" name="TextBox 12"/>
          <p:cNvSpPr txBox="1"/>
          <p:nvPr/>
        </p:nvSpPr>
        <p:spPr>
          <a:xfrm>
            <a:off x="11124000" y="6533999"/>
            <a:ext cx="936000" cy="270000"/>
          </a:xfrm>
          <a:prstGeom prst="rect">
            <a:avLst/>
          </a:prstGeom>
          <a:noFill/>
        </p:spPr>
        <p:txBody>
          <a:bodyPr wrap="none">
            <a:spAutoFit/>
          </a:bodyPr>
          <a:lstStyle/>
          <a:p>
            <a:pPr algn="r"/>
            <a:fld id="{3BAB4D97-3E20-4122-B8CA-BD3E94418CAF}" type="slidenum">
              <a:rPr lang="de-DE" sz="1200">
                <a:solidFill>
                  <a:srgbClr val="6B7280"/>
                </a:solidFill>
              </a:rPr>
              <a:t>83</a:t>
            </a:fld>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2E4057"/>
        </a:solidFill>
        <a:effectLst/>
      </p:bgPr>
    </p:bg>
    <p:spTree>
      <p:nvGrpSpPr>
        <p:cNvPr id="1" name=""/>
        <p:cNvGrpSpPr/>
        <p:nvPr/>
      </p:nvGrpSpPr>
      <p:grpSpPr>
        <a:xfrm>
          <a:off x="0" y="0"/>
          <a:ext cx="0" cy="0"/>
          <a:chOff x="0" y="0"/>
          <a:chExt cx="0" cy="0"/>
        </a:xfrm>
      </p:grpSpPr>
      <p:sp>
        <p:nvSpPr>
          <p:cNvPr id="2" name="Rectangle 1"/>
          <p:cNvSpPr/>
          <p:nvPr/>
        </p:nvSpPr>
        <p:spPr>
          <a:xfrm>
            <a:off x="0" y="3240000"/>
            <a:ext cx="12193200" cy="54000"/>
          </a:xfrm>
          <a:prstGeom prst="rect">
            <a:avLst/>
          </a:prstGeom>
          <a:solidFill>
            <a:srgbClr val="C79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2484000"/>
            <a:ext cx="10753200" cy="540000"/>
          </a:xfrm>
          <a:prstGeom prst="rect">
            <a:avLst/>
          </a:prstGeom>
          <a:noFill/>
        </p:spPr>
        <p:txBody>
          <a:bodyPr wrap="square" anchor="t">
            <a:spAutoFit/>
          </a:bodyPr>
          <a:lstStyle/>
          <a:p>
            <a:pPr algn="ctr"/>
            <a:r>
              <a:rPr sz="3600" b="1" i="0">
                <a:solidFill>
                  <a:srgbClr val="FFFFFF"/>
                </a:solidFill>
                <a:latin typeface="Calibri"/>
              </a:rPr>
              <a:t>Vielen Dank für die Aufmerksamkeit</a:t>
            </a:r>
          </a:p>
        </p:txBody>
      </p:sp>
      <p:sp>
        <p:nvSpPr>
          <p:cNvPr id="4" name="TextBox 3"/>
          <p:cNvSpPr txBox="1"/>
          <p:nvPr/>
        </p:nvSpPr>
        <p:spPr>
          <a:xfrm>
            <a:off x="720000" y="3456000"/>
            <a:ext cx="10753200" cy="360000"/>
          </a:xfrm>
          <a:prstGeom prst="rect">
            <a:avLst/>
          </a:prstGeom>
          <a:noFill/>
        </p:spPr>
        <p:txBody>
          <a:bodyPr wrap="square" anchor="t">
            <a:spAutoFit/>
          </a:bodyPr>
          <a:lstStyle/>
          <a:p>
            <a:pPr algn="ctr"/>
            <a:r>
              <a:rPr sz="1600" b="0" i="0">
                <a:solidFill>
                  <a:srgbClr val="BFDBFE"/>
                </a:solidFill>
                <a:latin typeface="Calibri"/>
              </a:rPr>
              <a:t>Live-Dashboard: daelwve9mj8pxz32vshq7u.streamlit.app</a:t>
            </a:r>
          </a:p>
        </p:txBody>
      </p:sp>
      <p:sp>
        <p:nvSpPr>
          <p:cNvPr id="5" name="TextBox 4"/>
          <p:cNvSpPr txBox="1"/>
          <p:nvPr/>
        </p:nvSpPr>
        <p:spPr>
          <a:xfrm>
            <a:off x="11124000" y="6533999"/>
            <a:ext cx="936000" cy="270000"/>
          </a:xfrm>
          <a:prstGeom prst="rect">
            <a:avLst/>
          </a:prstGeom>
          <a:noFill/>
        </p:spPr>
        <p:txBody>
          <a:bodyPr wrap="none">
            <a:spAutoFit/>
          </a:bodyPr>
          <a:lstStyle/>
          <a:p>
            <a:pPr algn="r"/>
            <a:fld id="{58A3E145-154C-47A3-ACF1-E9247CFAB5BA}" type="slidenum">
              <a:rPr lang="de-DE" sz="1200">
                <a:solidFill>
                  <a:srgbClr val="FFFFFF"/>
                </a:solidFill>
              </a:rPr>
              <a:t>84</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6797</Words>
  <Application>Microsoft Office PowerPoint</Application>
  <PresentationFormat>Benutzerdefiniert</PresentationFormat>
  <Paragraphs>713</Paragraphs>
  <Slides>84</Slides>
  <Notes>84</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84</vt:i4>
      </vt:variant>
    </vt:vector>
  </HeadingPairs>
  <TitlesOfParts>
    <vt:vector size="88" baseType="lpstr">
      <vt:lpstr>Arial</vt:lpstr>
      <vt:lpstr>Calibri</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Eugenia Funk</cp:lastModifiedBy>
  <cp:revision>1</cp:revision>
  <dcterms:created xsi:type="dcterms:W3CDTF">2013-01-27T09:14:16Z</dcterms:created>
  <dcterms:modified xsi:type="dcterms:W3CDTF">2026-09-06T22:50:02Z</dcterms:modified>
  <cp:category/>
</cp:coreProperties>
</file>